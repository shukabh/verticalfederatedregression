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CKKS encrypts vectors of real numbers: a ciphertext is a pair of polynomials, it holds 8,192 numbers at N = 2^14, and decryption is c0 + c1 s, which gives the encoded vector plus a small error. In our protocol O only adds ciphertexts, multiplies them by its own plaintext columns, and rotates slots to sum vectors, all without any key. The multiplicative depth is 2 and there are no ciphertext-by-ciphertext products, so no relinearization key is needed. The key is generated jointly, following Mouchet et al. 2021: from a common random a, R publishes -a s_R + e_R and O publishes -a s_O + e_O; the sum is a public key for s = s_R + s_O, a key that nobody holds. Rotation keys are made the same way. For the upload, R encrypts with its own share using a symmetric encryption whose random a comes from a seed, so it sends only c0 and the seed. O subtracts a times its share, which converts the ciphertext to the joint key. This is the standard multiparty construction with two parties.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Decryption is linear in the key, so it splits: c0 + c1 s_O needs O's share and c1 s_R needs R's. Neither party alone can decrypt. In our release O does three things. It re-randomizes the packed ciphertext with fresh u, e0, e1 under the joint public key: the evaluated c1 is computed from public values and O's plaintext columns, and R chose the random a, so without this step c1 could reveal O's data; after it, c1' is a fresh Ring-LWE sample. Then O computes its share of the decryption and adds the noise eta inside it: eta is the differential-privacy noise on the statistics and also hides the CKKS approximation error statistically. Finally O sends c1' and the noisy share, never c0': with c0', R could compute c1' s_O exactly and recover O's key share. R adds c1' s_R and gets the statistics plus noise. O learns nothing because it never receives a decryption share. R's view can be simulated from the noisy statistics alone, which is what makes the DP guarantee hold for R's whole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oblivious pseudorandom function lets R compute a keyed hash of its identifiers under O's key without O seeing the identifiers and without R learning the key. We use 2HashDH, standardized in RFC 9497: hash the identifier into a group, raise it to the key k, and hash again. R blinds the group element with a random exponent r and sends alpha; O raises it to k; R removes r and applies the outer hash. The output is split into an item part for matching and a key part for opening labels. Alpha is uniformly random, so O learns nothing about the identifier. R only gets values for identifiers it sends, and cannot evaluate the function on anything else without k. R always sends exactly n_R^max queries, padding with dummies, and O logs them against a quota per researcher and project. We need this because identifiers are a small, guessable space: a plain hash could be inverted by brute force. The OPRF makes every membership test an online interaction with O. O draws a fresh key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Labeled private set intersection, following Chen, Laine and Rindal and successors. O pads its register to the public size with dummy rows and draws a fresh secret shuffle tau. Each row becomes an item, its OPRF value, with a label: the row's position in the shuffle, encrypted under the row's label key. O hashes the items into bins and, for each bin, interpolates a membership polynomial whose roots are the items and a label polynomial that maps each item to its encrypted label. R cuckoo-hashes its own items so each bin holds at most one, encrypts them under its own BFV key, and sends powers of them so that O can evaluate high-degree polynomials at low depth. O evaluates both polynomials under encryption and replies. R decrypts: a zero membership value means a match, and then the label value decrypts, under the item's label key, to the row's position. In the toy example, 104 and 221 match with positions 6 and 3. O learns only the padded sizes. R learns the match set and the positions; the positions are uniformly random because the shuffle is fresh. R needs the match set to compute its own block A, and the positions to line up its data with O's rows in the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CKKS: one key, split between R and 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ever holds s = s</a:t>
            </a:r>
            <a:r>
              <a:rPr lang="en-US" sz="1600" i="1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</a:t>
            </a:r>
            <a:r>
              <a:rPr lang="en-US" sz="1600" i="1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neither party can decrypt on its own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01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CKKS in one box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ciphertext is a pair (c</a:t>
            </a:r>
            <a:r>
              <a:rPr lang="en-US" sz="13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</a:t>
            </a:r>
            <a:r>
              <a:rPr lang="en-US" sz="13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of polynomials mod q. It packs a vector of N/2 = 8,192 real numbers (N = 2</a:t>
            </a:r>
            <a:r>
              <a:rPr lang="en-US" sz="130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each scaled by Ω and rounded.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with the secret key s:</a:t>
            </a:r>
            <a:endParaRPr lang="en-US" sz="1300" dirty="0"/>
          </a:p>
        </p:txBody>
      </p:sp>
      <p:pic>
        <p:nvPicPr>
          <p:cNvPr id="10" name="Image 1" descr="/home/user/VerticalFederatedRegression/slides/assets/eq/ckks_d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29000"/>
            <a:ext cx="2685936" cy="2277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37947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 can do with R's ciphertexts, holding no key: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11480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them by its own plaintext columns (x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slots, to sum a vector into one slot (EvalSum)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50749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2 and no ciphertext × ciphertext products, so no relinearization key. Security rests on Ring-LWE: without s, c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looks uniformly random.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8928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1801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key generation (setup)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common random polynomial a, each party draws its own secret share and error, and publishes one polynomial:</a:t>
            </a:r>
            <a:endParaRPr lang="en-US" sz="1300" dirty="0"/>
          </a:p>
        </p:txBody>
      </p:sp>
      <p:pic>
        <p:nvPicPr>
          <p:cNvPr id="19" name="Image 3" descr="/home/user/VerticalFederatedRegression/slides/assets/eq/he_keyg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880360"/>
            <a:ext cx="3262343" cy="74182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55080" y="367588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keys for slot shifts 2</a:t>
            </a:r>
            <a:r>
              <a:rPr lang="en-US" sz="1200" baseline="30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made the same way. Each share stays with its owner.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355080" y="4114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under the joint key, at half the size</a:t>
            </a:r>
            <a:endParaRPr lang="en-US" sz="1300" dirty="0"/>
          </a:p>
        </p:txBody>
      </p:sp>
      <p:pic>
        <p:nvPicPr>
          <p:cNvPr id="22" name="Image 4" descr="/home/user/VerticalFederatedRegression/slides/assets/eq/he_upload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434840"/>
            <a:ext cx="3333659" cy="44031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355080" y="49834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sends c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short seed of a, not a itself. O's subtraction turns (c</a:t>
            </a:r>
            <a:r>
              <a:rPr lang="en-US" sz="120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a) into a ciphertext under 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77240" y="6007608"/>
            <a:ext cx="10607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standard multiparty CKKS (Mouchet et al., 2021) with two parties and additive key shares. What is specific to us is how the decryption is used: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decryption, with the DP noise built 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adds its key share and the noise in one step; R finishes the decryption and sees only noisy statistics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E3D6"/>
          </a:solidFill>
          <a:ln w="12700">
            <a:solidFill>
              <a:srgbClr val="F6E3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needs both shares:</a:t>
            </a:r>
            <a:endParaRPr lang="en-US" sz="1400" dirty="0"/>
          </a:p>
        </p:txBody>
      </p:sp>
      <p:pic>
        <p:nvPicPr>
          <p:cNvPr id="6" name="Image 0" descr="/home/user/VerticalFederatedRegression/slides/assets/eq/th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01368"/>
            <a:ext cx="4348677" cy="5072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69748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816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release (phase 4)</a:t>
            </a:r>
            <a:endParaRPr lang="en-US" sz="1500" dirty="0"/>
          </a:p>
        </p:txBody>
      </p:sp>
      <p:pic>
        <p:nvPicPr>
          <p:cNvPr id="9" name="Image 1" descr="/home/user/VerticalFederatedRegression/slides/assets/eq/rele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3755610" cy="111016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97880" y="2724912"/>
            <a:ext cx="365760" cy="36576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89788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697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u, e</a:t>
            </a:r>
            <a:r>
              <a:rPr lang="en-US" sz="1350" b="1" baseline="-25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</a:t>
            </a:r>
            <a:r>
              <a:rPr lang="en-US" sz="1350" b="1" baseline="-25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release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971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evaluated c</a:t>
            </a:r>
            <a:r>
              <a:rPr lang="en-US" sz="115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depends on O's plaintext columns; adding au + e</a:t>
            </a:r>
            <a:r>
              <a:rPr lang="en-US" sz="115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c</a:t>
            </a:r>
            <a:r>
              <a:rPr lang="en-US" sz="115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 a fresh RLWE sample that looks uniform.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897880" y="3483864"/>
            <a:ext cx="365760" cy="365760"/>
          </a:xfrm>
          <a:prstGeom prst="ellipse">
            <a:avLst/>
          </a:prstGeom>
          <a:solidFill>
            <a:srgbClr val="C45A0C"/>
          </a:solidFill>
          <a:ln w="12700">
            <a:solidFill>
              <a:srgbClr val="C45A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97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34564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η inside O's share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0" y="37307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is the DP noise and also drowns the CKKS error e, up to 2</a:t>
            </a:r>
            <a:r>
              <a:rPr lang="en-US" sz="1150" baseline="30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is fresh too, so two releases cannot be differenced.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897880" y="4242816"/>
            <a:ext cx="365760" cy="36576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9788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0" y="42153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send c</a:t>
            </a:r>
            <a:r>
              <a:rPr lang="en-US" sz="1350" b="1" baseline="-25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400800" y="44897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</a:t>
            </a:r>
            <a:r>
              <a:rPr lang="en-US" sz="115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′, R would get c</a:t>
            </a:r>
            <a:r>
              <a:rPr lang="en-US" sz="115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′s</a:t>
            </a:r>
            <a:r>
              <a:rPr lang="en-US" sz="115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exactly and could solve for s</a:t>
            </a:r>
            <a:r>
              <a:rPr lang="en-US" sz="115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since c</a:t>
            </a:r>
            <a:r>
              <a:rPr lang="en-US" sz="1150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 is invertible.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51206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6E3D6"/>
          </a:solidFill>
          <a:ln w="12700">
            <a:solidFill>
              <a:srgbClr val="F6E3D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7240" y="5166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learns nothing.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receives a decryption share from R, so every ciphertext it holds stays hidden by Ring-LWE.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172200" y="51206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0" y="5166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learns the noisy statistics.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c</a:t>
            </a:r>
            <a:r>
              <a:rPr lang="en-US" sz="13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′ that looks random, so its view can be simulated from the noisy statistics alone: the DP guarantee.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OPRF: a keyed hash that needs 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learns F</a:t>
            </a:r>
            <a:r>
              <a:rPr lang="en-US" sz="1600" i="1" baseline="-25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(id) for its own ids; O never sees the ids, and R never sees the key 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3383280"/>
          </a:xfrm>
          <a:prstGeom prst="roundRect">
            <a:avLst>
              <a:gd name="adj" fmla="val 21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pic>
        <p:nvPicPr>
          <p:cNvPr id="5" name="Image 0" descr="/home/user/VerticalFederatedRegression/slides/assets/eq/ps_op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01368"/>
            <a:ext cx="2163023" cy="293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154680" y="18013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2HashDH (RFC 9497); O's key k is fresh each run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950976" y="2331720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2331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37376" y="2331720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C45A0C"/>
          </a:solidFill>
          <a:ln w="12700">
            <a:solidFill>
              <a:srgbClr val="C45A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37376" y="2331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43000" y="2651760"/>
            <a:ext cx="0" cy="2148840"/>
          </a:xfrm>
          <a:prstGeom prst="line">
            <a:avLst/>
          </a:prstGeom>
          <a:noFill/>
          <a:ln w="15875">
            <a:solidFill>
              <a:srgbClr val="AAB6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2651760"/>
            <a:ext cx="0" cy="2148840"/>
          </a:xfrm>
          <a:prstGeom prst="line">
            <a:avLst/>
          </a:prstGeom>
          <a:noFill/>
          <a:ln w="15875">
            <a:solidFill>
              <a:srgbClr val="AAB6C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000" y="3154680"/>
            <a:ext cx="5486400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114300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H</a:t>
            </a:r>
            <a:r>
              <a:rPr lang="en-US" sz="13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(id)</a:t>
            </a:r>
            <a:r>
              <a:rPr lang="en-US" sz="130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r random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 flipH="1">
            <a:off x="1143000" y="3767328"/>
            <a:ext cx="5486400" cy="0"/>
          </a:xfrm>
          <a:prstGeom prst="line">
            <a:avLst/>
          </a:prstGeom>
          <a:noFill/>
          <a:ln w="25400">
            <a:solidFill>
              <a:srgbClr val="C45A0C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143000" y="3447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α</a:t>
            </a:r>
            <a:r>
              <a:rPr lang="en-US" sz="130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unblinds: β</a:t>
            </a:r>
            <a:r>
              <a:rPr lang="en-US" sz="125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1/r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(id)</a:t>
            </a:r>
            <a:r>
              <a:rPr lang="en-US" sz="125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gives the item F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(id), used for matching, and the label key F′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06640" y="160020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35240" y="1783080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18928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229600" y="1801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safe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2377440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sees α, a uniformly random group element: nothing about the id.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gets F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for ids it sends. Without k it cannot compute F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any other id.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answers exactly n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5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queries per run (R pads with dummies) and logs them against a quota.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k every run, so F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 from different runs cannot be linked.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it: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such as social insurance numbers are a small, guessable space, so a plain hash could be inverted by trying every value. With the OPRF every evaluation needs O, so R cannot test ids offline, and the PSI messages carry no structure. Toy example: R holds 104, 221, 317, pads with dummy 9d1 to n</a:t>
            </a:r>
            <a:r>
              <a:rPr lang="en-US" sz="125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5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4, and makes four calls.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Labeled PSI: who matches, and where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learns its match set I and positions π(i) = τ(j) in O's shuffled register; O learns only the padded sizes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6E3D6"/>
          </a:solidFill>
          <a:ln w="12700">
            <a:solidFill>
              <a:srgbClr val="F6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64792"/>
            <a:ext cx="411480" cy="411480"/>
          </a:xfrm>
          <a:prstGeom prst="ellipse">
            <a:avLst/>
          </a:prstGeom>
          <a:solidFill>
            <a:srgbClr val="C45A0C"/>
          </a:solidFill>
          <a:ln w="12700">
            <a:solidFill>
              <a:srgbClr val="C45A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prepares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764792"/>
            <a:ext cx="411480" cy="41148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47488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asks, O evaluates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764792"/>
            <a:ext cx="411480" cy="4114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96528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decrypts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2402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the register to n̄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dummies and draw a fresh shuffle τ. Row j becomes the item F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labeled with its encrypted position. Hash the items into bins; per bin b:</a:t>
            </a:r>
            <a:endParaRPr lang="en-US" sz="1200" dirty="0"/>
          </a:p>
        </p:txBody>
      </p:sp>
      <p:pic>
        <p:nvPicPr>
          <p:cNvPr id="17" name="Image 0" descr="/home/user/VerticalFederatedRegression/slides/assets/eq/ps_po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20440"/>
            <a:ext cx="2157653" cy="5092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26280" y="224028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cuckoo-hashes its items, at most one per bin, encrypts them under its own BFV key, and sends their powers q, q</a:t>
            </a:r>
            <a:r>
              <a:rPr lang="en-US" sz="120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</a:t>
            </a:r>
            <a:r>
              <a:rPr lang="en-US" sz="120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 to keep the depth low. O evaluates every P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encryption and replies:</a:t>
            </a:r>
            <a:endParaRPr lang="en-US" sz="1200" dirty="0"/>
          </a:p>
        </p:txBody>
      </p:sp>
      <p:pic>
        <p:nvPicPr>
          <p:cNvPr id="19" name="Image 1" descr="/home/user/VerticalFederatedRegression/slides/assets/eq/ps_rep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703320"/>
            <a:ext cx="1781063" cy="194854"/>
          </a:xfrm>
          <a:prstGeom prst="rect">
            <a:avLst/>
          </a:prstGeom>
        </p:spPr>
      </p:pic>
      <p:pic>
        <p:nvPicPr>
          <p:cNvPr id="20" name="Image 2" descr="/home/user/VerticalFederatedRegression/slides/assets/eq/ps_deci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286000"/>
            <a:ext cx="1935683" cy="42765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75320" y="2880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match: P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(q) ≠ 0 and the label value means nothing. The reply reveals nothing else about O's register.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389120"/>
            <a:ext cx="6949440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example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800600"/>
          <a:ext cx="9144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O's padded row 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7e5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τ(j)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19"/>
          <p:cNvSpPr txBox="1"/>
          <p:nvPr/>
        </p:nvSpPr>
        <p:spPr>
          <a:xfrm>
            <a:off x="777240" y="5440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7e5 is O's dummy row. R queries 104, 221, 317 and its dummy 9d1: 104 matches with label 6 and 221 with label 3. So I = {104, 221}, π(104) = 6 and π(221) = 3.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680960" y="438912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90956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party learns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7909560" y="48006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5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00" baseline="3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n̄</a:t>
            </a:r>
            <a:r>
              <a:rPr lang="en-US" sz="1200" baseline="-25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both public.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and the positions, which are uniformly random because τ is fresh. R needs both: I for its block A, the positions to line up its upload.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Threshold CKKS and OPRF-based PSI in the protocol</dc:title>
  <dc:subject>PptxGenJS Presentation</dc:subject>
  <dc:creator>VFL Scenario B project</dc:creator>
  <cp:lastModifiedBy>VFL Scenario B project</cp:lastModifiedBy>
  <cp:revision>1</cp:revision>
  <dcterms:created xsi:type="dcterms:W3CDTF">2026-10-21T23:12:18Z</dcterms:created>
  <dcterms:modified xsi:type="dcterms:W3CDTF">2026-10-21T23:12:18Z</dcterms:modified>
</cp:coreProperties>
</file>