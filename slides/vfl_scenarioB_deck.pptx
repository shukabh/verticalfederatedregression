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housing  (n = 506)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2.824</c:v>
                </c:pt>
                <c:pt idx="1">
                  <c:v>2.824</c:v>
                </c:pt>
                <c:pt idx="2">
                  <c:v>2.824</c:v>
                </c:pt>
                <c:pt idx="3">
                  <c:v>2.824</c:v>
                </c:pt>
                <c:pt idx="4">
                  <c:v>2.824</c:v>
                </c:pt>
                <c:pt idx="5">
                  <c:v>2.824</c:v>
                </c:pt>
                <c:pt idx="6">
                  <c:v>2.824</c:v>
                </c:pt>
                <c:pt idx="7">
                  <c:v>2.824</c:v>
                </c:pt>
                <c:pt idx="8">
                  <c:v>2.824</c:v>
                </c:pt>
                <c:pt idx="9">
                  <c:v>2.824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0.5599</c:v>
                </c:pt>
                <c:pt idx="1">
                  <c:v>0.5507</c:v>
                </c:pt>
                <c:pt idx="2">
                  <c:v>0.5827</c:v>
                </c:pt>
                <c:pt idx="3">
                  <c:v>0.6003</c:v>
                </c:pt>
                <c:pt idx="4">
                  <c:v>0.5577</c:v>
                </c:pt>
                <c:pt idx="5">
                  <c:v>0.5258</c:v>
                </c:pt>
                <c:pt idx="6">
                  <c:v>0.4927</c:v>
                </c:pt>
                <c:pt idx="7">
                  <c:v>0.4527</c:v>
                </c:pt>
                <c:pt idx="8">
                  <c:v>0.4025</c:v>
                </c:pt>
                <c:pt idx="9">
                  <c:v>0.3718</c:v>
                </c:pt>
              </c:numLit>
            </c:plus>
            <c:minus>
              <c:numLit>
                <c:formatCode>General</c:formatCode>
                <c:ptCount val="10"/>
                <c:pt idx="0">
                  <c:v>0.5599</c:v>
                </c:pt>
                <c:pt idx="1">
                  <c:v>0.5507</c:v>
                </c:pt>
                <c:pt idx="2">
                  <c:v>0.5827</c:v>
                </c:pt>
                <c:pt idx="3">
                  <c:v>0.6003</c:v>
                </c:pt>
                <c:pt idx="4">
                  <c:v>0.5577</c:v>
                </c:pt>
                <c:pt idx="5">
                  <c:v>0.5258</c:v>
                </c:pt>
                <c:pt idx="6">
                  <c:v>0.4927</c:v>
                </c:pt>
                <c:pt idx="7">
                  <c:v>0.4527</c:v>
                </c:pt>
                <c:pt idx="8">
                  <c:v>0.4025</c:v>
                </c:pt>
                <c:pt idx="9">
                  <c:v>0.3718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3.048</c:v>
                </c:pt>
                <c:pt idx="1">
                  <c:v>2.957</c:v>
                </c:pt>
                <c:pt idx="2">
                  <c:v>2.882</c:v>
                </c:pt>
                <c:pt idx="3">
                  <c:v>2.789</c:v>
                </c:pt>
                <c:pt idx="4">
                  <c:v>2.512</c:v>
                </c:pt>
                <c:pt idx="5">
                  <c:v>2.137</c:v>
                </c:pt>
                <c:pt idx="6">
                  <c:v>1.798</c:v>
                </c:pt>
                <c:pt idx="7">
                  <c:v>1.485</c:v>
                </c:pt>
                <c:pt idx="8">
                  <c:v>1.204</c:v>
                </c:pt>
                <c:pt idx="9">
                  <c:v>1.092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0.5721</c:v>
                </c:pt>
                <c:pt idx="1">
                  <c:v>0.5682</c:v>
                </c:pt>
                <c:pt idx="2">
                  <c:v>0.5962</c:v>
                </c:pt>
                <c:pt idx="3">
                  <c:v>0.5677</c:v>
                </c:pt>
                <c:pt idx="4">
                  <c:v>0.5535</c:v>
                </c:pt>
                <c:pt idx="5">
                  <c:v>0.5297</c:v>
                </c:pt>
                <c:pt idx="6">
                  <c:v>0.5184</c:v>
                </c:pt>
                <c:pt idx="7">
                  <c:v>0.4665</c:v>
                </c:pt>
                <c:pt idx="8">
                  <c:v>0.4436</c:v>
                </c:pt>
                <c:pt idx="9">
                  <c:v>0.4072</c:v>
                </c:pt>
              </c:numLit>
            </c:plus>
            <c:minus>
              <c:numLit>
                <c:formatCode>General</c:formatCode>
                <c:ptCount val="10"/>
                <c:pt idx="0">
                  <c:v>0.5721</c:v>
                </c:pt>
                <c:pt idx="1">
                  <c:v>0.5682</c:v>
                </c:pt>
                <c:pt idx="2">
                  <c:v>0.5962</c:v>
                </c:pt>
                <c:pt idx="3">
                  <c:v>0.5677</c:v>
                </c:pt>
                <c:pt idx="4">
                  <c:v>0.5535</c:v>
                </c:pt>
                <c:pt idx="5">
                  <c:v>0.5297</c:v>
                </c:pt>
                <c:pt idx="6">
                  <c:v>0.5184</c:v>
                </c:pt>
                <c:pt idx="7">
                  <c:v>0.4665</c:v>
                </c:pt>
                <c:pt idx="8">
                  <c:v>0.4436</c:v>
                </c:pt>
                <c:pt idx="9">
                  <c:v>0.4072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3.149</c:v>
                </c:pt>
                <c:pt idx="1">
                  <c:v>3.02</c:v>
                </c:pt>
                <c:pt idx="2">
                  <c:v>3.066</c:v>
                </c:pt>
                <c:pt idx="3">
                  <c:v>2.86</c:v>
                </c:pt>
                <c:pt idx="4">
                  <c:v>2.692</c:v>
                </c:pt>
                <c:pt idx="5">
                  <c:v>2.351</c:v>
                </c:pt>
                <c:pt idx="6">
                  <c:v>2.067</c:v>
                </c:pt>
                <c:pt idx="7">
                  <c:v>1.72</c:v>
                </c:pt>
                <c:pt idx="8">
                  <c:v>1.4</c:v>
                </c:pt>
                <c:pt idx="9">
                  <c:v>1.218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0.6217</c:v>
                </c:pt>
                <c:pt idx="1">
                  <c:v>0.5915</c:v>
                </c:pt>
                <c:pt idx="2">
                  <c:v>0.5975</c:v>
                </c:pt>
                <c:pt idx="3">
                  <c:v>0.5813</c:v>
                </c:pt>
                <c:pt idx="4">
                  <c:v>0.5775</c:v>
                </c:pt>
                <c:pt idx="5">
                  <c:v>0.5188</c:v>
                </c:pt>
                <c:pt idx="6">
                  <c:v>0.5013</c:v>
                </c:pt>
                <c:pt idx="7">
                  <c:v>0.4707</c:v>
                </c:pt>
                <c:pt idx="8">
                  <c:v>0.4276</c:v>
                </c:pt>
                <c:pt idx="9">
                  <c:v>0.4048</c:v>
                </c:pt>
              </c:numLit>
            </c:plus>
            <c:minus>
              <c:numLit>
                <c:formatCode>General</c:formatCode>
                <c:ptCount val="10"/>
                <c:pt idx="0">
                  <c:v>0.6217</c:v>
                </c:pt>
                <c:pt idx="1">
                  <c:v>0.5915</c:v>
                </c:pt>
                <c:pt idx="2">
                  <c:v>0.5975</c:v>
                </c:pt>
                <c:pt idx="3">
                  <c:v>0.5813</c:v>
                </c:pt>
                <c:pt idx="4">
                  <c:v>0.5775</c:v>
                </c:pt>
                <c:pt idx="5">
                  <c:v>0.5188</c:v>
                </c:pt>
                <c:pt idx="6">
                  <c:v>0.5013</c:v>
                </c:pt>
                <c:pt idx="7">
                  <c:v>0.4707</c:v>
                </c:pt>
                <c:pt idx="8">
                  <c:v>0.4276</c:v>
                </c:pt>
                <c:pt idx="9">
                  <c:v>0.4048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2.906</c:v>
                </c:pt>
                <c:pt idx="1">
                  <c:v>2.861</c:v>
                </c:pt>
                <c:pt idx="2">
                  <c:v>2.82</c:v>
                </c:pt>
                <c:pt idx="3">
                  <c:v>2.711</c:v>
                </c:pt>
                <c:pt idx="4">
                  <c:v>2.602</c:v>
                </c:pt>
                <c:pt idx="5">
                  <c:v>2.239</c:v>
                </c:pt>
                <c:pt idx="6">
                  <c:v>1.965</c:v>
                </c:pt>
                <c:pt idx="7">
                  <c:v>1.657</c:v>
                </c:pt>
                <c:pt idx="8">
                  <c:v>1.338</c:v>
                </c:pt>
                <c:pt idx="9">
                  <c:v>1.18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MSE ÷ non-private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elevators  (n = 16,599)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4.226</c:v>
                </c:pt>
                <c:pt idx="1">
                  <c:v>4.226</c:v>
                </c:pt>
                <c:pt idx="2">
                  <c:v>4.226</c:v>
                </c:pt>
                <c:pt idx="3">
                  <c:v>4.226</c:v>
                </c:pt>
                <c:pt idx="4">
                  <c:v>4.226</c:v>
                </c:pt>
                <c:pt idx="5">
                  <c:v>4.226</c:v>
                </c:pt>
                <c:pt idx="6">
                  <c:v>4.226</c:v>
                </c:pt>
                <c:pt idx="7">
                  <c:v>4.226</c:v>
                </c:pt>
                <c:pt idx="8">
                  <c:v>4.226</c:v>
                </c:pt>
                <c:pt idx="9">
                  <c:v>4.226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0.1353</c:v>
                </c:pt>
                <c:pt idx="1">
                  <c:v>0.06918</c:v>
                </c:pt>
                <c:pt idx="2">
                  <c:v>0.06121</c:v>
                </c:pt>
                <c:pt idx="3">
                  <c:v>0.06169</c:v>
                </c:pt>
                <c:pt idx="4">
                  <c:v>0.07114</c:v>
                </c:pt>
                <c:pt idx="5">
                  <c:v>0.06912</c:v>
                </c:pt>
                <c:pt idx="6">
                  <c:v>0.05343</c:v>
                </c:pt>
                <c:pt idx="7">
                  <c:v>0.04651</c:v>
                </c:pt>
                <c:pt idx="8">
                  <c:v>0.03951</c:v>
                </c:pt>
                <c:pt idx="9">
                  <c:v>0.03801</c:v>
                </c:pt>
              </c:numLit>
            </c:plus>
            <c:minus>
              <c:numLit>
                <c:formatCode>General</c:formatCode>
                <c:ptCount val="10"/>
                <c:pt idx="0">
                  <c:v>0.1353</c:v>
                </c:pt>
                <c:pt idx="1">
                  <c:v>0.06918</c:v>
                </c:pt>
                <c:pt idx="2">
                  <c:v>0.06121</c:v>
                </c:pt>
                <c:pt idx="3">
                  <c:v>0.06169</c:v>
                </c:pt>
                <c:pt idx="4">
                  <c:v>0.07114</c:v>
                </c:pt>
                <c:pt idx="5">
                  <c:v>0.06912</c:v>
                </c:pt>
                <c:pt idx="6">
                  <c:v>0.05343</c:v>
                </c:pt>
                <c:pt idx="7">
                  <c:v>0.04651</c:v>
                </c:pt>
                <c:pt idx="8">
                  <c:v>0.03951</c:v>
                </c:pt>
                <c:pt idx="9">
                  <c:v>0.03801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4.281</c:v>
                </c:pt>
                <c:pt idx="1">
                  <c:v>3.843</c:v>
                </c:pt>
                <c:pt idx="2">
                  <c:v>3.235</c:v>
                </c:pt>
                <c:pt idx="3">
                  <c:v>2.799</c:v>
                </c:pt>
                <c:pt idx="4">
                  <c:v>2.4</c:v>
                </c:pt>
                <c:pt idx="5">
                  <c:v>1.873</c:v>
                </c:pt>
                <c:pt idx="6">
                  <c:v>1.514</c:v>
                </c:pt>
                <c:pt idx="7">
                  <c:v>1.239</c:v>
                </c:pt>
                <c:pt idx="8">
                  <c:v>1.058</c:v>
                </c:pt>
                <c:pt idx="9">
                  <c:v>1.012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0.08640</c:v>
                </c:pt>
                <c:pt idx="1">
                  <c:v>0.1044</c:v>
                </c:pt>
                <c:pt idx="2">
                  <c:v>0.05832</c:v>
                </c:pt>
                <c:pt idx="3">
                  <c:v>0.06700</c:v>
                </c:pt>
                <c:pt idx="4">
                  <c:v>0.06460</c:v>
                </c:pt>
                <c:pt idx="5">
                  <c:v>0.06941</c:v>
                </c:pt>
                <c:pt idx="6">
                  <c:v>0.06018</c:v>
                </c:pt>
                <c:pt idx="7">
                  <c:v>0.05253</c:v>
                </c:pt>
                <c:pt idx="8">
                  <c:v>0.04283</c:v>
                </c:pt>
                <c:pt idx="9">
                  <c:v>0.03964</c:v>
                </c:pt>
              </c:numLit>
            </c:plus>
            <c:minus>
              <c:numLit>
                <c:formatCode>General</c:formatCode>
                <c:ptCount val="10"/>
                <c:pt idx="0">
                  <c:v>0.08640</c:v>
                </c:pt>
                <c:pt idx="1">
                  <c:v>0.1044</c:v>
                </c:pt>
                <c:pt idx="2">
                  <c:v>0.05832</c:v>
                </c:pt>
                <c:pt idx="3">
                  <c:v>0.06700</c:v>
                </c:pt>
                <c:pt idx="4">
                  <c:v>0.06460</c:v>
                </c:pt>
                <c:pt idx="5">
                  <c:v>0.06941</c:v>
                </c:pt>
                <c:pt idx="6">
                  <c:v>0.06018</c:v>
                </c:pt>
                <c:pt idx="7">
                  <c:v>0.05253</c:v>
                </c:pt>
                <c:pt idx="8">
                  <c:v>0.04283</c:v>
                </c:pt>
                <c:pt idx="9">
                  <c:v>0.03964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4.425</c:v>
                </c:pt>
                <c:pt idx="1">
                  <c:v>4.041</c:v>
                </c:pt>
                <c:pt idx="2">
                  <c:v>3.448</c:v>
                </c:pt>
                <c:pt idx="3">
                  <c:v>3.003</c:v>
                </c:pt>
                <c:pt idx="4">
                  <c:v>2.629</c:v>
                </c:pt>
                <c:pt idx="5">
                  <c:v>2.148</c:v>
                </c:pt>
                <c:pt idx="6">
                  <c:v>1.779</c:v>
                </c:pt>
                <c:pt idx="7">
                  <c:v>1.437</c:v>
                </c:pt>
                <c:pt idx="8">
                  <c:v>1.159</c:v>
                </c:pt>
                <c:pt idx="9">
                  <c:v>1.06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0.09400</c:v>
                </c:pt>
                <c:pt idx="1">
                  <c:v>0.08385</c:v>
                </c:pt>
                <c:pt idx="2">
                  <c:v>0.06546</c:v>
                </c:pt>
                <c:pt idx="3">
                  <c:v>0.06869</c:v>
                </c:pt>
                <c:pt idx="4">
                  <c:v>0.07098</c:v>
                </c:pt>
                <c:pt idx="5">
                  <c:v>0.05715</c:v>
                </c:pt>
                <c:pt idx="6">
                  <c:v>0.05602</c:v>
                </c:pt>
                <c:pt idx="7">
                  <c:v>0.04965</c:v>
                </c:pt>
                <c:pt idx="8">
                  <c:v>0.04270</c:v>
                </c:pt>
                <c:pt idx="9">
                  <c:v>0.03903</c:v>
                </c:pt>
              </c:numLit>
            </c:plus>
            <c:minus>
              <c:numLit>
                <c:formatCode>General</c:formatCode>
                <c:ptCount val="10"/>
                <c:pt idx="0">
                  <c:v>0.09400</c:v>
                </c:pt>
                <c:pt idx="1">
                  <c:v>0.08385</c:v>
                </c:pt>
                <c:pt idx="2">
                  <c:v>0.06546</c:v>
                </c:pt>
                <c:pt idx="3">
                  <c:v>0.06869</c:v>
                </c:pt>
                <c:pt idx="4">
                  <c:v>0.07098</c:v>
                </c:pt>
                <c:pt idx="5">
                  <c:v>0.05715</c:v>
                </c:pt>
                <c:pt idx="6">
                  <c:v>0.05602</c:v>
                </c:pt>
                <c:pt idx="7">
                  <c:v>0.04965</c:v>
                </c:pt>
                <c:pt idx="8">
                  <c:v>0.04270</c:v>
                </c:pt>
                <c:pt idx="9">
                  <c:v>0.03903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3.995</c:v>
                </c:pt>
                <c:pt idx="1">
                  <c:v>3.667</c:v>
                </c:pt>
                <c:pt idx="2">
                  <c:v>3.192</c:v>
                </c:pt>
                <c:pt idx="3">
                  <c:v>2.864</c:v>
                </c:pt>
                <c:pt idx="4">
                  <c:v>2.532</c:v>
                </c:pt>
                <c:pt idx="5">
                  <c:v>2.073</c:v>
                </c:pt>
                <c:pt idx="6">
                  <c:v>1.714</c:v>
                </c:pt>
                <c:pt idx="7">
                  <c:v>1.397</c:v>
                </c:pt>
                <c:pt idx="8">
                  <c:v>1.136</c:v>
                </c:pt>
                <c:pt idx="9">
                  <c:v>1.049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protein  (n = 45,730)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1.405</c:v>
                </c:pt>
                <c:pt idx="1">
                  <c:v>1.405</c:v>
                </c:pt>
                <c:pt idx="2">
                  <c:v>1.405</c:v>
                </c:pt>
                <c:pt idx="3">
                  <c:v>1.405</c:v>
                </c:pt>
                <c:pt idx="4">
                  <c:v>1.405</c:v>
                </c:pt>
                <c:pt idx="5">
                  <c:v>1.405</c:v>
                </c:pt>
                <c:pt idx="6">
                  <c:v>1.405</c:v>
                </c:pt>
                <c:pt idx="7">
                  <c:v>1.405</c:v>
                </c:pt>
                <c:pt idx="8">
                  <c:v>1.405</c:v>
                </c:pt>
                <c:pt idx="9">
                  <c:v>1.405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0.01459</c:v>
                </c:pt>
                <c:pt idx="1">
                  <c:v>0.01315</c:v>
                </c:pt>
                <c:pt idx="2">
                  <c:v>0.01237</c:v>
                </c:pt>
                <c:pt idx="3">
                  <c:v>0.01219</c:v>
                </c:pt>
                <c:pt idx="4">
                  <c:v>0.01343</c:v>
                </c:pt>
                <c:pt idx="5">
                  <c:v>0.01492</c:v>
                </c:pt>
                <c:pt idx="6">
                  <c:v>0.01543</c:v>
                </c:pt>
                <c:pt idx="7">
                  <c:v>0.01577</c:v>
                </c:pt>
                <c:pt idx="8">
                  <c:v>0.01583</c:v>
                </c:pt>
                <c:pt idx="9">
                  <c:v>0.01581</c:v>
                </c:pt>
              </c:numLit>
            </c:plus>
            <c:minus>
              <c:numLit>
                <c:formatCode>General</c:formatCode>
                <c:ptCount val="10"/>
                <c:pt idx="0">
                  <c:v>0.01459</c:v>
                </c:pt>
                <c:pt idx="1">
                  <c:v>0.01315</c:v>
                </c:pt>
                <c:pt idx="2">
                  <c:v>0.01237</c:v>
                </c:pt>
                <c:pt idx="3">
                  <c:v>0.01219</c:v>
                </c:pt>
                <c:pt idx="4">
                  <c:v>0.01343</c:v>
                </c:pt>
                <c:pt idx="5">
                  <c:v>0.01492</c:v>
                </c:pt>
                <c:pt idx="6">
                  <c:v>0.01543</c:v>
                </c:pt>
                <c:pt idx="7">
                  <c:v>0.01577</c:v>
                </c:pt>
                <c:pt idx="8">
                  <c:v>0.01583</c:v>
                </c:pt>
                <c:pt idx="9">
                  <c:v>0.01581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1.229</c:v>
                </c:pt>
                <c:pt idx="1">
                  <c:v>1.162</c:v>
                </c:pt>
                <c:pt idx="2">
                  <c:v>1.096</c:v>
                </c:pt>
                <c:pt idx="3">
                  <c:v>1.059</c:v>
                </c:pt>
                <c:pt idx="4">
                  <c:v>1.033</c:v>
                </c:pt>
                <c:pt idx="5">
                  <c:v>1.014</c:v>
                </c:pt>
                <c:pt idx="6">
                  <c:v>1.007</c:v>
                </c:pt>
                <c:pt idx="7">
                  <c:v>1.004</c:v>
                </c:pt>
                <c:pt idx="8">
                  <c:v>1.001</c:v>
                </c:pt>
                <c:pt idx="9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0.01602</c:v>
                </c:pt>
                <c:pt idx="1">
                  <c:v>0.01336</c:v>
                </c:pt>
                <c:pt idx="2">
                  <c:v>0.01164</c:v>
                </c:pt>
                <c:pt idx="3">
                  <c:v>0.01311</c:v>
                </c:pt>
                <c:pt idx="4">
                  <c:v>0.01255</c:v>
                </c:pt>
                <c:pt idx="5">
                  <c:v>0.01394</c:v>
                </c:pt>
                <c:pt idx="6">
                  <c:v>0.01491</c:v>
                </c:pt>
                <c:pt idx="7">
                  <c:v>0.01545</c:v>
                </c:pt>
                <c:pt idx="8">
                  <c:v>0.01580</c:v>
                </c:pt>
                <c:pt idx="9">
                  <c:v>0.01583</c:v>
                </c:pt>
              </c:numLit>
            </c:plus>
            <c:minus>
              <c:numLit>
                <c:formatCode>General</c:formatCode>
                <c:ptCount val="10"/>
                <c:pt idx="0">
                  <c:v>0.01602</c:v>
                </c:pt>
                <c:pt idx="1">
                  <c:v>0.01336</c:v>
                </c:pt>
                <c:pt idx="2">
                  <c:v>0.01164</c:v>
                </c:pt>
                <c:pt idx="3">
                  <c:v>0.01311</c:v>
                </c:pt>
                <c:pt idx="4">
                  <c:v>0.01255</c:v>
                </c:pt>
                <c:pt idx="5">
                  <c:v>0.01394</c:v>
                </c:pt>
                <c:pt idx="6">
                  <c:v>0.01491</c:v>
                </c:pt>
                <c:pt idx="7">
                  <c:v>0.01545</c:v>
                </c:pt>
                <c:pt idx="8">
                  <c:v>0.01580</c:v>
                </c:pt>
                <c:pt idx="9">
                  <c:v>0.01583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1.252</c:v>
                </c:pt>
                <c:pt idx="1">
                  <c:v>1.189</c:v>
                </c:pt>
                <c:pt idx="2">
                  <c:v>1.116</c:v>
                </c:pt>
                <c:pt idx="3">
                  <c:v>1.078</c:v>
                </c:pt>
                <c:pt idx="4">
                  <c:v>1.048</c:v>
                </c:pt>
                <c:pt idx="5">
                  <c:v>1.023</c:v>
                </c:pt>
                <c:pt idx="6">
                  <c:v>1.012</c:v>
                </c:pt>
                <c:pt idx="7">
                  <c:v>1.007</c:v>
                </c:pt>
                <c:pt idx="8">
                  <c:v>1.002</c:v>
                </c:pt>
                <c:pt idx="9">
                  <c:v>1.001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0.01208</c:v>
                </c:pt>
                <c:pt idx="1">
                  <c:v>0.01354</c:v>
                </c:pt>
                <c:pt idx="2">
                  <c:v>0.01271</c:v>
                </c:pt>
                <c:pt idx="3">
                  <c:v>0.01274</c:v>
                </c:pt>
                <c:pt idx="4">
                  <c:v>0.01328</c:v>
                </c:pt>
                <c:pt idx="5">
                  <c:v>0.01419</c:v>
                </c:pt>
                <c:pt idx="6">
                  <c:v>0.01512</c:v>
                </c:pt>
                <c:pt idx="7">
                  <c:v>0.01559</c:v>
                </c:pt>
                <c:pt idx="8">
                  <c:v>0.01577</c:v>
                </c:pt>
                <c:pt idx="9">
                  <c:v>0.01582</c:v>
                </c:pt>
              </c:numLit>
            </c:plus>
            <c:minus>
              <c:numLit>
                <c:formatCode>General</c:formatCode>
                <c:ptCount val="10"/>
                <c:pt idx="0">
                  <c:v>0.01208</c:v>
                </c:pt>
                <c:pt idx="1">
                  <c:v>0.01354</c:v>
                </c:pt>
                <c:pt idx="2">
                  <c:v>0.01271</c:v>
                </c:pt>
                <c:pt idx="3">
                  <c:v>0.01274</c:v>
                </c:pt>
                <c:pt idx="4">
                  <c:v>0.01328</c:v>
                </c:pt>
                <c:pt idx="5">
                  <c:v>0.01419</c:v>
                </c:pt>
                <c:pt idx="6">
                  <c:v>0.01512</c:v>
                </c:pt>
                <c:pt idx="7">
                  <c:v>0.01559</c:v>
                </c:pt>
                <c:pt idx="8">
                  <c:v>0.01577</c:v>
                </c:pt>
                <c:pt idx="9">
                  <c:v>0.01582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1.229</c:v>
                </c:pt>
                <c:pt idx="1">
                  <c:v>1.171</c:v>
                </c:pt>
                <c:pt idx="2">
                  <c:v>1.11</c:v>
                </c:pt>
                <c:pt idx="3">
                  <c:v>1.073</c:v>
                </c:pt>
                <c:pt idx="4">
                  <c:v>1.044</c:v>
                </c:pt>
                <c:pt idx="5">
                  <c:v>1.021</c:v>
                </c:pt>
                <c:pt idx="6">
                  <c:v>1.011</c:v>
                </c:pt>
                <c:pt idx="7">
                  <c:v>1.006</c:v>
                </c:pt>
                <c:pt idx="8">
                  <c:v>1.002</c:v>
                </c:pt>
                <c:pt idx="9">
                  <c:v>1.001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Two-party linear regression between a researcher and a national statistical agency, where the agency holds the outcome. We cover the problem, what we found when reviewing the draft protocol, the revised protocol, and results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1: motivation, data layout, goal and privacy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motivating setting: a researcher cohort and an agency register cover overlapping people but different variables. Today, linking them takes weeks of vetting in an RDC.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are people, columns are variables. The two tables overlap only on the matched individuals; the register is far larger than the cohort.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Gram matrix splits into blocks. A is the researcher's own; B and c_O are the organization's data restricted to matched rows; C and c_R are genuinely cross-party.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model: semi-honest. Three guarantees: cryptographic input privacy, linkage privacy for the organization, and differential privacy on what the researcher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DP regression assumes a pooled table; VFL-with-HE work usually lacks output privacy; PSI gives linkage only. We combine private linkage, encrypted aggregation and DP.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The sequence of work: review, running the implementation, adversarial privacy reviews, redesign, simulations, and the AdaSSP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finding. The DP argument reasoned about the decrypted value, but R holds the key and sees the whole ciphertext. With plaintext-scalar noise, the c1 component is independent of the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findings across the code review, three privacy reviews and an independent critique, with how the revised protocol handles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contributions: the corrected data flow, the revised protocol, the theory, and the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3: how the revised protocol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phases. The figure on the right is the full message flow with the risks each step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exchanges only committed public constants. Phase 1 is labeled PSI in the Chen–Laine–Rindal style, hardened with a secret permutation, public padding and flooded replies.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O-dependent blocks are depth-one inner products. The DP noise is a single value per released entry, replicated across slots, added by fresh encryption and then sanitized.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draft's sensitivity bound was for add/remove adjacency; our adjacency is replace-one, which needs up to twice the Δ. The ledger makes re-runs compose under an explicit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sanitization steps. The CKKS flooding is sized as a DP mechanism in the style of Li, Micciancio, Schultz and Sorrell, so it costs a small ledger entry instead of 40 bits of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fixes the ridge from public inputs, decrypts, splices in its exact block, solves, and applies the second-order bias correction. The theorem is stated conditionally because the unconditional mean does not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Simulations use a known population so the true beta, public constants and committed bounds are all data-independent. The benchmark uses Wang's datasets.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4: results. Slides marked as placeholders are still to be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Correctness of linkage and aggregation: exact alignment and 1e-10 agreement with plaintext OLS when noise is off. All error comes from the DP noise and the ridge it forces. The table is a placeholder: the revised protocol's sanitization (fresh encryption, modulus switch, flooding) is not yet implemented in OpenFHE.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RMSE over 200 runs, with the 2.5–97.5% band across runs and the non-private OLS floor. R-squared 0.5.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behind the figure. A stronger signal lowers the OLS floor, but the DP part is set by the committed bounds, so the ratio is largest at high R-squared.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Per-coefficient view. Raw RMSE is meaningless across coefficients because of units; the efficiency ratio compares each coefficient against its own sampling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reviewer: not as a bias correction; the removed bias is tiny. It is still worth applying as a free variance reduction. Rule: apply to every release that passes the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sigma is large, the ridge's shrinkage dominates. Intervals are reliable only when the ridge is off, and at large n clipping to the committed bounds moves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reports/adassp/results.csv. Our protocol beats the matched AdaSSP on every dataset here and is within a few percent of published AdaSSP at large n; published AdaSSP is ahead on the small datasets at eps = 1. Our AdaSSP re-implementation reproduces Wang's published MSE (median ratio 1.000 over 29 datasets and 10 values of eps).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charts from reports/adassp/results.csv; paired verdicts from reports/adassp/all/compare.csv (all 29 datasets of Wang's published run, R = 50 draws per fold; a verdict needs the 95% CI of the paired fold difference to exclude 0). The bias correction changes test MSE by -2.8% to +2.3%: it helps at small eps and slightly hurts at large 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Real-data analogue of Figure A. From reports/adassp/sweep (experiments/adassp/sweep_n.py): bike, elevators, pol and protein, the four of Wang's datasets with at least 15k rows and a real linear signal (kin40k has none: non-private is no better than predicting zero). For each fold, the training folds are shuffled once and the first n rows are the matched set; the held-out fold is the test set. Crossings are log-linear interpolations of the mean curve; '&gt;15k' means never within 10% at the sizes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takeaways and five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6600" y="1417320"/>
            <a:ext cx="3017520" cy="3017520"/>
          </a:xfrm>
          <a:prstGeom prst="ellipse">
            <a:avLst/>
          </a:prstGeom>
          <a:solidFill>
            <a:srgbClr val="3D5A80">
              <a:alpha val="65000"/>
            </a:srgbClr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solidFill>
            <a:srgbClr val="C45A0C">
              <a:alpha val="55000"/>
            </a:srgbClr>
          </a:solidFill>
          <a:ln w="19050">
            <a:solidFill>
              <a:srgbClr val="E7A77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4630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Privacy-Preserving Vertical Federated Linear Regression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91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organization holds the response: protocol, privacy analysis and evaluation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 · 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regression across data that cannot be pooled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datasets, one question, no pooling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Researcher  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cohort with rich domain variables: health, education, surveys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to know whether these predict an administrative outcome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features X_R and identifiers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41732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09360" y="169164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92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Organization  O  (e.g. StatCan)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26060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register: tax filings, income, benefits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outcome y and features X_O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release records; law and governance bar direct sharing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983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 weeks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50749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vetting and approvals today before a researcher can link a cohort to agency records in a Research Data Centre. Neither dataset alone answers the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people, different variables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partitioned data: overlapping rows, disjoint columns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cohort (n_R rows)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834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632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291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749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9776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2062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34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663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892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5120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94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register (n_O rows, n_O ≫ n_R)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31920" y="1920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3720" y="1920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0" y="2148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2148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31920" y="2377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2377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31920" y="26060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03720" y="26060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2834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2834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0" y="3063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03720" y="3063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291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3291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31920" y="3520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03720" y="3520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31920" y="3749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03720" y="3749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1920" y="39776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03720" y="39776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31920" y="42062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20" y="42062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31920" y="4434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03720" y="4434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31920" y="4663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03720" y="4663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892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03720" y="4892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931920" y="5120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03720" y="5120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0" y="5349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03720" y="5349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31920" y="5577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03720" y="5577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931920" y="5806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903720" y="5806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931920" y="6080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6903720" y="6080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3246120" y="3291840"/>
            <a:ext cx="548640" cy="1792224"/>
          </a:xfrm>
          <a:prstGeom prst="rect">
            <a:avLst/>
          </a:prstGeom>
          <a:solidFill>
            <a:srgbClr val="14213D">
              <a:alpha val="15000"/>
            </a:srgbClr>
          </a:solidFill>
          <a:ln w="12700">
            <a:solidFill>
              <a:srgbClr val="14213D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154680" y="4023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955280" y="1417320"/>
            <a:ext cx="3657600" cy="4663440"/>
          </a:xfrm>
          <a:prstGeom prst="roundRect">
            <a:avLst>
              <a:gd name="adj" fmla="val 2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22960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20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0" y="214884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y on [X_R | X_O] over the n matched individuals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party sees the other's raw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must not learn which of its records are in R's cohort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released model must not expose individuals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computed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on the matched join needs a Gram matrix that spans both parties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 = (ZᵀZ)⁻¹ Zᵀy,    Z = [ X_Rᴵ | X_Oᴵ ]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solidFill>
            <a:srgbClr val="D6E0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400" dirty="0"/>
          </a:p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X_O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c_R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y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c_O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y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ZᵀZ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394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26480" y="2514600"/>
            <a:ext cx="365760" cy="365760"/>
          </a:xfrm>
          <a:prstGeom prst="rect">
            <a:avLst/>
          </a:prstGeom>
          <a:solidFill>
            <a:srgbClr val="D6E0EE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5420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alone: exact, never leaves 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26480" y="3081528"/>
            <a:ext cx="365760" cy="365760"/>
          </a:xfrm>
          <a:prstGeom prst="rect">
            <a:avLst/>
          </a:prstGeom>
          <a:solidFill>
            <a:srgbClr val="F3D2BC"/>
          </a:solidFill>
          <a:ln w="12700">
            <a:solidFill>
              <a:srgbClr val="F3D2B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3108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 data, but only on matched rows (needs b)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26480" y="3648456"/>
            <a:ext cx="365760" cy="365760"/>
          </a:xfrm>
          <a:prstGeom prst="rect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Cross-party: needs both parties' data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438912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5080" y="4572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is purely R's. Everything that touches O's data is computed under R's encryption key and noised by O before R sees it.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guarantees, honest-but-curious parties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privacy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party's view can be simulated from its own input and the agreed output. Neither sees the other's raw data.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340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7720" y="1737360"/>
            <a:ext cx="777240" cy="7772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258" y="192389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Linkage privacy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learns nothing about which of its records match R's cohort (only public sizes).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1737360"/>
            <a:ext cx="777240" cy="7772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2389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privacy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 receives is differentially private for each matched person's O-side data (x_O, y), with R's features held fixed (replace-one).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5285232"/>
            <a:ext cx="731520" cy="7315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460797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37360" y="5303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follow the protocol but analyse everything they receive. R holds all decryption keys and learns the match set by design; O controls the privacy budget.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work sits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1920240"/>
                <a:gridCol w="18745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data sit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linkage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privacy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for our 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DP regression (AdaSSP, Wang 2018)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trusted curator holds the joined table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needed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Assumes the pooled data exist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 with HE (e.g. Yang et al. 2019)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or separate PSI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can leak individuals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set intersection (Chen–Laine–Rindal)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Linkage only, no 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Split; never pooled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PSI, private to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DP, budget controlled by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Narrower guarantee: protects O's side; R learns membership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statistical engine as AdaSSP (perturb the sufficient statistics, then solve a ridge), delivered without pooling, and with R's own block kept exact.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0515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960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783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the draft, found what breaks, and rebuilt it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794760"/>
            <a:ext cx="923544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360456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65760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Review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paper and code checked line by line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395728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293" y="360456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Run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over sockets: plaintext and real OpenFHE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242816" y="342900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360456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059936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Attack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059936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privacy reviews plus an independent critique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089904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469" y="360456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07024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Redesign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907024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protocol, TikZ figure, rewritten paper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7936992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2557" y="3604565"/>
            <a:ext cx="380390" cy="38039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754112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Simulate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754112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bias-correction studies</a:t>
            </a:r>
            <a:endParaRPr lang="en-US" sz="1350" dirty="0"/>
          </a:p>
        </p:txBody>
      </p:sp>
      <p:sp>
        <p:nvSpPr>
          <p:cNvPr id="27" name="Shape 20"/>
          <p:cNvSpPr/>
          <p:nvPr/>
        </p:nvSpPr>
        <p:spPr>
          <a:xfrm>
            <a:off x="9784080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9645" y="3604565"/>
            <a:ext cx="380390" cy="38039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601200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Benchmark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601200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on 29 of Wang's UCI datasets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finding: the noise did not protect the ciphertext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in which R identified the true dataset from O's reply: matched and unmatched records alike (real OpenFHE, 20/20).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D5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that ε = 1 differential privacy allows.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29768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 added the noise as a plaintext scalar, which changes only c₀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is a deterministic function of R's own ciphertexts, keys and O's data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who holds the key, recomputes c₁ for each candidate dataset and compares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9244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fresh encryption of the noise, which re-randomizes c₁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last modulus level, then flood the error term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linkage replies: statistical flooding; CKKS: DP-calibrated flooding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scorecard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371600"/>
                <a:gridCol w="4206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in the revised 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Plaintext-scalar noise leaks through the ciphertext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fresh encryption plus flooding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step shares raw-data 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per-party commitments, public constants only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Add/remove sensitivity vs replace-one adjacency (true ε up to ~2× the claim)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replace-one Δ, closed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privacy ledger across runs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zCDP ledger at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reveals O's row order and bin loads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secret permutation, public padding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λ cancels the bias correction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λ set from public inputs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CKKS slot leak; HE parameter security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an issue with OpenFHE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learns which of its cohort are in the register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design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Stated in Definition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Corrected data flow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R's Gram block A is computed locally, is never sent and never noised. The sensitivity loses its B_R⁴ term.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Revised protocol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Sanitized replies, replace-one DP, zCDP ledger, per-party calibration, hardened PSI, ridge fixed from public inputs.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Theory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Finite-noise bias as a conditional expectation, a zero-budget correction, and a closed-form replace-one sensitivity.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runs, simulation studies of accuracy and of the correction, and a benchmark against AdaSSP.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protocol, phase by phase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727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614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linkage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labeled PSI; R learns the match set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9502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Encrypted aggregation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CKKS, depth 1; DP noise added by 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389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at 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ridge, bias correction; post-processing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in the figure marks what changed from the draft.</a:t>
            </a:r>
            <a:endParaRPr lang="en-US" sz="1200" dirty="0"/>
          </a:p>
        </p:txBody>
      </p:sp>
      <p:pic>
        <p:nvPicPr>
          <p:cNvPr id="20" name="Image 0" descr="/home/user/VerticalFederatedRegression/protocol_v2/protocol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2308" y="274320"/>
            <a:ext cx="4823384" cy="6355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0–1: commitments and private linkage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standardizes with its own constants (kept), clips rows to B_R, generates BFV and CKKS keys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standardizes with public constants, clips to B_O and B_y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computes Δ_rep and σ, and refuses the run if the ledger would exceed its cap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cross: no quantiles, clip rates or sample moments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Labeled PSI with alignment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applies a secret permutation τ, so labels are random positions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hashing; bins padded to a public degree D and count α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cuckoo-hashes its IDs and sends encrypted windowed powers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evaluates membership and label polynomials, masks, and sanitizes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learns I and the aligned positions; O learns only public sizes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encrypted aggregation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multiplies R's encrypted vectors by its own plaintext columns (depth 1)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492240" cy="3063240"/>
          </a:xfrm>
          <a:prstGeom prst="roundRect">
            <a:avLst>
              <a:gd name="adj" fmla="val 238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Enc(B_jk)   = Σᵢ Enc(bᵢ) · X_O,ij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Enc(C_jk)   = Σᵢ Enc(Ẋ_R,ij)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Enc(c_O,k) = Σᵢ Enc(bᵢ) · X_O,ik · yᵢ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Enc(c_R,j) = Σᵢ Enc(Ẋ_R,ij) · yᵢ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069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selection vector;  Ẋ_R: R's features in O's order (zero off the match set)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0664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185623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7532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Ẋ_Rᵀ Ẋ_R stays with 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240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never transmitted, never noised.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06640" y="301752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318211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27532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noise draw per entry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275320" y="35661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is the same in every CKKS slot. Independent noise per slot could be averaged away.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513892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released entry:  ct ← Sanitize_CKKS( ct ⊞ Enc_pk(z) ),   z ~ discrete Gaussian N_ℤ(0, σ²) from a CSPRNG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Calibrating the noise, and keeping count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Replace-one sensitivity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adjacency replaces one matched person's (x_O, y). The draft used the add/remove bound, which understates Δ.</a:t>
            </a:r>
            <a:endParaRPr lang="en-US" sz="14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325880"/>
                <a:gridCol w="10058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(B_R, B_O, B_y)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Δ_add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Δ_rep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(1, 1, 1)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(3.16, 3, 3)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(√5, √5,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population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Δ_add ≤ Δ_rep ≤ 2Δ_add. Releasing yᵀy costs nothing under replace-one.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1417320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645920"/>
            <a:ext cx="640080" cy="6400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5899" y="179953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from the analytic Gaussian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2176272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σ meeting (ε, δ) for the whole stacked release (Balle–Wang). Discrete Gaussian at the CKKS resolution.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583680" y="379476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12280" y="4023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899" y="417697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35240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zCDP ledger at O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7635240" y="4553712"/>
            <a:ext cx="3794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ρ_run = Δ²/2σ² + ρ_err. O refuses a run once the cumulative spend would pass its cap. Re-runs, retraining and inference queries all count.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Sanitizing O's replies (circuit privacy)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holds the key, so every reply must reveal nothing beyond its decrypted value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encryption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⊞ Enc_pk(z) makes c₁ computationally uniform: it no longer depends on O's data.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Modulus switch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to the last level, which scales down the data-dependent error.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Flood the error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BFV: statistical flooding with N·2^−κ ≤ 2^−40. CKKS: DP-calibrated flooding with width ς = S_err / √(2ρ_err).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DP-calibrated flooding for CKKS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3035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2⁴⁰ flooding would swamp CKKS precision. A DP-sized flood needs only a few bits above the error; its cost joins the ledger.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63640" y="480060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919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proof obligation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53035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bound on S_err, how much one record can change the ciphertext error, for the exact encoding and key switching.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fixed ridge and zero-budget bias correction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Ridge, fixed before decryption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max{ 0, 2ρ*σ√p − nℓ },  Ψ = 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ρ̂ = λ_min(G̃ + λI) / (2σ√p) ≥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ridge estimate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β̃_λ = (G̃ + λI)⁻¹ c̃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3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Bias-corrected estimate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03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β̂_bc = β̃_λ − σ² M(P̃_λ) β̃_λ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41732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Theorem (conditional bias)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031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E[ β̃ | ℰ_η ] − β̂ = σ² M(P) β̂ + O(σ⁴) + O(exp(−p(ηρ−1)²/2))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432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M(P) = (P² + tr(P)P − P diag(P)) Π_O + (P Π_O P + tr(Π_O P) P) Π_R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474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plain mean does not exist, hence the conditioning on ℰ_η.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480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590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λ must not depend on the noise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98348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G̃, λ moves with the noise. The correction then removed none of the bias (1.0–1.6× left); with fixed λ it removes 87–98%.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evaluate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population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real-world scales (income, age, binary indicators, counts), correlated. Public standardization constants; committed 99.5% bounds; R² ∈ {0.3, 0.5, 0.9}.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from 100 to 100k matched records; ε ∈ {0.5, 1, 2, 4, 8}, δ = 10⁻⁵; 200 replicates, each with new data and a new DP release.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939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against the true β (standardized); per-coefficient efficiency ratio; interval coverage; MSE ratio corrected/uncorrected.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27939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UCI datasets from Wang's published run, with his preprocessing; AdaSSP as published and under our guarantee; 10-fold test MSE.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so far, and what is still to run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cryptographic layer is exact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protocol, run end-to-end over sockets with plaintext and real OpenFHE backends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misaligned rows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recovered exactly the true match set in all 6 cohorts, plaintext and OpenFHE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≈10⁻¹⁰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|β − β_OLS|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noise switched off: encryption adds no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737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 s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OpenFHE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n_O = 4,000 records, n = 400 matched (plaintext backend: 3.2 s)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 the revised protocol in OpenFHE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058400" y="4160520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0" y="41605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run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31520"/>
                <a:gridCol w="1737360"/>
                <a:gridCol w="2194560"/>
                <a:gridCol w="1828800"/>
                <a:gridCol w="2468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size n_O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time (s)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time (s)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(MB)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 overhead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10⁶ (chunked)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against intersection size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A_rmse_vs_n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7772400" cy="499654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280160"/>
            <a:ext cx="3337560" cy="49377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2× of non-private OLS 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148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8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2148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3.2k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606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92640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9.4k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3063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34k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3520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35204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105k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41148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n: the ridge shrinks β̂ towards 0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DP error falls like 1/n and merges into the OLS floor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Run-to-run spread is about ×2.5–3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RMSE of the standardized slopes against the true β (ratio to the OLS floor), R² = 0.5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floor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 (9.9×)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0.213 (9.1×)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0.181 (7.7×)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 (5.9×)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0.078 (3.3×)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 (12×)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 (5.8×)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 (1.9×)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(1.3×)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0.0051 (2.0×)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 (1.4×)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 (1.2×)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 (1.0×)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at which VFL comes within 2× of the OLS floor</a:t>
            </a:r>
            <a:endParaRPr lang="en-US" sz="18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≈240k*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≈380k*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≈105k*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extrapolated beyond n = 100k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coefficients on different scales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B1_efficiency_ratio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3579" y="1143000"/>
            <a:ext cx="8754362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scale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span 5.6 orders of magnitude (≈$0.2 per $ income vs ≈$10k per binary). A pooled raw RMSE is 87% driven by two binary coefficients.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ratio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RMSE_DP,j / SE_OLS,j: unit-free. A ratio r means the release is about as accurate as OLS on n/r² records.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ridge is off, DP costs about the same for every coefficient (±15%); O-side coefficients run ~10% higher.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bias correction matter?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1_mse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11430000" cy="351730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 to −12%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the protocol target when the ridge is on. The correction also shrinks noise; it never raised this MSE (90 settings).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+0.3 to +4.3%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OLS under a moderate ridge: the correction restores shrinkage that noise had offset.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releases before the bias alone would matter; one release: at most 0.75% of MSE.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error comes from when σ is large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2_decom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11430000" cy="2872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anatomy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ridge: 72–90% of the error is shrinkage, 11–31% noise variance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bias²: at most 0.75% anywhere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0: 95% intervals cover 0.94–0.96; SEs within 1–3% of the truth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on: coverage collapses. Clipping shifts the target at large n (every DP method pays this)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against AdaSSP (Wang 2018)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at ε = 1, δ = 10⁻⁶, 10-fold CV. Ratio to non-private in brackets; bold = best private method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548640"/>
                <a:gridCol w="1280160"/>
                <a:gridCol w="1828800"/>
                <a:gridCol w="1783080"/>
                <a:gridCol w="1645920"/>
                <a:gridCol w="1783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Non-private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5A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0.0713 (1.80×)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0.0819 (2.07×)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0.0779 (1.97×)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0.0773 (1.95×)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0.0338 (1.68×)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0.0391 (1.95×)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0.0370 (1.84×)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0.0368 (1.83×)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airfoil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0.0579 (1.09×)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0.0625 (1.17×)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0.0617 (1.16×)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 (1.16×)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0.0657 (1.48×)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0.0774 (1.74×)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0.0751 (1.69×)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0.0745 (1.68×)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0.0288 (1.03×)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0.0299 (1.07×)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0.0295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0.0295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0.0131 (1.51×)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0.0154 (1.78×)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0.0149 (1.71×)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0.0147 (1.70×)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 (1.04×)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 (1.08×)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kin40k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AdaSSP protects the whole record, a stronger guarantee than ours, and uses Wang's noise constants: at ε = 1 its per-entry noise on XᵀX (11.9) is below ours (13.4), which is still to be checked. Matched = AdaSSP's adaptive λ under our guarantee; idealized, since its λ_min step needs XᵀX in the clear.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privacy levels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÷ non-private, three datasets of increasing size; bars: 95% CI of the mean over the 10 folds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9768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Shape 2"/>
          <p:cNvSpPr/>
          <p:nvPr/>
        </p:nvSpPr>
        <p:spPr>
          <a:xfrm>
            <a:off x="2377440" y="4681728"/>
            <a:ext cx="365760" cy="0"/>
          </a:xfrm>
          <a:prstGeom prst="line">
            <a:avLst/>
          </a:prstGeom>
          <a:noFill/>
          <a:ln w="31750">
            <a:solidFill>
              <a:srgbClr val="B8BEC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83464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(θ = 0)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26280" y="4681728"/>
            <a:ext cx="365760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98348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(published)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6675120" y="4681728"/>
            <a:ext cx="365760" cy="0"/>
          </a:xfrm>
          <a:prstGeom prst="line">
            <a:avLst/>
          </a:prstGeom>
          <a:noFill/>
          <a:ln w="31750">
            <a:solidFill>
              <a:srgbClr val="EDA10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13232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(matched)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823960" y="4681728"/>
            <a:ext cx="365760" cy="0"/>
          </a:xfrm>
          <a:prstGeom prst="line">
            <a:avLst/>
          </a:prstGeom>
          <a:noFill/>
          <a:ln w="31750">
            <a:solidFill>
              <a:srgbClr val="2A78D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28116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VFL, ours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60120"/>
                <a:gridCol w="960120"/>
                <a:gridCol w="9601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better / worse (of 29)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Bias-corrected vs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548640" y="6327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over folds, 95% CI; the rest show no significant difference.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6583680" y="49377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12280" y="5102352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small ε the fixed ridge wins: AdaSSP spends a third of its budget on λ_min. From ε ≈ 0.5 AdaSSP's adaptive ridge wins (median 4% lower MSE at ε = 1); the gap shrinks as n grows.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Intersection size on real data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÷ non-private at the same n; nested subsets of the training folds; bars: 95% CI over folds</a:t>
            </a:r>
            <a:endParaRPr lang="en-US" sz="1600" dirty="0"/>
          </a:p>
        </p:txBody>
      </p:sp>
      <p:pic>
        <p:nvPicPr>
          <p:cNvPr id="4" name="Image 0" descr="/home/user/VerticalFederatedRegression/reports/adassp/sweep/fig_sweep_n_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309360" cy="5257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60920" y="15087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Matched records to come within 10% of non-private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60920" y="2148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(AdaSSP published)</a:t>
            </a:r>
            <a:endParaRPr lang="en-US" sz="1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246888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&gt;15k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(7.5k)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(3.8k)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(1.8k)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(14k)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(&gt;13k)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(7.0k)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(3.5k)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(1.7k)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(784)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(295)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360920" y="502920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ε roughly halves the records needed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needs about 1.5–2× the records AdaSSP needs for the same cost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elevators stays above 10% at every size available (up to 14.9k)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and next steps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63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 closes the critical and high gaps under honest-but-curious parties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2× of non-private OLS at n ≈ 3k–100k (simulation); within 10% at 1.4k–11k records for ε = 1–2 (real data)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49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AdaSSP: ahead at small ε, behind at large ε, where it needs about 1.5–2× the matched records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892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correction is a small effect (under 3% of test MSE); ridge shrinkage dominates when σ is large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83680" y="1371600"/>
            <a:ext cx="5029200" cy="4754880"/>
          </a:xfrm>
          <a:prstGeom prst="roundRect">
            <a:avLst>
              <a:gd name="adj" fmla="val 1538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7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148840"/>
            <a:ext cx="4526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Wang's noise constants; use the joint row bound to tighten our Δ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revised protocol in OpenFHE and measure its cost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S_err bound; complete finite-precision accounting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errors; membership-private variant for sensitive registers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Privacy-Preserving Vertical Federated Linear Regression</dc:title>
  <dc:subject>PptxGenJS Presentation</dc:subject>
  <dc:creator>VFL Scenario B project</dc:creator>
  <cp:lastModifiedBy>VFL Scenario B project</cp:lastModifiedBy>
  <cp:revision>1</cp:revision>
  <dcterms:created xsi:type="dcterms:W3CDTF">2026-09-30T18:56:26Z</dcterms:created>
  <dcterms:modified xsi:type="dcterms:W3CDTF">2026-09-30T18:56:26Z</dcterms:modified>
</cp:coreProperties>
</file>