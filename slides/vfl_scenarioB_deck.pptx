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4213D"/>
                </a:solidFill>
                <a:latin typeface="Cambria"/>
              </a:defRPr>
            </a:pPr>
            <a:r>
              <a:rPr sz="1300" b="0" i="0" u="none" strike="noStrike">
                <a:solidFill>
                  <a:srgbClr val="14213D"/>
                </a:solidFill>
                <a:latin typeface="Cambria"/>
              </a:rPr>
              <a:t>housing  (n = 506)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Trivial (θ = 0)</c:v>
                </c:pt>
              </c:strCache>
            </c:strRef>
          </c:tx>
          <c:spPr>
            <a:solidFill>
              <a:srgbClr val="B8BEC8"/>
            </a:solidFill>
            <a:ln w="25400" cap="flat">
              <a:solidFill>
                <a:srgbClr val="B8BEC8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B8BEC8"/>
              </a:solidFill>
              <a:ln w="9525" cap="flat">
                <a:solidFill>
                  <a:srgbClr val="B8BEC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0.01</c:v>
                  </c:pt>
                  <c:pt idx="1">
                    <c:v>0.02</c:v>
                  </c:pt>
                  <c:pt idx="2">
                    <c:v>0.05</c:v>
                  </c:pt>
                  <c:pt idx="3">
                    <c:v>0.1</c:v>
                  </c:pt>
                  <c:pt idx="4">
                    <c:v>0.2</c:v>
                  </c:pt>
                  <c:pt idx="5">
                    <c:v>0.5</c:v>
                  </c:pt>
                  <c:pt idx="6">
                    <c:v>1</c:v>
                  </c:pt>
                  <c:pt idx="7">
                    <c:v>2</c:v>
                  </c:pt>
                  <c:pt idx="8">
                    <c:v>5</c:v>
                  </c:pt>
                  <c:pt idx="9">
                    <c:v>10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2.824</c:v>
                </c:pt>
                <c:pt idx="1">
                  <c:v>2.824</c:v>
                </c:pt>
                <c:pt idx="2">
                  <c:v>2.824</c:v>
                </c:pt>
                <c:pt idx="3">
                  <c:v>2.824</c:v>
                </c:pt>
                <c:pt idx="4">
                  <c:v>2.824</c:v>
                </c:pt>
                <c:pt idx="5">
                  <c:v>2.824</c:v>
                </c:pt>
                <c:pt idx="6">
                  <c:v>2.824</c:v>
                </c:pt>
                <c:pt idx="7">
                  <c:v>2.824</c:v>
                </c:pt>
                <c:pt idx="8">
                  <c:v>2.824</c:v>
                </c:pt>
                <c:pt idx="9">
                  <c:v>2.824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AdaSSP (published)</c:v>
                </c:pt>
              </c:strCache>
            </c:strRef>
          </c:tx>
          <c:spPr>
            <a:solidFill>
              <a:srgbClr val="1BAF7A"/>
            </a:solidFill>
            <a:ln w="25400" cap="flat">
              <a:solidFill>
                <a:srgbClr val="1BAF7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1BAF7A"/>
              </a:solidFill>
              <a:ln w="9525" cap="flat">
                <a:solidFill>
                  <a:srgbClr val="1BAF7A"/>
                </a:solidFill>
                <a:prstDash val="solid"/>
                <a:round/>
              </a:ln>
              <a:effectLst/>
            </c:spPr>
          </c:marker>
          <c:errBars>
            <c:errDir val="y"/>
            <c:errBarType val="both"/>
            <c:errValType val="cust"/>
            <c:noEndCap val="0"/>
            <c:plus>
              <c:numLit>
                <c:formatCode>General</c:formatCode>
                <c:ptCount val="10"/>
                <c:pt idx="0">
                  <c:v>0.5599</c:v>
                </c:pt>
                <c:pt idx="1">
                  <c:v>0.5507</c:v>
                </c:pt>
                <c:pt idx="2">
                  <c:v>0.5827</c:v>
                </c:pt>
                <c:pt idx="3">
                  <c:v>0.6003</c:v>
                </c:pt>
                <c:pt idx="4">
                  <c:v>0.5577</c:v>
                </c:pt>
                <c:pt idx="5">
                  <c:v>0.5258</c:v>
                </c:pt>
                <c:pt idx="6">
                  <c:v>0.4927</c:v>
                </c:pt>
                <c:pt idx="7">
                  <c:v>0.4527</c:v>
                </c:pt>
                <c:pt idx="8">
                  <c:v>0.4025</c:v>
                </c:pt>
                <c:pt idx="9">
                  <c:v>0.3718</c:v>
                </c:pt>
              </c:numLit>
            </c:plus>
            <c:minus>
              <c:numLit>
                <c:formatCode>General</c:formatCode>
                <c:ptCount val="10"/>
                <c:pt idx="0">
                  <c:v>0.5599</c:v>
                </c:pt>
                <c:pt idx="1">
                  <c:v>0.5507</c:v>
                </c:pt>
                <c:pt idx="2">
                  <c:v>0.5827</c:v>
                </c:pt>
                <c:pt idx="3">
                  <c:v>0.6003</c:v>
                </c:pt>
                <c:pt idx="4">
                  <c:v>0.5577</c:v>
                </c:pt>
                <c:pt idx="5">
                  <c:v>0.5258</c:v>
                </c:pt>
                <c:pt idx="6">
                  <c:v>0.4927</c:v>
                </c:pt>
                <c:pt idx="7">
                  <c:v>0.4527</c:v>
                </c:pt>
                <c:pt idx="8">
                  <c:v>0.4025</c:v>
                </c:pt>
                <c:pt idx="9">
                  <c:v>0.3718</c:v>
                </c:pt>
              </c:numLit>
            </c:minus>
            <c:spPr>
              <a:ln w="12700">
                <a:solidFill>
                  <a:srgbClr val="1BAF7A"/>
                </a:solidFill>
              </a:ln>
            </c:spPr>
          </c:errBars>
          <c:cat>
            <c:multiLvlStrRef>
              <c:f>Sheet1!$A$2:$A$11</c:f>
              <c:multiLvlStrCache>
                <c:ptCount val="10"/>
                <c:lvl>
                  <c:pt idx="0">
                    <c:v>0.01</c:v>
                  </c:pt>
                  <c:pt idx="1">
                    <c:v>0.02</c:v>
                  </c:pt>
                  <c:pt idx="2">
                    <c:v>0.05</c:v>
                  </c:pt>
                  <c:pt idx="3">
                    <c:v>0.1</c:v>
                  </c:pt>
                  <c:pt idx="4">
                    <c:v>0.2</c:v>
                  </c:pt>
                  <c:pt idx="5">
                    <c:v>0.5</c:v>
                  </c:pt>
                  <c:pt idx="6">
                    <c:v>1</c:v>
                  </c:pt>
                  <c:pt idx="7">
                    <c:v>2</c:v>
                  </c:pt>
                  <c:pt idx="8">
                    <c:v>5</c:v>
                  </c:pt>
                  <c:pt idx="9">
                    <c:v>10</c:v>
                  </c:pt>
                </c:lvl>
              </c:multiLvlStrCache>
            </c:multiLvl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3.048</c:v>
                </c:pt>
                <c:pt idx="1">
                  <c:v>2.957</c:v>
                </c:pt>
                <c:pt idx="2">
                  <c:v>2.882</c:v>
                </c:pt>
                <c:pt idx="3">
                  <c:v>2.789</c:v>
                </c:pt>
                <c:pt idx="4">
                  <c:v>2.512</c:v>
                </c:pt>
                <c:pt idx="5">
                  <c:v>2.137</c:v>
                </c:pt>
                <c:pt idx="6">
                  <c:v>1.798</c:v>
                </c:pt>
                <c:pt idx="7">
                  <c:v>1.485</c:v>
                </c:pt>
                <c:pt idx="8">
                  <c:v>1.204</c:v>
                </c:pt>
                <c:pt idx="9">
                  <c:v>1.092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AdaSSP (matched)</c:v>
                </c:pt>
              </c:strCache>
            </c:strRef>
          </c:tx>
          <c:spPr>
            <a:solidFill>
              <a:srgbClr val="EDA100"/>
            </a:solidFill>
            <a:ln w="25400" cap="flat">
              <a:solidFill>
                <a:srgbClr val="EDA1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EDA100"/>
              </a:solidFill>
              <a:ln w="9525" cap="flat">
                <a:solidFill>
                  <a:srgbClr val="EDA100"/>
                </a:solidFill>
                <a:prstDash val="solid"/>
                <a:round/>
              </a:ln>
              <a:effectLst/>
            </c:spPr>
          </c:marker>
          <c:errBars>
            <c:errDir val="y"/>
            <c:errBarType val="both"/>
            <c:errValType val="cust"/>
            <c:noEndCap val="0"/>
            <c:plus>
              <c:numLit>
                <c:formatCode>General</c:formatCode>
                <c:ptCount val="10"/>
                <c:pt idx="0">
                  <c:v>0.5721</c:v>
                </c:pt>
                <c:pt idx="1">
                  <c:v>0.5682</c:v>
                </c:pt>
                <c:pt idx="2">
                  <c:v>0.5962</c:v>
                </c:pt>
                <c:pt idx="3">
                  <c:v>0.5677</c:v>
                </c:pt>
                <c:pt idx="4">
                  <c:v>0.5535</c:v>
                </c:pt>
                <c:pt idx="5">
                  <c:v>0.5297</c:v>
                </c:pt>
                <c:pt idx="6">
                  <c:v>0.5184</c:v>
                </c:pt>
                <c:pt idx="7">
                  <c:v>0.4665</c:v>
                </c:pt>
                <c:pt idx="8">
                  <c:v>0.4436</c:v>
                </c:pt>
                <c:pt idx="9">
                  <c:v>0.4072</c:v>
                </c:pt>
              </c:numLit>
            </c:plus>
            <c:minus>
              <c:numLit>
                <c:formatCode>General</c:formatCode>
                <c:ptCount val="10"/>
                <c:pt idx="0">
                  <c:v>0.5721</c:v>
                </c:pt>
                <c:pt idx="1">
                  <c:v>0.5682</c:v>
                </c:pt>
                <c:pt idx="2">
                  <c:v>0.5962</c:v>
                </c:pt>
                <c:pt idx="3">
                  <c:v>0.5677</c:v>
                </c:pt>
                <c:pt idx="4">
                  <c:v>0.5535</c:v>
                </c:pt>
                <c:pt idx="5">
                  <c:v>0.5297</c:v>
                </c:pt>
                <c:pt idx="6">
                  <c:v>0.5184</c:v>
                </c:pt>
                <c:pt idx="7">
                  <c:v>0.4665</c:v>
                </c:pt>
                <c:pt idx="8">
                  <c:v>0.4436</c:v>
                </c:pt>
                <c:pt idx="9">
                  <c:v>0.4072</c:v>
                </c:pt>
              </c:numLit>
            </c:minus>
            <c:spPr>
              <a:ln w="12700">
                <a:solidFill>
                  <a:srgbClr val="EDA100"/>
                </a:solidFill>
              </a:ln>
            </c:spPr>
          </c:errBars>
          <c:cat>
            <c:multiLvlStrRef>
              <c:f>Sheet1!$A$2:$A$11</c:f>
              <c:multiLvlStrCache>
                <c:ptCount val="10"/>
                <c:lvl>
                  <c:pt idx="0">
                    <c:v>0.01</c:v>
                  </c:pt>
                  <c:pt idx="1">
                    <c:v>0.02</c:v>
                  </c:pt>
                  <c:pt idx="2">
                    <c:v>0.05</c:v>
                  </c:pt>
                  <c:pt idx="3">
                    <c:v>0.1</c:v>
                  </c:pt>
                  <c:pt idx="4">
                    <c:v>0.2</c:v>
                  </c:pt>
                  <c:pt idx="5">
                    <c:v>0.5</c:v>
                  </c:pt>
                  <c:pt idx="6">
                    <c:v>1</c:v>
                  </c:pt>
                  <c:pt idx="7">
                    <c:v>2</c:v>
                  </c:pt>
                  <c:pt idx="8">
                    <c:v>5</c:v>
                  </c:pt>
                  <c:pt idx="9">
                    <c:v>10</c:v>
                  </c:pt>
                </c:lvl>
              </c:multiLvlStrCache>
            </c:multiLvlStrRef>
          </c:cat>
          <c:val>
            <c:numRef>
              <c:f>Sheet1!$D$2:$D$11</c:f>
              <c:numCache>
                <c:formatCode>General</c:formatCode>
                <c:ptCount val="10"/>
                <c:pt idx="0">
                  <c:v>3.149</c:v>
                </c:pt>
                <c:pt idx="1">
                  <c:v>3.02</c:v>
                </c:pt>
                <c:pt idx="2">
                  <c:v>3.066</c:v>
                </c:pt>
                <c:pt idx="3">
                  <c:v>2.86</c:v>
                </c:pt>
                <c:pt idx="4">
                  <c:v>2.692</c:v>
                </c:pt>
                <c:pt idx="5">
                  <c:v>2.351</c:v>
                </c:pt>
                <c:pt idx="6">
                  <c:v>2.067</c:v>
                </c:pt>
                <c:pt idx="7">
                  <c:v>1.72</c:v>
                </c:pt>
                <c:pt idx="8">
                  <c:v>1.4</c:v>
                </c:pt>
                <c:pt idx="9">
                  <c:v>1.218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VFL, ours</c:v>
                </c:pt>
              </c:strCache>
            </c:strRef>
          </c:tx>
          <c:spPr>
            <a:solidFill>
              <a:srgbClr val="2A78D6"/>
            </a:solidFill>
            <a:ln w="25400" cap="flat">
              <a:solidFill>
                <a:srgbClr val="2A78D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2A78D6"/>
              </a:solidFill>
              <a:ln w="9525" cap="flat">
                <a:solidFill>
                  <a:srgbClr val="2A78D6"/>
                </a:solidFill>
                <a:prstDash val="solid"/>
                <a:round/>
              </a:ln>
              <a:effectLst/>
            </c:spPr>
          </c:marker>
          <c:errBars>
            <c:errDir val="y"/>
            <c:errBarType val="both"/>
            <c:errValType val="cust"/>
            <c:noEndCap val="0"/>
            <c:plus>
              <c:numLit>
                <c:formatCode>General</c:formatCode>
                <c:ptCount val="10"/>
                <c:pt idx="0">
                  <c:v>0.6217</c:v>
                </c:pt>
                <c:pt idx="1">
                  <c:v>0.5915</c:v>
                </c:pt>
                <c:pt idx="2">
                  <c:v>0.5975</c:v>
                </c:pt>
                <c:pt idx="3">
                  <c:v>0.5813</c:v>
                </c:pt>
                <c:pt idx="4">
                  <c:v>0.5775</c:v>
                </c:pt>
                <c:pt idx="5">
                  <c:v>0.5188</c:v>
                </c:pt>
                <c:pt idx="6">
                  <c:v>0.5013</c:v>
                </c:pt>
                <c:pt idx="7">
                  <c:v>0.4707</c:v>
                </c:pt>
                <c:pt idx="8">
                  <c:v>0.4276</c:v>
                </c:pt>
                <c:pt idx="9">
                  <c:v>0.4048</c:v>
                </c:pt>
              </c:numLit>
            </c:plus>
            <c:minus>
              <c:numLit>
                <c:formatCode>General</c:formatCode>
                <c:ptCount val="10"/>
                <c:pt idx="0">
                  <c:v>0.6217</c:v>
                </c:pt>
                <c:pt idx="1">
                  <c:v>0.5915</c:v>
                </c:pt>
                <c:pt idx="2">
                  <c:v>0.5975</c:v>
                </c:pt>
                <c:pt idx="3">
                  <c:v>0.5813</c:v>
                </c:pt>
                <c:pt idx="4">
                  <c:v>0.5775</c:v>
                </c:pt>
                <c:pt idx="5">
                  <c:v>0.5188</c:v>
                </c:pt>
                <c:pt idx="6">
                  <c:v>0.5013</c:v>
                </c:pt>
                <c:pt idx="7">
                  <c:v>0.4707</c:v>
                </c:pt>
                <c:pt idx="8">
                  <c:v>0.4276</c:v>
                </c:pt>
                <c:pt idx="9">
                  <c:v>0.4048</c:v>
                </c:pt>
              </c:numLit>
            </c:minus>
            <c:spPr>
              <a:ln w="12700">
                <a:solidFill>
                  <a:srgbClr val="2A78D6"/>
                </a:solidFill>
              </a:ln>
            </c:spPr>
          </c:errBars>
          <c:cat>
            <c:multiLvlStrRef>
              <c:f>Sheet1!$A$2:$A$11</c:f>
              <c:multiLvlStrCache>
                <c:ptCount val="10"/>
                <c:lvl>
                  <c:pt idx="0">
                    <c:v>0.01</c:v>
                  </c:pt>
                  <c:pt idx="1">
                    <c:v>0.02</c:v>
                  </c:pt>
                  <c:pt idx="2">
                    <c:v>0.05</c:v>
                  </c:pt>
                  <c:pt idx="3">
                    <c:v>0.1</c:v>
                  </c:pt>
                  <c:pt idx="4">
                    <c:v>0.2</c:v>
                  </c:pt>
                  <c:pt idx="5">
                    <c:v>0.5</c:v>
                  </c:pt>
                  <c:pt idx="6">
                    <c:v>1</c:v>
                  </c:pt>
                  <c:pt idx="7">
                    <c:v>2</c:v>
                  </c:pt>
                  <c:pt idx="8">
                    <c:v>5</c:v>
                  </c:pt>
                  <c:pt idx="9">
                    <c:v>10</c:v>
                  </c:pt>
                </c:lvl>
              </c:multiLvlStrCache>
            </c:multiLvlStrRef>
          </c:cat>
          <c:val>
            <c:numRef>
              <c:f>Sheet1!$E$2:$E$11</c:f>
              <c:numCache>
                <c:formatCode>General</c:formatCode>
                <c:ptCount val="10"/>
                <c:pt idx="0">
                  <c:v>2.906</c:v>
                </c:pt>
                <c:pt idx="1">
                  <c:v>2.861</c:v>
                </c:pt>
                <c:pt idx="2">
                  <c:v>2.82</c:v>
                </c:pt>
                <c:pt idx="3">
                  <c:v>2.711</c:v>
                </c:pt>
                <c:pt idx="4">
                  <c:v>2.602</c:v>
                </c:pt>
                <c:pt idx="5">
                  <c:v>2.239</c:v>
                </c:pt>
                <c:pt idx="6">
                  <c:v>1.965</c:v>
                </c:pt>
                <c:pt idx="7">
                  <c:v>1.657</c:v>
                </c:pt>
                <c:pt idx="8">
                  <c:v>1.338</c:v>
                </c:pt>
                <c:pt idx="9">
                  <c:v>1.18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5B6576"/>
                    </a:solidFill>
                    <a:latin typeface="Arial"/>
                  </a:defRPr>
                </a:pPr>
                <a:r>
                  <a:rPr sz="1000" b="0" i="0" u="none" strike="noStrike">
                    <a:solidFill>
                      <a:srgbClr val="5B6576"/>
                    </a:solidFill>
                    <a:latin typeface="Arial"/>
                  </a:rPr>
                  <a:t>ε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B657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1"/>
        </c:scaling>
        <c:delete val="0"/>
        <c:axPos val="l"/>
        <c:majorGridlines>
          <c:spPr>
            <a:ln w="6350" cap="flat">
              <a:solidFill>
                <a:srgbClr val="E5E7EB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5B6576"/>
                    </a:solidFill>
                    <a:latin typeface="Arial"/>
                  </a:defRPr>
                </a:pPr>
                <a:r>
                  <a:rPr sz="1000" b="0" i="0" u="none" strike="noStrike">
                    <a:solidFill>
                      <a:srgbClr val="5B6576"/>
                    </a:solidFill>
                    <a:latin typeface="Arial"/>
                  </a:rPr>
                  <a:t>MSE ÷ non-private</a:t>
                </a:r>
              </a:p>
            </c:rich>
          </c:tx>
          <c:layout/>
          <c:overlay val="0"/>
        </c:title>
        <c:numFmt formatCode="0.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B657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4213D"/>
                </a:solidFill>
                <a:latin typeface="Cambria"/>
              </a:defRPr>
            </a:pPr>
            <a:r>
              <a:rPr sz="1300" b="0" i="0" u="none" strike="noStrike">
                <a:solidFill>
                  <a:srgbClr val="14213D"/>
                </a:solidFill>
                <a:latin typeface="Cambria"/>
              </a:rPr>
              <a:t>elevators  (n = 16,599)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Trivial (θ = 0)</c:v>
                </c:pt>
              </c:strCache>
            </c:strRef>
          </c:tx>
          <c:spPr>
            <a:solidFill>
              <a:srgbClr val="B8BEC8"/>
            </a:solidFill>
            <a:ln w="25400" cap="flat">
              <a:solidFill>
                <a:srgbClr val="B8BEC8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B8BEC8"/>
              </a:solidFill>
              <a:ln w="9525" cap="flat">
                <a:solidFill>
                  <a:srgbClr val="B8BEC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0.01</c:v>
                  </c:pt>
                  <c:pt idx="1">
                    <c:v>0.02</c:v>
                  </c:pt>
                  <c:pt idx="2">
                    <c:v>0.05</c:v>
                  </c:pt>
                  <c:pt idx="3">
                    <c:v>0.1</c:v>
                  </c:pt>
                  <c:pt idx="4">
                    <c:v>0.2</c:v>
                  </c:pt>
                  <c:pt idx="5">
                    <c:v>0.5</c:v>
                  </c:pt>
                  <c:pt idx="6">
                    <c:v>1</c:v>
                  </c:pt>
                  <c:pt idx="7">
                    <c:v>2</c:v>
                  </c:pt>
                  <c:pt idx="8">
                    <c:v>5</c:v>
                  </c:pt>
                  <c:pt idx="9">
                    <c:v>10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4.226</c:v>
                </c:pt>
                <c:pt idx="1">
                  <c:v>4.226</c:v>
                </c:pt>
                <c:pt idx="2">
                  <c:v>4.226</c:v>
                </c:pt>
                <c:pt idx="3">
                  <c:v>4.226</c:v>
                </c:pt>
                <c:pt idx="4">
                  <c:v>4.226</c:v>
                </c:pt>
                <c:pt idx="5">
                  <c:v>4.226</c:v>
                </c:pt>
                <c:pt idx="6">
                  <c:v>4.226</c:v>
                </c:pt>
                <c:pt idx="7">
                  <c:v>4.226</c:v>
                </c:pt>
                <c:pt idx="8">
                  <c:v>4.226</c:v>
                </c:pt>
                <c:pt idx="9">
                  <c:v>4.226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AdaSSP (published)</c:v>
                </c:pt>
              </c:strCache>
            </c:strRef>
          </c:tx>
          <c:spPr>
            <a:solidFill>
              <a:srgbClr val="1BAF7A"/>
            </a:solidFill>
            <a:ln w="25400" cap="flat">
              <a:solidFill>
                <a:srgbClr val="1BAF7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1BAF7A"/>
              </a:solidFill>
              <a:ln w="9525" cap="flat">
                <a:solidFill>
                  <a:srgbClr val="1BAF7A"/>
                </a:solidFill>
                <a:prstDash val="solid"/>
                <a:round/>
              </a:ln>
              <a:effectLst/>
            </c:spPr>
          </c:marker>
          <c:errBars>
            <c:errDir val="y"/>
            <c:errBarType val="both"/>
            <c:errValType val="cust"/>
            <c:noEndCap val="0"/>
            <c:plus>
              <c:numLit>
                <c:formatCode>General</c:formatCode>
                <c:ptCount val="10"/>
                <c:pt idx="0">
                  <c:v>0.1353</c:v>
                </c:pt>
                <c:pt idx="1">
                  <c:v>0.06918</c:v>
                </c:pt>
                <c:pt idx="2">
                  <c:v>0.06121</c:v>
                </c:pt>
                <c:pt idx="3">
                  <c:v>0.06169</c:v>
                </c:pt>
                <c:pt idx="4">
                  <c:v>0.07114</c:v>
                </c:pt>
                <c:pt idx="5">
                  <c:v>0.06912</c:v>
                </c:pt>
                <c:pt idx="6">
                  <c:v>0.05343</c:v>
                </c:pt>
                <c:pt idx="7">
                  <c:v>0.04651</c:v>
                </c:pt>
                <c:pt idx="8">
                  <c:v>0.03951</c:v>
                </c:pt>
                <c:pt idx="9">
                  <c:v>0.03801</c:v>
                </c:pt>
              </c:numLit>
            </c:plus>
            <c:minus>
              <c:numLit>
                <c:formatCode>General</c:formatCode>
                <c:ptCount val="10"/>
                <c:pt idx="0">
                  <c:v>0.1353</c:v>
                </c:pt>
                <c:pt idx="1">
                  <c:v>0.06918</c:v>
                </c:pt>
                <c:pt idx="2">
                  <c:v>0.06121</c:v>
                </c:pt>
                <c:pt idx="3">
                  <c:v>0.06169</c:v>
                </c:pt>
                <c:pt idx="4">
                  <c:v>0.07114</c:v>
                </c:pt>
                <c:pt idx="5">
                  <c:v>0.06912</c:v>
                </c:pt>
                <c:pt idx="6">
                  <c:v>0.05343</c:v>
                </c:pt>
                <c:pt idx="7">
                  <c:v>0.04651</c:v>
                </c:pt>
                <c:pt idx="8">
                  <c:v>0.03951</c:v>
                </c:pt>
                <c:pt idx="9">
                  <c:v>0.03801</c:v>
                </c:pt>
              </c:numLit>
            </c:minus>
            <c:spPr>
              <a:ln w="12700">
                <a:solidFill>
                  <a:srgbClr val="1BAF7A"/>
                </a:solidFill>
              </a:ln>
            </c:spPr>
          </c:errBars>
          <c:cat>
            <c:multiLvlStrRef>
              <c:f>Sheet1!$A$2:$A$11</c:f>
              <c:multiLvlStrCache>
                <c:ptCount val="10"/>
                <c:lvl>
                  <c:pt idx="0">
                    <c:v>0.01</c:v>
                  </c:pt>
                  <c:pt idx="1">
                    <c:v>0.02</c:v>
                  </c:pt>
                  <c:pt idx="2">
                    <c:v>0.05</c:v>
                  </c:pt>
                  <c:pt idx="3">
                    <c:v>0.1</c:v>
                  </c:pt>
                  <c:pt idx="4">
                    <c:v>0.2</c:v>
                  </c:pt>
                  <c:pt idx="5">
                    <c:v>0.5</c:v>
                  </c:pt>
                  <c:pt idx="6">
                    <c:v>1</c:v>
                  </c:pt>
                  <c:pt idx="7">
                    <c:v>2</c:v>
                  </c:pt>
                  <c:pt idx="8">
                    <c:v>5</c:v>
                  </c:pt>
                  <c:pt idx="9">
                    <c:v>10</c:v>
                  </c:pt>
                </c:lvl>
              </c:multiLvlStrCache>
            </c:multiLvl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4.281</c:v>
                </c:pt>
                <c:pt idx="1">
                  <c:v>3.843</c:v>
                </c:pt>
                <c:pt idx="2">
                  <c:v>3.235</c:v>
                </c:pt>
                <c:pt idx="3">
                  <c:v>2.799</c:v>
                </c:pt>
                <c:pt idx="4">
                  <c:v>2.4</c:v>
                </c:pt>
                <c:pt idx="5">
                  <c:v>1.873</c:v>
                </c:pt>
                <c:pt idx="6">
                  <c:v>1.514</c:v>
                </c:pt>
                <c:pt idx="7">
                  <c:v>1.239</c:v>
                </c:pt>
                <c:pt idx="8">
                  <c:v>1.058</c:v>
                </c:pt>
                <c:pt idx="9">
                  <c:v>1.012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AdaSSP (matched)</c:v>
                </c:pt>
              </c:strCache>
            </c:strRef>
          </c:tx>
          <c:spPr>
            <a:solidFill>
              <a:srgbClr val="EDA100"/>
            </a:solidFill>
            <a:ln w="25400" cap="flat">
              <a:solidFill>
                <a:srgbClr val="EDA1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EDA100"/>
              </a:solidFill>
              <a:ln w="9525" cap="flat">
                <a:solidFill>
                  <a:srgbClr val="EDA100"/>
                </a:solidFill>
                <a:prstDash val="solid"/>
                <a:round/>
              </a:ln>
              <a:effectLst/>
            </c:spPr>
          </c:marker>
          <c:errBars>
            <c:errDir val="y"/>
            <c:errBarType val="both"/>
            <c:errValType val="cust"/>
            <c:noEndCap val="0"/>
            <c:plus>
              <c:numLit>
                <c:formatCode>General</c:formatCode>
                <c:ptCount val="10"/>
                <c:pt idx="0">
                  <c:v>0.08640</c:v>
                </c:pt>
                <c:pt idx="1">
                  <c:v>0.1044</c:v>
                </c:pt>
                <c:pt idx="2">
                  <c:v>0.05832</c:v>
                </c:pt>
                <c:pt idx="3">
                  <c:v>0.06700</c:v>
                </c:pt>
                <c:pt idx="4">
                  <c:v>0.06460</c:v>
                </c:pt>
                <c:pt idx="5">
                  <c:v>0.06941</c:v>
                </c:pt>
                <c:pt idx="6">
                  <c:v>0.06018</c:v>
                </c:pt>
                <c:pt idx="7">
                  <c:v>0.05253</c:v>
                </c:pt>
                <c:pt idx="8">
                  <c:v>0.04283</c:v>
                </c:pt>
                <c:pt idx="9">
                  <c:v>0.03964</c:v>
                </c:pt>
              </c:numLit>
            </c:plus>
            <c:minus>
              <c:numLit>
                <c:formatCode>General</c:formatCode>
                <c:ptCount val="10"/>
                <c:pt idx="0">
                  <c:v>0.08640</c:v>
                </c:pt>
                <c:pt idx="1">
                  <c:v>0.1044</c:v>
                </c:pt>
                <c:pt idx="2">
                  <c:v>0.05832</c:v>
                </c:pt>
                <c:pt idx="3">
                  <c:v>0.06700</c:v>
                </c:pt>
                <c:pt idx="4">
                  <c:v>0.06460</c:v>
                </c:pt>
                <c:pt idx="5">
                  <c:v>0.06941</c:v>
                </c:pt>
                <c:pt idx="6">
                  <c:v>0.06018</c:v>
                </c:pt>
                <c:pt idx="7">
                  <c:v>0.05253</c:v>
                </c:pt>
                <c:pt idx="8">
                  <c:v>0.04283</c:v>
                </c:pt>
                <c:pt idx="9">
                  <c:v>0.03964</c:v>
                </c:pt>
              </c:numLit>
            </c:minus>
            <c:spPr>
              <a:ln w="12700">
                <a:solidFill>
                  <a:srgbClr val="EDA100"/>
                </a:solidFill>
              </a:ln>
            </c:spPr>
          </c:errBars>
          <c:cat>
            <c:multiLvlStrRef>
              <c:f>Sheet1!$A$2:$A$11</c:f>
              <c:multiLvlStrCache>
                <c:ptCount val="10"/>
                <c:lvl>
                  <c:pt idx="0">
                    <c:v>0.01</c:v>
                  </c:pt>
                  <c:pt idx="1">
                    <c:v>0.02</c:v>
                  </c:pt>
                  <c:pt idx="2">
                    <c:v>0.05</c:v>
                  </c:pt>
                  <c:pt idx="3">
                    <c:v>0.1</c:v>
                  </c:pt>
                  <c:pt idx="4">
                    <c:v>0.2</c:v>
                  </c:pt>
                  <c:pt idx="5">
                    <c:v>0.5</c:v>
                  </c:pt>
                  <c:pt idx="6">
                    <c:v>1</c:v>
                  </c:pt>
                  <c:pt idx="7">
                    <c:v>2</c:v>
                  </c:pt>
                  <c:pt idx="8">
                    <c:v>5</c:v>
                  </c:pt>
                  <c:pt idx="9">
                    <c:v>10</c:v>
                  </c:pt>
                </c:lvl>
              </c:multiLvlStrCache>
            </c:multiLvlStrRef>
          </c:cat>
          <c:val>
            <c:numRef>
              <c:f>Sheet1!$D$2:$D$11</c:f>
              <c:numCache>
                <c:formatCode>General</c:formatCode>
                <c:ptCount val="10"/>
                <c:pt idx="0">
                  <c:v>4.425</c:v>
                </c:pt>
                <c:pt idx="1">
                  <c:v>4.041</c:v>
                </c:pt>
                <c:pt idx="2">
                  <c:v>3.448</c:v>
                </c:pt>
                <c:pt idx="3">
                  <c:v>3.003</c:v>
                </c:pt>
                <c:pt idx="4">
                  <c:v>2.629</c:v>
                </c:pt>
                <c:pt idx="5">
                  <c:v>2.148</c:v>
                </c:pt>
                <c:pt idx="6">
                  <c:v>1.779</c:v>
                </c:pt>
                <c:pt idx="7">
                  <c:v>1.437</c:v>
                </c:pt>
                <c:pt idx="8">
                  <c:v>1.159</c:v>
                </c:pt>
                <c:pt idx="9">
                  <c:v>1.06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VFL, ours</c:v>
                </c:pt>
              </c:strCache>
            </c:strRef>
          </c:tx>
          <c:spPr>
            <a:solidFill>
              <a:srgbClr val="2A78D6"/>
            </a:solidFill>
            <a:ln w="25400" cap="flat">
              <a:solidFill>
                <a:srgbClr val="2A78D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2A78D6"/>
              </a:solidFill>
              <a:ln w="9525" cap="flat">
                <a:solidFill>
                  <a:srgbClr val="2A78D6"/>
                </a:solidFill>
                <a:prstDash val="solid"/>
                <a:round/>
              </a:ln>
              <a:effectLst/>
            </c:spPr>
          </c:marker>
          <c:errBars>
            <c:errDir val="y"/>
            <c:errBarType val="both"/>
            <c:errValType val="cust"/>
            <c:noEndCap val="0"/>
            <c:plus>
              <c:numLit>
                <c:formatCode>General</c:formatCode>
                <c:ptCount val="10"/>
                <c:pt idx="0">
                  <c:v>0.09400</c:v>
                </c:pt>
                <c:pt idx="1">
                  <c:v>0.08385</c:v>
                </c:pt>
                <c:pt idx="2">
                  <c:v>0.06546</c:v>
                </c:pt>
                <c:pt idx="3">
                  <c:v>0.06869</c:v>
                </c:pt>
                <c:pt idx="4">
                  <c:v>0.07098</c:v>
                </c:pt>
                <c:pt idx="5">
                  <c:v>0.05715</c:v>
                </c:pt>
                <c:pt idx="6">
                  <c:v>0.05602</c:v>
                </c:pt>
                <c:pt idx="7">
                  <c:v>0.04965</c:v>
                </c:pt>
                <c:pt idx="8">
                  <c:v>0.04270</c:v>
                </c:pt>
                <c:pt idx="9">
                  <c:v>0.03903</c:v>
                </c:pt>
              </c:numLit>
            </c:plus>
            <c:minus>
              <c:numLit>
                <c:formatCode>General</c:formatCode>
                <c:ptCount val="10"/>
                <c:pt idx="0">
                  <c:v>0.09400</c:v>
                </c:pt>
                <c:pt idx="1">
                  <c:v>0.08385</c:v>
                </c:pt>
                <c:pt idx="2">
                  <c:v>0.06546</c:v>
                </c:pt>
                <c:pt idx="3">
                  <c:v>0.06869</c:v>
                </c:pt>
                <c:pt idx="4">
                  <c:v>0.07098</c:v>
                </c:pt>
                <c:pt idx="5">
                  <c:v>0.05715</c:v>
                </c:pt>
                <c:pt idx="6">
                  <c:v>0.05602</c:v>
                </c:pt>
                <c:pt idx="7">
                  <c:v>0.04965</c:v>
                </c:pt>
                <c:pt idx="8">
                  <c:v>0.04270</c:v>
                </c:pt>
                <c:pt idx="9">
                  <c:v>0.03903</c:v>
                </c:pt>
              </c:numLit>
            </c:minus>
            <c:spPr>
              <a:ln w="12700">
                <a:solidFill>
                  <a:srgbClr val="2A78D6"/>
                </a:solidFill>
              </a:ln>
            </c:spPr>
          </c:errBars>
          <c:cat>
            <c:multiLvlStrRef>
              <c:f>Sheet1!$A$2:$A$11</c:f>
              <c:multiLvlStrCache>
                <c:ptCount val="10"/>
                <c:lvl>
                  <c:pt idx="0">
                    <c:v>0.01</c:v>
                  </c:pt>
                  <c:pt idx="1">
                    <c:v>0.02</c:v>
                  </c:pt>
                  <c:pt idx="2">
                    <c:v>0.05</c:v>
                  </c:pt>
                  <c:pt idx="3">
                    <c:v>0.1</c:v>
                  </c:pt>
                  <c:pt idx="4">
                    <c:v>0.2</c:v>
                  </c:pt>
                  <c:pt idx="5">
                    <c:v>0.5</c:v>
                  </c:pt>
                  <c:pt idx="6">
                    <c:v>1</c:v>
                  </c:pt>
                  <c:pt idx="7">
                    <c:v>2</c:v>
                  </c:pt>
                  <c:pt idx="8">
                    <c:v>5</c:v>
                  </c:pt>
                  <c:pt idx="9">
                    <c:v>10</c:v>
                  </c:pt>
                </c:lvl>
              </c:multiLvlStrCache>
            </c:multiLvlStrRef>
          </c:cat>
          <c:val>
            <c:numRef>
              <c:f>Sheet1!$E$2:$E$11</c:f>
              <c:numCache>
                <c:formatCode>General</c:formatCode>
                <c:ptCount val="10"/>
                <c:pt idx="0">
                  <c:v>3.995</c:v>
                </c:pt>
                <c:pt idx="1">
                  <c:v>3.667</c:v>
                </c:pt>
                <c:pt idx="2">
                  <c:v>3.192</c:v>
                </c:pt>
                <c:pt idx="3">
                  <c:v>2.864</c:v>
                </c:pt>
                <c:pt idx="4">
                  <c:v>2.532</c:v>
                </c:pt>
                <c:pt idx="5">
                  <c:v>2.073</c:v>
                </c:pt>
                <c:pt idx="6">
                  <c:v>1.714</c:v>
                </c:pt>
                <c:pt idx="7">
                  <c:v>1.397</c:v>
                </c:pt>
                <c:pt idx="8">
                  <c:v>1.136</c:v>
                </c:pt>
                <c:pt idx="9">
                  <c:v>1.049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5B6576"/>
                    </a:solidFill>
                    <a:latin typeface="Arial"/>
                  </a:defRPr>
                </a:pPr>
                <a:r>
                  <a:rPr sz="1000" b="0" i="0" u="none" strike="noStrike">
                    <a:solidFill>
                      <a:srgbClr val="5B6576"/>
                    </a:solidFill>
                    <a:latin typeface="Arial"/>
                  </a:rPr>
                  <a:t>ε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B657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1"/>
        </c:scaling>
        <c:delete val="0"/>
        <c:axPos val="l"/>
        <c:majorGridlines>
          <c:spPr>
            <a:ln w="6350" cap="flat">
              <a:solidFill>
                <a:srgbClr val="E5E7EB"/>
              </a:solidFill>
              <a:prstDash val="solid"/>
              <a:round/>
            </a:ln>
          </c:spPr>
        </c:majorGridlines>
        <c:numFmt formatCode="0.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B657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4213D"/>
                </a:solidFill>
                <a:latin typeface="Cambria"/>
              </a:defRPr>
            </a:pPr>
            <a:r>
              <a:rPr sz="1300" b="0" i="0" u="none" strike="noStrike">
                <a:solidFill>
                  <a:srgbClr val="14213D"/>
                </a:solidFill>
                <a:latin typeface="Cambria"/>
              </a:rPr>
              <a:t>protein  (n = 45,730)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Trivial (θ = 0)</c:v>
                </c:pt>
              </c:strCache>
            </c:strRef>
          </c:tx>
          <c:spPr>
            <a:solidFill>
              <a:srgbClr val="B8BEC8"/>
            </a:solidFill>
            <a:ln w="25400" cap="flat">
              <a:solidFill>
                <a:srgbClr val="B8BEC8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B8BEC8"/>
              </a:solidFill>
              <a:ln w="9525" cap="flat">
                <a:solidFill>
                  <a:srgbClr val="B8BEC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0.01</c:v>
                  </c:pt>
                  <c:pt idx="1">
                    <c:v>0.02</c:v>
                  </c:pt>
                  <c:pt idx="2">
                    <c:v>0.05</c:v>
                  </c:pt>
                  <c:pt idx="3">
                    <c:v>0.1</c:v>
                  </c:pt>
                  <c:pt idx="4">
                    <c:v>0.2</c:v>
                  </c:pt>
                  <c:pt idx="5">
                    <c:v>0.5</c:v>
                  </c:pt>
                  <c:pt idx="6">
                    <c:v>1</c:v>
                  </c:pt>
                  <c:pt idx="7">
                    <c:v>2</c:v>
                  </c:pt>
                  <c:pt idx="8">
                    <c:v>5</c:v>
                  </c:pt>
                  <c:pt idx="9">
                    <c:v>10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1.405</c:v>
                </c:pt>
                <c:pt idx="1">
                  <c:v>1.405</c:v>
                </c:pt>
                <c:pt idx="2">
                  <c:v>1.405</c:v>
                </c:pt>
                <c:pt idx="3">
                  <c:v>1.405</c:v>
                </c:pt>
                <c:pt idx="4">
                  <c:v>1.405</c:v>
                </c:pt>
                <c:pt idx="5">
                  <c:v>1.405</c:v>
                </c:pt>
                <c:pt idx="6">
                  <c:v>1.405</c:v>
                </c:pt>
                <c:pt idx="7">
                  <c:v>1.405</c:v>
                </c:pt>
                <c:pt idx="8">
                  <c:v>1.405</c:v>
                </c:pt>
                <c:pt idx="9">
                  <c:v>1.405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AdaSSP (published)</c:v>
                </c:pt>
              </c:strCache>
            </c:strRef>
          </c:tx>
          <c:spPr>
            <a:solidFill>
              <a:srgbClr val="1BAF7A"/>
            </a:solidFill>
            <a:ln w="25400" cap="flat">
              <a:solidFill>
                <a:srgbClr val="1BAF7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1BAF7A"/>
              </a:solidFill>
              <a:ln w="9525" cap="flat">
                <a:solidFill>
                  <a:srgbClr val="1BAF7A"/>
                </a:solidFill>
                <a:prstDash val="solid"/>
                <a:round/>
              </a:ln>
              <a:effectLst/>
            </c:spPr>
          </c:marker>
          <c:errBars>
            <c:errDir val="y"/>
            <c:errBarType val="both"/>
            <c:errValType val="cust"/>
            <c:noEndCap val="0"/>
            <c:plus>
              <c:numLit>
                <c:formatCode>General</c:formatCode>
                <c:ptCount val="10"/>
                <c:pt idx="0">
                  <c:v>0.01459</c:v>
                </c:pt>
                <c:pt idx="1">
                  <c:v>0.01315</c:v>
                </c:pt>
                <c:pt idx="2">
                  <c:v>0.01237</c:v>
                </c:pt>
                <c:pt idx="3">
                  <c:v>0.01219</c:v>
                </c:pt>
                <c:pt idx="4">
                  <c:v>0.01343</c:v>
                </c:pt>
                <c:pt idx="5">
                  <c:v>0.01492</c:v>
                </c:pt>
                <c:pt idx="6">
                  <c:v>0.01543</c:v>
                </c:pt>
                <c:pt idx="7">
                  <c:v>0.01577</c:v>
                </c:pt>
                <c:pt idx="8">
                  <c:v>0.01583</c:v>
                </c:pt>
                <c:pt idx="9">
                  <c:v>0.01581</c:v>
                </c:pt>
              </c:numLit>
            </c:plus>
            <c:minus>
              <c:numLit>
                <c:formatCode>General</c:formatCode>
                <c:ptCount val="10"/>
                <c:pt idx="0">
                  <c:v>0.01459</c:v>
                </c:pt>
                <c:pt idx="1">
                  <c:v>0.01315</c:v>
                </c:pt>
                <c:pt idx="2">
                  <c:v>0.01237</c:v>
                </c:pt>
                <c:pt idx="3">
                  <c:v>0.01219</c:v>
                </c:pt>
                <c:pt idx="4">
                  <c:v>0.01343</c:v>
                </c:pt>
                <c:pt idx="5">
                  <c:v>0.01492</c:v>
                </c:pt>
                <c:pt idx="6">
                  <c:v>0.01543</c:v>
                </c:pt>
                <c:pt idx="7">
                  <c:v>0.01577</c:v>
                </c:pt>
                <c:pt idx="8">
                  <c:v>0.01583</c:v>
                </c:pt>
                <c:pt idx="9">
                  <c:v>0.01581</c:v>
                </c:pt>
              </c:numLit>
            </c:minus>
            <c:spPr>
              <a:ln w="12700">
                <a:solidFill>
                  <a:srgbClr val="1BAF7A"/>
                </a:solidFill>
              </a:ln>
            </c:spPr>
          </c:errBars>
          <c:cat>
            <c:multiLvlStrRef>
              <c:f>Sheet1!$A$2:$A$11</c:f>
              <c:multiLvlStrCache>
                <c:ptCount val="10"/>
                <c:lvl>
                  <c:pt idx="0">
                    <c:v>0.01</c:v>
                  </c:pt>
                  <c:pt idx="1">
                    <c:v>0.02</c:v>
                  </c:pt>
                  <c:pt idx="2">
                    <c:v>0.05</c:v>
                  </c:pt>
                  <c:pt idx="3">
                    <c:v>0.1</c:v>
                  </c:pt>
                  <c:pt idx="4">
                    <c:v>0.2</c:v>
                  </c:pt>
                  <c:pt idx="5">
                    <c:v>0.5</c:v>
                  </c:pt>
                  <c:pt idx="6">
                    <c:v>1</c:v>
                  </c:pt>
                  <c:pt idx="7">
                    <c:v>2</c:v>
                  </c:pt>
                  <c:pt idx="8">
                    <c:v>5</c:v>
                  </c:pt>
                  <c:pt idx="9">
                    <c:v>10</c:v>
                  </c:pt>
                </c:lvl>
              </c:multiLvlStrCache>
            </c:multiLvl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1.229</c:v>
                </c:pt>
                <c:pt idx="1">
                  <c:v>1.162</c:v>
                </c:pt>
                <c:pt idx="2">
                  <c:v>1.096</c:v>
                </c:pt>
                <c:pt idx="3">
                  <c:v>1.059</c:v>
                </c:pt>
                <c:pt idx="4">
                  <c:v>1.033</c:v>
                </c:pt>
                <c:pt idx="5">
                  <c:v>1.014</c:v>
                </c:pt>
                <c:pt idx="6">
                  <c:v>1.007</c:v>
                </c:pt>
                <c:pt idx="7">
                  <c:v>1.004</c:v>
                </c:pt>
                <c:pt idx="8">
                  <c:v>1.001</c:v>
                </c:pt>
                <c:pt idx="9">
                  <c:v>1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AdaSSP (matched)</c:v>
                </c:pt>
              </c:strCache>
            </c:strRef>
          </c:tx>
          <c:spPr>
            <a:solidFill>
              <a:srgbClr val="EDA100"/>
            </a:solidFill>
            <a:ln w="25400" cap="flat">
              <a:solidFill>
                <a:srgbClr val="EDA1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EDA100"/>
              </a:solidFill>
              <a:ln w="9525" cap="flat">
                <a:solidFill>
                  <a:srgbClr val="EDA100"/>
                </a:solidFill>
                <a:prstDash val="solid"/>
                <a:round/>
              </a:ln>
              <a:effectLst/>
            </c:spPr>
          </c:marker>
          <c:errBars>
            <c:errDir val="y"/>
            <c:errBarType val="both"/>
            <c:errValType val="cust"/>
            <c:noEndCap val="0"/>
            <c:plus>
              <c:numLit>
                <c:formatCode>General</c:formatCode>
                <c:ptCount val="10"/>
                <c:pt idx="0">
                  <c:v>0.01602</c:v>
                </c:pt>
                <c:pt idx="1">
                  <c:v>0.01336</c:v>
                </c:pt>
                <c:pt idx="2">
                  <c:v>0.01164</c:v>
                </c:pt>
                <c:pt idx="3">
                  <c:v>0.01311</c:v>
                </c:pt>
                <c:pt idx="4">
                  <c:v>0.01255</c:v>
                </c:pt>
                <c:pt idx="5">
                  <c:v>0.01394</c:v>
                </c:pt>
                <c:pt idx="6">
                  <c:v>0.01491</c:v>
                </c:pt>
                <c:pt idx="7">
                  <c:v>0.01545</c:v>
                </c:pt>
                <c:pt idx="8">
                  <c:v>0.01580</c:v>
                </c:pt>
                <c:pt idx="9">
                  <c:v>0.01583</c:v>
                </c:pt>
              </c:numLit>
            </c:plus>
            <c:minus>
              <c:numLit>
                <c:formatCode>General</c:formatCode>
                <c:ptCount val="10"/>
                <c:pt idx="0">
                  <c:v>0.01602</c:v>
                </c:pt>
                <c:pt idx="1">
                  <c:v>0.01336</c:v>
                </c:pt>
                <c:pt idx="2">
                  <c:v>0.01164</c:v>
                </c:pt>
                <c:pt idx="3">
                  <c:v>0.01311</c:v>
                </c:pt>
                <c:pt idx="4">
                  <c:v>0.01255</c:v>
                </c:pt>
                <c:pt idx="5">
                  <c:v>0.01394</c:v>
                </c:pt>
                <c:pt idx="6">
                  <c:v>0.01491</c:v>
                </c:pt>
                <c:pt idx="7">
                  <c:v>0.01545</c:v>
                </c:pt>
                <c:pt idx="8">
                  <c:v>0.01580</c:v>
                </c:pt>
                <c:pt idx="9">
                  <c:v>0.01583</c:v>
                </c:pt>
              </c:numLit>
            </c:minus>
            <c:spPr>
              <a:ln w="12700">
                <a:solidFill>
                  <a:srgbClr val="EDA100"/>
                </a:solidFill>
              </a:ln>
            </c:spPr>
          </c:errBars>
          <c:cat>
            <c:multiLvlStrRef>
              <c:f>Sheet1!$A$2:$A$11</c:f>
              <c:multiLvlStrCache>
                <c:ptCount val="10"/>
                <c:lvl>
                  <c:pt idx="0">
                    <c:v>0.01</c:v>
                  </c:pt>
                  <c:pt idx="1">
                    <c:v>0.02</c:v>
                  </c:pt>
                  <c:pt idx="2">
                    <c:v>0.05</c:v>
                  </c:pt>
                  <c:pt idx="3">
                    <c:v>0.1</c:v>
                  </c:pt>
                  <c:pt idx="4">
                    <c:v>0.2</c:v>
                  </c:pt>
                  <c:pt idx="5">
                    <c:v>0.5</c:v>
                  </c:pt>
                  <c:pt idx="6">
                    <c:v>1</c:v>
                  </c:pt>
                  <c:pt idx="7">
                    <c:v>2</c:v>
                  </c:pt>
                  <c:pt idx="8">
                    <c:v>5</c:v>
                  </c:pt>
                  <c:pt idx="9">
                    <c:v>10</c:v>
                  </c:pt>
                </c:lvl>
              </c:multiLvlStrCache>
            </c:multiLvlStrRef>
          </c:cat>
          <c:val>
            <c:numRef>
              <c:f>Sheet1!$D$2:$D$11</c:f>
              <c:numCache>
                <c:formatCode>General</c:formatCode>
                <c:ptCount val="10"/>
                <c:pt idx="0">
                  <c:v>1.252</c:v>
                </c:pt>
                <c:pt idx="1">
                  <c:v>1.189</c:v>
                </c:pt>
                <c:pt idx="2">
                  <c:v>1.116</c:v>
                </c:pt>
                <c:pt idx="3">
                  <c:v>1.078</c:v>
                </c:pt>
                <c:pt idx="4">
                  <c:v>1.048</c:v>
                </c:pt>
                <c:pt idx="5">
                  <c:v>1.023</c:v>
                </c:pt>
                <c:pt idx="6">
                  <c:v>1.012</c:v>
                </c:pt>
                <c:pt idx="7">
                  <c:v>1.007</c:v>
                </c:pt>
                <c:pt idx="8">
                  <c:v>1.002</c:v>
                </c:pt>
                <c:pt idx="9">
                  <c:v>1.001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VFL, ours</c:v>
                </c:pt>
              </c:strCache>
            </c:strRef>
          </c:tx>
          <c:spPr>
            <a:solidFill>
              <a:srgbClr val="2A78D6"/>
            </a:solidFill>
            <a:ln w="25400" cap="flat">
              <a:solidFill>
                <a:srgbClr val="2A78D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2A78D6"/>
              </a:solidFill>
              <a:ln w="9525" cap="flat">
                <a:solidFill>
                  <a:srgbClr val="2A78D6"/>
                </a:solidFill>
                <a:prstDash val="solid"/>
                <a:round/>
              </a:ln>
              <a:effectLst/>
            </c:spPr>
          </c:marker>
          <c:errBars>
            <c:errDir val="y"/>
            <c:errBarType val="both"/>
            <c:errValType val="cust"/>
            <c:noEndCap val="0"/>
            <c:plus>
              <c:numLit>
                <c:formatCode>General</c:formatCode>
                <c:ptCount val="10"/>
                <c:pt idx="0">
                  <c:v>0.01208</c:v>
                </c:pt>
                <c:pt idx="1">
                  <c:v>0.01354</c:v>
                </c:pt>
                <c:pt idx="2">
                  <c:v>0.01271</c:v>
                </c:pt>
                <c:pt idx="3">
                  <c:v>0.01274</c:v>
                </c:pt>
                <c:pt idx="4">
                  <c:v>0.01328</c:v>
                </c:pt>
                <c:pt idx="5">
                  <c:v>0.01419</c:v>
                </c:pt>
                <c:pt idx="6">
                  <c:v>0.01512</c:v>
                </c:pt>
                <c:pt idx="7">
                  <c:v>0.01559</c:v>
                </c:pt>
                <c:pt idx="8">
                  <c:v>0.01577</c:v>
                </c:pt>
                <c:pt idx="9">
                  <c:v>0.01582</c:v>
                </c:pt>
              </c:numLit>
            </c:plus>
            <c:minus>
              <c:numLit>
                <c:formatCode>General</c:formatCode>
                <c:ptCount val="10"/>
                <c:pt idx="0">
                  <c:v>0.01208</c:v>
                </c:pt>
                <c:pt idx="1">
                  <c:v>0.01354</c:v>
                </c:pt>
                <c:pt idx="2">
                  <c:v>0.01271</c:v>
                </c:pt>
                <c:pt idx="3">
                  <c:v>0.01274</c:v>
                </c:pt>
                <c:pt idx="4">
                  <c:v>0.01328</c:v>
                </c:pt>
                <c:pt idx="5">
                  <c:v>0.01419</c:v>
                </c:pt>
                <c:pt idx="6">
                  <c:v>0.01512</c:v>
                </c:pt>
                <c:pt idx="7">
                  <c:v>0.01559</c:v>
                </c:pt>
                <c:pt idx="8">
                  <c:v>0.01577</c:v>
                </c:pt>
                <c:pt idx="9">
                  <c:v>0.01582</c:v>
                </c:pt>
              </c:numLit>
            </c:minus>
            <c:spPr>
              <a:ln w="12700">
                <a:solidFill>
                  <a:srgbClr val="2A78D6"/>
                </a:solidFill>
              </a:ln>
            </c:spPr>
          </c:errBars>
          <c:cat>
            <c:multiLvlStrRef>
              <c:f>Sheet1!$A$2:$A$11</c:f>
              <c:multiLvlStrCache>
                <c:ptCount val="10"/>
                <c:lvl>
                  <c:pt idx="0">
                    <c:v>0.01</c:v>
                  </c:pt>
                  <c:pt idx="1">
                    <c:v>0.02</c:v>
                  </c:pt>
                  <c:pt idx="2">
                    <c:v>0.05</c:v>
                  </c:pt>
                  <c:pt idx="3">
                    <c:v>0.1</c:v>
                  </c:pt>
                  <c:pt idx="4">
                    <c:v>0.2</c:v>
                  </c:pt>
                  <c:pt idx="5">
                    <c:v>0.5</c:v>
                  </c:pt>
                  <c:pt idx="6">
                    <c:v>1</c:v>
                  </c:pt>
                  <c:pt idx="7">
                    <c:v>2</c:v>
                  </c:pt>
                  <c:pt idx="8">
                    <c:v>5</c:v>
                  </c:pt>
                  <c:pt idx="9">
                    <c:v>10</c:v>
                  </c:pt>
                </c:lvl>
              </c:multiLvlStrCache>
            </c:multiLvlStrRef>
          </c:cat>
          <c:val>
            <c:numRef>
              <c:f>Sheet1!$E$2:$E$11</c:f>
              <c:numCache>
                <c:formatCode>General</c:formatCode>
                <c:ptCount val="10"/>
                <c:pt idx="0">
                  <c:v>1.229</c:v>
                </c:pt>
                <c:pt idx="1">
                  <c:v>1.171</c:v>
                </c:pt>
                <c:pt idx="2">
                  <c:v>1.11</c:v>
                </c:pt>
                <c:pt idx="3">
                  <c:v>1.073</c:v>
                </c:pt>
                <c:pt idx="4">
                  <c:v>1.044</c:v>
                </c:pt>
                <c:pt idx="5">
                  <c:v>1.021</c:v>
                </c:pt>
                <c:pt idx="6">
                  <c:v>1.011</c:v>
                </c:pt>
                <c:pt idx="7">
                  <c:v>1.006</c:v>
                </c:pt>
                <c:pt idx="8">
                  <c:v>1.002</c:v>
                </c:pt>
                <c:pt idx="9">
                  <c:v>1.001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5B6576"/>
                    </a:solidFill>
                    <a:latin typeface="Arial"/>
                  </a:defRPr>
                </a:pPr>
                <a:r>
                  <a:rPr sz="1000" b="0" i="0" u="none" strike="noStrike">
                    <a:solidFill>
                      <a:srgbClr val="5B6576"/>
                    </a:solidFill>
                    <a:latin typeface="Arial"/>
                  </a:rPr>
                  <a:t>ε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B657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1"/>
        </c:scaling>
        <c:delete val="0"/>
        <c:axPos val="l"/>
        <c:majorGridlines>
          <c:spPr>
            <a:ln w="6350" cap="flat">
              <a:solidFill>
                <a:srgbClr val="E5E7EB"/>
              </a:solidFill>
              <a:prstDash val="solid"/>
              <a:round/>
            </a:ln>
          </c:spPr>
        </c:majorGridlines>
        <c:numFmt formatCode="0.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B657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Two-party linear regression between a researcher and a national statistical agency, where the agency holds the outcome. We cover the problem, what we found when reviewing the draft protocol, the revised protocol, and results so far.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 1: motivation, data layout, goal and privacy requirements.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motivating setting: a researcher cohort and an agency register cover overlapping people but different variables. Today, linking them takes weeks of vetting in an RDC.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Rows are people, columns are variables. The two tables overlap only on the matched individuals; the register is far larger than the cohort.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Gram matrix splits into blocks. A is the researcher's own; B and c_O are the organization's data restricted to matched rows; C and c_R are genuinely cross-party.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Threat model: semi-honest. Three guarantees: cryptographic input privacy, linkage privacy for the organization, and differential privacy on what the researcher receives.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Central DP regression assumes a pooled table; VFL-with-HE work usually lacks output privacy; PSI gives linkage only. We combine private linkage, encrypted aggregation and DP.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 2. The sequence of work: review, running the implementation, adversarial privacy reviews, redesign, simulations, and the AdaSSP benchmark.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most important finding. The DP argument reasoned about the decrypted value, but R holds the key and sees the whole ciphertext. With plaintext-scalar noise, the c1 component is independent of the noise.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Summary of findings across the code review, three privacy reviews and an independent critique, with how the revised protocol handles each.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Four contributions: the corrected data flow, the revised protocol, the theory, and the evaluation.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 3: how the revised protocol works.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Four phases. The figure on the right is the full message flow with the risks each step fixes.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Phase 0 exchanges only committed public constants. Phase 1 is labeled PSI in the Chen–Laine–Rindal style, hardened with a secret permutation, public padding and flooded replies.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four O-dependent blocks are depth-one inner products. The DP noise is a single value per released entry, replicated across slots, added by fresh encryption and then sanitized.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draft's sensitivity bound was for add/remove adjacency; our adjacency is replace-one, which needs up to twice the Δ. The ledger makes re-runs compose under an explicit cap.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sanitization steps. The CKKS flooding is sized as a DP mechanism in the style of Li, Micciancio, Schultz and Sorrell, so it costs a small ledger entry instead of 40 bits of precision.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 fixes the ridge from public inputs, decrypts, splices in its exact block, solves, and applies the second-order bias correction. The theorem is stated conditionally because the unconditional mean does not exist.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Simulations use a known population so the true beta, public constants and committed bounds are all data-independent. The benchmark uses Wang's datasets.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 4: results. Slides marked as placeholders are still to be run.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Correctness of linkage and aggregation: exact alignment and 1e-10 agreement with plaintext OLS when noise is off.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Median RMSE over 200 runs, with the 2.5–97.5% band across runs and the non-private OLS floor. R-squared 0.5.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Numbers behind the figure. A stronger signal lowers the OLS floor, but the DP part is set by the committed bounds, so the ratio is largest at high R-squared.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Per-coefficient view. Raw RMSE is meaningless across coefficients because of units; the efficiency ratio compares each coefficient against its own sampling error.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to the reviewer: not as a bias correction; the removed bias is tiny. It is still worth applying as a free variance reduction. Rule: apply to every release that passes the gate.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When sigma is large, the ridge's shrinkage dominates. Intervals are reliable only when the ridge is off, and at large n clipping to the committed bounds moves the target.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From reports/adassp/results.csv. Our protocol beats the matched AdaSSP on every dataset here and is within a few percent of published AdaSSP at large n; published AdaSSP is ahead on the small datasets at eps = 1. Our AdaSSP re-implementation reproduces Wang's published MSE (median ratio 1.000 over 29 datasets and 10 values of eps).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Native charts from reports/adassp/results.csv; paired verdicts from reports/adassp/all/compare.csv (all 29 datasets of Wang's published run, R = 50 draws per fold; a verdict needs the 95% CI of the paired fold difference to exclude 0). The bias correction changes test MSE by -2.8% to +2.3%: it helps at small eps and slightly hurts at large eps.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Placeholders for results that need new runs: real-data intersection sweeps, and runtime and communication of the revised protocol once implemented in OpenFHE.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Four takeaways and five next steps.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chart" Target="/ppt/charts/chart3.xm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086600" y="1417320"/>
            <a:ext cx="3017520" cy="3017520"/>
          </a:xfrm>
          <a:prstGeom prst="ellipse">
            <a:avLst/>
          </a:prstGeom>
          <a:solidFill>
            <a:srgbClr val="3D5A80">
              <a:alpha val="65000"/>
            </a:srgbClr>
          </a:solidFill>
          <a:ln w="19050">
            <a:solidFill>
              <a:srgbClr val="8FA6C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549640" y="1417320"/>
            <a:ext cx="3017520" cy="3017520"/>
          </a:xfrm>
          <a:prstGeom prst="ellipse">
            <a:avLst/>
          </a:prstGeom>
          <a:solidFill>
            <a:srgbClr val="C45A0C">
              <a:alpha val="55000"/>
            </a:srgbClr>
          </a:solidFill>
          <a:ln w="19050">
            <a:solidFill>
              <a:srgbClr val="E7A77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406640" y="2606040"/>
            <a:ext cx="731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0469880" y="2606040"/>
            <a:ext cx="731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</a:t>
            </a:r>
            <a:endParaRPr lang="en-US" sz="30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81160" y="2697480"/>
            <a:ext cx="457200" cy="4572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31520" y="1463040"/>
            <a:ext cx="60350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Privacy-Preserving Vertical Federated Linear Regression</a:t>
            </a:r>
            <a:endParaRPr lang="en-US" sz="38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3291840"/>
            <a:ext cx="6035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AD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the organization holds the response: protocol, privacy analysis and evaluation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731520" y="576072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F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draft  ·  September 2026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2331720"/>
            <a:ext cx="1188720" cy="1188720"/>
          </a:xfrm>
          <a:prstGeom prst="ellipse">
            <a:avLst/>
          </a:prstGeom>
          <a:solidFill>
            <a:srgbClr val="C45A0C"/>
          </a:solidFill>
          <a:ln w="12700">
            <a:solidFill>
              <a:srgbClr val="C45A0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22960" y="233172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2377440" y="2240280"/>
            <a:ext cx="8686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problem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2377440" y="3063240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Joint regression across data that cannot be pooled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datasets, one question, no pooling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5120640" cy="3246120"/>
          </a:xfrm>
          <a:prstGeom prst="roundRect">
            <a:avLst>
              <a:gd name="adj" fmla="val 2254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691640"/>
            <a:ext cx="731520" cy="731520"/>
          </a:xfrm>
          <a:prstGeom prst="ellipse">
            <a:avLst/>
          </a:prstGeom>
          <a:solidFill>
            <a:srgbClr val="3D5A80"/>
          </a:solidFill>
          <a:ln w="12700">
            <a:solidFill>
              <a:srgbClr val="3D5A80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8525" y="1867205"/>
            <a:ext cx="380390" cy="38039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737360" y="17830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Researcher  R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868680" y="2606040"/>
            <a:ext cx="45720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Smaller cohort with rich domain variables: health, education, surveys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Wants to know whether these predict an administrative outcome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Holds features X_R and identifiers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6035040" y="1417320"/>
            <a:ext cx="5577840" cy="3246120"/>
          </a:xfrm>
          <a:prstGeom prst="roundRect">
            <a:avLst>
              <a:gd name="adj" fmla="val 2254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309360" y="1691640"/>
            <a:ext cx="731520" cy="731520"/>
          </a:xfrm>
          <a:prstGeom prst="ellipse">
            <a:avLst/>
          </a:prstGeom>
          <a:solidFill>
            <a:srgbClr val="C45A0C"/>
          </a:solidFill>
          <a:ln w="12700">
            <a:solidFill>
              <a:srgbClr val="C45A0C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84925" y="1867205"/>
            <a:ext cx="380390" cy="38039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223760" y="178308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Organization  O  (e.g. StatCan)</a:t>
            </a:r>
            <a:endParaRPr lang="en-US" sz="2200" dirty="0"/>
          </a:p>
        </p:txBody>
      </p:sp>
      <p:sp>
        <p:nvSpPr>
          <p:cNvPr id="12" name="Text 8"/>
          <p:cNvSpPr txBox="1"/>
          <p:nvPr/>
        </p:nvSpPr>
        <p:spPr>
          <a:xfrm>
            <a:off x="6355080" y="2606040"/>
            <a:ext cx="50292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Population register: tax filings, income, benefits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Holds the outcome y and features X_O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Cannot release records; law and governance bar direct sharing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548640" y="498348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C45A0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6–8 weeks</a:t>
            </a:r>
            <a:endParaRPr lang="en-US" sz="4400" dirty="0"/>
          </a:p>
        </p:txBody>
      </p:sp>
      <p:sp>
        <p:nvSpPr>
          <p:cNvPr id="14" name="Text 10"/>
          <p:cNvSpPr txBox="1"/>
          <p:nvPr/>
        </p:nvSpPr>
        <p:spPr>
          <a:xfrm>
            <a:off x="3657600" y="5074920"/>
            <a:ext cx="7955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B65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vetting and approvals today before a researcher can link a cohort to agency records in a Research Data Centre. Neither dataset alone answers the question.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Same people, different variables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24128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B65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Vertically partitioned data: overlapping rows, disjoint columns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224028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D5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R: cohort (n_R rows)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31520" y="2606040"/>
            <a:ext cx="2377440" cy="192024"/>
          </a:xfrm>
          <a:prstGeom prst="rect">
            <a:avLst/>
          </a:prstGeom>
          <a:solidFill>
            <a:srgbClr val="EEF2F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31520" y="2834640"/>
            <a:ext cx="2377440" cy="192024"/>
          </a:xfrm>
          <a:prstGeom prst="rect">
            <a:avLst/>
          </a:prstGeom>
          <a:solidFill>
            <a:srgbClr val="EEF2F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3063240"/>
            <a:ext cx="2377440" cy="192024"/>
          </a:xfrm>
          <a:prstGeom prst="rect">
            <a:avLst/>
          </a:prstGeom>
          <a:solidFill>
            <a:srgbClr val="EEF2F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31520" y="3291840"/>
            <a:ext cx="2377440" cy="192024"/>
          </a:xfrm>
          <a:prstGeom prst="rect">
            <a:avLst/>
          </a:prstGeom>
          <a:solidFill>
            <a:srgbClr val="D6E0E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31520" y="3520440"/>
            <a:ext cx="2377440" cy="192024"/>
          </a:xfrm>
          <a:prstGeom prst="rect">
            <a:avLst/>
          </a:prstGeom>
          <a:solidFill>
            <a:srgbClr val="D6E0E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3749040"/>
            <a:ext cx="2377440" cy="192024"/>
          </a:xfrm>
          <a:prstGeom prst="rect">
            <a:avLst/>
          </a:prstGeom>
          <a:solidFill>
            <a:srgbClr val="D6E0E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31520" y="3977640"/>
            <a:ext cx="2377440" cy="192024"/>
          </a:xfrm>
          <a:prstGeom prst="rect">
            <a:avLst/>
          </a:prstGeom>
          <a:solidFill>
            <a:srgbClr val="D6E0E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4206240"/>
            <a:ext cx="2377440" cy="192024"/>
          </a:xfrm>
          <a:prstGeom prst="rect">
            <a:avLst/>
          </a:prstGeom>
          <a:solidFill>
            <a:srgbClr val="D6E0E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31520" y="4434840"/>
            <a:ext cx="2377440" cy="192024"/>
          </a:xfrm>
          <a:prstGeom prst="rect">
            <a:avLst/>
          </a:prstGeom>
          <a:solidFill>
            <a:srgbClr val="D6E0E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31520" y="4663440"/>
            <a:ext cx="2377440" cy="192024"/>
          </a:xfrm>
          <a:prstGeom prst="rect">
            <a:avLst/>
          </a:prstGeom>
          <a:solidFill>
            <a:srgbClr val="D6E0E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1520" y="4892040"/>
            <a:ext cx="2377440" cy="192024"/>
          </a:xfrm>
          <a:prstGeom prst="rect">
            <a:avLst/>
          </a:prstGeom>
          <a:solidFill>
            <a:srgbClr val="D6E0E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31520" y="5120640"/>
            <a:ext cx="2377440" cy="192024"/>
          </a:xfrm>
          <a:prstGeom prst="rect">
            <a:avLst/>
          </a:prstGeom>
          <a:solidFill>
            <a:srgbClr val="EEF2F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31520" y="539496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D5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X_R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3931920" y="155448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C45A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O: register (n_O rows, n_O ≫ n_R)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931920" y="1920240"/>
            <a:ext cx="2926080" cy="192024"/>
          </a:xfrm>
          <a:prstGeom prst="rect">
            <a:avLst/>
          </a:prstGeom>
          <a:solidFill>
            <a:srgbClr val="F8EDE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903720" y="1920240"/>
            <a:ext cx="457200" cy="192024"/>
          </a:xfrm>
          <a:prstGeom prst="rect">
            <a:avLst/>
          </a:prstGeom>
          <a:solidFill>
            <a:srgbClr val="F1D9C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931920" y="2148840"/>
            <a:ext cx="2926080" cy="192024"/>
          </a:xfrm>
          <a:prstGeom prst="rect">
            <a:avLst/>
          </a:prstGeom>
          <a:solidFill>
            <a:srgbClr val="F8EDE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903720" y="2148840"/>
            <a:ext cx="457200" cy="192024"/>
          </a:xfrm>
          <a:prstGeom prst="rect">
            <a:avLst/>
          </a:prstGeom>
          <a:solidFill>
            <a:srgbClr val="F1D9C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931920" y="2377440"/>
            <a:ext cx="2926080" cy="192024"/>
          </a:xfrm>
          <a:prstGeom prst="rect">
            <a:avLst/>
          </a:prstGeom>
          <a:solidFill>
            <a:srgbClr val="F8EDE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903720" y="2377440"/>
            <a:ext cx="457200" cy="192024"/>
          </a:xfrm>
          <a:prstGeom prst="rect">
            <a:avLst/>
          </a:prstGeom>
          <a:solidFill>
            <a:srgbClr val="F1D9C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931920" y="2606040"/>
            <a:ext cx="2926080" cy="192024"/>
          </a:xfrm>
          <a:prstGeom prst="rect">
            <a:avLst/>
          </a:prstGeom>
          <a:solidFill>
            <a:srgbClr val="F8EDE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903720" y="2606040"/>
            <a:ext cx="457200" cy="192024"/>
          </a:xfrm>
          <a:prstGeom prst="rect">
            <a:avLst/>
          </a:prstGeom>
          <a:solidFill>
            <a:srgbClr val="F1D9C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931920" y="2834640"/>
            <a:ext cx="2926080" cy="192024"/>
          </a:xfrm>
          <a:prstGeom prst="rect">
            <a:avLst/>
          </a:prstGeom>
          <a:solidFill>
            <a:srgbClr val="F8EDE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903720" y="2834640"/>
            <a:ext cx="457200" cy="192024"/>
          </a:xfrm>
          <a:prstGeom prst="rect">
            <a:avLst/>
          </a:prstGeom>
          <a:solidFill>
            <a:srgbClr val="F1D9C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931920" y="3063240"/>
            <a:ext cx="2926080" cy="192024"/>
          </a:xfrm>
          <a:prstGeom prst="rect">
            <a:avLst/>
          </a:prstGeom>
          <a:solidFill>
            <a:srgbClr val="F8EDE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903720" y="3063240"/>
            <a:ext cx="457200" cy="192024"/>
          </a:xfrm>
          <a:prstGeom prst="rect">
            <a:avLst/>
          </a:prstGeom>
          <a:solidFill>
            <a:srgbClr val="F1D9C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931920" y="3291840"/>
            <a:ext cx="2926080" cy="192024"/>
          </a:xfrm>
          <a:prstGeom prst="rect">
            <a:avLst/>
          </a:prstGeom>
          <a:solidFill>
            <a:srgbClr val="F3D2B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903720" y="3291840"/>
            <a:ext cx="457200" cy="192024"/>
          </a:xfrm>
          <a:prstGeom prst="rect">
            <a:avLst/>
          </a:prstGeom>
          <a:solidFill>
            <a:srgbClr val="E3A57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931920" y="3520440"/>
            <a:ext cx="2926080" cy="192024"/>
          </a:xfrm>
          <a:prstGeom prst="rect">
            <a:avLst/>
          </a:prstGeom>
          <a:solidFill>
            <a:srgbClr val="F3D2B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903720" y="3520440"/>
            <a:ext cx="457200" cy="192024"/>
          </a:xfrm>
          <a:prstGeom prst="rect">
            <a:avLst/>
          </a:prstGeom>
          <a:solidFill>
            <a:srgbClr val="E3A57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931920" y="3749040"/>
            <a:ext cx="2926080" cy="192024"/>
          </a:xfrm>
          <a:prstGeom prst="rect">
            <a:avLst/>
          </a:prstGeom>
          <a:solidFill>
            <a:srgbClr val="F3D2B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903720" y="3749040"/>
            <a:ext cx="457200" cy="192024"/>
          </a:xfrm>
          <a:prstGeom prst="rect">
            <a:avLst/>
          </a:prstGeom>
          <a:solidFill>
            <a:srgbClr val="E3A57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931920" y="3977640"/>
            <a:ext cx="2926080" cy="192024"/>
          </a:xfrm>
          <a:prstGeom prst="rect">
            <a:avLst/>
          </a:prstGeom>
          <a:solidFill>
            <a:srgbClr val="F3D2B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903720" y="3977640"/>
            <a:ext cx="457200" cy="192024"/>
          </a:xfrm>
          <a:prstGeom prst="rect">
            <a:avLst/>
          </a:prstGeom>
          <a:solidFill>
            <a:srgbClr val="E3A57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931920" y="4206240"/>
            <a:ext cx="2926080" cy="192024"/>
          </a:xfrm>
          <a:prstGeom prst="rect">
            <a:avLst/>
          </a:prstGeom>
          <a:solidFill>
            <a:srgbClr val="F3D2B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903720" y="4206240"/>
            <a:ext cx="457200" cy="192024"/>
          </a:xfrm>
          <a:prstGeom prst="rect">
            <a:avLst/>
          </a:prstGeom>
          <a:solidFill>
            <a:srgbClr val="E3A57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3931920" y="4434840"/>
            <a:ext cx="2926080" cy="192024"/>
          </a:xfrm>
          <a:prstGeom prst="rect">
            <a:avLst/>
          </a:prstGeom>
          <a:solidFill>
            <a:srgbClr val="F3D2B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903720" y="4434840"/>
            <a:ext cx="457200" cy="192024"/>
          </a:xfrm>
          <a:prstGeom prst="rect">
            <a:avLst/>
          </a:prstGeom>
          <a:solidFill>
            <a:srgbClr val="E3A57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3931920" y="4663440"/>
            <a:ext cx="2926080" cy="192024"/>
          </a:xfrm>
          <a:prstGeom prst="rect">
            <a:avLst/>
          </a:prstGeom>
          <a:solidFill>
            <a:srgbClr val="F3D2B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6903720" y="4663440"/>
            <a:ext cx="457200" cy="192024"/>
          </a:xfrm>
          <a:prstGeom prst="rect">
            <a:avLst/>
          </a:prstGeom>
          <a:solidFill>
            <a:srgbClr val="E3A57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3931920" y="4892040"/>
            <a:ext cx="2926080" cy="192024"/>
          </a:xfrm>
          <a:prstGeom prst="rect">
            <a:avLst/>
          </a:prstGeom>
          <a:solidFill>
            <a:srgbClr val="F3D2B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6903720" y="4892040"/>
            <a:ext cx="457200" cy="192024"/>
          </a:xfrm>
          <a:prstGeom prst="rect">
            <a:avLst/>
          </a:prstGeom>
          <a:solidFill>
            <a:srgbClr val="E3A57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3931920" y="5120640"/>
            <a:ext cx="2926080" cy="192024"/>
          </a:xfrm>
          <a:prstGeom prst="rect">
            <a:avLst/>
          </a:prstGeom>
          <a:solidFill>
            <a:srgbClr val="F8EDE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6903720" y="5120640"/>
            <a:ext cx="457200" cy="192024"/>
          </a:xfrm>
          <a:prstGeom prst="rect">
            <a:avLst/>
          </a:prstGeom>
          <a:solidFill>
            <a:srgbClr val="F1D9C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3931920" y="5349240"/>
            <a:ext cx="2926080" cy="192024"/>
          </a:xfrm>
          <a:prstGeom prst="rect">
            <a:avLst/>
          </a:prstGeom>
          <a:solidFill>
            <a:srgbClr val="F8EDE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6903720" y="5349240"/>
            <a:ext cx="457200" cy="192024"/>
          </a:xfrm>
          <a:prstGeom prst="rect">
            <a:avLst/>
          </a:prstGeom>
          <a:solidFill>
            <a:srgbClr val="F1D9C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3931920" y="5577840"/>
            <a:ext cx="2926080" cy="192024"/>
          </a:xfrm>
          <a:prstGeom prst="rect">
            <a:avLst/>
          </a:prstGeom>
          <a:solidFill>
            <a:srgbClr val="F8EDE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6903720" y="5577840"/>
            <a:ext cx="457200" cy="192024"/>
          </a:xfrm>
          <a:prstGeom prst="rect">
            <a:avLst/>
          </a:prstGeom>
          <a:solidFill>
            <a:srgbClr val="F1D9C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3931920" y="5806440"/>
            <a:ext cx="2926080" cy="192024"/>
          </a:xfrm>
          <a:prstGeom prst="rect">
            <a:avLst/>
          </a:prstGeom>
          <a:solidFill>
            <a:srgbClr val="F8EDE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6903720" y="5806440"/>
            <a:ext cx="457200" cy="192024"/>
          </a:xfrm>
          <a:prstGeom prst="rect">
            <a:avLst/>
          </a:prstGeom>
          <a:solidFill>
            <a:srgbClr val="F1D9C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3931920" y="608076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45A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X_O</a:t>
            </a:r>
            <a:endParaRPr lang="en-US" sz="1400" dirty="0"/>
          </a:p>
        </p:txBody>
      </p:sp>
      <p:sp>
        <p:nvSpPr>
          <p:cNvPr id="56" name="Text 54"/>
          <p:cNvSpPr txBox="1"/>
          <p:nvPr/>
        </p:nvSpPr>
        <p:spPr>
          <a:xfrm>
            <a:off x="6903720" y="608076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45A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</a:t>
            </a:r>
            <a:endParaRPr lang="en-US" sz="1400" dirty="0"/>
          </a:p>
        </p:txBody>
      </p:sp>
      <p:sp>
        <p:nvSpPr>
          <p:cNvPr id="57" name="Shape 55"/>
          <p:cNvSpPr/>
          <p:nvPr/>
        </p:nvSpPr>
        <p:spPr>
          <a:xfrm>
            <a:off x="3246120" y="3291840"/>
            <a:ext cx="548640" cy="1792224"/>
          </a:xfrm>
          <a:prstGeom prst="rect">
            <a:avLst/>
          </a:prstGeom>
          <a:solidFill>
            <a:srgbClr val="14213D">
              <a:alpha val="15000"/>
            </a:srgbClr>
          </a:solidFill>
          <a:ln w="12700">
            <a:solidFill>
              <a:srgbClr val="14213D"/>
            </a:solidFill>
            <a:prstDash val="dash"/>
          </a:ln>
        </p:spPr>
      </p:sp>
      <p:sp>
        <p:nvSpPr>
          <p:cNvPr id="58" name="Text 56"/>
          <p:cNvSpPr txBox="1"/>
          <p:nvPr/>
        </p:nvSpPr>
        <p:spPr>
          <a:xfrm>
            <a:off x="3154680" y="402336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matched</a:t>
            </a:r>
            <a:endParaRPr lang="en-US" sz="1100" dirty="0"/>
          </a:p>
        </p:txBody>
      </p:sp>
      <p:sp>
        <p:nvSpPr>
          <p:cNvPr id="59" name="Shape 57"/>
          <p:cNvSpPr/>
          <p:nvPr/>
        </p:nvSpPr>
        <p:spPr>
          <a:xfrm>
            <a:off x="7955280" y="1417320"/>
            <a:ext cx="3657600" cy="4663440"/>
          </a:xfrm>
          <a:prstGeom prst="roundRect">
            <a:avLst>
              <a:gd name="adj" fmla="val 200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8229600" y="164592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Goal</a:t>
            </a:r>
            <a:endParaRPr lang="en-US" sz="2000" dirty="0"/>
          </a:p>
        </p:txBody>
      </p:sp>
      <p:sp>
        <p:nvSpPr>
          <p:cNvPr id="61" name="Text 59"/>
          <p:cNvSpPr txBox="1"/>
          <p:nvPr/>
        </p:nvSpPr>
        <p:spPr>
          <a:xfrm>
            <a:off x="8229600" y="2148840"/>
            <a:ext cx="320040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 y on [X_R | X_O] over the n matched individuals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Neither party sees the other's raw data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must not learn which of its records are in R's cohort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released model must not expose individuals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has to be computed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24128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B65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OLS on the matched join needs a Gram matrix that spans both parties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0020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β̂ = (ZᵀZ)⁻¹ Zᵀy,    Z = [ X_Rᴵ | X_Oᴵ ]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822960" y="2468880"/>
            <a:ext cx="1417320" cy="1417320"/>
          </a:xfrm>
          <a:prstGeom prst="rect">
            <a:avLst/>
          </a:prstGeom>
          <a:solidFill>
            <a:srgbClr val="D6E0EE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2468880"/>
            <a:ext cx="1417320" cy="1417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endParaRPr lang="en-US" sz="24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X_Rᵀ X_R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2240280" y="2468880"/>
            <a:ext cx="1417320" cy="1417320"/>
          </a:xfrm>
          <a:prstGeom prst="rect">
            <a:avLst/>
          </a:prstGeom>
          <a:solidFill>
            <a:srgbClr val="C45A0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240280" y="2468880"/>
            <a:ext cx="1417320" cy="1417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</a:t>
            </a:r>
            <a:endParaRPr lang="en-US" sz="24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X_Rᵀ X_O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822960" y="3886200"/>
            <a:ext cx="1417320" cy="1417320"/>
          </a:xfrm>
          <a:prstGeom prst="rect">
            <a:avLst/>
          </a:prstGeom>
          <a:solidFill>
            <a:srgbClr val="C45A0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2960" y="3886200"/>
            <a:ext cx="1417320" cy="1417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</a:t>
            </a:r>
            <a:pPr algn="ctr" indent="0" marL="0">
              <a:buNone/>
            </a:pPr>
            <a:r>
              <a:rPr lang="en-US" sz="2400" b="1" baseline="300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</a:t>
            </a:r>
            <a:endParaRPr lang="en-US" sz="2400" dirty="0"/>
          </a:p>
          <a:p>
            <a:pPr algn="ctr" indent="0" marL="0">
              <a:buNone/>
            </a:pP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2240280" y="3886200"/>
            <a:ext cx="1417320" cy="1417320"/>
          </a:xfrm>
          <a:prstGeom prst="rect">
            <a:avLst/>
          </a:prstGeom>
          <a:solidFill>
            <a:srgbClr val="F3D2B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240280" y="3886200"/>
            <a:ext cx="1417320" cy="1417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</a:t>
            </a:r>
            <a:endParaRPr lang="en-US" sz="24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X_Oᵀ X_O</a:t>
            </a:r>
            <a:endParaRPr lang="en-US" sz="2400" dirty="0"/>
          </a:p>
        </p:txBody>
      </p:sp>
      <p:sp>
        <p:nvSpPr>
          <p:cNvPr id="13" name="Shape 11"/>
          <p:cNvSpPr/>
          <p:nvPr/>
        </p:nvSpPr>
        <p:spPr>
          <a:xfrm>
            <a:off x="4023360" y="2468880"/>
            <a:ext cx="1417320" cy="1417320"/>
          </a:xfrm>
          <a:prstGeom prst="rect">
            <a:avLst/>
          </a:prstGeom>
          <a:solidFill>
            <a:srgbClr val="C45A0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023360" y="2468880"/>
            <a:ext cx="1417320" cy="1417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c_R</a:t>
            </a:r>
            <a:endParaRPr lang="en-US" sz="24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X_Rᵀ y</a:t>
            </a:r>
            <a:endParaRPr lang="en-US" sz="2400" dirty="0"/>
          </a:p>
        </p:txBody>
      </p:sp>
      <p:sp>
        <p:nvSpPr>
          <p:cNvPr id="15" name="Shape 13"/>
          <p:cNvSpPr/>
          <p:nvPr/>
        </p:nvSpPr>
        <p:spPr>
          <a:xfrm>
            <a:off x="4023360" y="3886200"/>
            <a:ext cx="1417320" cy="1417320"/>
          </a:xfrm>
          <a:prstGeom prst="rect">
            <a:avLst/>
          </a:prstGeom>
          <a:solidFill>
            <a:srgbClr val="F3D2B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023360" y="3886200"/>
            <a:ext cx="1417320" cy="1417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c_O</a:t>
            </a:r>
            <a:endParaRPr lang="en-US" sz="24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X_Oᵀ y</a:t>
            </a:r>
            <a:endParaRPr lang="en-US" sz="2400" dirty="0"/>
          </a:p>
        </p:txBody>
      </p:sp>
      <p:sp>
        <p:nvSpPr>
          <p:cNvPr id="17" name="Text 15"/>
          <p:cNvSpPr txBox="1"/>
          <p:nvPr/>
        </p:nvSpPr>
        <p:spPr>
          <a:xfrm>
            <a:off x="822960" y="539496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5B657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ZᵀZ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4023360" y="5394960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5B657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Zᵀy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6126480" y="2514600"/>
            <a:ext cx="365760" cy="365760"/>
          </a:xfrm>
          <a:prstGeom prst="rect">
            <a:avLst/>
          </a:prstGeom>
          <a:solidFill>
            <a:srgbClr val="D6E0EE"/>
          </a:solidFill>
          <a:ln w="12700">
            <a:solidFill>
              <a:srgbClr val="D6E0EE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629400" y="2542032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 alone: exact, never leaves R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6126480" y="3081528"/>
            <a:ext cx="365760" cy="365760"/>
          </a:xfrm>
          <a:prstGeom prst="rect">
            <a:avLst/>
          </a:prstGeom>
          <a:solidFill>
            <a:srgbClr val="F3D2BC"/>
          </a:solidFill>
          <a:ln w="12700">
            <a:solidFill>
              <a:srgbClr val="F3D2BC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629400" y="310896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O's data, but only on matched rows (needs b)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6126480" y="3648456"/>
            <a:ext cx="365760" cy="365760"/>
          </a:xfrm>
          <a:prstGeom prst="rect">
            <a:avLst/>
          </a:prstGeom>
          <a:solidFill>
            <a:srgbClr val="C45A0C"/>
          </a:solidFill>
          <a:ln w="12700">
            <a:solidFill>
              <a:srgbClr val="C45A0C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629400" y="3675888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Cross-party: needs both parties' data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6126480" y="4389120"/>
            <a:ext cx="5486400" cy="1463040"/>
          </a:xfrm>
          <a:prstGeom prst="roundRect">
            <a:avLst>
              <a:gd name="adj" fmla="val 5000"/>
            </a:avLst>
          </a:prstGeom>
          <a:solidFill>
            <a:srgbClr val="F6E3D6"/>
          </a:solidFill>
          <a:ln w="12700">
            <a:solidFill>
              <a:srgbClr val="F6E3D6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355080" y="4572000"/>
            <a:ext cx="5029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A is purely R's. Everything that touches O's data is computed under R's encryption key and noised by O before R sees it.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guarantees, honest-but-curious parties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3566160" cy="3291840"/>
          </a:xfrm>
          <a:prstGeom prst="roundRect">
            <a:avLst>
              <a:gd name="adj" fmla="val 2222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737360"/>
            <a:ext cx="777240" cy="777240"/>
          </a:xfrm>
          <a:prstGeom prst="ellipse">
            <a:avLst/>
          </a:prstGeom>
          <a:solidFill>
            <a:srgbClr val="3D5A80"/>
          </a:solidFill>
          <a:ln w="12700">
            <a:solidFill>
              <a:srgbClr val="3D5A80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9498" y="1923898"/>
            <a:ext cx="404165" cy="40416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22960" y="26974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Input privacy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3200400"/>
            <a:ext cx="3063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party's view can be simulated from its own input and the agreed output. Neither sees the other's raw data.</a:t>
            </a:r>
            <a:endParaRPr lang="en-US" sz="1450" dirty="0"/>
          </a:p>
        </p:txBody>
      </p:sp>
      <p:sp>
        <p:nvSpPr>
          <p:cNvPr id="8" name="Shape 5"/>
          <p:cNvSpPr/>
          <p:nvPr/>
        </p:nvSpPr>
        <p:spPr>
          <a:xfrm>
            <a:off x="4343400" y="1463040"/>
            <a:ext cx="3566160" cy="3291840"/>
          </a:xfrm>
          <a:prstGeom prst="roundRect">
            <a:avLst>
              <a:gd name="adj" fmla="val 2222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617720" y="1737360"/>
            <a:ext cx="777240" cy="777240"/>
          </a:xfrm>
          <a:prstGeom prst="ellipse">
            <a:avLst/>
          </a:prstGeom>
          <a:solidFill>
            <a:srgbClr val="1B8A7A"/>
          </a:solidFill>
          <a:ln w="12700">
            <a:solidFill>
              <a:srgbClr val="1B8A7A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4258" y="1923898"/>
            <a:ext cx="404165" cy="404165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617720" y="26974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Linkage privacy</a:t>
            </a:r>
            <a:endParaRPr lang="en-US" sz="2100" dirty="0"/>
          </a:p>
        </p:txBody>
      </p:sp>
      <p:sp>
        <p:nvSpPr>
          <p:cNvPr id="12" name="Text 8"/>
          <p:cNvSpPr txBox="1"/>
          <p:nvPr/>
        </p:nvSpPr>
        <p:spPr>
          <a:xfrm>
            <a:off x="4617720" y="3200400"/>
            <a:ext cx="3063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learns nothing about which of its records match R's cohort (only public sizes).</a:t>
            </a:r>
            <a:endParaRPr lang="en-US" sz="1450" dirty="0"/>
          </a:p>
        </p:txBody>
      </p:sp>
      <p:sp>
        <p:nvSpPr>
          <p:cNvPr id="13" name="Shape 9"/>
          <p:cNvSpPr/>
          <p:nvPr/>
        </p:nvSpPr>
        <p:spPr>
          <a:xfrm>
            <a:off x="8138160" y="1463040"/>
            <a:ext cx="3566160" cy="3291840"/>
          </a:xfrm>
          <a:prstGeom prst="roundRect">
            <a:avLst>
              <a:gd name="adj" fmla="val 2222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8412480" y="1737360"/>
            <a:ext cx="777240" cy="777240"/>
          </a:xfrm>
          <a:prstGeom prst="ellipse">
            <a:avLst/>
          </a:prstGeom>
          <a:solidFill>
            <a:srgbClr val="C45A0C"/>
          </a:solidFill>
          <a:ln w="12700">
            <a:solidFill>
              <a:srgbClr val="C45A0C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9018" y="1923898"/>
            <a:ext cx="404165" cy="404165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412480" y="26974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Output privacy</a:t>
            </a:r>
            <a:endParaRPr lang="en-US" sz="2100" dirty="0"/>
          </a:p>
        </p:txBody>
      </p:sp>
      <p:sp>
        <p:nvSpPr>
          <p:cNvPr id="17" name="Text 12"/>
          <p:cNvSpPr txBox="1"/>
          <p:nvPr/>
        </p:nvSpPr>
        <p:spPr>
          <a:xfrm>
            <a:off x="8412480" y="3200400"/>
            <a:ext cx="3063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R receives is differentially private for each matched person's O-side data (x_O, y), with R's features held fixed (replace-one).</a:t>
            </a:r>
            <a:endParaRPr lang="en-US" sz="1450" dirty="0"/>
          </a:p>
        </p:txBody>
      </p:sp>
      <p:sp>
        <p:nvSpPr>
          <p:cNvPr id="18" name="Shape 13"/>
          <p:cNvSpPr/>
          <p:nvPr/>
        </p:nvSpPr>
        <p:spPr>
          <a:xfrm>
            <a:off x="548640" y="5074920"/>
            <a:ext cx="11064240" cy="1143000"/>
          </a:xfrm>
          <a:prstGeom prst="roundRect">
            <a:avLst>
              <a:gd name="adj" fmla="val 6400"/>
            </a:avLst>
          </a:prstGeom>
          <a:solidFill>
            <a:srgbClr val="F7F9FC"/>
          </a:solidFill>
          <a:ln w="12700">
            <a:solidFill>
              <a:srgbClr val="F7F9FC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777240" y="5285232"/>
            <a:ext cx="731520" cy="731520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2805" y="5460797"/>
            <a:ext cx="380390" cy="38039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737360" y="5303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Parties follow the protocol but analyse everything they receive. R holds all decryption keys and learns the match set by design; O controls the privacy budget.</a:t>
            </a:r>
            <a:endParaRPr lang="en-US" sz="15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this work sits</a:t>
            </a:r>
            <a:endParaRPr lang="en-US" sz="3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91440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331720"/>
                <a:gridCol w="1920240"/>
                <a:gridCol w="1874520"/>
                <a:gridCol w="219456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Approach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Where the data sit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Record linkage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Output privacy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Gap for our setting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Central DP regression (AdaSSP, Wang 2018)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trusted curator holds the joined table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needed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DP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Assumes the pooled data exist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VFL with HE (e.g. Yang et al. 2019)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Split across parties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Assumed or separate PSI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Usually none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 can leak individuals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Private set intersection (Chen–Laine–Rindal)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Split across parties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applicable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Linkage only, no model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C45A0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This work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Split; never pooled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Labeled PSI, private to O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DP, budget controlled by O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5B657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Narrower guarantee: protects O's side; R learns membership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548640" y="4892040"/>
            <a:ext cx="11064240" cy="1234440"/>
          </a:xfrm>
          <a:prstGeom prst="roundRect">
            <a:avLst>
              <a:gd name="adj" fmla="val 5926"/>
            </a:avLst>
          </a:prstGeom>
          <a:solidFill>
            <a:srgbClr val="F6E3D6"/>
          </a:solidFill>
          <a:ln w="12700">
            <a:solidFill>
              <a:srgbClr val="F6E3D6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507492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statistical engine as AdaSSP (perturb the sufficient statistics, then solve a ridge), delivered without pooling, and with R's own block kept exact.</a:t>
            </a:r>
            <a:endParaRPr lang="en-US" sz="16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1051560"/>
            <a:ext cx="1188720" cy="1188720"/>
          </a:xfrm>
          <a:prstGeom prst="ellipse">
            <a:avLst/>
          </a:prstGeom>
          <a:solidFill>
            <a:srgbClr val="C45A0C"/>
          </a:solidFill>
          <a:ln w="12700">
            <a:solidFill>
              <a:srgbClr val="C45A0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22960" y="105156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2377440" y="960120"/>
            <a:ext cx="8686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did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2377440" y="1783080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Reviewed the draft, found what breaks, and rebuilt it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914400" y="3794760"/>
            <a:ext cx="9235440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3429000"/>
            <a:ext cx="731520" cy="731520"/>
          </a:xfrm>
          <a:prstGeom prst="ellipse">
            <a:avLst/>
          </a:prstGeom>
          <a:solidFill>
            <a:srgbClr val="3D5A80"/>
          </a:solidFill>
          <a:ln w="12700">
            <a:solidFill>
              <a:srgbClr val="3D5A80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4205" y="3604565"/>
            <a:ext cx="380390" cy="38039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365760" y="434340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 Review</a:t>
            </a:r>
            <a:endParaRPr lang="en-US" sz="1700" dirty="0"/>
          </a:p>
        </p:txBody>
      </p:sp>
      <p:sp>
        <p:nvSpPr>
          <p:cNvPr id="10" name="Text 7"/>
          <p:cNvSpPr txBox="1"/>
          <p:nvPr/>
        </p:nvSpPr>
        <p:spPr>
          <a:xfrm>
            <a:off x="365760" y="4782312"/>
            <a:ext cx="1691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CAD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paper and code checked line by line</a:t>
            </a:r>
            <a:endParaRPr lang="en-US" sz="1350" dirty="0"/>
          </a:p>
        </p:txBody>
      </p:sp>
      <p:sp>
        <p:nvSpPr>
          <p:cNvPr id="11" name="Shape 8"/>
          <p:cNvSpPr/>
          <p:nvPr/>
        </p:nvSpPr>
        <p:spPr>
          <a:xfrm>
            <a:off x="2395728" y="3429000"/>
            <a:ext cx="731520" cy="731520"/>
          </a:xfrm>
          <a:prstGeom prst="ellipse">
            <a:avLst/>
          </a:prstGeom>
          <a:solidFill>
            <a:srgbClr val="3D5A80"/>
          </a:solidFill>
          <a:ln w="12700">
            <a:solidFill>
              <a:srgbClr val="3D5A80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71293" y="3604565"/>
            <a:ext cx="380390" cy="38039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2212848" y="434340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 Run</a:t>
            </a:r>
            <a:endParaRPr lang="en-US" sz="1700" dirty="0"/>
          </a:p>
        </p:txBody>
      </p:sp>
      <p:sp>
        <p:nvSpPr>
          <p:cNvPr id="14" name="Text 10"/>
          <p:cNvSpPr txBox="1"/>
          <p:nvPr/>
        </p:nvSpPr>
        <p:spPr>
          <a:xfrm>
            <a:off x="2212848" y="4782312"/>
            <a:ext cx="1691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CAD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over sockets: plaintext and real OpenFHE</a:t>
            </a:r>
            <a:endParaRPr lang="en-US" sz="1350" dirty="0"/>
          </a:p>
        </p:txBody>
      </p:sp>
      <p:sp>
        <p:nvSpPr>
          <p:cNvPr id="15" name="Shape 11"/>
          <p:cNvSpPr/>
          <p:nvPr/>
        </p:nvSpPr>
        <p:spPr>
          <a:xfrm>
            <a:off x="4242816" y="3429000"/>
            <a:ext cx="731520" cy="731520"/>
          </a:xfrm>
          <a:prstGeom prst="ellipse">
            <a:avLst/>
          </a:prstGeom>
          <a:solidFill>
            <a:srgbClr val="C45A0C"/>
          </a:solidFill>
          <a:ln w="12700">
            <a:solidFill>
              <a:srgbClr val="C45A0C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18381" y="3604565"/>
            <a:ext cx="380390" cy="38039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4059936" y="434340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 Attack</a:t>
            </a:r>
            <a:endParaRPr lang="en-US" sz="1700" dirty="0"/>
          </a:p>
        </p:txBody>
      </p:sp>
      <p:sp>
        <p:nvSpPr>
          <p:cNvPr id="18" name="Text 13"/>
          <p:cNvSpPr txBox="1"/>
          <p:nvPr/>
        </p:nvSpPr>
        <p:spPr>
          <a:xfrm>
            <a:off x="4059936" y="4782312"/>
            <a:ext cx="1691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CAD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privacy reviews plus an independent critique</a:t>
            </a:r>
            <a:endParaRPr lang="en-US" sz="1350" dirty="0"/>
          </a:p>
        </p:txBody>
      </p:sp>
      <p:sp>
        <p:nvSpPr>
          <p:cNvPr id="19" name="Shape 14"/>
          <p:cNvSpPr/>
          <p:nvPr/>
        </p:nvSpPr>
        <p:spPr>
          <a:xfrm>
            <a:off x="6089904" y="3429000"/>
            <a:ext cx="731520" cy="731520"/>
          </a:xfrm>
          <a:prstGeom prst="ellipse">
            <a:avLst/>
          </a:prstGeom>
          <a:solidFill>
            <a:srgbClr val="3D5A80"/>
          </a:solidFill>
          <a:ln w="12700">
            <a:solidFill>
              <a:srgbClr val="3D5A80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65469" y="3604565"/>
            <a:ext cx="380390" cy="38039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5907024" y="434340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 Redesign</a:t>
            </a:r>
            <a:endParaRPr lang="en-US" sz="1700" dirty="0"/>
          </a:p>
        </p:txBody>
      </p:sp>
      <p:sp>
        <p:nvSpPr>
          <p:cNvPr id="22" name="Text 16"/>
          <p:cNvSpPr txBox="1"/>
          <p:nvPr/>
        </p:nvSpPr>
        <p:spPr>
          <a:xfrm>
            <a:off x="5907024" y="4782312"/>
            <a:ext cx="1691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CAD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Revised protocol, TikZ figure, rewritten paper</a:t>
            </a:r>
            <a:endParaRPr lang="en-US" sz="1350" dirty="0"/>
          </a:p>
        </p:txBody>
      </p:sp>
      <p:sp>
        <p:nvSpPr>
          <p:cNvPr id="23" name="Shape 17"/>
          <p:cNvSpPr/>
          <p:nvPr/>
        </p:nvSpPr>
        <p:spPr>
          <a:xfrm>
            <a:off x="7936992" y="3429000"/>
            <a:ext cx="731520" cy="731520"/>
          </a:xfrm>
          <a:prstGeom prst="ellipse">
            <a:avLst/>
          </a:prstGeom>
          <a:solidFill>
            <a:srgbClr val="3D5A80"/>
          </a:solidFill>
          <a:ln w="12700">
            <a:solidFill>
              <a:srgbClr val="3D5A80"/>
            </a:solidFill>
            <a:prstDash val="solid"/>
          </a:ln>
        </p:spPr>
      </p:sp>
      <p:pic>
        <p:nvPicPr>
          <p:cNvPr id="2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12557" y="3604565"/>
            <a:ext cx="380390" cy="380390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7754112" y="434340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5. Simulate</a:t>
            </a:r>
            <a:endParaRPr lang="en-US" sz="1700" dirty="0"/>
          </a:p>
        </p:txBody>
      </p:sp>
      <p:sp>
        <p:nvSpPr>
          <p:cNvPr id="26" name="Text 19"/>
          <p:cNvSpPr txBox="1"/>
          <p:nvPr/>
        </p:nvSpPr>
        <p:spPr>
          <a:xfrm>
            <a:off x="7754112" y="4782312"/>
            <a:ext cx="1691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CAD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 and bias-correction studies</a:t>
            </a:r>
            <a:endParaRPr lang="en-US" sz="1350" dirty="0"/>
          </a:p>
        </p:txBody>
      </p:sp>
      <p:sp>
        <p:nvSpPr>
          <p:cNvPr id="27" name="Shape 20"/>
          <p:cNvSpPr/>
          <p:nvPr/>
        </p:nvSpPr>
        <p:spPr>
          <a:xfrm>
            <a:off x="9784080" y="3429000"/>
            <a:ext cx="731520" cy="731520"/>
          </a:xfrm>
          <a:prstGeom prst="ellipse">
            <a:avLst/>
          </a:prstGeom>
          <a:solidFill>
            <a:srgbClr val="3D5A80"/>
          </a:solidFill>
          <a:ln w="12700">
            <a:solidFill>
              <a:srgbClr val="3D5A80"/>
            </a:solidFill>
            <a:prstDash val="solid"/>
          </a:ln>
        </p:spPr>
      </p:sp>
      <p:pic>
        <p:nvPicPr>
          <p:cNvPr id="28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59645" y="3604565"/>
            <a:ext cx="380390" cy="380390"/>
          </a:xfrm>
          <a:prstGeom prst="rect">
            <a:avLst/>
          </a:prstGeom>
        </p:spPr>
      </p:pic>
      <p:sp>
        <p:nvSpPr>
          <p:cNvPr id="29" name="Text 21"/>
          <p:cNvSpPr txBox="1"/>
          <p:nvPr/>
        </p:nvSpPr>
        <p:spPr>
          <a:xfrm>
            <a:off x="9601200" y="434340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6. Benchmark</a:t>
            </a:r>
            <a:endParaRPr lang="en-US" sz="1700" dirty="0"/>
          </a:p>
        </p:txBody>
      </p:sp>
      <p:sp>
        <p:nvSpPr>
          <p:cNvPr id="30" name="Text 22"/>
          <p:cNvSpPr txBox="1"/>
          <p:nvPr/>
        </p:nvSpPr>
        <p:spPr>
          <a:xfrm>
            <a:off x="9601200" y="4782312"/>
            <a:ext cx="1691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CAD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AdaSSP on 29 of Wang's UCI datasets</a:t>
            </a:r>
            <a:endParaRPr lang="en-US" sz="13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Critical finding: the noise did not protect the ciphertext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508760"/>
            <a:ext cx="3108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400" b="1" dirty="0">
                <a:solidFill>
                  <a:srgbClr val="C45A0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6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651760"/>
            <a:ext cx="32918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trials in which R identified the true dataset from O's reply: matched and unmatched records alike (real OpenFHE, 20/20).</a:t>
            </a:r>
            <a:endParaRPr lang="en-US" sz="14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977640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3D5A8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73%</a:t>
            </a:r>
            <a:endParaRPr lang="en-US" sz="4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4892040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most that ε = 1 differential privacy allows.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4297680" y="1508760"/>
            <a:ext cx="3520440" cy="4206240"/>
          </a:xfrm>
          <a:prstGeom prst="roundRect">
            <a:avLst>
              <a:gd name="adj" fmla="val 2078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26280" y="169164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4526280" y="2194560"/>
            <a:ext cx="310896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draft added the noise as a plaintext scalar, which changes only c₀</a:t>
            </a:r>
            <a:endParaRPr lang="en-US" sz="14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c₁ is a deterministic function of R's own ciphertexts, keys and O's data</a:t>
            </a:r>
            <a:endParaRPr lang="en-US" sz="14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R, who holds the key, recomputes c₁ for each candidate dataset and compares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8092440" y="1508760"/>
            <a:ext cx="3520440" cy="4206240"/>
          </a:xfrm>
          <a:prstGeom prst="roundRect">
            <a:avLst>
              <a:gd name="adj" fmla="val 2078"/>
            </a:avLst>
          </a:prstGeom>
          <a:solidFill>
            <a:srgbClr val="F6E3D6"/>
          </a:solidFill>
          <a:ln w="12700">
            <a:solidFill>
              <a:srgbClr val="F6E3D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321040" y="169164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C45A0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Fix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8321040" y="2194560"/>
            <a:ext cx="310896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 fresh encryption of the noise, which re-randomizes c₁</a:t>
            </a:r>
            <a:endParaRPr lang="en-US" sz="14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Switch to the last modulus level, then flood the error term</a:t>
            </a:r>
            <a:endParaRPr lang="en-US" sz="14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BFV linkage replies: statistical flooding; CKKS: DP-calibrated flooding</a:t>
            </a:r>
            <a:endParaRPr lang="en-US" sz="14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Review scorecard</a:t>
            </a:r>
            <a:endParaRPr lang="en-US" sz="3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9144000" cy="914400"/>
        </p:xfrm>
        <a:graphic>
          <a:graphicData uri="http://schemas.openxmlformats.org/drawingml/2006/table">
            <a:tbl>
              <a:tblPr/>
              <a:tblGrid>
                <a:gridCol w="5486400"/>
                <a:gridCol w="1371600"/>
                <a:gridCol w="4206240"/>
              </a:tblGrid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Finding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Severity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Status in the revised protocol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Plaintext-scalar noise leaks through the ciphertext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C45A0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Critical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Fixed: fresh encryption plus flooding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Calibration step shares raw-data statistics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C45A0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Critical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Fixed: per-party commitments, public constants only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Add/remove sensitivity vs replace-one adjacency (true ε up to ~2× the claim)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B779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Fixed: replace-one Δ, closed form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privacy ledger across runs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B779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Fixed: zCDP ledger at O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PSI reveals O's row order and bin loads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B779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Fixed: secret permutation, public padding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Adaptive λ cancels the bias correction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3D5A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Validity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Fixed: λ set from public inputs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CKKS slot leak; HE parameter security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B8A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Checked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an issue with OpenFHE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 learns which of its cohort are in the register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5B657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By design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Stated in Definition 4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Contributions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5440680" cy="2148840"/>
          </a:xfrm>
          <a:prstGeom prst="roundRect">
            <a:avLst>
              <a:gd name="adj" fmla="val 3404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737360"/>
            <a:ext cx="640080" cy="640080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7373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1645920" y="1810512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Corrected data flow</a:t>
            </a:r>
            <a:endParaRPr lang="en-US" sz="2100" dirty="0"/>
          </a:p>
        </p:txBody>
      </p:sp>
      <p:sp>
        <p:nvSpPr>
          <p:cNvPr id="7" name="Text 5"/>
          <p:cNvSpPr txBox="1"/>
          <p:nvPr/>
        </p:nvSpPr>
        <p:spPr>
          <a:xfrm>
            <a:off x="1645920" y="2331720"/>
            <a:ext cx="4114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R's Gram block A is computed locally, is never sent and never noised. The sensitivity loses its B_R⁴ term.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172200" y="1463040"/>
            <a:ext cx="5440680" cy="2148840"/>
          </a:xfrm>
          <a:prstGeom prst="roundRect">
            <a:avLst>
              <a:gd name="adj" fmla="val 3404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46520" y="1737360"/>
            <a:ext cx="640080" cy="640080"/>
          </a:xfrm>
          <a:prstGeom prst="ellipse">
            <a:avLst/>
          </a:prstGeom>
          <a:solidFill>
            <a:srgbClr val="C45A0C"/>
          </a:solidFill>
          <a:ln w="12700">
            <a:solidFill>
              <a:srgbClr val="C45A0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46520" y="17373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7269480" y="1810512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Revised protocol</a:t>
            </a:r>
            <a:endParaRPr lang="en-US" sz="2100" dirty="0"/>
          </a:p>
        </p:txBody>
      </p:sp>
      <p:sp>
        <p:nvSpPr>
          <p:cNvPr id="12" name="Text 10"/>
          <p:cNvSpPr txBox="1"/>
          <p:nvPr/>
        </p:nvSpPr>
        <p:spPr>
          <a:xfrm>
            <a:off x="7269480" y="2331720"/>
            <a:ext cx="4114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Sanitized replies, replace-one DP, zCDP ledger, per-party calibration, hardened PSI, ridge fixed from public inputs.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48640" y="3840480"/>
            <a:ext cx="5440680" cy="2148840"/>
          </a:xfrm>
          <a:prstGeom prst="roundRect">
            <a:avLst>
              <a:gd name="adj" fmla="val 3404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2960" y="4114800"/>
            <a:ext cx="640080" cy="640080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2960" y="41148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1645920" y="4187952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Theory</a:t>
            </a:r>
            <a:endParaRPr lang="en-US" sz="2100" dirty="0"/>
          </a:p>
        </p:txBody>
      </p:sp>
      <p:sp>
        <p:nvSpPr>
          <p:cNvPr id="17" name="Text 15"/>
          <p:cNvSpPr txBox="1"/>
          <p:nvPr/>
        </p:nvSpPr>
        <p:spPr>
          <a:xfrm>
            <a:off x="1645920" y="4709160"/>
            <a:ext cx="4114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Finite-noise bias as a conditional expectation, a zero-budget correction, and a closed-form replace-one sensitivity.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6172200" y="3840480"/>
            <a:ext cx="5440680" cy="2148840"/>
          </a:xfrm>
          <a:prstGeom prst="roundRect">
            <a:avLst>
              <a:gd name="adj" fmla="val 3404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46520" y="4114800"/>
            <a:ext cx="640080" cy="640080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446520" y="41148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sp>
        <p:nvSpPr>
          <p:cNvPr id="21" name="Text 19"/>
          <p:cNvSpPr txBox="1"/>
          <p:nvPr/>
        </p:nvSpPr>
        <p:spPr>
          <a:xfrm>
            <a:off x="7269480" y="4187952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Evaluation</a:t>
            </a:r>
            <a:endParaRPr lang="en-US" sz="2100" dirty="0"/>
          </a:p>
        </p:txBody>
      </p:sp>
      <p:sp>
        <p:nvSpPr>
          <p:cNvPr id="22" name="Text 20"/>
          <p:cNvSpPr txBox="1"/>
          <p:nvPr/>
        </p:nvSpPr>
        <p:spPr>
          <a:xfrm>
            <a:off x="7269480" y="4709160"/>
            <a:ext cx="4114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runs, simulation studies of accuracy and of the correction, and a benchmark against AdaSSP.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2331720"/>
            <a:ext cx="1188720" cy="1188720"/>
          </a:xfrm>
          <a:prstGeom prst="ellipse">
            <a:avLst/>
          </a:prstGeom>
          <a:solidFill>
            <a:srgbClr val="C45A0C"/>
          </a:solidFill>
          <a:ln w="12700">
            <a:solidFill>
              <a:srgbClr val="C45A0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22960" y="233172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2377440" y="2240280"/>
            <a:ext cx="8686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Methodology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2377440" y="3063240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revised protocol, phase by phase</a:t>
            </a:r>
            <a:endParaRPr lang="en-US" sz="1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protocol at a glance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54480"/>
            <a:ext cx="640080" cy="640080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5544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1371600" y="1572768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Setup and commitments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201168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B65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public constants cross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2743200"/>
            <a:ext cx="640080" cy="640080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743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2761488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Private linkage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1371600" y="320040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B65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BFV labeled PSI; R learns the match set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548640" y="3931920"/>
            <a:ext cx="640080" cy="640080"/>
          </a:xfrm>
          <a:prstGeom prst="ellipse">
            <a:avLst/>
          </a:prstGeom>
          <a:solidFill>
            <a:srgbClr val="C45A0C"/>
          </a:solidFill>
          <a:ln w="12700">
            <a:solidFill>
              <a:srgbClr val="C45A0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39319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1371600" y="3950208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Encrypted aggregation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1371600" y="43891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B65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CKKS, depth 1; DP noise added by O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48640" y="5120640"/>
            <a:ext cx="640080" cy="640080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5120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1371600" y="5138928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Solve at R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1371600" y="557784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B65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 ridge, bias correction; post-processing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62179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5B65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Orange in the figure marks what changed from the draft.</a:t>
            </a:r>
            <a:endParaRPr lang="en-US" sz="1200" dirty="0"/>
          </a:p>
        </p:txBody>
      </p:sp>
      <p:pic>
        <p:nvPicPr>
          <p:cNvPr id="20" name="Image 0" descr="/home/user/VerticalFederatedRegression/protocol_v2/protocol_v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32308" y="274320"/>
            <a:ext cx="4823384" cy="635508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Phases 0–1: commitments and private linkage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5440680" cy="4754880"/>
          </a:xfrm>
          <a:prstGeom prst="roundRect">
            <a:avLst>
              <a:gd name="adj" fmla="val 1538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645920"/>
            <a:ext cx="548640" cy="548640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6459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554480" y="1673352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Setup and commitments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2377440"/>
            <a:ext cx="489204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R: standardizes with its own constants (kept), clips rows to B_R, generates BFV and CKKS keys</a:t>
            </a:r>
            <a:endParaRPr lang="en-US" sz="14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O: standardizes with public constants, clips to B_O and B_y</a:t>
            </a:r>
            <a:endParaRPr lang="en-US" sz="14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computes Δ_rep and σ, and refuses the run if the ledger would exceed its cap</a:t>
            </a:r>
            <a:endParaRPr lang="en-US" sz="14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public constants cross: no quantiles, clip rates or sample moments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172200" y="1417320"/>
            <a:ext cx="5440680" cy="4754880"/>
          </a:xfrm>
          <a:prstGeom prst="roundRect">
            <a:avLst>
              <a:gd name="adj" fmla="val 1538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46520" y="1645920"/>
            <a:ext cx="548640" cy="548640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46520" y="16459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7178040" y="1673352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Labeled PSI with alignment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6492240" y="2377440"/>
            <a:ext cx="489204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applies a secret permutation τ, so labels are random positions</a:t>
            </a:r>
            <a:endParaRPr lang="en-US" sz="14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Keyed hashing; bins padded to a public degree D and count α</a:t>
            </a:r>
            <a:endParaRPr lang="en-US" sz="14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 cuckoo-hashes its IDs and sends encrypted windowed powers</a:t>
            </a:r>
            <a:endParaRPr lang="en-US" sz="14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evaluates membership and label polynomials, masks, and sanitizes</a:t>
            </a:r>
            <a:endParaRPr lang="en-US" sz="14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 learns I and the aligned positions; O learns only public sizes</a:t>
            </a:r>
            <a:endParaRPr lang="en-US" sz="14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Phase 2: encrypted aggregation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24128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B65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multiplies R's encrypted vectors by its own plaintext columns (depth 1)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6492240" cy="3063240"/>
          </a:xfrm>
          <a:prstGeom prst="roundRect">
            <a:avLst>
              <a:gd name="adj" fmla="val 2388"/>
            </a:avLst>
          </a:prstGeom>
          <a:solidFill>
            <a:srgbClr val="F7F9FC"/>
          </a:solidFill>
          <a:ln w="12700">
            <a:solidFill>
              <a:srgbClr val="F7F9F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1828800"/>
            <a:ext cx="60350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Enc(B_jk)   = Σᵢ Enc(bᵢ) · X_O,ij · X_O,ik</a:t>
            </a:r>
            <a:endParaRPr lang="en-US" sz="19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Enc(C_jk)   = Σᵢ Enc(Ẋ_R,ij) · X_O,ik</a:t>
            </a:r>
            <a:endParaRPr lang="en-US" sz="19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Enc(c_O,k) = Σᵢ Enc(bᵢ) · X_O,ik · yᵢ</a:t>
            </a:r>
            <a:endParaRPr lang="en-US" sz="19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Enc(c_R,j) = Σᵢ Enc(Ẋ_R,ij) · yᵢ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4069080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5B65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b: selection vector;  Ẋ_R: R's features in O's order (zero off the match set)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7406640" y="1691640"/>
            <a:ext cx="685800" cy="685800"/>
          </a:xfrm>
          <a:prstGeom prst="ellipse">
            <a:avLst/>
          </a:prstGeom>
          <a:solidFill>
            <a:srgbClr val="3D5A80"/>
          </a:solidFill>
          <a:ln w="12700">
            <a:solidFill>
              <a:srgbClr val="3D5A80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71232" y="1856232"/>
            <a:ext cx="356616" cy="356616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8275320" y="178308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= Ẋ_Rᵀ Ẋ_R stays with R</a:t>
            </a:r>
            <a:endParaRPr lang="en-US" sz="1700" dirty="0"/>
          </a:p>
        </p:txBody>
      </p:sp>
      <p:sp>
        <p:nvSpPr>
          <p:cNvPr id="10" name="Text 7"/>
          <p:cNvSpPr txBox="1"/>
          <p:nvPr/>
        </p:nvSpPr>
        <p:spPr>
          <a:xfrm>
            <a:off x="8275320" y="224028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5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Exact, never transmitted, never noised.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7406640" y="3017520"/>
            <a:ext cx="685800" cy="685800"/>
          </a:xfrm>
          <a:prstGeom prst="ellipse">
            <a:avLst/>
          </a:prstGeom>
          <a:solidFill>
            <a:srgbClr val="C45A0C"/>
          </a:solidFill>
          <a:ln w="12700">
            <a:solidFill>
              <a:srgbClr val="C45A0C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1232" y="3182112"/>
            <a:ext cx="356616" cy="356616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8275320" y="310896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noise draw per entry</a:t>
            </a:r>
            <a:endParaRPr lang="en-US" sz="1700" dirty="0"/>
          </a:p>
        </p:txBody>
      </p:sp>
      <p:sp>
        <p:nvSpPr>
          <p:cNvPr id="14" name="Text 10"/>
          <p:cNvSpPr txBox="1"/>
          <p:nvPr/>
        </p:nvSpPr>
        <p:spPr>
          <a:xfrm>
            <a:off x="8275320" y="3566160"/>
            <a:ext cx="3383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5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 is the same in every CKKS slot. Independent noise per slot could be averaged away.</a:t>
            </a:r>
            <a:endParaRPr lang="en-US" sz="1400" dirty="0"/>
          </a:p>
        </p:txBody>
      </p:sp>
      <p:sp>
        <p:nvSpPr>
          <p:cNvPr id="15" name="Shape 11"/>
          <p:cNvSpPr/>
          <p:nvPr/>
        </p:nvSpPr>
        <p:spPr>
          <a:xfrm>
            <a:off x="548640" y="5029200"/>
            <a:ext cx="11064240" cy="1097280"/>
          </a:xfrm>
          <a:prstGeom prst="roundRect">
            <a:avLst>
              <a:gd name="adj" fmla="val 6667"/>
            </a:avLst>
          </a:prstGeom>
          <a:solidFill>
            <a:srgbClr val="F6E3D6"/>
          </a:solidFill>
          <a:ln w="12700">
            <a:solidFill>
              <a:srgbClr val="F6E3D6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822960" y="5138928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released entry:  ct ← Sanitize_CKKS( ct ⊞ Enc_pk(z) ),   z ~ discrete Gaussian N_ℤ(0, σ²) from a CSPRNG</a:t>
            </a:r>
            <a:endParaRPr lang="en-US" sz="16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Calibrating the noise, and keeping count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17320"/>
            <a:ext cx="5669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Replace-one sensitivity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874520"/>
            <a:ext cx="5669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5B65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adjacency replaces one matched person's (x_O, y). The draft used the add/remove bound, which understates Δ.</a:t>
            </a:r>
            <a:endParaRPr lang="en-US" sz="145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697480"/>
          <a:ext cx="914400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1234440"/>
                <a:gridCol w="1325880"/>
                <a:gridCol w="1005840"/>
              </a:tblGrid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(B_R, B_O, B_y)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Δ_add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Δ_rep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Ratio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(1, 1, 1)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2.24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3.16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(3.16, 3, 3)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(√5, √5, 5)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30.4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31.6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Simulation population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58.2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86.2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48640" y="5074920"/>
            <a:ext cx="5669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5B65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Δ_add ≤ Δ_rep ≤ 2Δ_add. Releasing yᵀy costs nothing under replace-one.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6583680" y="1417320"/>
            <a:ext cx="5029200" cy="2148840"/>
          </a:xfrm>
          <a:prstGeom prst="roundRect">
            <a:avLst>
              <a:gd name="adj" fmla="val 3404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812280" y="1645920"/>
            <a:ext cx="640080" cy="640080"/>
          </a:xfrm>
          <a:prstGeom prst="ellipse">
            <a:avLst/>
          </a:prstGeom>
          <a:solidFill>
            <a:srgbClr val="3D5A80"/>
          </a:solidFill>
          <a:ln w="12700">
            <a:solidFill>
              <a:srgbClr val="3D5A80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65899" y="1799539"/>
            <a:ext cx="332842" cy="33284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7635240" y="1719072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σ from the analytic Gaussian</a:t>
            </a:r>
            <a:endParaRPr lang="en-US" sz="1700" dirty="0"/>
          </a:p>
        </p:txBody>
      </p:sp>
      <p:sp>
        <p:nvSpPr>
          <p:cNvPr id="11" name="Text 7"/>
          <p:cNvSpPr txBox="1"/>
          <p:nvPr/>
        </p:nvSpPr>
        <p:spPr>
          <a:xfrm>
            <a:off x="7635240" y="2176272"/>
            <a:ext cx="3794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Smallest σ meeting (ε, δ) for the whole stacked release (Balle–Wang). Discrete Gaussian at the CKKS resolution.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6583680" y="3794760"/>
            <a:ext cx="5029200" cy="2331720"/>
          </a:xfrm>
          <a:prstGeom prst="roundRect">
            <a:avLst>
              <a:gd name="adj" fmla="val 3137"/>
            </a:avLst>
          </a:prstGeom>
          <a:solidFill>
            <a:srgbClr val="F6E3D6"/>
          </a:solidFill>
          <a:ln w="12700">
            <a:solidFill>
              <a:srgbClr val="F6E3D6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6812280" y="4023360"/>
            <a:ext cx="640080" cy="640080"/>
          </a:xfrm>
          <a:prstGeom prst="ellipse">
            <a:avLst/>
          </a:prstGeom>
          <a:solidFill>
            <a:srgbClr val="C45A0C"/>
          </a:solidFill>
          <a:ln w="12700">
            <a:solidFill>
              <a:srgbClr val="C45A0C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65899" y="4176979"/>
            <a:ext cx="332842" cy="332842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7635240" y="4096512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zCDP ledger at O</a:t>
            </a:r>
            <a:endParaRPr lang="en-US" sz="1700" dirty="0"/>
          </a:p>
        </p:txBody>
      </p:sp>
      <p:sp>
        <p:nvSpPr>
          <p:cNvPr id="16" name="Text 11"/>
          <p:cNvSpPr txBox="1"/>
          <p:nvPr/>
        </p:nvSpPr>
        <p:spPr>
          <a:xfrm>
            <a:off x="7635240" y="4553712"/>
            <a:ext cx="37947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ρ_run = Δ²/2σ² + ρ_err. O refuses a run once the cumulative spend would pass its cap. Re-runs, retraining and inference queries all count.</a:t>
            </a:r>
            <a:endParaRPr lang="en-US" sz="1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Sanitizing O's replies (circuit privacy)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24128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B65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 holds the key, so every reply must reveal nothing beyond its decrypted value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3566160" cy="2743200"/>
          </a:xfrm>
          <a:prstGeom prst="roundRect">
            <a:avLst>
              <a:gd name="adj" fmla="val 266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2011680"/>
            <a:ext cx="594360" cy="594360"/>
          </a:xfrm>
          <a:prstGeom prst="ellipse">
            <a:avLst/>
          </a:prstGeom>
          <a:solidFill>
            <a:srgbClr val="C45A0C"/>
          </a:solidFill>
          <a:ln w="12700">
            <a:solidFill>
              <a:srgbClr val="C45A0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201168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554480" y="2084832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Fresh encryption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788920"/>
            <a:ext cx="30632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 ⊞ Enc_pk(z) makes c₁ computationally uniform: it no longer depends on O's data.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4343400" y="1783080"/>
            <a:ext cx="3566160" cy="2743200"/>
          </a:xfrm>
          <a:prstGeom prst="roundRect">
            <a:avLst>
              <a:gd name="adj" fmla="val 266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617720" y="2011680"/>
            <a:ext cx="594360" cy="594360"/>
          </a:xfrm>
          <a:prstGeom prst="ellipse">
            <a:avLst/>
          </a:prstGeom>
          <a:solidFill>
            <a:srgbClr val="C45A0C"/>
          </a:solidFill>
          <a:ln w="12700">
            <a:solidFill>
              <a:srgbClr val="C45A0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617720" y="201168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5349240" y="2084832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Modulus switch</a:t>
            </a:r>
            <a:endParaRPr lang="en-US" sz="1900" dirty="0"/>
          </a:p>
        </p:txBody>
      </p:sp>
      <p:sp>
        <p:nvSpPr>
          <p:cNvPr id="13" name="Text 11"/>
          <p:cNvSpPr txBox="1"/>
          <p:nvPr/>
        </p:nvSpPr>
        <p:spPr>
          <a:xfrm>
            <a:off x="4617720" y="2788920"/>
            <a:ext cx="30632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 to the last level, which scales down the data-dependent error.</a:t>
            </a:r>
            <a:endParaRPr lang="en-US" sz="1450" dirty="0"/>
          </a:p>
        </p:txBody>
      </p:sp>
      <p:sp>
        <p:nvSpPr>
          <p:cNvPr id="14" name="Shape 12"/>
          <p:cNvSpPr/>
          <p:nvPr/>
        </p:nvSpPr>
        <p:spPr>
          <a:xfrm>
            <a:off x="8138160" y="1783080"/>
            <a:ext cx="3566160" cy="2743200"/>
          </a:xfrm>
          <a:prstGeom prst="roundRect">
            <a:avLst>
              <a:gd name="adj" fmla="val 266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412480" y="2011680"/>
            <a:ext cx="594360" cy="594360"/>
          </a:xfrm>
          <a:prstGeom prst="ellipse">
            <a:avLst/>
          </a:prstGeom>
          <a:solidFill>
            <a:srgbClr val="C45A0C"/>
          </a:solidFill>
          <a:ln w="12700">
            <a:solidFill>
              <a:srgbClr val="C45A0C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412480" y="201168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9144000" y="2084832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Flood the error</a:t>
            </a:r>
            <a:endParaRPr lang="en-US" sz="1900" dirty="0"/>
          </a:p>
        </p:txBody>
      </p:sp>
      <p:sp>
        <p:nvSpPr>
          <p:cNvPr id="18" name="Text 16"/>
          <p:cNvSpPr txBox="1"/>
          <p:nvPr/>
        </p:nvSpPr>
        <p:spPr>
          <a:xfrm>
            <a:off x="8412480" y="2788920"/>
            <a:ext cx="30632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BFV: statistical flooding with N·2^−κ ≤ 2^−40. CKKS: DP-calibrated flooding with width ς = S_err / √(2ρ_err).</a:t>
            </a:r>
            <a:endParaRPr lang="en-US" sz="1450" dirty="0"/>
          </a:p>
        </p:txBody>
      </p:sp>
      <p:sp>
        <p:nvSpPr>
          <p:cNvPr id="19" name="Shape 17"/>
          <p:cNvSpPr/>
          <p:nvPr/>
        </p:nvSpPr>
        <p:spPr>
          <a:xfrm>
            <a:off x="548640" y="4800600"/>
            <a:ext cx="5486400" cy="1325880"/>
          </a:xfrm>
          <a:prstGeom prst="roundRect">
            <a:avLst>
              <a:gd name="adj" fmla="val 5517"/>
            </a:avLst>
          </a:prstGeom>
          <a:solidFill>
            <a:srgbClr val="F7F9FC"/>
          </a:solidFill>
          <a:ln w="12700">
            <a:solidFill>
              <a:srgbClr val="F7F9FC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77240" y="4919472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DP-calibrated flooding for CKKS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777240" y="5303520"/>
            <a:ext cx="5120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5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Classical 2⁴⁰ flooding would swamp CKKS precision. A DP-sized flood needs only a few bits above the error; its cost joins the ledger.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6263640" y="4800600"/>
            <a:ext cx="5349240" cy="1325880"/>
          </a:xfrm>
          <a:prstGeom prst="roundRect">
            <a:avLst>
              <a:gd name="adj" fmla="val 5517"/>
            </a:avLst>
          </a:prstGeom>
          <a:solidFill>
            <a:srgbClr val="F6E3D6"/>
          </a:solidFill>
          <a:ln w="12700">
            <a:solidFill>
              <a:srgbClr val="F6E3D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492240" y="4919472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C45A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proof obligation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6492240" y="530352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explicit bound on S_err, how much one record can change the ciphertext error, for the exact encoding and key switching.</a:t>
            </a:r>
            <a:endParaRPr lang="en-US" sz="13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Phase 3: fixed ridge and zero-budget bias correction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5486400" cy="4709160"/>
          </a:xfrm>
          <a:prstGeom prst="roundRect">
            <a:avLst>
              <a:gd name="adj" fmla="val 1553"/>
            </a:avLst>
          </a:prstGeom>
          <a:solidFill>
            <a:srgbClr val="F7F9FC"/>
          </a:solidFill>
          <a:ln w="12700">
            <a:solidFill>
              <a:srgbClr val="F7F9F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4592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D5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Ridge, fixed before decryption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011680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λ = max{ 0, 2ρ*σ√p − nℓ },  Ψ = I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74320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D5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 gate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108960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ρ̂ = λ_min(G̃ + λI) / (2σ√p) ≥ 1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8404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D5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ridge estimate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4206240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β̃_λ = (G̃ + λI)⁻¹ c̃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49377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D5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Bias-corrected estimate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5303520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β̂_bc = β̃_λ − σ² M(P̃_λ) β̃_λ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6263640" y="1417320"/>
            <a:ext cx="5349240" cy="2834640"/>
          </a:xfrm>
          <a:prstGeom prst="roundRect">
            <a:avLst>
              <a:gd name="adj" fmla="val 2581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92240" y="160020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Theorem (conditional bias)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6492240" y="2103120"/>
            <a:ext cx="4983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E[ β̃ | ℰ_η ] − β̂ = σ² M(P) β̂ + O(σ⁴) + O(exp(−p(ηρ−1)²/2))</a:t>
            </a:r>
            <a:endParaRPr lang="en-US" sz="1550" dirty="0"/>
          </a:p>
        </p:txBody>
      </p:sp>
      <p:sp>
        <p:nvSpPr>
          <p:cNvPr id="15" name="Text 13"/>
          <p:cNvSpPr txBox="1"/>
          <p:nvPr/>
        </p:nvSpPr>
        <p:spPr>
          <a:xfrm>
            <a:off x="6492240" y="2743200"/>
            <a:ext cx="4983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57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M(P) = (P² + tr(P)P − P diag(P)) Π_O + (P Π_O P + tr(Π_O P) P) Π_R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6492240" y="3474720"/>
            <a:ext cx="4983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5B65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plain mean does not exist, hence the conditioning on ℰ_η.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263640" y="4480560"/>
            <a:ext cx="5349240" cy="1645920"/>
          </a:xfrm>
          <a:prstGeom prst="roundRect">
            <a:avLst>
              <a:gd name="adj" fmla="val 4444"/>
            </a:avLst>
          </a:prstGeom>
          <a:solidFill>
            <a:srgbClr val="F6E3D6"/>
          </a:solidFill>
          <a:ln w="12700">
            <a:solidFill>
              <a:srgbClr val="F6E3D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492240" y="4590288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C45A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λ must not depend on the noise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6492240" y="4983480"/>
            <a:ext cx="4983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Chosen from G̃, λ moves with the noise. The correction then removed none of the bias (1.0–1.6× left); with fixed λ it removes 87–98%.</a:t>
            </a:r>
            <a:endParaRPr lang="en-US" sz="13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we evaluate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5440680" cy="2194560"/>
          </a:xfrm>
          <a:prstGeom prst="roundRect">
            <a:avLst>
              <a:gd name="adj" fmla="val 3333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691640"/>
            <a:ext cx="685800" cy="685800"/>
          </a:xfrm>
          <a:prstGeom prst="ellipse">
            <a:avLst/>
          </a:prstGeom>
          <a:solidFill>
            <a:srgbClr val="3D5A80"/>
          </a:solidFill>
          <a:ln w="12700">
            <a:solidFill>
              <a:srgbClr val="3D5A80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" y="1856232"/>
            <a:ext cx="356616" cy="35661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691640" y="1764792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Simulation population</a:t>
            </a:r>
            <a:endParaRPr lang="en-US" sz="1900" dirty="0"/>
          </a:p>
        </p:txBody>
      </p:sp>
      <p:sp>
        <p:nvSpPr>
          <p:cNvPr id="7" name="Text 4"/>
          <p:cNvSpPr txBox="1"/>
          <p:nvPr/>
        </p:nvSpPr>
        <p:spPr>
          <a:xfrm>
            <a:off x="1691640" y="2240280"/>
            <a:ext cx="41148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Features on real-world scales (income, age, binary indicators, counts), correlated. Public standardization constants; committed 99.5% bounds; R² ∈ {0.3, 0.5, 0.9}.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6172200" y="1417320"/>
            <a:ext cx="5440680" cy="2194560"/>
          </a:xfrm>
          <a:prstGeom prst="roundRect">
            <a:avLst>
              <a:gd name="adj" fmla="val 3333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446520" y="1691640"/>
            <a:ext cx="685800" cy="685800"/>
          </a:xfrm>
          <a:prstGeom prst="ellipse">
            <a:avLst/>
          </a:prstGeom>
          <a:solidFill>
            <a:srgbClr val="3D5A80"/>
          </a:solidFill>
          <a:ln w="12700">
            <a:solidFill>
              <a:srgbClr val="3D5A80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11112" y="1856232"/>
            <a:ext cx="356616" cy="35661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315200" y="1764792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Monte Carlo</a:t>
            </a:r>
            <a:endParaRPr lang="en-US" sz="1900" dirty="0"/>
          </a:p>
        </p:txBody>
      </p:sp>
      <p:sp>
        <p:nvSpPr>
          <p:cNvPr id="12" name="Text 8"/>
          <p:cNvSpPr txBox="1"/>
          <p:nvPr/>
        </p:nvSpPr>
        <p:spPr>
          <a:xfrm>
            <a:off x="7315200" y="2240280"/>
            <a:ext cx="41148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from 100 to 100k matched records; ε ∈ {0.5, 1, 2, 4, 8}, δ = 10⁻⁵; 200 replicates, each with new data and a new DP release.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548640" y="3840480"/>
            <a:ext cx="5440680" cy="2194560"/>
          </a:xfrm>
          <a:prstGeom prst="roundRect">
            <a:avLst>
              <a:gd name="adj" fmla="val 3333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822960" y="4114800"/>
            <a:ext cx="685800" cy="685800"/>
          </a:xfrm>
          <a:prstGeom prst="ellipse">
            <a:avLst/>
          </a:prstGeom>
          <a:solidFill>
            <a:srgbClr val="3D5A80"/>
          </a:solidFill>
          <a:ln w="12700">
            <a:solidFill>
              <a:srgbClr val="3D5A80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7552" y="4279392"/>
            <a:ext cx="356616" cy="356616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691640" y="4187952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Metrics</a:t>
            </a:r>
            <a:endParaRPr lang="en-US" sz="1900" dirty="0"/>
          </a:p>
        </p:txBody>
      </p:sp>
      <p:sp>
        <p:nvSpPr>
          <p:cNvPr id="17" name="Text 12"/>
          <p:cNvSpPr txBox="1"/>
          <p:nvPr/>
        </p:nvSpPr>
        <p:spPr>
          <a:xfrm>
            <a:off x="1691640" y="4663440"/>
            <a:ext cx="41148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RMSE against the true β (standardized); per-coefficient efficiency ratio; interval coverage; MSE ratio corrected/uncorrected.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6172200" y="3840480"/>
            <a:ext cx="5440680" cy="2194560"/>
          </a:xfrm>
          <a:prstGeom prst="roundRect">
            <a:avLst>
              <a:gd name="adj" fmla="val 3333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6446520" y="4114800"/>
            <a:ext cx="685800" cy="685800"/>
          </a:xfrm>
          <a:prstGeom prst="ellipse">
            <a:avLst/>
          </a:prstGeom>
          <a:solidFill>
            <a:srgbClr val="C45A0C"/>
          </a:solidFill>
          <a:ln w="12700">
            <a:solidFill>
              <a:srgbClr val="C45A0C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11112" y="4279392"/>
            <a:ext cx="356616" cy="356616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7315200" y="4187952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Benchmark</a:t>
            </a:r>
            <a:endParaRPr lang="en-US" sz="1900" dirty="0"/>
          </a:p>
        </p:txBody>
      </p:sp>
      <p:sp>
        <p:nvSpPr>
          <p:cNvPr id="22" name="Text 16"/>
          <p:cNvSpPr txBox="1"/>
          <p:nvPr/>
        </p:nvSpPr>
        <p:spPr>
          <a:xfrm>
            <a:off x="7315200" y="4663440"/>
            <a:ext cx="41148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 UCI datasets from Wang's published run, with his preprocessing; AdaSSP as published and under our guarantee; 10-fold test MSE.</a:t>
            </a:r>
            <a:endParaRPr lang="en-US" sz="14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2331720"/>
            <a:ext cx="1188720" cy="1188720"/>
          </a:xfrm>
          <a:prstGeom prst="ellipse">
            <a:avLst/>
          </a:prstGeom>
          <a:solidFill>
            <a:srgbClr val="C45A0C"/>
          </a:solidFill>
          <a:ln w="12700">
            <a:solidFill>
              <a:srgbClr val="C45A0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22960" y="233172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2377440" y="2240280"/>
            <a:ext cx="8686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Results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2377440" y="3063240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have so far, and what is still to run</a:t>
            </a:r>
            <a:endParaRPr lang="en-US" sz="1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cryptographic layer is exact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24128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B65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protocol, run end-to-end over sockets with plaintext and real OpenFHE backends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3566160" cy="3291840"/>
          </a:xfrm>
          <a:prstGeom prst="roundRect">
            <a:avLst>
              <a:gd name="adj" fmla="val 2222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965960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48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301752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D5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misaligned rows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474720"/>
            <a:ext cx="3063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5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PSI recovered exactly the true match set in all 6 cohorts, plaintext and OpenFHE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343400" y="1737360"/>
            <a:ext cx="3566160" cy="3291840"/>
          </a:xfrm>
          <a:prstGeom prst="roundRect">
            <a:avLst>
              <a:gd name="adj" fmla="val 2222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617720" y="1965960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C45A0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≈10⁻¹⁰</a:t>
            </a:r>
            <a:endParaRPr lang="en-US" sz="4800" dirty="0"/>
          </a:p>
        </p:txBody>
      </p:sp>
      <p:sp>
        <p:nvSpPr>
          <p:cNvPr id="10" name="Text 8"/>
          <p:cNvSpPr txBox="1"/>
          <p:nvPr/>
        </p:nvSpPr>
        <p:spPr>
          <a:xfrm>
            <a:off x="4617720" y="301752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D5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|β − β_OLS|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4617720" y="3474720"/>
            <a:ext cx="3063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5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the noise switched off: encryption adds no error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8138160" y="1737360"/>
            <a:ext cx="3566160" cy="3291840"/>
          </a:xfrm>
          <a:prstGeom prst="roundRect">
            <a:avLst>
              <a:gd name="adj" fmla="val 2222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412480" y="1965960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13.8 s</a:t>
            </a:r>
            <a:endParaRPr lang="en-US" sz="4800" dirty="0"/>
          </a:p>
        </p:txBody>
      </p:sp>
      <p:sp>
        <p:nvSpPr>
          <p:cNvPr id="14" name="Text 12"/>
          <p:cNvSpPr txBox="1"/>
          <p:nvPr/>
        </p:nvSpPr>
        <p:spPr>
          <a:xfrm>
            <a:off x="8412480" y="301752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D5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on OpenFHE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8412480" y="3474720"/>
            <a:ext cx="3063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5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n_O = 4,000 records, n = 400 matched (plaintext backend: 3.2 s)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53492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i="1" dirty="0">
                <a:solidFill>
                  <a:srgbClr val="5B65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error comes from the DP noise and the ridge it forces. The revised protocol's sanitization has not been implemented in OpenFHE yet (see the placeholder slide).</a:t>
            </a:r>
            <a:endParaRPr lang="en-US" sz="14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Accuracy against intersection size</a:t>
            </a:r>
            <a:endParaRPr lang="en-US" sz="3200" dirty="0"/>
          </a:p>
        </p:txBody>
      </p:sp>
      <p:pic>
        <p:nvPicPr>
          <p:cNvPr id="3" name="Image 0" descr="/home/user/VerticalFederatedRegression/reports/coef_accuracy/figA_rmse_vs_n_r2_0.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188720"/>
            <a:ext cx="7772400" cy="4996543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8321040" y="1280160"/>
            <a:ext cx="3337560" cy="4937760"/>
          </a:xfrm>
          <a:prstGeom prst="roundRect">
            <a:avLst>
              <a:gd name="adj" fmla="val 2192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549640" y="146304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Within 2× of non-private OLS at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8549640" y="214884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B65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ε = 8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9692640" y="214884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C45A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≈ 3.2k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8549640" y="260604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B65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ε = 4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9692640" y="260604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C45A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≈ 9.4k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8549640" y="306324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B65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ε = 2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9692640" y="306324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C45A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≈ 34k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8549640" y="352044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B65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ε = 1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9692640" y="352044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C45A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≈ 105k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8549640" y="4114800"/>
            <a:ext cx="29260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n: the ridge shrinks β̂ towards 0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the DP error falls like 1/n and merges into the OLS floor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Run-to-run spread is about ×2.5–3</a:t>
            </a:r>
            <a:endParaRPr lang="en-US" sz="13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 numbers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24128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B65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 RMSE of the standardized slopes against the true β (ratio to the OLS floor), R² = 0.5</a:t>
            </a:r>
            <a:endParaRPr lang="en-US" sz="16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914400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1645920"/>
                <a:gridCol w="1645920"/>
                <a:gridCol w="1645920"/>
                <a:gridCol w="1645920"/>
                <a:gridCol w="1645920"/>
                <a:gridCol w="164592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ε = 0.5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ε = 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ε = 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ε = 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ε = 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OLS floor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0.231 (9.9×)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0.213 (9.1×)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0.181 (7.7×)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0.138 (5.9×)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0.078 (3.3×)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10,000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0.092 (12×)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0.044 (5.8×)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0.025 (3.4×)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0.014 (1.9×)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0.010 (1.3×)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0.0075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100,000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0.0087 (3.4×)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0.0051 (2.0×)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0.0034 (1.4×)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0.0029 (1.2×)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0.0026 (1.0×)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0.0025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393192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 at which VFL comes within 2× of the OLS floor</a:t>
            </a:r>
            <a:endParaRPr lang="en-US" sz="1800" dirty="0"/>
          </a:p>
        </p:txBody>
      </p:sp>
      <p:graphicFrame>
        <p:nvGraphicFramePr>
          <p:cNvPr id="4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434840"/>
          <a:ext cx="914400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1645920"/>
                <a:gridCol w="1645920"/>
                <a:gridCol w="1645920"/>
                <a:gridCol w="1645920"/>
                <a:gridCol w="16459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R²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ε = 0.5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ε = 1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ε = 2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ε = 4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ε = 8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≈240k*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75k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21k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7.1k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1.9k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≈380k*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≈105k*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34k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9.4k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3.2k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&gt;100k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&gt;100k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66k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30k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13k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3"/>
          <p:cNvSpPr txBox="1"/>
          <p:nvPr/>
        </p:nvSpPr>
        <p:spPr>
          <a:xfrm>
            <a:off x="548640" y="60807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5B65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extrapolated beyond n = 100k</a:t>
            </a:r>
            <a:endParaRPr lang="en-US" sz="1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Comparing coefficients on different scales</a:t>
            </a:r>
            <a:endParaRPr lang="en-US" sz="3200" dirty="0"/>
          </a:p>
        </p:txBody>
      </p:sp>
      <p:pic>
        <p:nvPicPr>
          <p:cNvPr id="3" name="Image 0" descr="/home/user/VerticalFederatedRegression/reports/coef_accuracy/figB1_efficiency_ratio_r2_0.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03579" y="1143000"/>
            <a:ext cx="8754362" cy="374904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502920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scale</a:t>
            </a:r>
            <a:endParaRPr lang="en-US" sz="15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5394960"/>
            <a:ext cx="3566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5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Coefficients span 5.6 orders of magnitude (≈$0.2 per $ income vs ≈$10k per binary). A pooled raw RMSE is 87% driven by two binary coefficients.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4343400" y="502920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C45A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Efficiency ratio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4343400" y="5394960"/>
            <a:ext cx="3566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5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RMSE_DP,j / SE_OLS,j: unit-free. A ratio r means the release is about as accurate as OLS on n/r² records.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8138160" y="502920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8138160" y="5394960"/>
            <a:ext cx="3566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5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Once the ridge is off, DP costs about the same for every coefficient (±15%); O-side coefficients run ~10% higher.</a:t>
            </a:r>
            <a:endParaRPr lang="en-US" sz="13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Does the bias correction matter?</a:t>
            </a:r>
            <a:endParaRPr lang="en-US" sz="3200" dirty="0"/>
          </a:p>
        </p:txBody>
      </p:sp>
      <p:pic>
        <p:nvPicPr>
          <p:cNvPr id="3" name="Image 0" descr="/home/user/VerticalFederatedRegression/reports/bias_correction/fig1_mse_rati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097280"/>
            <a:ext cx="11430000" cy="3517307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470916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C45A0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−7 to −12%</a:t>
            </a:r>
            <a:endParaRPr lang="en-US" sz="3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5349240"/>
            <a:ext cx="35661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5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MSE vs the protocol target when the ridge is on. The correction also shrinks noise; it never raised this MSE (90 settings).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4343400" y="470916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+0.3 to +4.3%</a:t>
            </a:r>
            <a:endParaRPr lang="en-US" sz="3000" dirty="0"/>
          </a:p>
        </p:txBody>
      </p:sp>
      <p:sp>
        <p:nvSpPr>
          <p:cNvPr id="7" name="Text 4"/>
          <p:cNvSpPr txBox="1"/>
          <p:nvPr/>
        </p:nvSpPr>
        <p:spPr>
          <a:xfrm>
            <a:off x="4343400" y="5349240"/>
            <a:ext cx="35661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5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MSE vs OLS under a moderate ridge: the correction restores shrinkage that noise had offset.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8138160" y="470916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≥ 130</a:t>
            </a:r>
            <a:endParaRPr lang="en-US" sz="3000" dirty="0"/>
          </a:p>
        </p:txBody>
      </p:sp>
      <p:sp>
        <p:nvSpPr>
          <p:cNvPr id="9" name="Text 6"/>
          <p:cNvSpPr txBox="1"/>
          <p:nvPr/>
        </p:nvSpPr>
        <p:spPr>
          <a:xfrm>
            <a:off x="8138160" y="5349240"/>
            <a:ext cx="35661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5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averaged releases before the bias alone would matter; one release: at most 0.75% of MSE.</a:t>
            </a:r>
            <a:endParaRPr lang="en-US" sz="13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the error comes from when σ is large</a:t>
            </a:r>
            <a:endParaRPr lang="en-US" sz="3200" dirty="0"/>
          </a:p>
        </p:txBody>
      </p:sp>
      <p:pic>
        <p:nvPicPr>
          <p:cNvPr id="3" name="Image 0" descr="/home/user/VerticalFederatedRegression/reports/bias_correction/fig2_decomposi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143000"/>
            <a:ext cx="11430000" cy="287289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48640" y="4343400"/>
            <a:ext cx="5440680" cy="1828800"/>
          </a:xfrm>
          <a:prstGeom prst="roundRect">
            <a:avLst>
              <a:gd name="adj" fmla="val 400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77240" y="44805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anatomy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777240" y="4892040"/>
            <a:ext cx="5029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Heavy ridge: 72–90% of the error is shrinkage, 11–31% noise variance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Mechanism bias²: at most 0.75% anywhere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6172200" y="4343400"/>
            <a:ext cx="5440680" cy="1828800"/>
          </a:xfrm>
          <a:prstGeom prst="roundRect">
            <a:avLst>
              <a:gd name="adj" fmla="val 4000"/>
            </a:avLst>
          </a:prstGeom>
          <a:solidFill>
            <a:srgbClr val="F6E3D6"/>
          </a:solidFill>
          <a:ln w="12700">
            <a:solidFill>
              <a:srgbClr val="F6E3D6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0" y="44805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C45A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Inference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6400800" y="4892040"/>
            <a:ext cx="5029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λ = 0: 95% intervals cover 0.94–0.96; SEs within 1–3% of the truth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Ridge on: coverage collapses. Clipping shifts the target at large n (every DP method pays this)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Benchmark against AdaSSP (Wang 2018)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24128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B65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MSE at ε = 1, δ = 10⁻⁶, 10-fold CV. Ratio to non-private in brackets; bold = best private method</a:t>
            </a:r>
            <a:endParaRPr lang="en-US" sz="16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914400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914400"/>
                <a:gridCol w="548640"/>
                <a:gridCol w="1280160"/>
                <a:gridCol w="1828800"/>
                <a:gridCol w="1783080"/>
                <a:gridCol w="1645920"/>
                <a:gridCol w="178308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Dataset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Non-private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AdaSSP (published)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AdaSSP (matched)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VFL, ours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5A0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VFL, uncorrected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housing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0.0396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0.0713 (1.80×)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0.0819 (2.07×)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0.0779 (1.97×)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0.0773 (1.95×)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wine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1,599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0.0201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0.0338 (1.68×)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0.0391 (1.95×)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0.0370 (1.84×)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0.0368 (1.83×)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airfoil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1,503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0.0533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0.0579 (1.09×)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0.0625 (1.17×)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0.0617 (1.16×)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0.0616 (1.16×)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concrete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1,030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0.0444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0.0657 (1.48×)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0.0774 (1.74×)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0.0751 (1.69×)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0.0745 (1.68×)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bike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17,379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0.0279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0.0288 (1.03×)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0.0299 (1.07×)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0.0295 (1.06×)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0.0295 (1.06×)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elevators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16,599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0.00868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0.0131 (1.51×)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0.0154 (1.78×)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0.0149 (1.71×)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0.0147 (1.70×)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15,000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0.140 (1.04×)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0.146 (1.08×)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0.144 (1.06×)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0.143 (1.06×)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kin40k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40,000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0.0632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0.0633 (1.00×)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0.0633 (1.00×)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0.0633 (1.00×)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0.0633 (1.00×)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protein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45,730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0.120 (1.01×)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0.120 (1.01×)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0.120 (1.01×)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0.120 (1.01×)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544068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5B65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Published AdaSSP protects the whole record, a stronger guarantee than ours, and uses Wang's noise constants: at ε = 1 its per-entry noise on XᵀX (11.9) is below ours (13.4), which is still to be checked. Matched = AdaSSP's adaptive λ under our guarantee; idealized, since its λ_min step needs XᵀX in the clear.</a:t>
            </a:r>
            <a:endParaRPr lang="en-US" sz="12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Across privacy levels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24128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B65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MSE ÷ non-private, three datasets of increasing size; bars: 95% CI of the mean over the 10 folds</a:t>
            </a:r>
            <a:endParaRPr lang="en-US" sz="16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463040"/>
          <a:ext cx="3611880" cy="3017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5" name="Chart 1" descr=""/>
          <p:cNvGraphicFramePr/>
          <p:nvPr/>
        </p:nvGraphicFramePr>
        <p:xfrm>
          <a:off x="4297680" y="1463040"/>
          <a:ext cx="3611880" cy="3017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6" name="Chart 2" descr=""/>
          <p:cNvGraphicFramePr/>
          <p:nvPr/>
        </p:nvGraphicFramePr>
        <p:xfrm>
          <a:off x="8046720" y="1463040"/>
          <a:ext cx="3611880" cy="3017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Shape 2"/>
          <p:cNvSpPr/>
          <p:nvPr/>
        </p:nvSpPr>
        <p:spPr>
          <a:xfrm>
            <a:off x="2377440" y="4681728"/>
            <a:ext cx="365760" cy="0"/>
          </a:xfrm>
          <a:prstGeom prst="line">
            <a:avLst/>
          </a:prstGeom>
          <a:noFill/>
          <a:ln w="31750">
            <a:solidFill>
              <a:srgbClr val="B8BEC8"/>
            </a:solidFill>
            <a:prstDash val="solid"/>
          </a:ln>
        </p:spPr>
      </p:sp>
      <p:sp>
        <p:nvSpPr>
          <p:cNvPr id="8" name="Text 3"/>
          <p:cNvSpPr txBox="1"/>
          <p:nvPr/>
        </p:nvSpPr>
        <p:spPr>
          <a:xfrm>
            <a:off x="2834640" y="4553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Trivial (θ = 0)</a:t>
            </a:r>
            <a:endParaRPr lang="en-US" sz="1200" dirty="0"/>
          </a:p>
        </p:txBody>
      </p:sp>
      <p:sp>
        <p:nvSpPr>
          <p:cNvPr id="9" name="Shape 4"/>
          <p:cNvSpPr/>
          <p:nvPr/>
        </p:nvSpPr>
        <p:spPr>
          <a:xfrm>
            <a:off x="4526280" y="4681728"/>
            <a:ext cx="365760" cy="0"/>
          </a:xfrm>
          <a:prstGeom prst="line">
            <a:avLst/>
          </a:prstGeom>
          <a:noFill/>
          <a:ln w="31750">
            <a:solidFill>
              <a:srgbClr val="1BAF7A"/>
            </a:solidFill>
            <a:prstDash val="solid"/>
          </a:ln>
        </p:spPr>
      </p:sp>
      <p:sp>
        <p:nvSpPr>
          <p:cNvPr id="10" name="Text 5"/>
          <p:cNvSpPr txBox="1"/>
          <p:nvPr/>
        </p:nvSpPr>
        <p:spPr>
          <a:xfrm>
            <a:off x="4983480" y="4553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AdaSSP (published)</a:t>
            </a:r>
            <a:endParaRPr lang="en-US" sz="1200" dirty="0"/>
          </a:p>
        </p:txBody>
      </p:sp>
      <p:sp>
        <p:nvSpPr>
          <p:cNvPr id="11" name="Shape 6"/>
          <p:cNvSpPr/>
          <p:nvPr/>
        </p:nvSpPr>
        <p:spPr>
          <a:xfrm>
            <a:off x="6675120" y="4681728"/>
            <a:ext cx="365760" cy="0"/>
          </a:xfrm>
          <a:prstGeom prst="line">
            <a:avLst/>
          </a:prstGeom>
          <a:noFill/>
          <a:ln w="31750">
            <a:solidFill>
              <a:srgbClr val="EDA100"/>
            </a:solidFill>
            <a:prstDash val="solid"/>
          </a:ln>
        </p:spPr>
      </p:sp>
      <p:sp>
        <p:nvSpPr>
          <p:cNvPr id="12" name="Text 7"/>
          <p:cNvSpPr txBox="1"/>
          <p:nvPr/>
        </p:nvSpPr>
        <p:spPr>
          <a:xfrm>
            <a:off x="7132320" y="4553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AdaSSP (matched)</a:t>
            </a:r>
            <a:endParaRPr lang="en-US" sz="1200" dirty="0"/>
          </a:p>
        </p:txBody>
      </p:sp>
      <p:sp>
        <p:nvSpPr>
          <p:cNvPr id="13" name="Shape 8"/>
          <p:cNvSpPr/>
          <p:nvPr/>
        </p:nvSpPr>
        <p:spPr>
          <a:xfrm>
            <a:off x="8823960" y="4681728"/>
            <a:ext cx="365760" cy="0"/>
          </a:xfrm>
          <a:prstGeom prst="line">
            <a:avLst/>
          </a:prstGeom>
          <a:noFill/>
          <a:ln w="31750">
            <a:solidFill>
              <a:srgbClr val="2A78D6"/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9281160" y="4553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VFL, ours</a:t>
            </a:r>
            <a:endParaRPr lang="en-US" sz="1200" dirty="0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937760"/>
          <a:ext cx="91440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960120"/>
                <a:gridCol w="960120"/>
                <a:gridCol w="96012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Ours better / worse (of 29)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ε = 0.1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ε = 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ε = 10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AdaSSP (published)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 / 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 / 19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/ 21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AdaSSP (matched)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 / 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 / 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 / 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Bias-corrected vs uncorrected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 / 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 / 19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/ 19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6" name="Text 10"/>
          <p:cNvSpPr txBox="1"/>
          <p:nvPr/>
        </p:nvSpPr>
        <p:spPr>
          <a:xfrm>
            <a:off x="548640" y="6327648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5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Paired over folds, 95% CI; the rest show no significant difference.</a:t>
            </a:r>
            <a:endParaRPr lang="en-US" sz="1100" dirty="0"/>
          </a:p>
        </p:txBody>
      </p:sp>
      <p:sp>
        <p:nvSpPr>
          <p:cNvPr id="17" name="Shape 11"/>
          <p:cNvSpPr/>
          <p:nvPr/>
        </p:nvSpPr>
        <p:spPr>
          <a:xfrm>
            <a:off x="6583680" y="4937760"/>
            <a:ext cx="5029200" cy="1325880"/>
          </a:xfrm>
          <a:prstGeom prst="roundRect">
            <a:avLst>
              <a:gd name="adj" fmla="val 5517"/>
            </a:avLst>
          </a:prstGeom>
          <a:solidFill>
            <a:srgbClr val="F6E3D6"/>
          </a:solidFill>
          <a:ln w="12700">
            <a:solidFill>
              <a:srgbClr val="F6E3D6"/>
            </a:solidFill>
            <a:prstDash val="solid"/>
          </a:ln>
        </p:spPr>
      </p:sp>
      <p:sp>
        <p:nvSpPr>
          <p:cNvPr id="18" name="Text 12"/>
          <p:cNvSpPr txBox="1"/>
          <p:nvPr/>
        </p:nvSpPr>
        <p:spPr>
          <a:xfrm>
            <a:off x="6812280" y="5102352"/>
            <a:ext cx="4617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small ε the fixed ridge wins: AdaSSP spends a third of its budget on λ_min. From ε ≈ 0.5 AdaSSP's adaptive ridge wins (median 4% lower MSE at ε = 1); the gap shrinks as n grows.</a:t>
            </a:r>
            <a:endParaRPr lang="en-US" sz="14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Still to run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5440680" cy="4709160"/>
          </a:xfrm>
          <a:prstGeom prst="roundRect">
            <a:avLst>
              <a:gd name="adj" fmla="val 1553"/>
            </a:avLst>
          </a:prstGeom>
          <a:solidFill>
            <a:srgbClr val="FAFBFD"/>
          </a:solidFill>
          <a:ln w="15875">
            <a:solidFill>
              <a:srgbClr val="3D5A80"/>
            </a:solidFill>
            <a:prstDash val="dash"/>
          </a:ln>
        </p:spPr>
      </p:sp>
      <p:sp>
        <p:nvSpPr>
          <p:cNvPr id="4" name="Shape 2"/>
          <p:cNvSpPr/>
          <p:nvPr/>
        </p:nvSpPr>
        <p:spPr>
          <a:xfrm>
            <a:off x="2948940" y="2903220"/>
            <a:ext cx="640080" cy="640080"/>
          </a:xfrm>
          <a:prstGeom prst="ellipse">
            <a:avLst/>
          </a:prstGeom>
          <a:solidFill>
            <a:srgbClr val="3D5A80"/>
          </a:solidFill>
          <a:ln w="12700">
            <a:solidFill>
              <a:srgbClr val="3D5A80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102559" y="3056839"/>
            <a:ext cx="332842" cy="33284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22960" y="3634740"/>
            <a:ext cx="4892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Intersection-size sweep on real data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4046220"/>
            <a:ext cx="4709160" cy="1943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B65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Graphic to be done: test MSE vs matched cohort size n (log) for bike, elevators, pol, kin40k and protein, one panel per dataset, lines for ε ∈ {0.5, 1, 2, 4}; AdaSSP and non-private for reference.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6263640" y="1463040"/>
            <a:ext cx="5303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Cost of the revised protocol in OpenFHE</a:t>
            </a:r>
            <a:endParaRPr lang="en-US" sz="1800" dirty="0"/>
          </a:p>
        </p:txBody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63640" y="1965960"/>
          <a:ext cx="9144000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457200"/>
                <a:gridCol w="777240"/>
                <a:gridCol w="822960"/>
                <a:gridCol w="1005840"/>
                <a:gridCol w="1051560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PSI (s)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Agg. (s)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Traffic (MB)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Flood cost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4,000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i="1" dirty="0">
                          <a:solidFill>
                            <a:srgbClr val="9AA5B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tbd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i="1" dirty="0">
                          <a:solidFill>
                            <a:srgbClr val="9AA5B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tbd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i="1" dirty="0">
                          <a:solidFill>
                            <a:srgbClr val="9AA5B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tbd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i="1" dirty="0">
                          <a:solidFill>
                            <a:srgbClr val="9AA5B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tbd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32,000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i="1" dirty="0">
                          <a:solidFill>
                            <a:srgbClr val="9AA5B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tbd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i="1" dirty="0">
                          <a:solidFill>
                            <a:srgbClr val="9AA5B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tbd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i="1" dirty="0">
                          <a:solidFill>
                            <a:srgbClr val="9AA5B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tbd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i="1" dirty="0">
                          <a:solidFill>
                            <a:srgbClr val="9AA5B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tbd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65,536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i="1" dirty="0">
                          <a:solidFill>
                            <a:srgbClr val="9AA5B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tbd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i="1" dirty="0">
                          <a:solidFill>
                            <a:srgbClr val="9AA5B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tbd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i="1" dirty="0">
                          <a:solidFill>
                            <a:srgbClr val="9AA5B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tbd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i="1" dirty="0">
                          <a:solidFill>
                            <a:srgbClr val="9AA5B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tbd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10⁶ (chunked)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i="1" dirty="0">
                          <a:solidFill>
                            <a:srgbClr val="9AA5B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tbd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i="1" dirty="0">
                          <a:solidFill>
                            <a:srgbClr val="9AA5B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tbd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i="1" dirty="0">
                          <a:solidFill>
                            <a:srgbClr val="9AA5B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tbd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i="1" dirty="0">
                          <a:solidFill>
                            <a:srgbClr val="9AA5B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tbd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38100" marB="381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6263640" y="4434840"/>
            <a:ext cx="5349240" cy="1691640"/>
          </a:xfrm>
          <a:prstGeom prst="roundRect">
            <a:avLst>
              <a:gd name="adj" fmla="val 4324"/>
            </a:avLst>
          </a:prstGeom>
          <a:solidFill>
            <a:srgbClr val="F6E3D6"/>
          </a:solidFill>
          <a:ln w="12700">
            <a:solidFill>
              <a:srgbClr val="F6E3D6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6492240" y="4553712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C45A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pending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6492240" y="4937760"/>
            <a:ext cx="49377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Proof of the CKKS error-sensitivity bound S_err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Finite-precision accounting for the discrete Gaussian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 errors for the ridge regime</a:t>
            </a:r>
            <a:endParaRPr lang="en-US" sz="13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Takeaways and next steps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548640" cy="548640"/>
          </a:xfrm>
          <a:prstGeom prst="ellipse">
            <a:avLst/>
          </a:prstGeom>
          <a:solidFill>
            <a:srgbClr val="C45A0C"/>
          </a:solidFill>
          <a:ln w="12700">
            <a:solidFill>
              <a:srgbClr val="C45A0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463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1325880" y="1463040"/>
            <a:ext cx="4846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revised protocol closes the critical and high gaps under honest-but-curious parties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48640" y="2606040"/>
            <a:ext cx="548640" cy="548640"/>
          </a:xfrm>
          <a:prstGeom prst="ellipse">
            <a:avLst/>
          </a:prstGeom>
          <a:solidFill>
            <a:srgbClr val="C45A0C"/>
          </a:solidFill>
          <a:ln w="12700">
            <a:solidFill>
              <a:srgbClr val="C45A0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2606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325880" y="2606040"/>
            <a:ext cx="4846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 reaches 2× of non-private OLS at n ≈ 3k–100k, depending on ε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48640" y="3749040"/>
            <a:ext cx="548640" cy="548640"/>
          </a:xfrm>
          <a:prstGeom prst="ellipse">
            <a:avLst/>
          </a:prstGeom>
          <a:solidFill>
            <a:srgbClr val="C45A0C"/>
          </a:solidFill>
          <a:ln w="12700">
            <a:solidFill>
              <a:srgbClr val="C45A0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3749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1325880" y="3749040"/>
            <a:ext cx="4846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Against AdaSSP: ahead at small ε, behind at large ε; the gap shrinks as n grows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48640" y="4892040"/>
            <a:ext cx="548640" cy="548640"/>
          </a:xfrm>
          <a:prstGeom prst="ellipse">
            <a:avLst/>
          </a:prstGeom>
          <a:solidFill>
            <a:srgbClr val="C45A0C"/>
          </a:solidFill>
          <a:ln w="12700">
            <a:solidFill>
              <a:srgbClr val="C45A0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4892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1325880" y="4892040"/>
            <a:ext cx="4846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bias correction is a small effect (under 3% of test MSE); ridge shrinkage dominates when σ is large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6583680" y="1371600"/>
            <a:ext cx="5029200" cy="4754880"/>
          </a:xfrm>
          <a:prstGeom prst="roundRect">
            <a:avLst>
              <a:gd name="adj" fmla="val 1538"/>
            </a:avLst>
          </a:prstGeom>
          <a:solidFill>
            <a:srgbClr val="1F3050"/>
          </a:solidFill>
          <a:ln w="12700">
            <a:solidFill>
              <a:srgbClr val="1F305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858000" y="155448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7A77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Next</a:t>
            </a:r>
            <a:endParaRPr lang="en-US" sz="2200" dirty="0"/>
          </a:p>
        </p:txBody>
      </p:sp>
      <p:sp>
        <p:nvSpPr>
          <p:cNvPr id="17" name="Text 15"/>
          <p:cNvSpPr txBox="1"/>
          <p:nvPr/>
        </p:nvSpPr>
        <p:spPr>
          <a:xfrm>
            <a:off x="6858000" y="2148840"/>
            <a:ext cx="452628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Real-data intersection-size sweeps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Wang's noise constants; use the joint row bound to tighten our Δ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 the revised protocol in OpenFHE and measure its cost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 the S_err bound; complete finite-precision accounting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 errors; membership-private variant for sensitive registers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Privacy-Preserving Vertical Federated Linear Regression</dc:title>
  <dc:subject>PptxGenJS Presentation</dc:subject>
  <dc:creator>VFL Scenario B project</dc:creator>
  <cp:lastModifiedBy>VFL Scenario B project</cp:lastModifiedBy>
  <cp:revision>1</cp:revision>
  <dcterms:created xsi:type="dcterms:W3CDTF">2026-09-30T18:41:18Z</dcterms:created>
  <dcterms:modified xsi:type="dcterms:W3CDTF">2026-09-30T18:41:18Z</dcterms:modified>
</cp:coreProperties>
</file>