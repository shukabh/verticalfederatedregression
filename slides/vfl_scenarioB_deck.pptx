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Two-party linear regression between a researcher and a national statistical agency, where the agency holds the outcome. We cover the problem, what we found when reviewing the draft protocol, the revised protocol, and results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1: motivation, data layout, goal and privacy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motivating setting: a researcher cohort and an agency register cover overlapping people but different variables. Today, linking them takes weeks of vetting in an RDC.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are people, columns are variables. The two tables overlap only on the matched individuals; the register is far larger than the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Gram matrix splits into blocks. A is the researcher's own; B and c_O are the organization's data restricted to matched rows; C and c_R are genuinely cross-party.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model: semi-honest. Three guarantees: cryptographic input privacy, linkage privacy for the organization, and differential privacy on what the researcher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DP regression assumes a pooled table; VFL-with-HE work usually lacks output privacy; PSI gives linkage only. We combine private linkage, encrypted aggregation and DP.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2: the work we did and what we found.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sequence of work: review, running the implementation, adversarial privacy reviews, redesign, simulations, and the AdaSSP benchmark, which is set up but not yet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finding. The DP argument reasoned about the decrypted value, but R holds the key and sees the whole ciphertext. With plaintext-scalar noise, the c1 component is independent of the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findings across the code review, three privacy reviews and an independent critique, with how the revised protocol handles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contributions: the corrected data flow, the revised protocol, the theory, and the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how the revised protocol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phases. The figure on the right is the full message flow with the risks each step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exchanges only committed public constants. Phase 1 is labeled PSI in the Chen–Laine–Rindal style, hardened with a secret permutation, public padding and flooded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O-dependent blocks are depth-one inner products. The DP noise is a single value per released entry, replicated across slots, added by fresh encryption and then sanitized.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draft's sensitivity bound was for add/remove adjacency; our adjacency is replace-one, which needs up to twice the Δ. The ledger makes re-runs compose under an explicit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sanitization steps. The CKKS flooding is sized as a DP mechanism in the style of Li, Micciancio, Schultz and Sorrell, so it costs a small ledger entry instead of 40 bits of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fixes the ridge from public inputs, decrypts, splices in its exact block, solves, and applies the second-order bias correction. The theorem is stated conditionally because the unconditional mean does not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Simulations use a known population so the true beta, public constants and committed bounds are all data-independent. The benchmark uses Wang's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4: results. Slides marked as placeholders are still to be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Correctness of linkage and aggregation: exact alignment and 1e-10 agreement with plaintext OLS when noise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RMSE over 200 runs, with the 2.5–97.5% band across runs and the non-private OLS floor. R-squared 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behind the figure. A stronger signal lowers the OLS floor, but the DP part is set by the committed bounds, so the ratio is largest at high R-squared.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Per-coefficient view. Raw RMSE is meaningless across coefficients because of units; the efficiency ratio compares each coefficient against its own sampling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reviewer: not as a bias correction; the removed bias is tiny. It is still worth applying as a free variance reduction. Rule: apply to every release that passes the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sigma is large, the ridge's shrinkage dominates. Intervals are reliable only when the ridge is off, and at large n clipping to the committed bounds moves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fill in once the AdaSSP benchmark is run (loaders are in experiments/adassp). Also add the per-dataset MSE-vs-epsilon grid and the cross-dataset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Placeholders for results that need new runs: real-data intersection sweeps, and runtime and communication of the revised protocol once implemented in OpenFHE.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 and four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1417320"/>
            <a:ext cx="3017520" cy="3017520"/>
          </a:xfrm>
          <a:prstGeom prst="ellipse">
            <a:avLst/>
          </a:prstGeom>
          <a:solidFill>
            <a:srgbClr val="3D5A80">
              <a:alpha val="65000"/>
            </a:srgbClr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solidFill>
            <a:srgbClr val="C45A0C">
              <a:alpha val="55000"/>
            </a:srgbClr>
          </a:solidFill>
          <a:ln w="19050">
            <a:solidFill>
              <a:srgbClr val="E7A77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4630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Privacy-Preserving Vertical Federated Linear Regression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91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organization holds the response: protocol, privacy analysis and evaluation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regression across data that cannot be pooled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one question, no pooling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  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cohort with rich domain variables: health, education, surveys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to know whether these predict an administrative outcome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features X_R and identifiers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41732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69164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92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 O  (e.g. StatCan)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26060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register: tax filings, income, benefits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outcome y and features X_O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release records; law and governance bar direct sharing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 weeks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50749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vetting and approvals today before a researcher can link a cohort to agency records in a Research Data Centre. Neither dataset alone answers the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people, different variables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partitioned data: overlapping rows, disjoint columns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cohort (n_R rows)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834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632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91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749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9776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2062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34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663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892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5120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94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register (n_O rows, n_O ≫ n_R)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920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2148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148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31920" y="2377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2377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26060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03720" y="26060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2834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834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3063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3063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91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3291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1920" y="3520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03720" y="3520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31920" y="3749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03720" y="3749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39776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39776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42062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42062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31920" y="4434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4434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31920" y="4663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63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892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4892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31920" y="5120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03720" y="5120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5349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03720" y="5349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31920" y="5577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03720" y="5577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931920" y="5806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903720" y="5806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931920" y="6080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6903720" y="6080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246120" y="3291840"/>
            <a:ext cx="548640" cy="1792224"/>
          </a:xfrm>
          <a:prstGeom prst="rect">
            <a:avLst/>
          </a:prstGeom>
          <a:solidFill>
            <a:srgbClr val="14213D">
              <a:alpha val="15000"/>
            </a:srgbClr>
          </a:solidFill>
          <a:ln w="12700">
            <a:solidFill>
              <a:srgbClr val="14213D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154680" y="4023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955280" y="1417320"/>
            <a:ext cx="3657600" cy="4663440"/>
          </a:xfrm>
          <a:prstGeom prst="roundRect">
            <a:avLst>
              <a:gd name="adj" fmla="val 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296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0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0" y="214884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y on [X_R | X_O] over the n matched individuals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party sees the other's raw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must not learn which of its records are in R's cohort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released model must not expose individuals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computed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on the matched join needs a Gram matrix that spans both parties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 = (ZᵀZ)⁻¹ Zᵀy,    Z = [ X_Rᴵ | X_Oᴵ ]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solidFill>
            <a:srgbClr val="D6E0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400" dirty="0"/>
          </a:p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X_O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y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y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394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365760" cy="365760"/>
          </a:xfrm>
          <a:prstGeom prst="rect">
            <a:avLst/>
          </a:prstGeom>
          <a:solidFill>
            <a:srgbClr val="D6E0EE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5420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alone: exact, never leaves 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3081528"/>
            <a:ext cx="365760" cy="365760"/>
          </a:xfrm>
          <a:prstGeom prst="rect">
            <a:avLst/>
          </a:prstGeom>
          <a:solidFill>
            <a:srgbClr val="F3D2BC"/>
          </a:solidFill>
          <a:ln w="12700">
            <a:solidFill>
              <a:srgbClr val="F3D2B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 data, but only on matched rows (needs b)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26480" y="3648456"/>
            <a:ext cx="365760" cy="365760"/>
          </a:xfrm>
          <a:prstGeom prst="rect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Cross-party: needs both parties' data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438912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4572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is purely R's. Everything that touches O's data is computed under R's encryption key and noised by O before R sees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guarantees, honest-but-curious parties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privacy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party's view can be simulated from its own input and the agreed output. Neither sees the other's raw data.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1737360"/>
            <a:ext cx="777240" cy="7772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258" y="192389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Linkage privacy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learns nothing about which of its records match R's cohort (only public sizes).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1737360"/>
            <a:ext cx="777240" cy="7772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2389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privacy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receives is differentially private for each matched person's O-side data (x_O, y), with R's features held fixed (replace-one).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5285232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460797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5303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follow the protocol but analyse everything they receive. R holds all decryption keys and learns the match set by design; O controls the privacy budget.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work sits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1920240"/>
                <a:gridCol w="18745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sit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linkage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privacy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for our 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DP regression (AdaSSP, Wang 2018)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trusted curator holds the joined table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Assumes the pooled data exist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 with HE (e.g. Yang et al. 2019)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or separate 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can leak individuals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set intersection (Chen–Laine–Rindal)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Linkage only, no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Split; never pooled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PSI, private to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DP, budget controlled by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Narrower guarantee: protects O's side; R learns membership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statistical engine as AdaSSP (perturb the sufficient statistics, then solve a ridge), delivered without pooling, and with R's own block kept exact.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the draft, found what breaks, and rebuilt it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draft to revised protocol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0120" y="2743200"/>
            <a:ext cx="9235440" cy="0"/>
          </a:xfrm>
          <a:prstGeom prst="line">
            <a:avLst/>
          </a:prstGeom>
          <a:noFill/>
          <a:ln w="25400">
            <a:solidFill>
              <a:srgbClr val="C9D3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252923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0040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Review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20040" y="38404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paper and code checked line by line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395728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38" y="2529230"/>
            <a:ext cx="427939" cy="42793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67128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Run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2167128" y="38404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over sockets: plaintext and real OpenFHE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242816" y="2331720"/>
            <a:ext cx="822960" cy="8229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326" y="252923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14216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Attack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014216" y="38404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privacy reviews plus an independent critique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089904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414" y="2529230"/>
            <a:ext cx="427939" cy="4279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61304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Redesign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861304" y="38404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protocol, TikZ figure, rewritten paper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7936992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4502" y="2529230"/>
            <a:ext cx="427939" cy="42793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08392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Simulate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7708392" y="38404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bias-correction studies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9784080" y="2331720"/>
            <a:ext cx="822960" cy="82296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1590" y="2529230"/>
            <a:ext cx="427939" cy="42793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555480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Benchmark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9555480" y="38404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on Wang's UCI datasets (set up, not yet run)</a:t>
            </a:r>
            <a:endParaRPr lang="en-US" sz="1350" dirty="0"/>
          </a:p>
        </p:txBody>
      </p:sp>
      <p:sp>
        <p:nvSpPr>
          <p:cNvPr id="28" name="Shape 20"/>
          <p:cNvSpPr/>
          <p:nvPr/>
        </p:nvSpPr>
        <p:spPr>
          <a:xfrm>
            <a:off x="9601200" y="1783080"/>
            <a:ext cx="1188720" cy="292608"/>
          </a:xfrm>
          <a:prstGeom prst="roundRect">
            <a:avLst>
              <a:gd name="adj" fmla="val 2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960120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finding: the noise did not protect the ciphertext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in which R identified the true dataset from O's reply: matched and unmatched records alike (real OpenFHE, 20/20).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D5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that ε = 1 differential privacy allows.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9768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added the noise as a plaintext scalar, which changes only c₀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is a deterministic function of R's own ciphertexts, keys and O's data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who holds the key, recomputes c₁ for each candidate dataset and compares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9244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fresh encryption of the noise, which re-randomizes c₁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last modulus level, then flood the error term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linkage replies: statistical flooding; CKKS: DP-calibrated flooding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scorecard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371600"/>
                <a:gridCol w="4206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in the revised 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Plaintext-scalar noise leaks through the ciphertext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fresh encryption plus flooding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step shares raw-data 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per-party commitments, public constants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sensitivity vs replace-one adjacency (true ε up to ~2× the claim)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replace-one Δ, closed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ledger across runs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zCDP ledger at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reveals O's row order and bin 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secret permutation, public padding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λ cancels the bias correction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λ set from public inputs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CKKS slot leak; HE parameter security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an issue with OpenFHE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learns which of its cohort are in the register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Stated in Definition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 data flow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R's Gram block A is computed locally, is never sent and never noised. The sensitivity loses its B_R⁴ term.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protocol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Sanitized replies, replace-one DP, zCDP ledger, per-party calibration, hardened PSI, ridge fixed from public inputs.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Finite-noise bias as a conditional expectation, a zero-budget correction, and a closed-form replace-one sensitivity.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runs, simulation studies of accuracy and of the correction, and a benchmark against AdaSSP.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protocol, phase by phase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727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61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linkage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labeled PSI; R learns the match set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9502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aggregation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CKKS, depth 1; DP noise added by 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389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at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ridge, bias correction; post-processing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 the figure marks what changed from the draft.</a:t>
            </a:r>
            <a:endParaRPr lang="en-US" sz="1200" dirty="0"/>
          </a:p>
        </p:txBody>
      </p:sp>
      <p:pic>
        <p:nvPicPr>
          <p:cNvPr id="20" name="Image 0" descr="/home/user/VerticalFederatedRegression/protocol_v2/protocol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2308" y="274320"/>
            <a:ext cx="4823384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0–1: commitments and private linkage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standardizes with its own constants (kept), clips rows to B_R, generates BFV and CKKS keys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standardizes with public constants, clips to B_O and B_y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computes Δ_rep and σ, and refuses the run if the ledger would exceed its cap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cross: no quantiles, clip rates or sample moments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Labeled PSI with alignment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applies a secret permutation τ, so labels are random positions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hashing; bins padded to a public degree D and count α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cuckoo-hashes its IDs and sends encrypted windowed powers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evaluates membership and label polynomials, masks, and sanitizes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learns I and the aligned positions; O learns only public sizes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encrypted aggregation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multiplies R's encrypted vectors by its own plaintext columns (depth 1)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92240" cy="3063240"/>
          </a:xfrm>
          <a:prstGeom prst="roundRect">
            <a:avLst>
              <a:gd name="adj" fmla="val 238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Enc(B_jk)   = Σᵢ Enc(bᵢ) · X_O,ij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Enc(C_jk)   = Σᵢ Enc(Ẋ_R,ij)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Enc(c_O,k) = Σᵢ Enc(bᵢ) · X_O,ik · yᵢ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Enc(c_R,j) = Σᵢ Enc(Ẋ_R,ij) · yᵢ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069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selection vector;  Ẋ_R: R's features in O's order (zero off the match set)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85623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753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Ẋ_Rᵀ Ẋ_R stays with 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never transmitted, never noised.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06640" y="301752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31821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2753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noise draw per entry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35661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is the same in every CKKS slot. Independent noise per slot could be averaged away.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513892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released entry:  ct ← Sanitize_CKKS( ct ⊞ Enc_pk(z) ),   z ~ discrete Gaussian N_ℤ(0, σ²) from a CSPRNG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Calibrating the noise, and keeping count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Replace-one sensitivity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adjacency replaces one matched person's (x_O, y). The draft used the add/remove bound, which understates Δ.</a:t>
            </a:r>
            <a:endParaRPr lang="en-US" sz="14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325880"/>
                <a:gridCol w="10058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(B_R, B_O, B_y)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Δ_rep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(1, 1, 1)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(3.16, 3, 3)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(√5, √5,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population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Δ_add ≤ Δ_rep ≤ 2Δ_add. Releasing yᵀy costs nothing under replace-one.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141732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6459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5899" y="179953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from the analytic Gaussian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17627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σ meeting (ε, δ) for the whole stacked release (Balle–Wang). Discrete Gaussian at the CKKS resolution.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0" y="379476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12280" y="4023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899" y="417697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3524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zCDP ledger at 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553712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ρ_run = Δ²/2σ² + ρ_err. O refuses a run once the cumulative spend would pass its cap. Re-runs, retraining and inference queries all count.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O's replies (circuit privacy)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holds the key, so every reply must reveal nothing beyond its decrypted value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encryption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⊞ Enc_pk(z) makes c₁ computationally uniform: it no longer depends on O's data.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Modulus switch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to the last level, which scales down the data-dependent error.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the error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BFV: statistical flooding with N·2^−κ ≤ 2^−40. CKKS: DP-calibrated flooding with width ς = S_err / √(2ρ_err).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DP-calibrated flooding for CKKS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3035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2⁴⁰ flooding would swamp CKKS precision. A DP-sized flood needs only a few bits above the error; its cost joins the ledger.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48006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919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proof obligation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5303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bound on S_err, how much one record can change the ciphertext error, for the exact encoding and key switching.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fixed ridge and zero-budget bias correction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Ridge, fixed before decryption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max{ 0, 2ρ*σ√p − nℓ },  Ψ = 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ρ̂ = λ_min(G̃ + λI) / (2σ√p) ≥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ridge estimate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β̃_λ = (G̃ + λI)⁻¹ c̃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Bias-corrected estimate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β̂_bc = β̃_λ − σ² M(P̃_λ) β̃_λ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 (conditional bias)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E[ β̃ | ℰ_η ] − β̂ = σ² M(P) β̂ + O(σ⁴) + O(exp(−p(ηρ−1)²/2))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432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M(P) = (P² + tr(P)P − P diag(P)) Π_O + (P Π_O P + tr(Π_O P) P) Π_R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plain mean does not exist, hence the conditioning on ℰ_η.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480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590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λ must not depend on the noise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9834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G̃, λ moves with the noise. The correction then removed none of the bias (1.0–1.6× left); with fixed λ it removes 87–98%.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evaluate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population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real-world scales (income, age, binary indicators, counts), correlated. Public standardization constants; committed 99.5% bounds; R² ∈ {0.3, 0.5, 0.9}.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from 100 to 100k matched records; ε ∈ {0.5, 1, 2, 4, 8}, δ = 10⁻⁵; 200 replicates, each with new data and a new DP release.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939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against the true β (standardized); per-coefficient efficiency ratio; interval coverage; MSE ratio corrected/uncorrected.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7939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Wang's 36 UCI regression datasets; AdaSSP as published and under our guarantee; test MSE, as in Wang (2018).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so far, and what is still to run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cryptographic layer is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protocol, run end-to-end over sockets with plaintext and real OpenFHE backends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misaligned rows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recovered exactly the true match set in all 6 cohorts, plaintext and OpenFHE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9659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≈10⁻¹⁰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17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|β − β_OLS|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4747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noise switched off: encryption adds no error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9659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 s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OpenFHE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4747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n_O = 4,000 records, n = 400 matched (plaintext backend: 3.2 s)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error comes from the DP noise and the ridge it forces. The revised protocol's sanitization has not been implemented in OpenFHE yet (see the placeholder slide).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intersection size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A_rmse_vs_n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7772400" cy="499654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280160"/>
            <a:ext cx="3337560" cy="49377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148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8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3.2k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606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9.4k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3063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34k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520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105k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4114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n: the ridge shrinks β̂ towards 0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DP error falls like 1/n and merges into the OLS floor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spread is about ×2.5–3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RMSE of the standardized slopes against the true β (ratio to the OLS floor), R² = 0.5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 (9.9×)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0.213 (9.1×)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 (7.7×)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 (5.9×)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0.078 (3.3×)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 (12×)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 (5.8×)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 (1.9×)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(1.3×)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0.0051 (2.0×)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 (1.4×)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 (1.2×)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 (1.0×)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at which VFL comes within 2× of the OLS floor</a:t>
            </a:r>
            <a:endParaRPr lang="en-US" sz="18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≈240k*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≈380k*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≈105k*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extrapolated beyond n = 100k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coefficients on different scales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B1_efficiency_ratio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579" y="1143000"/>
            <a:ext cx="8754362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scale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span 5.6 orders of magnitude (≈$0.2 per $ income vs ≈$10k per binary). A pooled raw RMSE is 87% driven by two binary coefficients.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RMSE_DP,j / SE_OLS,j: unit-free. A ratio r means the release is about as accurate as OLS on n/r² records.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ridge is off, DP costs about the same for every coefficient (±15%); O-side coefficients run ~10% higher.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bias correction matter?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1_mse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11430000" cy="35173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 to −12%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the protocol target when the ridge is on. The correction also shrinks noise; it never raised this MSE (90 settings).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 to +4.3%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OLS under a moderate ridge: the correction restores shrinkage that noise had offset.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releases before the bias alone would matter; one release: at most 0.75% of MSE.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error comes from when σ is large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2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11430000" cy="2872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anatomy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ridge: 72–90% of the error is shrinkage, 11–31% noise variance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bias²: at most 0.75% anywhere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0: 95% intervals cover 0.94–0.96; SEs within 1–3% of the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on: coverage collapses. Clipping shifts the target at large n (every DP method pays this)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against AdaSSP (Wang 2018)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at ε = 1, δ = 10⁻⁶ (efficiency vs non-private in brackets)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058400" y="1051560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0" y="10515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run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548640"/>
                <a:gridCol w="1417320"/>
                <a:gridCol w="1783080"/>
                <a:gridCol w="1737360"/>
                <a:gridCol w="1600200"/>
                <a:gridCol w="1783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Non-private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kin40k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= AdaSSP's algorithm under our adjacency and accountant (A exact); it isolates the λ rule. Published AdaSSP protects the whole record, a stronger guarantee.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run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553"/>
            </a:avLst>
          </a:prstGeom>
          <a:solidFill>
            <a:srgbClr val="FAFBFD"/>
          </a:solidFill>
          <a:ln w="15875">
            <a:solidFill>
              <a:srgbClr val="3D5A80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948940" y="29032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2559" y="30568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6347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Intersection-size sweep on real data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046220"/>
            <a:ext cx="470916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 to be done: test MSE vs matched cohort size n (log) for bike, elevators, pol, kin40k and protein, one panel per dataset, lines for ε ∈ {0.5, 1, 2, 4}; AdaSSP and non-private for reference.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the revised protocol in OpenFHE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91440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57200"/>
                <a:gridCol w="777240"/>
                <a:gridCol w="822960"/>
                <a:gridCol w="1005840"/>
                <a:gridCol w="1051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Agg.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(MB)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10⁶ (chunked)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263640" y="443484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92240" y="45537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pending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4937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CKKS error-sensitivity bound S_err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Finite-precision accounting for the discrete Gaussian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for the ridge regime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and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813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 closes the critical and high gaps under honest-but-curious parties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743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71576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reaches 2× of non-private OLS at n ≈ 3k–100k, depending on ε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9502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correction is a small, free variance reduction; shrinkage dominates when σ is large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38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7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148840"/>
            <a:ext cx="4526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AdaSSP benchmark and real-data sweeps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revised protocol in OpenFHE and measure its cost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S_err bound; complete finite-precision accounting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errors; membership-private variant for sensitive registers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Privacy-Preserving Vertical Federated Linear Regression</dc:title>
  <dc:subject>PptxGenJS Presentation</dc:subject>
  <dc:creator>VFL Scenario B project</dc:creator>
  <cp:lastModifiedBy>VFL Scenario B project</cp:lastModifiedBy>
  <cp:revision>1</cp:revision>
  <dcterms:created xsi:type="dcterms:W3CDTF">2026-09-30T18:24:14Z</dcterms:created>
  <dcterms:modified xsi:type="dcterms:W3CDTF">2026-09-30T18:24:14Z</dcterms:modified>
</cp:coreProperties>
</file>