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Cambria"/>
              </a:defRPr>
            </a:pPr>
            <a:r>
              <a:rPr sz="1300" b="0" i="0" u="none" strike="noStrike">
                <a:solidFill>
                  <a:srgbClr val="14213D"/>
                </a:solidFill>
                <a:latin typeface="Cambria"/>
              </a:rPr>
              <a:t>housing  (n = 506)</a:t>
            </a:r>
          </a:p>
        </c:rich>
      </c:tx>
      <c:layout/>
      <c:overlay val="0"/>
    </c:title>
    <c:autoTitleDeleted val="0"/>
    <c:plotArea>
      <c:layout/>
      <c:lineChart>
        <c:varyColors val="0"/>
        <c:ser>
          <c:idx val="0"/>
          <c:order val="0"/>
          <c:tx>
            <c:strRef>
              <c:f>Sheet1!$B$1</c:f>
              <c:strCache>
                <c:ptCount val="1"/>
                <c:pt idx="0">
                  <c:v>Trivial (θ = 0)</c:v>
                </c:pt>
              </c:strCache>
            </c:strRef>
          </c:tx>
          <c:spPr>
            <a:solidFill>
              <a:srgbClr val="B8BEC8"/>
            </a:solidFill>
            <a:ln w="25400" cap="flat">
              <a:solidFill>
                <a:srgbClr val="B8BEC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8BEC8"/>
              </a:solidFill>
              <a:ln w="9525" cap="flat">
                <a:solidFill>
                  <a:srgbClr val="B8BEC8"/>
                </a:solidFill>
                <a:prstDash val="solid"/>
                <a:round/>
              </a:ln>
              <a:effectLst/>
            </c:spPr>
          </c:marker>
          <c:cat>
            <c:multiLvlStrRef>
              <c:f>Sheet1!$A$2:$A$11</c:f>
              <c:multiLvlStrCache>
                <c:ptCount val="10"/>
                <c:lvl>
                  <c:pt idx="0">
                    <c:v>0.01</c:v>
                  </c:pt>
                  <c:pt idx="1">
                    <c:v>0.02</c:v>
                  </c:pt>
                  <c:pt idx="2">
                    <c:v>0.05</c:v>
                  </c:pt>
                  <c:pt idx="3">
                    <c:v>0.1</c:v>
                  </c:pt>
                  <c:pt idx="4">
                    <c:v>0.2</c:v>
                  </c:pt>
                  <c:pt idx="5">
                    <c:v>0.5</c:v>
                  </c:pt>
                  <c:pt idx="6">
                    <c:v>1</c:v>
                  </c:pt>
                  <c:pt idx="7">
                    <c:v>2</c:v>
                  </c:pt>
                  <c:pt idx="8">
                    <c:v>5</c:v>
                  </c:pt>
                  <c:pt idx="9">
                    <c:v>10</c:v>
                  </c:pt>
                </c:lvl>
              </c:multiLvlStrCache>
            </c:multiLvlStrRef>
          </c:cat>
          <c:val>
            <c:numRef>
              <c:f>Sheet1!$B$2:$B$11</c:f>
              <c:numCache>
                <c:formatCode>General</c:formatCode>
                <c:ptCount val="10"/>
                <c:pt idx="0">
                  <c:v>2.824</c:v>
                </c:pt>
                <c:pt idx="1">
                  <c:v>2.824</c:v>
                </c:pt>
                <c:pt idx="2">
                  <c:v>2.824</c:v>
                </c:pt>
                <c:pt idx="3">
                  <c:v>2.824</c:v>
                </c:pt>
                <c:pt idx="4">
                  <c:v>2.824</c:v>
                </c:pt>
                <c:pt idx="5">
                  <c:v>2.824</c:v>
                </c:pt>
                <c:pt idx="6">
                  <c:v>2.824</c:v>
                </c:pt>
                <c:pt idx="7">
                  <c:v>2.824</c:v>
                </c:pt>
                <c:pt idx="8">
                  <c:v>2.824</c:v>
                </c:pt>
                <c:pt idx="9">
                  <c:v>2.824</c:v>
                </c:pt>
              </c:numCache>
            </c:numRef>
          </c:val>
          <c:smooth val="0"/>
        </c:ser>
        <c:ser>
          <c:idx val="1"/>
          <c:order val="1"/>
          <c:tx>
            <c:strRef>
              <c:f>Sheet1!$C$1</c:f>
              <c:strCache>
                <c:ptCount val="1"/>
                <c:pt idx="0">
                  <c:v>AdaSSP (published)</c:v>
                </c:pt>
              </c:strCache>
            </c:strRef>
          </c:tx>
          <c:spPr>
            <a:solidFill>
              <a:srgbClr val="1BAF7A"/>
            </a:solidFill>
            <a:ln w="25400"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1BAF7A"/>
              </a:solidFill>
              <a:ln w="9525" cap="flat">
                <a:solidFill>
                  <a:srgbClr val="1BAF7A"/>
                </a:solidFill>
                <a:prstDash val="solid"/>
                <a:round/>
              </a:ln>
              <a:effectLst/>
            </c:spPr>
          </c:marker>
          <c:errBars>
            <c:errDir val="y"/>
            <c:errBarType val="both"/>
            <c:errValType val="cust"/>
            <c:noEndCap val="0"/>
            <c:plus>
              <c:numLit>
                <c:formatCode>General</c:formatCode>
                <c:ptCount val="10"/>
                <c:pt idx="0">
                  <c:v>0.5599</c:v>
                </c:pt>
                <c:pt idx="1">
                  <c:v>0.5507</c:v>
                </c:pt>
                <c:pt idx="2">
                  <c:v>0.5827</c:v>
                </c:pt>
                <c:pt idx="3">
                  <c:v>0.6003</c:v>
                </c:pt>
                <c:pt idx="4">
                  <c:v>0.5577</c:v>
                </c:pt>
                <c:pt idx="5">
                  <c:v>0.5258</c:v>
                </c:pt>
                <c:pt idx="6">
                  <c:v>0.4927</c:v>
                </c:pt>
                <c:pt idx="7">
                  <c:v>0.4527</c:v>
                </c:pt>
                <c:pt idx="8">
                  <c:v>0.4025</c:v>
                </c:pt>
                <c:pt idx="9">
                  <c:v>0.3718</c:v>
                </c:pt>
              </c:numLit>
            </c:plus>
            <c:minus>
              <c:numLit>
                <c:formatCode>General</c:formatCode>
                <c:ptCount val="10"/>
                <c:pt idx="0">
                  <c:v>0.5599</c:v>
                </c:pt>
                <c:pt idx="1">
                  <c:v>0.5507</c:v>
                </c:pt>
                <c:pt idx="2">
                  <c:v>0.5827</c:v>
                </c:pt>
                <c:pt idx="3">
                  <c:v>0.6003</c:v>
                </c:pt>
                <c:pt idx="4">
                  <c:v>0.5577</c:v>
                </c:pt>
                <c:pt idx="5">
                  <c:v>0.5258</c:v>
                </c:pt>
                <c:pt idx="6">
                  <c:v>0.4927</c:v>
                </c:pt>
                <c:pt idx="7">
                  <c:v>0.4527</c:v>
                </c:pt>
                <c:pt idx="8">
                  <c:v>0.4025</c:v>
                </c:pt>
                <c:pt idx="9">
                  <c:v>0.3718</c:v>
                </c:pt>
              </c:numLit>
            </c:minus>
            <c:spPr>
              <a:ln w="12700">
                <a:solidFill>
                  <a:srgbClr val="1BAF7A"/>
                </a:solidFill>
              </a:ln>
            </c:spPr>
          </c:errBars>
          <c:cat>
            <c:multiLvlStrRef>
              <c:f>Sheet1!$A$2:$A$11</c:f>
              <c:multiLvlStrCache>
                <c:ptCount val="10"/>
                <c:lvl>
                  <c:pt idx="0">
                    <c:v>0.01</c:v>
                  </c:pt>
                  <c:pt idx="1">
                    <c:v>0.02</c:v>
                  </c:pt>
                  <c:pt idx="2">
                    <c:v>0.05</c:v>
                  </c:pt>
                  <c:pt idx="3">
                    <c:v>0.1</c:v>
                  </c:pt>
                  <c:pt idx="4">
                    <c:v>0.2</c:v>
                  </c:pt>
                  <c:pt idx="5">
                    <c:v>0.5</c:v>
                  </c:pt>
                  <c:pt idx="6">
                    <c:v>1</c:v>
                  </c:pt>
                  <c:pt idx="7">
                    <c:v>2</c:v>
                  </c:pt>
                  <c:pt idx="8">
                    <c:v>5</c:v>
                  </c:pt>
                  <c:pt idx="9">
                    <c:v>10</c:v>
                  </c:pt>
                </c:lvl>
              </c:multiLvlStrCache>
            </c:multiLvlStrRef>
          </c:cat>
          <c:val>
            <c:numRef>
              <c:f>Sheet1!$C$2:$C$11</c:f>
              <c:numCache>
                <c:formatCode>General</c:formatCode>
                <c:ptCount val="10"/>
                <c:pt idx="0">
                  <c:v>3.048</c:v>
                </c:pt>
                <c:pt idx="1">
                  <c:v>2.957</c:v>
                </c:pt>
                <c:pt idx="2">
                  <c:v>2.882</c:v>
                </c:pt>
                <c:pt idx="3">
                  <c:v>2.789</c:v>
                </c:pt>
                <c:pt idx="4">
                  <c:v>2.512</c:v>
                </c:pt>
                <c:pt idx="5">
                  <c:v>2.137</c:v>
                </c:pt>
                <c:pt idx="6">
                  <c:v>1.798</c:v>
                </c:pt>
                <c:pt idx="7">
                  <c:v>1.485</c:v>
                </c:pt>
                <c:pt idx="8">
                  <c:v>1.204</c:v>
                </c:pt>
                <c:pt idx="9">
                  <c:v>1.092</c:v>
                </c:pt>
              </c:numCache>
            </c:numRef>
          </c:val>
          <c:smooth val="0"/>
        </c:ser>
        <c:ser>
          <c:idx val="2"/>
          <c:order val="2"/>
          <c:tx>
            <c:strRef>
              <c:f>Sheet1!$D$1</c:f>
              <c:strCache>
                <c:ptCount val="1"/>
                <c:pt idx="0">
                  <c:v>AdaSSP (matched)</c:v>
                </c:pt>
              </c:strCache>
            </c:strRef>
          </c:tx>
          <c:spPr>
            <a:solidFill>
              <a:srgbClr val="EDA100"/>
            </a:solidFill>
            <a:ln w="25400" cap="flat">
              <a:solidFill>
                <a:srgbClr val="EDA1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DA100"/>
              </a:solidFill>
              <a:ln w="9525" cap="flat">
                <a:solidFill>
                  <a:srgbClr val="EDA100"/>
                </a:solidFill>
                <a:prstDash val="solid"/>
                <a:round/>
              </a:ln>
              <a:effectLst/>
            </c:spPr>
          </c:marker>
          <c:errBars>
            <c:errDir val="y"/>
            <c:errBarType val="both"/>
            <c:errValType val="cust"/>
            <c:noEndCap val="0"/>
            <c:plus>
              <c:numLit>
                <c:formatCode>General</c:formatCode>
                <c:ptCount val="10"/>
                <c:pt idx="0">
                  <c:v>0.5721</c:v>
                </c:pt>
                <c:pt idx="1">
                  <c:v>0.5682</c:v>
                </c:pt>
                <c:pt idx="2">
                  <c:v>0.5962</c:v>
                </c:pt>
                <c:pt idx="3">
                  <c:v>0.5677</c:v>
                </c:pt>
                <c:pt idx="4">
                  <c:v>0.5535</c:v>
                </c:pt>
                <c:pt idx="5">
                  <c:v>0.5297</c:v>
                </c:pt>
                <c:pt idx="6">
                  <c:v>0.5184</c:v>
                </c:pt>
                <c:pt idx="7">
                  <c:v>0.4665</c:v>
                </c:pt>
                <c:pt idx="8">
                  <c:v>0.4436</c:v>
                </c:pt>
                <c:pt idx="9">
                  <c:v>0.4072</c:v>
                </c:pt>
              </c:numLit>
            </c:plus>
            <c:minus>
              <c:numLit>
                <c:formatCode>General</c:formatCode>
                <c:ptCount val="10"/>
                <c:pt idx="0">
                  <c:v>0.5721</c:v>
                </c:pt>
                <c:pt idx="1">
                  <c:v>0.5682</c:v>
                </c:pt>
                <c:pt idx="2">
                  <c:v>0.5962</c:v>
                </c:pt>
                <c:pt idx="3">
                  <c:v>0.5677</c:v>
                </c:pt>
                <c:pt idx="4">
                  <c:v>0.5535</c:v>
                </c:pt>
                <c:pt idx="5">
                  <c:v>0.5297</c:v>
                </c:pt>
                <c:pt idx="6">
                  <c:v>0.5184</c:v>
                </c:pt>
                <c:pt idx="7">
                  <c:v>0.4665</c:v>
                </c:pt>
                <c:pt idx="8">
                  <c:v>0.4436</c:v>
                </c:pt>
                <c:pt idx="9">
                  <c:v>0.4072</c:v>
                </c:pt>
              </c:numLit>
            </c:minus>
            <c:spPr>
              <a:ln w="12700">
                <a:solidFill>
                  <a:srgbClr val="EDA100"/>
                </a:solidFill>
              </a:ln>
            </c:spPr>
          </c:errBars>
          <c:cat>
            <c:multiLvlStrRef>
              <c:f>Sheet1!$A$2:$A$11</c:f>
              <c:multiLvlStrCache>
                <c:ptCount val="10"/>
                <c:lvl>
                  <c:pt idx="0">
                    <c:v>0.01</c:v>
                  </c:pt>
                  <c:pt idx="1">
                    <c:v>0.02</c:v>
                  </c:pt>
                  <c:pt idx="2">
                    <c:v>0.05</c:v>
                  </c:pt>
                  <c:pt idx="3">
                    <c:v>0.1</c:v>
                  </c:pt>
                  <c:pt idx="4">
                    <c:v>0.2</c:v>
                  </c:pt>
                  <c:pt idx="5">
                    <c:v>0.5</c:v>
                  </c:pt>
                  <c:pt idx="6">
                    <c:v>1</c:v>
                  </c:pt>
                  <c:pt idx="7">
                    <c:v>2</c:v>
                  </c:pt>
                  <c:pt idx="8">
                    <c:v>5</c:v>
                  </c:pt>
                  <c:pt idx="9">
                    <c:v>10</c:v>
                  </c:pt>
                </c:lvl>
              </c:multiLvlStrCache>
            </c:multiLvlStrRef>
          </c:cat>
          <c:val>
            <c:numRef>
              <c:f>Sheet1!$D$2:$D$11</c:f>
              <c:numCache>
                <c:formatCode>General</c:formatCode>
                <c:ptCount val="10"/>
                <c:pt idx="0">
                  <c:v>3.149</c:v>
                </c:pt>
                <c:pt idx="1">
                  <c:v>3.02</c:v>
                </c:pt>
                <c:pt idx="2">
                  <c:v>3.066</c:v>
                </c:pt>
                <c:pt idx="3">
                  <c:v>2.86</c:v>
                </c:pt>
                <c:pt idx="4">
                  <c:v>2.692</c:v>
                </c:pt>
                <c:pt idx="5">
                  <c:v>2.351</c:v>
                </c:pt>
                <c:pt idx="6">
                  <c:v>2.067</c:v>
                </c:pt>
                <c:pt idx="7">
                  <c:v>1.72</c:v>
                </c:pt>
                <c:pt idx="8">
                  <c:v>1.4</c:v>
                </c:pt>
                <c:pt idx="9">
                  <c:v>1.218</c:v>
                </c:pt>
              </c:numCache>
            </c:numRef>
          </c:val>
          <c:smooth val="0"/>
        </c:ser>
        <c:ser>
          <c:idx val="3"/>
          <c:order val="3"/>
          <c:tx>
            <c:strRef>
              <c:f>Sheet1!$E$1</c:f>
              <c:strCache>
                <c:ptCount val="1"/>
                <c:pt idx="0">
                  <c:v>VFL, ours</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2A78D6"/>
              </a:solidFill>
              <a:ln w="9525" cap="flat">
                <a:solidFill>
                  <a:srgbClr val="2A78D6"/>
                </a:solidFill>
                <a:prstDash val="solid"/>
                <a:round/>
              </a:ln>
              <a:effectLst/>
            </c:spPr>
          </c:marker>
          <c:errBars>
            <c:errDir val="y"/>
            <c:errBarType val="both"/>
            <c:errValType val="cust"/>
            <c:noEndCap val="0"/>
            <c:plus>
              <c:numLit>
                <c:formatCode>General</c:formatCode>
                <c:ptCount val="10"/>
                <c:pt idx="0">
                  <c:v>0.6217</c:v>
                </c:pt>
                <c:pt idx="1">
                  <c:v>0.5915</c:v>
                </c:pt>
                <c:pt idx="2">
                  <c:v>0.5975</c:v>
                </c:pt>
                <c:pt idx="3">
                  <c:v>0.5813</c:v>
                </c:pt>
                <c:pt idx="4">
                  <c:v>0.5775</c:v>
                </c:pt>
                <c:pt idx="5">
                  <c:v>0.5188</c:v>
                </c:pt>
                <c:pt idx="6">
                  <c:v>0.5013</c:v>
                </c:pt>
                <c:pt idx="7">
                  <c:v>0.4707</c:v>
                </c:pt>
                <c:pt idx="8">
                  <c:v>0.4276</c:v>
                </c:pt>
                <c:pt idx="9">
                  <c:v>0.4048</c:v>
                </c:pt>
              </c:numLit>
            </c:plus>
            <c:minus>
              <c:numLit>
                <c:formatCode>General</c:formatCode>
                <c:ptCount val="10"/>
                <c:pt idx="0">
                  <c:v>0.6217</c:v>
                </c:pt>
                <c:pt idx="1">
                  <c:v>0.5915</c:v>
                </c:pt>
                <c:pt idx="2">
                  <c:v>0.5975</c:v>
                </c:pt>
                <c:pt idx="3">
                  <c:v>0.5813</c:v>
                </c:pt>
                <c:pt idx="4">
                  <c:v>0.5775</c:v>
                </c:pt>
                <c:pt idx="5">
                  <c:v>0.5188</c:v>
                </c:pt>
                <c:pt idx="6">
                  <c:v>0.5013</c:v>
                </c:pt>
                <c:pt idx="7">
                  <c:v>0.4707</c:v>
                </c:pt>
                <c:pt idx="8">
                  <c:v>0.4276</c:v>
                </c:pt>
                <c:pt idx="9">
                  <c:v>0.4048</c:v>
                </c:pt>
              </c:numLit>
            </c:minus>
            <c:spPr>
              <a:ln w="12700">
                <a:solidFill>
                  <a:srgbClr val="2A78D6"/>
                </a:solidFill>
              </a:ln>
            </c:spPr>
          </c:errBars>
          <c:cat>
            <c:multiLvlStrRef>
              <c:f>Sheet1!$A$2:$A$11</c:f>
              <c:multiLvlStrCache>
                <c:ptCount val="10"/>
                <c:lvl>
                  <c:pt idx="0">
                    <c:v>0.01</c:v>
                  </c:pt>
                  <c:pt idx="1">
                    <c:v>0.02</c:v>
                  </c:pt>
                  <c:pt idx="2">
                    <c:v>0.05</c:v>
                  </c:pt>
                  <c:pt idx="3">
                    <c:v>0.1</c:v>
                  </c:pt>
                  <c:pt idx="4">
                    <c:v>0.2</c:v>
                  </c:pt>
                  <c:pt idx="5">
                    <c:v>0.5</c:v>
                  </c:pt>
                  <c:pt idx="6">
                    <c:v>1</c:v>
                  </c:pt>
                  <c:pt idx="7">
                    <c:v>2</c:v>
                  </c:pt>
                  <c:pt idx="8">
                    <c:v>5</c:v>
                  </c:pt>
                  <c:pt idx="9">
                    <c:v>10</c:v>
                  </c:pt>
                </c:lvl>
              </c:multiLvlStrCache>
            </c:multiLvlStrRef>
          </c:cat>
          <c:val>
            <c:numRef>
              <c:f>Sheet1!$E$2:$E$11</c:f>
              <c:numCache>
                <c:formatCode>General</c:formatCode>
                <c:ptCount val="10"/>
                <c:pt idx="0">
                  <c:v>2.906</c:v>
                </c:pt>
                <c:pt idx="1">
                  <c:v>2.861</c:v>
                </c:pt>
                <c:pt idx="2">
                  <c:v>2.82</c:v>
                </c:pt>
                <c:pt idx="3">
                  <c:v>2.711</c:v>
                </c:pt>
                <c:pt idx="4">
                  <c:v>2.602</c:v>
                </c:pt>
                <c:pt idx="5">
                  <c:v>2.239</c:v>
                </c:pt>
                <c:pt idx="6">
                  <c:v>1.965</c:v>
                </c:pt>
                <c:pt idx="7">
                  <c:v>1.657</c:v>
                </c:pt>
                <c:pt idx="8">
                  <c:v>1.338</c:v>
                </c:pt>
                <c:pt idx="9">
                  <c:v>1.18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B6576"/>
                    </a:solidFill>
                    <a:latin typeface="Arial"/>
                  </a:defRPr>
                </a:pPr>
                <a:r>
                  <a:rPr sz="1000" b="0" i="0" u="none" strike="noStrike">
                    <a:solidFill>
                      <a:srgbClr val="5B6576"/>
                    </a:solidFill>
                    <a:latin typeface="Arial"/>
                  </a:rPr>
                  <a:t>ε</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576"/>
                </a:solidFill>
                <a:latin typeface="Arial"/>
              </a:defRPr>
            </a:pPr>
            <a:endParaRPr lang="en-US"/>
          </a:p>
        </c:txPr>
        <c:crossAx val="2094734552"/>
        <c:crosses val="autoZero"/>
        <c:auto val="1"/>
        <c:lblAlgn val="ctr"/>
        <c:noMultiLvlLbl val="1"/>
      </c:catAx>
      <c:valAx>
        <c:axId val="2094734552"/>
        <c:scaling>
          <c:orientation val="minMax"/>
          <c:min val="1"/>
        </c:scaling>
        <c:delete val="0"/>
        <c:axPos val="l"/>
        <c:majorGridlines>
          <c:spPr>
            <a:ln w="6350" cap="flat">
              <a:solidFill>
                <a:srgbClr val="E5E7EB"/>
              </a:solidFill>
              <a:prstDash val="solid"/>
              <a:round/>
            </a:ln>
          </c:spPr>
        </c:majorGridlines>
        <c:title>
          <c:tx>
            <c:rich>
              <a:bodyPr/>
              <a:lstStyle/>
              <a:p>
                <a:pPr>
                  <a:defRPr sz="1000" b="0" i="0" u="none" strike="noStrike">
                    <a:solidFill>
                      <a:srgbClr val="5B6576"/>
                    </a:solidFill>
                    <a:latin typeface="Arial"/>
                  </a:defRPr>
                </a:pPr>
                <a:r>
                  <a:rPr sz="1000" b="0" i="0" u="none" strike="noStrike">
                    <a:solidFill>
                      <a:srgbClr val="5B6576"/>
                    </a:solidFill>
                    <a:latin typeface="Arial"/>
                  </a:rPr>
                  <a:t>MSE ÷ non-private</a:t>
                </a:r>
              </a:p>
            </c:rich>
          </c:tx>
          <c:layout/>
          <c:overlay val="0"/>
        </c:title>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57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Cambria"/>
              </a:defRPr>
            </a:pPr>
            <a:r>
              <a:rPr sz="1300" b="0" i="0" u="none" strike="noStrike">
                <a:solidFill>
                  <a:srgbClr val="14213D"/>
                </a:solidFill>
                <a:latin typeface="Cambria"/>
              </a:rPr>
              <a:t>elevators  (n = 16,599)</a:t>
            </a:r>
          </a:p>
        </c:rich>
      </c:tx>
      <c:layout/>
      <c:overlay val="0"/>
    </c:title>
    <c:autoTitleDeleted val="0"/>
    <c:plotArea>
      <c:layout/>
      <c:lineChart>
        <c:varyColors val="0"/>
        <c:ser>
          <c:idx val="0"/>
          <c:order val="0"/>
          <c:tx>
            <c:strRef>
              <c:f>Sheet1!$B$1</c:f>
              <c:strCache>
                <c:ptCount val="1"/>
                <c:pt idx="0">
                  <c:v>Trivial (θ = 0)</c:v>
                </c:pt>
              </c:strCache>
            </c:strRef>
          </c:tx>
          <c:spPr>
            <a:solidFill>
              <a:srgbClr val="B8BEC8"/>
            </a:solidFill>
            <a:ln w="25400" cap="flat">
              <a:solidFill>
                <a:srgbClr val="B8BEC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8BEC8"/>
              </a:solidFill>
              <a:ln w="9525" cap="flat">
                <a:solidFill>
                  <a:srgbClr val="B8BEC8"/>
                </a:solidFill>
                <a:prstDash val="solid"/>
                <a:round/>
              </a:ln>
              <a:effectLst/>
            </c:spPr>
          </c:marker>
          <c:cat>
            <c:multiLvlStrRef>
              <c:f>Sheet1!$A$2:$A$11</c:f>
              <c:multiLvlStrCache>
                <c:ptCount val="10"/>
                <c:lvl>
                  <c:pt idx="0">
                    <c:v>0.01</c:v>
                  </c:pt>
                  <c:pt idx="1">
                    <c:v>0.02</c:v>
                  </c:pt>
                  <c:pt idx="2">
                    <c:v>0.05</c:v>
                  </c:pt>
                  <c:pt idx="3">
                    <c:v>0.1</c:v>
                  </c:pt>
                  <c:pt idx="4">
                    <c:v>0.2</c:v>
                  </c:pt>
                  <c:pt idx="5">
                    <c:v>0.5</c:v>
                  </c:pt>
                  <c:pt idx="6">
                    <c:v>1</c:v>
                  </c:pt>
                  <c:pt idx="7">
                    <c:v>2</c:v>
                  </c:pt>
                  <c:pt idx="8">
                    <c:v>5</c:v>
                  </c:pt>
                  <c:pt idx="9">
                    <c:v>10</c:v>
                  </c:pt>
                </c:lvl>
              </c:multiLvlStrCache>
            </c:multiLvlStrRef>
          </c:cat>
          <c:val>
            <c:numRef>
              <c:f>Sheet1!$B$2:$B$11</c:f>
              <c:numCache>
                <c:formatCode>General</c:formatCode>
                <c:ptCount val="10"/>
                <c:pt idx="0">
                  <c:v>4.226</c:v>
                </c:pt>
                <c:pt idx="1">
                  <c:v>4.226</c:v>
                </c:pt>
                <c:pt idx="2">
                  <c:v>4.226</c:v>
                </c:pt>
                <c:pt idx="3">
                  <c:v>4.226</c:v>
                </c:pt>
                <c:pt idx="4">
                  <c:v>4.226</c:v>
                </c:pt>
                <c:pt idx="5">
                  <c:v>4.226</c:v>
                </c:pt>
                <c:pt idx="6">
                  <c:v>4.226</c:v>
                </c:pt>
                <c:pt idx="7">
                  <c:v>4.226</c:v>
                </c:pt>
                <c:pt idx="8">
                  <c:v>4.226</c:v>
                </c:pt>
                <c:pt idx="9">
                  <c:v>4.226</c:v>
                </c:pt>
              </c:numCache>
            </c:numRef>
          </c:val>
          <c:smooth val="0"/>
        </c:ser>
        <c:ser>
          <c:idx val="1"/>
          <c:order val="1"/>
          <c:tx>
            <c:strRef>
              <c:f>Sheet1!$C$1</c:f>
              <c:strCache>
                <c:ptCount val="1"/>
                <c:pt idx="0">
                  <c:v>AdaSSP (published)</c:v>
                </c:pt>
              </c:strCache>
            </c:strRef>
          </c:tx>
          <c:spPr>
            <a:solidFill>
              <a:srgbClr val="1BAF7A"/>
            </a:solidFill>
            <a:ln w="25400"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1BAF7A"/>
              </a:solidFill>
              <a:ln w="9525" cap="flat">
                <a:solidFill>
                  <a:srgbClr val="1BAF7A"/>
                </a:solidFill>
                <a:prstDash val="solid"/>
                <a:round/>
              </a:ln>
              <a:effectLst/>
            </c:spPr>
          </c:marker>
          <c:errBars>
            <c:errDir val="y"/>
            <c:errBarType val="both"/>
            <c:errValType val="cust"/>
            <c:noEndCap val="0"/>
            <c:plus>
              <c:numLit>
                <c:formatCode>General</c:formatCode>
                <c:ptCount val="10"/>
                <c:pt idx="0">
                  <c:v>0.1353</c:v>
                </c:pt>
                <c:pt idx="1">
                  <c:v>0.06918</c:v>
                </c:pt>
                <c:pt idx="2">
                  <c:v>0.06121</c:v>
                </c:pt>
                <c:pt idx="3">
                  <c:v>0.06169</c:v>
                </c:pt>
                <c:pt idx="4">
                  <c:v>0.07114</c:v>
                </c:pt>
                <c:pt idx="5">
                  <c:v>0.06912</c:v>
                </c:pt>
                <c:pt idx="6">
                  <c:v>0.05343</c:v>
                </c:pt>
                <c:pt idx="7">
                  <c:v>0.04651</c:v>
                </c:pt>
                <c:pt idx="8">
                  <c:v>0.03951</c:v>
                </c:pt>
                <c:pt idx="9">
                  <c:v>0.03801</c:v>
                </c:pt>
              </c:numLit>
            </c:plus>
            <c:minus>
              <c:numLit>
                <c:formatCode>General</c:formatCode>
                <c:ptCount val="10"/>
                <c:pt idx="0">
                  <c:v>0.1353</c:v>
                </c:pt>
                <c:pt idx="1">
                  <c:v>0.06918</c:v>
                </c:pt>
                <c:pt idx="2">
                  <c:v>0.06121</c:v>
                </c:pt>
                <c:pt idx="3">
                  <c:v>0.06169</c:v>
                </c:pt>
                <c:pt idx="4">
                  <c:v>0.07114</c:v>
                </c:pt>
                <c:pt idx="5">
                  <c:v>0.06912</c:v>
                </c:pt>
                <c:pt idx="6">
                  <c:v>0.05343</c:v>
                </c:pt>
                <c:pt idx="7">
                  <c:v>0.04651</c:v>
                </c:pt>
                <c:pt idx="8">
                  <c:v>0.03951</c:v>
                </c:pt>
                <c:pt idx="9">
                  <c:v>0.03801</c:v>
                </c:pt>
              </c:numLit>
            </c:minus>
            <c:spPr>
              <a:ln w="12700">
                <a:solidFill>
                  <a:srgbClr val="1BAF7A"/>
                </a:solidFill>
              </a:ln>
            </c:spPr>
          </c:errBars>
          <c:cat>
            <c:multiLvlStrRef>
              <c:f>Sheet1!$A$2:$A$11</c:f>
              <c:multiLvlStrCache>
                <c:ptCount val="10"/>
                <c:lvl>
                  <c:pt idx="0">
                    <c:v>0.01</c:v>
                  </c:pt>
                  <c:pt idx="1">
                    <c:v>0.02</c:v>
                  </c:pt>
                  <c:pt idx="2">
                    <c:v>0.05</c:v>
                  </c:pt>
                  <c:pt idx="3">
                    <c:v>0.1</c:v>
                  </c:pt>
                  <c:pt idx="4">
                    <c:v>0.2</c:v>
                  </c:pt>
                  <c:pt idx="5">
                    <c:v>0.5</c:v>
                  </c:pt>
                  <c:pt idx="6">
                    <c:v>1</c:v>
                  </c:pt>
                  <c:pt idx="7">
                    <c:v>2</c:v>
                  </c:pt>
                  <c:pt idx="8">
                    <c:v>5</c:v>
                  </c:pt>
                  <c:pt idx="9">
                    <c:v>10</c:v>
                  </c:pt>
                </c:lvl>
              </c:multiLvlStrCache>
            </c:multiLvlStrRef>
          </c:cat>
          <c:val>
            <c:numRef>
              <c:f>Sheet1!$C$2:$C$11</c:f>
              <c:numCache>
                <c:formatCode>General</c:formatCode>
                <c:ptCount val="10"/>
                <c:pt idx="0">
                  <c:v>4.281</c:v>
                </c:pt>
                <c:pt idx="1">
                  <c:v>3.843</c:v>
                </c:pt>
                <c:pt idx="2">
                  <c:v>3.235</c:v>
                </c:pt>
                <c:pt idx="3">
                  <c:v>2.799</c:v>
                </c:pt>
                <c:pt idx="4">
                  <c:v>2.4</c:v>
                </c:pt>
                <c:pt idx="5">
                  <c:v>1.873</c:v>
                </c:pt>
                <c:pt idx="6">
                  <c:v>1.514</c:v>
                </c:pt>
                <c:pt idx="7">
                  <c:v>1.239</c:v>
                </c:pt>
                <c:pt idx="8">
                  <c:v>1.058</c:v>
                </c:pt>
                <c:pt idx="9">
                  <c:v>1.012</c:v>
                </c:pt>
              </c:numCache>
            </c:numRef>
          </c:val>
          <c:smooth val="0"/>
        </c:ser>
        <c:ser>
          <c:idx val="2"/>
          <c:order val="2"/>
          <c:tx>
            <c:strRef>
              <c:f>Sheet1!$D$1</c:f>
              <c:strCache>
                <c:ptCount val="1"/>
                <c:pt idx="0">
                  <c:v>AdaSSP (matched)</c:v>
                </c:pt>
              </c:strCache>
            </c:strRef>
          </c:tx>
          <c:spPr>
            <a:solidFill>
              <a:srgbClr val="EDA100"/>
            </a:solidFill>
            <a:ln w="25400" cap="flat">
              <a:solidFill>
                <a:srgbClr val="EDA1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DA100"/>
              </a:solidFill>
              <a:ln w="9525" cap="flat">
                <a:solidFill>
                  <a:srgbClr val="EDA100"/>
                </a:solidFill>
                <a:prstDash val="solid"/>
                <a:round/>
              </a:ln>
              <a:effectLst/>
            </c:spPr>
          </c:marker>
          <c:errBars>
            <c:errDir val="y"/>
            <c:errBarType val="both"/>
            <c:errValType val="cust"/>
            <c:noEndCap val="0"/>
            <c:plus>
              <c:numLit>
                <c:formatCode>General</c:formatCode>
                <c:ptCount val="10"/>
                <c:pt idx="0">
                  <c:v>0.08640</c:v>
                </c:pt>
                <c:pt idx="1">
                  <c:v>0.1044</c:v>
                </c:pt>
                <c:pt idx="2">
                  <c:v>0.05832</c:v>
                </c:pt>
                <c:pt idx="3">
                  <c:v>0.06700</c:v>
                </c:pt>
                <c:pt idx="4">
                  <c:v>0.06460</c:v>
                </c:pt>
                <c:pt idx="5">
                  <c:v>0.06941</c:v>
                </c:pt>
                <c:pt idx="6">
                  <c:v>0.06018</c:v>
                </c:pt>
                <c:pt idx="7">
                  <c:v>0.05253</c:v>
                </c:pt>
                <c:pt idx="8">
                  <c:v>0.04283</c:v>
                </c:pt>
                <c:pt idx="9">
                  <c:v>0.03964</c:v>
                </c:pt>
              </c:numLit>
            </c:plus>
            <c:minus>
              <c:numLit>
                <c:formatCode>General</c:formatCode>
                <c:ptCount val="10"/>
                <c:pt idx="0">
                  <c:v>0.08640</c:v>
                </c:pt>
                <c:pt idx="1">
                  <c:v>0.1044</c:v>
                </c:pt>
                <c:pt idx="2">
                  <c:v>0.05832</c:v>
                </c:pt>
                <c:pt idx="3">
                  <c:v>0.06700</c:v>
                </c:pt>
                <c:pt idx="4">
                  <c:v>0.06460</c:v>
                </c:pt>
                <c:pt idx="5">
                  <c:v>0.06941</c:v>
                </c:pt>
                <c:pt idx="6">
                  <c:v>0.06018</c:v>
                </c:pt>
                <c:pt idx="7">
                  <c:v>0.05253</c:v>
                </c:pt>
                <c:pt idx="8">
                  <c:v>0.04283</c:v>
                </c:pt>
                <c:pt idx="9">
                  <c:v>0.03964</c:v>
                </c:pt>
              </c:numLit>
            </c:minus>
            <c:spPr>
              <a:ln w="12700">
                <a:solidFill>
                  <a:srgbClr val="EDA100"/>
                </a:solidFill>
              </a:ln>
            </c:spPr>
          </c:errBars>
          <c:cat>
            <c:multiLvlStrRef>
              <c:f>Sheet1!$A$2:$A$11</c:f>
              <c:multiLvlStrCache>
                <c:ptCount val="10"/>
                <c:lvl>
                  <c:pt idx="0">
                    <c:v>0.01</c:v>
                  </c:pt>
                  <c:pt idx="1">
                    <c:v>0.02</c:v>
                  </c:pt>
                  <c:pt idx="2">
                    <c:v>0.05</c:v>
                  </c:pt>
                  <c:pt idx="3">
                    <c:v>0.1</c:v>
                  </c:pt>
                  <c:pt idx="4">
                    <c:v>0.2</c:v>
                  </c:pt>
                  <c:pt idx="5">
                    <c:v>0.5</c:v>
                  </c:pt>
                  <c:pt idx="6">
                    <c:v>1</c:v>
                  </c:pt>
                  <c:pt idx="7">
                    <c:v>2</c:v>
                  </c:pt>
                  <c:pt idx="8">
                    <c:v>5</c:v>
                  </c:pt>
                  <c:pt idx="9">
                    <c:v>10</c:v>
                  </c:pt>
                </c:lvl>
              </c:multiLvlStrCache>
            </c:multiLvlStrRef>
          </c:cat>
          <c:val>
            <c:numRef>
              <c:f>Sheet1!$D$2:$D$11</c:f>
              <c:numCache>
                <c:formatCode>General</c:formatCode>
                <c:ptCount val="10"/>
                <c:pt idx="0">
                  <c:v>4.425</c:v>
                </c:pt>
                <c:pt idx="1">
                  <c:v>4.041</c:v>
                </c:pt>
                <c:pt idx="2">
                  <c:v>3.448</c:v>
                </c:pt>
                <c:pt idx="3">
                  <c:v>3.003</c:v>
                </c:pt>
                <c:pt idx="4">
                  <c:v>2.629</c:v>
                </c:pt>
                <c:pt idx="5">
                  <c:v>2.148</c:v>
                </c:pt>
                <c:pt idx="6">
                  <c:v>1.779</c:v>
                </c:pt>
                <c:pt idx="7">
                  <c:v>1.437</c:v>
                </c:pt>
                <c:pt idx="8">
                  <c:v>1.159</c:v>
                </c:pt>
                <c:pt idx="9">
                  <c:v>1.06</c:v>
                </c:pt>
              </c:numCache>
            </c:numRef>
          </c:val>
          <c:smooth val="0"/>
        </c:ser>
        <c:ser>
          <c:idx val="3"/>
          <c:order val="3"/>
          <c:tx>
            <c:strRef>
              <c:f>Sheet1!$E$1</c:f>
              <c:strCache>
                <c:ptCount val="1"/>
                <c:pt idx="0">
                  <c:v>VFL, ours</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2A78D6"/>
              </a:solidFill>
              <a:ln w="9525" cap="flat">
                <a:solidFill>
                  <a:srgbClr val="2A78D6"/>
                </a:solidFill>
                <a:prstDash val="solid"/>
                <a:round/>
              </a:ln>
              <a:effectLst/>
            </c:spPr>
          </c:marker>
          <c:errBars>
            <c:errDir val="y"/>
            <c:errBarType val="both"/>
            <c:errValType val="cust"/>
            <c:noEndCap val="0"/>
            <c:plus>
              <c:numLit>
                <c:formatCode>General</c:formatCode>
                <c:ptCount val="10"/>
                <c:pt idx="0">
                  <c:v>0.09400</c:v>
                </c:pt>
                <c:pt idx="1">
                  <c:v>0.08385</c:v>
                </c:pt>
                <c:pt idx="2">
                  <c:v>0.06546</c:v>
                </c:pt>
                <c:pt idx="3">
                  <c:v>0.06869</c:v>
                </c:pt>
                <c:pt idx="4">
                  <c:v>0.07098</c:v>
                </c:pt>
                <c:pt idx="5">
                  <c:v>0.05715</c:v>
                </c:pt>
                <c:pt idx="6">
                  <c:v>0.05602</c:v>
                </c:pt>
                <c:pt idx="7">
                  <c:v>0.04965</c:v>
                </c:pt>
                <c:pt idx="8">
                  <c:v>0.04270</c:v>
                </c:pt>
                <c:pt idx="9">
                  <c:v>0.03903</c:v>
                </c:pt>
              </c:numLit>
            </c:plus>
            <c:minus>
              <c:numLit>
                <c:formatCode>General</c:formatCode>
                <c:ptCount val="10"/>
                <c:pt idx="0">
                  <c:v>0.09400</c:v>
                </c:pt>
                <c:pt idx="1">
                  <c:v>0.08385</c:v>
                </c:pt>
                <c:pt idx="2">
                  <c:v>0.06546</c:v>
                </c:pt>
                <c:pt idx="3">
                  <c:v>0.06869</c:v>
                </c:pt>
                <c:pt idx="4">
                  <c:v>0.07098</c:v>
                </c:pt>
                <c:pt idx="5">
                  <c:v>0.05715</c:v>
                </c:pt>
                <c:pt idx="6">
                  <c:v>0.05602</c:v>
                </c:pt>
                <c:pt idx="7">
                  <c:v>0.04965</c:v>
                </c:pt>
                <c:pt idx="8">
                  <c:v>0.04270</c:v>
                </c:pt>
                <c:pt idx="9">
                  <c:v>0.03903</c:v>
                </c:pt>
              </c:numLit>
            </c:minus>
            <c:spPr>
              <a:ln w="12700">
                <a:solidFill>
                  <a:srgbClr val="2A78D6"/>
                </a:solidFill>
              </a:ln>
            </c:spPr>
          </c:errBars>
          <c:cat>
            <c:multiLvlStrRef>
              <c:f>Sheet1!$A$2:$A$11</c:f>
              <c:multiLvlStrCache>
                <c:ptCount val="10"/>
                <c:lvl>
                  <c:pt idx="0">
                    <c:v>0.01</c:v>
                  </c:pt>
                  <c:pt idx="1">
                    <c:v>0.02</c:v>
                  </c:pt>
                  <c:pt idx="2">
                    <c:v>0.05</c:v>
                  </c:pt>
                  <c:pt idx="3">
                    <c:v>0.1</c:v>
                  </c:pt>
                  <c:pt idx="4">
                    <c:v>0.2</c:v>
                  </c:pt>
                  <c:pt idx="5">
                    <c:v>0.5</c:v>
                  </c:pt>
                  <c:pt idx="6">
                    <c:v>1</c:v>
                  </c:pt>
                  <c:pt idx="7">
                    <c:v>2</c:v>
                  </c:pt>
                  <c:pt idx="8">
                    <c:v>5</c:v>
                  </c:pt>
                  <c:pt idx="9">
                    <c:v>10</c:v>
                  </c:pt>
                </c:lvl>
              </c:multiLvlStrCache>
            </c:multiLvlStrRef>
          </c:cat>
          <c:val>
            <c:numRef>
              <c:f>Sheet1!$E$2:$E$11</c:f>
              <c:numCache>
                <c:formatCode>General</c:formatCode>
                <c:ptCount val="10"/>
                <c:pt idx="0">
                  <c:v>3.995</c:v>
                </c:pt>
                <c:pt idx="1">
                  <c:v>3.667</c:v>
                </c:pt>
                <c:pt idx="2">
                  <c:v>3.192</c:v>
                </c:pt>
                <c:pt idx="3">
                  <c:v>2.864</c:v>
                </c:pt>
                <c:pt idx="4">
                  <c:v>2.532</c:v>
                </c:pt>
                <c:pt idx="5">
                  <c:v>2.073</c:v>
                </c:pt>
                <c:pt idx="6">
                  <c:v>1.714</c:v>
                </c:pt>
                <c:pt idx="7">
                  <c:v>1.397</c:v>
                </c:pt>
                <c:pt idx="8">
                  <c:v>1.136</c:v>
                </c:pt>
                <c:pt idx="9">
                  <c:v>1.049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B6576"/>
                    </a:solidFill>
                    <a:latin typeface="Arial"/>
                  </a:defRPr>
                </a:pPr>
                <a:r>
                  <a:rPr sz="1000" b="0" i="0" u="none" strike="noStrike">
                    <a:solidFill>
                      <a:srgbClr val="5B6576"/>
                    </a:solidFill>
                    <a:latin typeface="Arial"/>
                  </a:rPr>
                  <a:t>ε</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576"/>
                </a:solidFill>
                <a:latin typeface="Arial"/>
              </a:defRPr>
            </a:pPr>
            <a:endParaRPr lang="en-US"/>
          </a:p>
        </c:txPr>
        <c:crossAx val="2094734552"/>
        <c:crosses val="autoZero"/>
        <c:auto val="1"/>
        <c:lblAlgn val="ctr"/>
        <c:noMultiLvlLbl val="1"/>
      </c:catAx>
      <c:valAx>
        <c:axId val="2094734552"/>
        <c:scaling>
          <c:orientation val="minMax"/>
          <c:min val="1"/>
        </c:scaling>
        <c:delete val="0"/>
        <c:axPos val="l"/>
        <c:majorGridlines>
          <c:spPr>
            <a:ln w="6350" cap="flat">
              <a:solidFill>
                <a:srgbClr val="E5E7E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57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Cambria"/>
              </a:defRPr>
            </a:pPr>
            <a:r>
              <a:rPr sz="1300" b="0" i="0" u="none" strike="noStrike">
                <a:solidFill>
                  <a:srgbClr val="14213D"/>
                </a:solidFill>
                <a:latin typeface="Cambria"/>
              </a:rPr>
              <a:t>protein  (n = 45,730)</a:t>
            </a:r>
          </a:p>
        </c:rich>
      </c:tx>
      <c:layout/>
      <c:overlay val="0"/>
    </c:title>
    <c:autoTitleDeleted val="0"/>
    <c:plotArea>
      <c:layout/>
      <c:lineChart>
        <c:varyColors val="0"/>
        <c:ser>
          <c:idx val="0"/>
          <c:order val="0"/>
          <c:tx>
            <c:strRef>
              <c:f>Sheet1!$B$1</c:f>
              <c:strCache>
                <c:ptCount val="1"/>
                <c:pt idx="0">
                  <c:v>Trivial (θ = 0)</c:v>
                </c:pt>
              </c:strCache>
            </c:strRef>
          </c:tx>
          <c:spPr>
            <a:solidFill>
              <a:srgbClr val="B8BEC8"/>
            </a:solidFill>
            <a:ln w="25400" cap="flat">
              <a:solidFill>
                <a:srgbClr val="B8BEC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8BEC8"/>
              </a:solidFill>
              <a:ln w="9525" cap="flat">
                <a:solidFill>
                  <a:srgbClr val="B8BEC8"/>
                </a:solidFill>
                <a:prstDash val="solid"/>
                <a:round/>
              </a:ln>
              <a:effectLst/>
            </c:spPr>
          </c:marker>
          <c:cat>
            <c:multiLvlStrRef>
              <c:f>Sheet1!$A$2:$A$11</c:f>
              <c:multiLvlStrCache>
                <c:ptCount val="10"/>
                <c:lvl>
                  <c:pt idx="0">
                    <c:v>0.01</c:v>
                  </c:pt>
                  <c:pt idx="1">
                    <c:v>0.02</c:v>
                  </c:pt>
                  <c:pt idx="2">
                    <c:v>0.05</c:v>
                  </c:pt>
                  <c:pt idx="3">
                    <c:v>0.1</c:v>
                  </c:pt>
                  <c:pt idx="4">
                    <c:v>0.2</c:v>
                  </c:pt>
                  <c:pt idx="5">
                    <c:v>0.5</c:v>
                  </c:pt>
                  <c:pt idx="6">
                    <c:v>1</c:v>
                  </c:pt>
                  <c:pt idx="7">
                    <c:v>2</c:v>
                  </c:pt>
                  <c:pt idx="8">
                    <c:v>5</c:v>
                  </c:pt>
                  <c:pt idx="9">
                    <c:v>10</c:v>
                  </c:pt>
                </c:lvl>
              </c:multiLvlStrCache>
            </c:multiLvlStrRef>
          </c:cat>
          <c:val>
            <c:numRef>
              <c:f>Sheet1!$B$2:$B$11</c:f>
              <c:numCache>
                <c:formatCode>General</c:formatCode>
                <c:ptCount val="10"/>
                <c:pt idx="0">
                  <c:v>1.405</c:v>
                </c:pt>
                <c:pt idx="1">
                  <c:v>1.405</c:v>
                </c:pt>
                <c:pt idx="2">
                  <c:v>1.405</c:v>
                </c:pt>
                <c:pt idx="3">
                  <c:v>1.405</c:v>
                </c:pt>
                <c:pt idx="4">
                  <c:v>1.405</c:v>
                </c:pt>
                <c:pt idx="5">
                  <c:v>1.405</c:v>
                </c:pt>
                <c:pt idx="6">
                  <c:v>1.405</c:v>
                </c:pt>
                <c:pt idx="7">
                  <c:v>1.405</c:v>
                </c:pt>
                <c:pt idx="8">
                  <c:v>1.405</c:v>
                </c:pt>
                <c:pt idx="9">
                  <c:v>1.405</c:v>
                </c:pt>
              </c:numCache>
            </c:numRef>
          </c:val>
          <c:smooth val="0"/>
        </c:ser>
        <c:ser>
          <c:idx val="1"/>
          <c:order val="1"/>
          <c:tx>
            <c:strRef>
              <c:f>Sheet1!$C$1</c:f>
              <c:strCache>
                <c:ptCount val="1"/>
                <c:pt idx="0">
                  <c:v>AdaSSP (published)</c:v>
                </c:pt>
              </c:strCache>
            </c:strRef>
          </c:tx>
          <c:spPr>
            <a:solidFill>
              <a:srgbClr val="1BAF7A"/>
            </a:solidFill>
            <a:ln w="25400"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1BAF7A"/>
              </a:solidFill>
              <a:ln w="9525" cap="flat">
                <a:solidFill>
                  <a:srgbClr val="1BAF7A"/>
                </a:solidFill>
                <a:prstDash val="solid"/>
                <a:round/>
              </a:ln>
              <a:effectLst/>
            </c:spPr>
          </c:marker>
          <c:errBars>
            <c:errDir val="y"/>
            <c:errBarType val="both"/>
            <c:errValType val="cust"/>
            <c:noEndCap val="0"/>
            <c:plus>
              <c:numLit>
                <c:formatCode>General</c:formatCode>
                <c:ptCount val="10"/>
                <c:pt idx="0">
                  <c:v>0.01459</c:v>
                </c:pt>
                <c:pt idx="1">
                  <c:v>0.01315</c:v>
                </c:pt>
                <c:pt idx="2">
                  <c:v>0.01237</c:v>
                </c:pt>
                <c:pt idx="3">
                  <c:v>0.01219</c:v>
                </c:pt>
                <c:pt idx="4">
                  <c:v>0.01343</c:v>
                </c:pt>
                <c:pt idx="5">
                  <c:v>0.01492</c:v>
                </c:pt>
                <c:pt idx="6">
                  <c:v>0.01543</c:v>
                </c:pt>
                <c:pt idx="7">
                  <c:v>0.01577</c:v>
                </c:pt>
                <c:pt idx="8">
                  <c:v>0.01583</c:v>
                </c:pt>
                <c:pt idx="9">
                  <c:v>0.01581</c:v>
                </c:pt>
              </c:numLit>
            </c:plus>
            <c:minus>
              <c:numLit>
                <c:formatCode>General</c:formatCode>
                <c:ptCount val="10"/>
                <c:pt idx="0">
                  <c:v>0.01459</c:v>
                </c:pt>
                <c:pt idx="1">
                  <c:v>0.01315</c:v>
                </c:pt>
                <c:pt idx="2">
                  <c:v>0.01237</c:v>
                </c:pt>
                <c:pt idx="3">
                  <c:v>0.01219</c:v>
                </c:pt>
                <c:pt idx="4">
                  <c:v>0.01343</c:v>
                </c:pt>
                <c:pt idx="5">
                  <c:v>0.01492</c:v>
                </c:pt>
                <c:pt idx="6">
                  <c:v>0.01543</c:v>
                </c:pt>
                <c:pt idx="7">
                  <c:v>0.01577</c:v>
                </c:pt>
                <c:pt idx="8">
                  <c:v>0.01583</c:v>
                </c:pt>
                <c:pt idx="9">
                  <c:v>0.01581</c:v>
                </c:pt>
              </c:numLit>
            </c:minus>
            <c:spPr>
              <a:ln w="12700">
                <a:solidFill>
                  <a:srgbClr val="1BAF7A"/>
                </a:solidFill>
              </a:ln>
            </c:spPr>
          </c:errBars>
          <c:cat>
            <c:multiLvlStrRef>
              <c:f>Sheet1!$A$2:$A$11</c:f>
              <c:multiLvlStrCache>
                <c:ptCount val="10"/>
                <c:lvl>
                  <c:pt idx="0">
                    <c:v>0.01</c:v>
                  </c:pt>
                  <c:pt idx="1">
                    <c:v>0.02</c:v>
                  </c:pt>
                  <c:pt idx="2">
                    <c:v>0.05</c:v>
                  </c:pt>
                  <c:pt idx="3">
                    <c:v>0.1</c:v>
                  </c:pt>
                  <c:pt idx="4">
                    <c:v>0.2</c:v>
                  </c:pt>
                  <c:pt idx="5">
                    <c:v>0.5</c:v>
                  </c:pt>
                  <c:pt idx="6">
                    <c:v>1</c:v>
                  </c:pt>
                  <c:pt idx="7">
                    <c:v>2</c:v>
                  </c:pt>
                  <c:pt idx="8">
                    <c:v>5</c:v>
                  </c:pt>
                  <c:pt idx="9">
                    <c:v>10</c:v>
                  </c:pt>
                </c:lvl>
              </c:multiLvlStrCache>
            </c:multiLvlStrRef>
          </c:cat>
          <c:val>
            <c:numRef>
              <c:f>Sheet1!$C$2:$C$11</c:f>
              <c:numCache>
                <c:formatCode>General</c:formatCode>
                <c:ptCount val="10"/>
                <c:pt idx="0">
                  <c:v>1.229</c:v>
                </c:pt>
                <c:pt idx="1">
                  <c:v>1.162</c:v>
                </c:pt>
                <c:pt idx="2">
                  <c:v>1.096</c:v>
                </c:pt>
                <c:pt idx="3">
                  <c:v>1.059</c:v>
                </c:pt>
                <c:pt idx="4">
                  <c:v>1.033</c:v>
                </c:pt>
                <c:pt idx="5">
                  <c:v>1.014</c:v>
                </c:pt>
                <c:pt idx="6">
                  <c:v>1.007</c:v>
                </c:pt>
                <c:pt idx="7">
                  <c:v>1.004</c:v>
                </c:pt>
                <c:pt idx="8">
                  <c:v>1.001</c:v>
                </c:pt>
                <c:pt idx="9">
                  <c:v>1</c:v>
                </c:pt>
              </c:numCache>
            </c:numRef>
          </c:val>
          <c:smooth val="0"/>
        </c:ser>
        <c:ser>
          <c:idx val="2"/>
          <c:order val="2"/>
          <c:tx>
            <c:strRef>
              <c:f>Sheet1!$D$1</c:f>
              <c:strCache>
                <c:ptCount val="1"/>
                <c:pt idx="0">
                  <c:v>AdaSSP (matched)</c:v>
                </c:pt>
              </c:strCache>
            </c:strRef>
          </c:tx>
          <c:spPr>
            <a:solidFill>
              <a:srgbClr val="EDA100"/>
            </a:solidFill>
            <a:ln w="25400" cap="flat">
              <a:solidFill>
                <a:srgbClr val="EDA1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DA100"/>
              </a:solidFill>
              <a:ln w="9525" cap="flat">
                <a:solidFill>
                  <a:srgbClr val="EDA100"/>
                </a:solidFill>
                <a:prstDash val="solid"/>
                <a:round/>
              </a:ln>
              <a:effectLst/>
            </c:spPr>
          </c:marker>
          <c:errBars>
            <c:errDir val="y"/>
            <c:errBarType val="both"/>
            <c:errValType val="cust"/>
            <c:noEndCap val="0"/>
            <c:plus>
              <c:numLit>
                <c:formatCode>General</c:formatCode>
                <c:ptCount val="10"/>
                <c:pt idx="0">
                  <c:v>0.01602</c:v>
                </c:pt>
                <c:pt idx="1">
                  <c:v>0.01336</c:v>
                </c:pt>
                <c:pt idx="2">
                  <c:v>0.01164</c:v>
                </c:pt>
                <c:pt idx="3">
                  <c:v>0.01311</c:v>
                </c:pt>
                <c:pt idx="4">
                  <c:v>0.01255</c:v>
                </c:pt>
                <c:pt idx="5">
                  <c:v>0.01394</c:v>
                </c:pt>
                <c:pt idx="6">
                  <c:v>0.01491</c:v>
                </c:pt>
                <c:pt idx="7">
                  <c:v>0.01545</c:v>
                </c:pt>
                <c:pt idx="8">
                  <c:v>0.01580</c:v>
                </c:pt>
                <c:pt idx="9">
                  <c:v>0.01583</c:v>
                </c:pt>
              </c:numLit>
            </c:plus>
            <c:minus>
              <c:numLit>
                <c:formatCode>General</c:formatCode>
                <c:ptCount val="10"/>
                <c:pt idx="0">
                  <c:v>0.01602</c:v>
                </c:pt>
                <c:pt idx="1">
                  <c:v>0.01336</c:v>
                </c:pt>
                <c:pt idx="2">
                  <c:v>0.01164</c:v>
                </c:pt>
                <c:pt idx="3">
                  <c:v>0.01311</c:v>
                </c:pt>
                <c:pt idx="4">
                  <c:v>0.01255</c:v>
                </c:pt>
                <c:pt idx="5">
                  <c:v>0.01394</c:v>
                </c:pt>
                <c:pt idx="6">
                  <c:v>0.01491</c:v>
                </c:pt>
                <c:pt idx="7">
                  <c:v>0.01545</c:v>
                </c:pt>
                <c:pt idx="8">
                  <c:v>0.01580</c:v>
                </c:pt>
                <c:pt idx="9">
                  <c:v>0.01583</c:v>
                </c:pt>
              </c:numLit>
            </c:minus>
            <c:spPr>
              <a:ln w="12700">
                <a:solidFill>
                  <a:srgbClr val="EDA100"/>
                </a:solidFill>
              </a:ln>
            </c:spPr>
          </c:errBars>
          <c:cat>
            <c:multiLvlStrRef>
              <c:f>Sheet1!$A$2:$A$11</c:f>
              <c:multiLvlStrCache>
                <c:ptCount val="10"/>
                <c:lvl>
                  <c:pt idx="0">
                    <c:v>0.01</c:v>
                  </c:pt>
                  <c:pt idx="1">
                    <c:v>0.02</c:v>
                  </c:pt>
                  <c:pt idx="2">
                    <c:v>0.05</c:v>
                  </c:pt>
                  <c:pt idx="3">
                    <c:v>0.1</c:v>
                  </c:pt>
                  <c:pt idx="4">
                    <c:v>0.2</c:v>
                  </c:pt>
                  <c:pt idx="5">
                    <c:v>0.5</c:v>
                  </c:pt>
                  <c:pt idx="6">
                    <c:v>1</c:v>
                  </c:pt>
                  <c:pt idx="7">
                    <c:v>2</c:v>
                  </c:pt>
                  <c:pt idx="8">
                    <c:v>5</c:v>
                  </c:pt>
                  <c:pt idx="9">
                    <c:v>10</c:v>
                  </c:pt>
                </c:lvl>
              </c:multiLvlStrCache>
            </c:multiLvlStrRef>
          </c:cat>
          <c:val>
            <c:numRef>
              <c:f>Sheet1!$D$2:$D$11</c:f>
              <c:numCache>
                <c:formatCode>General</c:formatCode>
                <c:ptCount val="10"/>
                <c:pt idx="0">
                  <c:v>1.252</c:v>
                </c:pt>
                <c:pt idx="1">
                  <c:v>1.189</c:v>
                </c:pt>
                <c:pt idx="2">
                  <c:v>1.116</c:v>
                </c:pt>
                <c:pt idx="3">
                  <c:v>1.078</c:v>
                </c:pt>
                <c:pt idx="4">
                  <c:v>1.048</c:v>
                </c:pt>
                <c:pt idx="5">
                  <c:v>1.023</c:v>
                </c:pt>
                <c:pt idx="6">
                  <c:v>1.012</c:v>
                </c:pt>
                <c:pt idx="7">
                  <c:v>1.007</c:v>
                </c:pt>
                <c:pt idx="8">
                  <c:v>1.002</c:v>
                </c:pt>
                <c:pt idx="9">
                  <c:v>1.001</c:v>
                </c:pt>
              </c:numCache>
            </c:numRef>
          </c:val>
          <c:smooth val="0"/>
        </c:ser>
        <c:ser>
          <c:idx val="3"/>
          <c:order val="3"/>
          <c:tx>
            <c:strRef>
              <c:f>Sheet1!$E$1</c:f>
              <c:strCache>
                <c:ptCount val="1"/>
                <c:pt idx="0">
                  <c:v>VFL, ours</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2A78D6"/>
              </a:solidFill>
              <a:ln w="9525" cap="flat">
                <a:solidFill>
                  <a:srgbClr val="2A78D6"/>
                </a:solidFill>
                <a:prstDash val="solid"/>
                <a:round/>
              </a:ln>
              <a:effectLst/>
            </c:spPr>
          </c:marker>
          <c:errBars>
            <c:errDir val="y"/>
            <c:errBarType val="both"/>
            <c:errValType val="cust"/>
            <c:noEndCap val="0"/>
            <c:plus>
              <c:numLit>
                <c:formatCode>General</c:formatCode>
                <c:ptCount val="10"/>
                <c:pt idx="0">
                  <c:v>0.01208</c:v>
                </c:pt>
                <c:pt idx="1">
                  <c:v>0.01354</c:v>
                </c:pt>
                <c:pt idx="2">
                  <c:v>0.01271</c:v>
                </c:pt>
                <c:pt idx="3">
                  <c:v>0.01274</c:v>
                </c:pt>
                <c:pt idx="4">
                  <c:v>0.01328</c:v>
                </c:pt>
                <c:pt idx="5">
                  <c:v>0.01419</c:v>
                </c:pt>
                <c:pt idx="6">
                  <c:v>0.01512</c:v>
                </c:pt>
                <c:pt idx="7">
                  <c:v>0.01559</c:v>
                </c:pt>
                <c:pt idx="8">
                  <c:v>0.01577</c:v>
                </c:pt>
                <c:pt idx="9">
                  <c:v>0.01582</c:v>
                </c:pt>
              </c:numLit>
            </c:plus>
            <c:minus>
              <c:numLit>
                <c:formatCode>General</c:formatCode>
                <c:ptCount val="10"/>
                <c:pt idx="0">
                  <c:v>0.01208</c:v>
                </c:pt>
                <c:pt idx="1">
                  <c:v>0.01354</c:v>
                </c:pt>
                <c:pt idx="2">
                  <c:v>0.01271</c:v>
                </c:pt>
                <c:pt idx="3">
                  <c:v>0.01274</c:v>
                </c:pt>
                <c:pt idx="4">
                  <c:v>0.01328</c:v>
                </c:pt>
                <c:pt idx="5">
                  <c:v>0.01419</c:v>
                </c:pt>
                <c:pt idx="6">
                  <c:v>0.01512</c:v>
                </c:pt>
                <c:pt idx="7">
                  <c:v>0.01559</c:v>
                </c:pt>
                <c:pt idx="8">
                  <c:v>0.01577</c:v>
                </c:pt>
                <c:pt idx="9">
                  <c:v>0.01582</c:v>
                </c:pt>
              </c:numLit>
            </c:minus>
            <c:spPr>
              <a:ln w="12700">
                <a:solidFill>
                  <a:srgbClr val="2A78D6"/>
                </a:solidFill>
              </a:ln>
            </c:spPr>
          </c:errBars>
          <c:cat>
            <c:multiLvlStrRef>
              <c:f>Sheet1!$A$2:$A$11</c:f>
              <c:multiLvlStrCache>
                <c:ptCount val="10"/>
                <c:lvl>
                  <c:pt idx="0">
                    <c:v>0.01</c:v>
                  </c:pt>
                  <c:pt idx="1">
                    <c:v>0.02</c:v>
                  </c:pt>
                  <c:pt idx="2">
                    <c:v>0.05</c:v>
                  </c:pt>
                  <c:pt idx="3">
                    <c:v>0.1</c:v>
                  </c:pt>
                  <c:pt idx="4">
                    <c:v>0.2</c:v>
                  </c:pt>
                  <c:pt idx="5">
                    <c:v>0.5</c:v>
                  </c:pt>
                  <c:pt idx="6">
                    <c:v>1</c:v>
                  </c:pt>
                  <c:pt idx="7">
                    <c:v>2</c:v>
                  </c:pt>
                  <c:pt idx="8">
                    <c:v>5</c:v>
                  </c:pt>
                  <c:pt idx="9">
                    <c:v>10</c:v>
                  </c:pt>
                </c:lvl>
              </c:multiLvlStrCache>
            </c:multiLvlStrRef>
          </c:cat>
          <c:val>
            <c:numRef>
              <c:f>Sheet1!$E$2:$E$11</c:f>
              <c:numCache>
                <c:formatCode>General</c:formatCode>
                <c:ptCount val="10"/>
                <c:pt idx="0">
                  <c:v>1.229</c:v>
                </c:pt>
                <c:pt idx="1">
                  <c:v>1.171</c:v>
                </c:pt>
                <c:pt idx="2">
                  <c:v>1.11</c:v>
                </c:pt>
                <c:pt idx="3">
                  <c:v>1.073</c:v>
                </c:pt>
                <c:pt idx="4">
                  <c:v>1.044</c:v>
                </c:pt>
                <c:pt idx="5">
                  <c:v>1.021</c:v>
                </c:pt>
                <c:pt idx="6">
                  <c:v>1.011</c:v>
                </c:pt>
                <c:pt idx="7">
                  <c:v>1.006</c:v>
                </c:pt>
                <c:pt idx="8">
                  <c:v>1.002</c:v>
                </c:pt>
                <c:pt idx="9">
                  <c:v>1.001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B6576"/>
                    </a:solidFill>
                    <a:latin typeface="Arial"/>
                  </a:defRPr>
                </a:pPr>
                <a:r>
                  <a:rPr sz="1000" b="0" i="0" u="none" strike="noStrike">
                    <a:solidFill>
                      <a:srgbClr val="5B6576"/>
                    </a:solidFill>
                    <a:latin typeface="Arial"/>
                  </a:rPr>
                  <a:t>ε</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576"/>
                </a:solidFill>
                <a:latin typeface="Arial"/>
              </a:defRPr>
            </a:pPr>
            <a:endParaRPr lang="en-US"/>
          </a:p>
        </c:txPr>
        <c:crossAx val="2094734552"/>
        <c:crosses val="autoZero"/>
        <c:auto val="1"/>
        <c:lblAlgn val="ctr"/>
        <c:noMultiLvlLbl val="1"/>
      </c:catAx>
      <c:valAx>
        <c:axId val="2094734552"/>
        <c:scaling>
          <c:orientation val="minMax"/>
          <c:min val="1"/>
        </c:scaling>
        <c:delete val="0"/>
        <c:axPos val="l"/>
        <c:majorGridlines>
          <c:spPr>
            <a:ln w="6350" cap="flat">
              <a:solidFill>
                <a:srgbClr val="E5E7E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57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Two-party linear regression between a researcher and a national statistical agency, where the agency holds the outcome. We cover the problem, what we found when reviewing the draft protocol, the first revision (v2) and its evaluation, and the second revision (v3.1) with its proofs.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motivation, data layout, goal and privacy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motivating setting: a researcher cohort and an agency register cover overlapping people but different variables. Today, linking them takes weeks of vetting in an RDC.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Rows are people, columns are variables. The two tables overlap only on the matched individuals; the register is far larger than the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Gram matrix splits into blocks. A is the researcher's own; B and c_O are the organization's data restricted to matched rows; C and c_R are genuinely cross-party.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Threat model: semi-honest. Three guarantees: cryptographic input privacy, linkage privacy for the organization, and differential privacy on what the researcher receives. The guarantee is computational (SIM-CDP), and it holds only if R follows the protocol: a malicious R could skip clipping. v3.1 splits the decryption key between R and 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Central DP regression assumes a pooled table; VFL-with-HE work usually lacks output privacy; PSI gives linkage only. We combine private linkage, encrypted aggregation and DP.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The sequence of work: review, running the implementation, adversarial privacy reviews, the first redesign (v2), simulations, the AdaSSP benchmark, a journal-style referee review of the paper, and the second redesign (v3.1) with its proofs.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finding. The DP argument reasoned about the decrypted value, but R holds the key and sees the whole ciphertext. With plaintext-scalar noise, the c1 component is independent of the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Findings across the code review, three privacy reviews and an independent critique. The v2 column is the first revision; the referee review of the paper found three of those fixes incomplete (grey): the fresh-encryption argument does not hold against a key-holding R, the ledger charged the flooding cost once per run instead of per reply, and the public lower bound ℓ behind the fixed λ cannot be committed in practice. The v3.1 column is the second revision, covered in Part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contributions: the corrected data flow, the protocol (now v3.1), its proofs, and the evaluation. The finite-noise bias expansion is still in the paper, but the referee judged it modest and the correction is now optional, so it is no longer listed as a headline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how the first revision (v2) works. Every result in Part 4 uses its release mechanism. Part 5 covers what the second revision (v3.1)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phases. The figure on the right is the full message flow with the risks each step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0 exchanges only committed public constants. Phase 1 is labeled PSI in the Chen–Laine–Rindal style, hardened with a secret permutation, public padding and flooded replies.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O-dependent blocks are depth-one inner products. The DP noise is a single value per released entry, replicated across slots, added by fresh encryption and then sanitized.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draft's sensitivity bound was for add/remove adjacency; our adjacency is replace-one, which needs up to twice the Δ. The proofs show the closed form is exact for d_O ≥ 2. yᵀy is free whenever B_y² ≤ 2(B_R² + B_O²), which covers every row here, and never free when B_y² &gt; 3(B_R² + B_O²); the referee's counterexample (1, 1, 5) gives Δ = 26.07 with yᵀy against 14.14 without. So yᵀy is released only where it is free, otherwise under its own budget. The ledger makes re-runs compose under an explicit cap; the v2 ledger under-counted the error channel, which v3.1 removes by flooding statistically and charging only 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sanitization steps in v2. The CKKS flooding was sized as a DP mechanism in the style of Li, Micciancio, Schultz and Sorrell, so it would cost a small ledger entry instead of 40 bits of precision. The referee found three problems: the rotations, rescaling and modulus switch all depend on the data-dependent c1, so S_err is of the order of the whole error; R, who holds the key, learns a noisy hint on the fresh-encryption randomness, which needs a Hint-RLWE-type assumption; and the ledger charged the error channel once instead of once per reply. v3.1 instead splits the key and floods the whole error statistically (2^-40) inside O's decryption share. The proofs bound the worst-case error at about 2^25.3 for the circuit as specified, which needs a CKKS scale of about 2^61.5 (the v3.1 spec had assumed 2^52.5); restructuring the circuit brings this to 2^57.2, and having R encode at 2^60 brings it to 2^53.7.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fixes the ridge from public inputs, decrypts, splices in its exact block, solves, and applies the second-order bias correction. The theorem is stated conditionally because the unconditional mean does not exist. The referee pointed out that ℓ must lower-bound the smallest eigenvalue of the joint Gram, which depends on cross-covariances neither party knows, so the feasible choice is ℓ = 0, under which the ridge never switches off. v3.1 spends a small budget share on a stage-1 release and chooses (λ, Ψ) from it and from A only; the proofs show this choice is independent of the stage-2 noise, so the conditional analysis still applies. The bias correction is optional in v3.1 and off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Simulations use a known population so the true beta, public constants and committed bounds are all data-independent. The benchmark uses Wang's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results. All of them use the v2 release mechanism; v3.1 changes the ridge rule and the inference, and its runs are still to come. Slides marked as placeholders are still to be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Correctness of linkage and aggregation: exact alignment, and 1e-10 agreement with the plaintext answer when the noise is off. That answer is the clipped-data ridge target at the λ the run chose (10^-3, the old solver's floor), not plain OLS; the two differ by up to 1e-4 because of that floor. All error comes from the DP noise and the ridge it forces. These runs used the draft protocol. The table is a placeholder: v3.1's release (split key, noise in O's decryption share) is not yet implemented in OpenFHE, and the proofs show its CKKS scale must be about 2^61.5, or 2^53.7 with the improved circuit.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Median RMSE over 200 runs, with the 2.5–97.5% band across runs and the non-private OLS floor. R-squared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behind the figure. A stronger signal lowers the OLS floor much more than it raises the DP error (which grows only through the norm of beta), so the ratio is largest at high R-squared.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Per-coefficient view. Raw RMSE is meaningless across coefficients because of units; the efficiency ratio compares each coefficient against its own sampling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the reviewer: not as a bias correction; the removed bias is tiny. The variance reduction is mostly extra shrinkage of the noise, which helps against the ridge target but hurts slightly against OLS or the true beta. On real data it is worse than no correction on 19 of 29 datasets at eps = 1 (slide on AdaSSP across privacy levels). So v3.1 keeps it as optional post-processing, off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sigma is large, the ridge's shrinkage dominates. Under v2, intervals were reliable only when the ridge was off; with the feasible ℓ = 0 the ridge never switches off and Wald coverage against the true beta is 42–81% even at n = 128k. At large n clipping to the committed bounds also moves the target. v3.1 targets the ridge coefficient θ_λ with a Wald interval whose variance comes from a parametric bootstrap, plus a bias-aware interval for β (Armstrong, Kolesár and Kwon). In the proofs' simulations (2000 replications per scenario) the Wald intervals cover 0.944–0.962 against a target of 0.955 with the ridge on; the β intervals over-cover and are uninformative without a public bound on the norm of beta in two of three ridge scenarios. Coverage is proven to first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reports/adassp/results.csv. Our protocol beats the matched AdaSSP on every dataset here and is within a few percent of published AdaSSP at large n; published AdaSSP is ahead on the small datasets at eps = 1. Our AdaSSP re-implementation reproduces Wang's published MSE (median ratio 1.000 over 29 datasets and 10 values of eps). The earlier caveat that Wang's constants might overstate AdaSSP's advantage ran the wrong way: in Gaussian DP, which is exact for composed Gaussian mechanisms, published AdaSSP at nominal (1, 1e-6) is mu = 0.198, i.e. (0.82, 1e-6)-DP under whole-record replace-one, while our release is mu = 0.237, exactly (1.00, 1e-6), under O-side replace-one. Its per-entry noise (11.85 vs our 13.36) is lower because Gaussian composition is tighter than Wang's basic composition, and because our sensitivity uses separate block bounds (Delta^2 = 10) where the data satisfy a joint row bound (Delta^2 =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charts from reports/adassp/results.csv; paired verdicts from reports/adassp/all/compare.csv (all 29 datasets of Wang's published run, R = 50 draws per fold; a verdict needs the 95% CI of the paired fold difference to exclude 0). Two caveats from the referee, both re-checked on our results: at eps = 0.1 our release is worse than predicting zero on 13 of 29 datasets (AdaSSP on 15; at eps = 0.01, 21 and 23), so the small-eps wins compare estimators that are mostly no better than zero. And the matched AdaSSP spends eps/3 on lambda_min by basic composition: its total is mu = 0.178 of the 0.237 available, and its noise is 1.49x ours, whereas a Gaussian-DP-optimal split (10% of mu^2 on lambda_min) would cost only about 5% extra noise. The bias correction changes test MSE by -3.7% to +2.3% across all eps: it helps at small eps and slightly hurts at large eps. Paired fold t-tests are anti-conservative because training folds overlap, and there is no multiplicity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Real-data analogue of Figure A. From reports/adassp/sweep (experiments/adassp/sweep_n.py): bike, elevators, pol and protein, the four of Wang's datasets with at least 15k rows and a real linear signal (kin40k has none: non-private is no better than predicting zero). For each fold, the training folds are shuffled once and the first n rows are the matched set; the held-out fold is the test set. Crossings are log-linear interpolations of the mean curve; '&gt;15k' means never within 10% at the sizes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calibration chain, from experiments/calibration_heuristic.py (reports/calibration/heuristic.md). The privacy budget is the only real decision; the rest follows from public, committed constants. The zCDP route is needed when several releases share one budget; for a single release the analytic Gaussian gives a 13-36% smaller sigma at delta = 1e-6. The zCDP-to-(eps, delta) conversion shown here is the simple one; v3.1 uses the tighter Canonne-Kamath-Steinke conversion. The Delta formula is the exact supremum in the usual regime (proven for d_O &gt;= 2); yT y adds nothing when B_y^2 &lt;= 2(B_R^2 + B_O^2). The lambda rule is v2's: since a public l is rarely available, v3.1 chooses lambda from a small stage-1 release instead, so the ridge-off sizes here are a v2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targets come from the real-data sweep (reports/adassp/sweep), coefficient targets from the Monte Carlo (reports/coef_accuracy). The first-order calculator is coef_ratio / pred_ratio in experiments/calibration_heuristic.py; it needs the design's second moments, the coefficients and the residual variance from public reference data or a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Multipliers from the s(eps, delta) table and the worked example in reports/calibration/heuristic.md. 'Bounds 2x closer' means the bounds were loose relative to the data, so tightening them adds no clipping; Delta is homogeneous of degree 2 in the bounds. Five releases: the sqrt(5) budget split times the looser zCDP conversion. Split bound: each party clips to half of a unit row bound, which needs no interaction; Delta^2 drops from 10 to 4.125 (B_y = 1), so sigma falls by 1.56x. The record multipliers assume the extra per-party clipping is negligible. The worked example prints Delta = 86.2; with the rounded bounds shown the exact value is 86.15.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a journal-style referee review of the paper, what we verified, the second revision (v3.1), and its proofs appendix (47 pages: cryptographic and DP guarantees, then sensitivity and statistical guarantees).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referee (asked to review as for a top statistics journal) recommended reject and resubmit. We accepted every major comment and re-checked the numerical ones: the yT y counterexamples (Delta = 26.07 vs 14.14 at bounds (1, 1, 5)), the Gaussian-DP comparison with published AdaSSP (mu = 0.198 vs our 0.237), the 42–81% coverage under l = 0 from our own report, the matched baseline's unused budget, and the split-bound gain (Delta^2 = 4.125 vs 10). Comments 2 (malicious R) and 3 (implementation) are only partly answered: v3.1 is designed and proven for honest-but-curious parties, and it is not yet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changes from v2. The release in phase 4 is the core: O re-randomizes the packed result with fresh (u, e0, e1), adds an exact discrete-Gaussian η to its own decryption share, and sends only (c1', h_O). R adds c1' s_R and decodes. Because c0' never leaves O, R cannot recover c1' s_O, and η is wide enough to hide the whole error statistically, so R's view depends on the data only through the DP-noised statistic. Everything is analysed for honest-but-curious parties.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of every claim in the v3.1 specification. Part A: the encoding sensitivity, the smudging lemma with explicit constants, an explicit 8-term worst-case bound on the ciphertext error (checked against OpenFHE, which measured 2^14 to 2^15.7 where the bound gives about 2^21.9), the zCDP accounting with the Canonne–Kamath–Steinke conversion, output privacy as a full hybrid proof, input and cohort privacy by simulators, and correctness. Part B: the exact replace-one sensitivity (the triu and Frobenius suprema coincide), when yT y is free, the operator-norm radius used by the gate, the independence of the stage-1 ridge choice from stage 2, the bound on the norm of beta, coverage of both intervals (first order: the plug-in variance; asymptotic: normality of the sampling term), and the bootstrap correction of the residual sum of squares.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finding of the crypto proofs: flooding the whole ciphertext error in l2 at 2^-40 needs B_tot of about 2^25.3 for stage 2 of the example circuit, hence a CKKS scale of about 2^61.5. Two circuit changes help: evaluate EvalSum before the first rescale, use stochastic rounding and a single final rescale (2^57.2); and additionally have R encode at scale 2^60 (2^53.7). The deterministic, data-dependent parts of the error (such as the mask spill) are part of the query: the mechanism must be centred at the noiseless circuit output and use that function's sensitivity, which rises by a relative 2^-33; flooding them instead would need 67 to 71 bits. On the statistics side: state the estimand on the clipped data, truncate the bootstrap or use the closed-form alternative, fix the double use of alpha_U, make the radius statement one-sided, and say whether coverage is conditional on passing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and five next steps. The comparison with AdaSSP is now stated the right way round: published AdaSSP is mu = 0.198 Gaussian DP against our 0.237, so it is more private under a stronger adjacency and still ahead from eps of about 0.5. At very small eps both are often no better than predicting zero. Splitting one row bound between the parties cuts our sigma by 1.56x and should narrow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slideLayout" Target="../slideLayouts/slideLayout1.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7086600" y="1417320"/>
            <a:ext cx="3017520" cy="3017520"/>
          </a:xfrm>
          <a:prstGeom prst="ellipse">
            <a:avLst/>
          </a:prstGeom>
          <a:solidFill>
            <a:srgbClr val="3D5A80">
              <a:alpha val="65000"/>
            </a:srgbClr>
          </a:solidFill>
          <a:ln w="19050">
            <a:solidFill>
              <a:srgbClr val="8FA6C4"/>
            </a:solidFill>
            <a:prstDash val="solid"/>
          </a:ln>
        </p:spPr>
      </p:sp>
      <p:sp>
        <p:nvSpPr>
          <p:cNvPr id="3" name="Shape 1"/>
          <p:cNvSpPr/>
          <p:nvPr/>
        </p:nvSpPr>
        <p:spPr>
          <a:xfrm>
            <a:off x="8549640" y="1417320"/>
            <a:ext cx="3017520" cy="3017520"/>
          </a:xfrm>
          <a:prstGeom prst="ellipse">
            <a:avLst/>
          </a:prstGeom>
          <a:solidFill>
            <a:srgbClr val="C45A0C">
              <a:alpha val="55000"/>
            </a:srgbClr>
          </a:solidFill>
          <a:ln w="19050">
            <a:solidFill>
              <a:srgbClr val="E7A77C"/>
            </a:solidFill>
            <a:prstDash val="solid"/>
          </a:ln>
        </p:spPr>
      </p:sp>
      <p:sp>
        <p:nvSpPr>
          <p:cNvPr id="4" name="Text 2"/>
          <p:cNvSpPr txBox="1"/>
          <p:nvPr/>
        </p:nvSpPr>
        <p:spPr>
          <a:xfrm>
            <a:off x="7406640" y="2606040"/>
            <a:ext cx="7315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a:t>
            </a:r>
            <a:endParaRPr lang="en-US" sz="3000" dirty="0"/>
          </a:p>
        </p:txBody>
      </p:sp>
      <p:sp>
        <p:nvSpPr>
          <p:cNvPr id="5" name="Text 3"/>
          <p:cNvSpPr txBox="1"/>
          <p:nvPr/>
        </p:nvSpPr>
        <p:spPr>
          <a:xfrm>
            <a:off x="10469880" y="2606040"/>
            <a:ext cx="73152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O</a:t>
            </a:r>
            <a:endParaRPr lang="en-US" sz="3000" dirty="0"/>
          </a:p>
        </p:txBody>
      </p:sp>
      <p:pic>
        <p:nvPicPr>
          <p:cNvPr id="6" name="Image 0" descr="preencoded.png">    </p:cNvPr>
          <p:cNvPicPr>
            <a:picLocks noChangeAspect="1"/>
          </p:cNvPicPr>
          <p:nvPr/>
        </p:nvPicPr>
        <p:blipFill>
          <a:blip r:embed="rId1"/>
          <a:stretch>
            <a:fillRect/>
          </a:stretch>
        </p:blipFill>
        <p:spPr>
          <a:xfrm>
            <a:off x="9281160" y="2697480"/>
            <a:ext cx="457200" cy="457200"/>
          </a:xfrm>
          <a:prstGeom prst="rect">
            <a:avLst/>
          </a:prstGeom>
        </p:spPr>
      </p:pic>
      <p:sp>
        <p:nvSpPr>
          <p:cNvPr id="7" name="Text 4"/>
          <p:cNvSpPr txBox="1"/>
          <p:nvPr/>
        </p:nvSpPr>
        <p:spPr>
          <a:xfrm>
            <a:off x="731520" y="1463040"/>
            <a:ext cx="6035040" cy="17373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Privacy-Preserving Vertical Federated Linear Regression</a:t>
            </a:r>
            <a:endParaRPr lang="en-US" sz="3800" dirty="0"/>
          </a:p>
        </p:txBody>
      </p:sp>
      <p:sp>
        <p:nvSpPr>
          <p:cNvPr id="8" name="Text 5"/>
          <p:cNvSpPr txBox="1"/>
          <p:nvPr/>
        </p:nvSpPr>
        <p:spPr>
          <a:xfrm>
            <a:off x="731520" y="3291840"/>
            <a:ext cx="6035040" cy="822960"/>
          </a:xfrm>
          <a:prstGeom prst="rect">
            <a:avLst/>
          </a:prstGeom>
          <a:noFill/>
          <a:ln/>
        </p:spPr>
        <p:txBody>
          <a:bodyPr wrap="square" lIns="0" tIns="0" rIns="0" bIns="0" rtlCol="0" anchor="t"/>
          <a:lstStyle/>
          <a:p>
            <a:pPr indent="0" marL="0">
              <a:buNone/>
            </a:pPr>
            <a:r>
              <a:rPr lang="en-US" sz="1800" dirty="0">
                <a:solidFill>
                  <a:srgbClr val="CAD5E6"/>
                </a:solidFill>
                <a:latin typeface="Calibri" pitchFamily="34" charset="0"/>
                <a:ea typeface="Calibri" pitchFamily="34" charset="-122"/>
                <a:cs typeface="Calibri" pitchFamily="34" charset="-120"/>
              </a:rPr>
              <a:t>When the organization holds the response: protocol, proofs and evaluation</a:t>
            </a:r>
            <a:endParaRPr lang="en-US" sz="1800" dirty="0"/>
          </a:p>
        </p:txBody>
      </p:sp>
      <p:sp>
        <p:nvSpPr>
          <p:cNvPr id="9" name="Text 6"/>
          <p:cNvSpPr txBox="1"/>
          <p:nvPr/>
        </p:nvSpPr>
        <p:spPr>
          <a:xfrm>
            <a:off x="731520" y="5760720"/>
            <a:ext cx="6400800" cy="365760"/>
          </a:xfrm>
          <a:prstGeom prst="rect">
            <a:avLst/>
          </a:prstGeom>
          <a:noFill/>
          <a:ln/>
        </p:spPr>
        <p:txBody>
          <a:bodyPr wrap="square" lIns="0" tIns="0" rIns="0" bIns="0" rtlCol="0" anchor="ctr"/>
          <a:lstStyle/>
          <a:p>
            <a:pPr indent="0" marL="0">
              <a:buNone/>
            </a:pPr>
            <a:r>
              <a:rPr lang="en-US" sz="1300" dirty="0">
                <a:solidFill>
                  <a:srgbClr val="8FA6C4"/>
                </a:solidFill>
                <a:latin typeface="Calibri" pitchFamily="34" charset="0"/>
                <a:ea typeface="Calibri" pitchFamily="34" charset="-122"/>
                <a:cs typeface="Calibri" pitchFamily="34" charset="-120"/>
              </a:rPr>
              <a:t>Working draft  ·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22960" y="2331720"/>
            <a:ext cx="1188720" cy="1188720"/>
          </a:xfrm>
          <a:prstGeom prst="ellipse">
            <a:avLst/>
          </a:prstGeom>
          <a:solidFill>
            <a:srgbClr val="C45A0C"/>
          </a:solidFill>
          <a:ln w="12700">
            <a:solidFill>
              <a:srgbClr val="C45A0C"/>
            </a:solidFill>
            <a:prstDash val="solid"/>
          </a:ln>
        </p:spPr>
      </p:sp>
      <p:sp>
        <p:nvSpPr>
          <p:cNvPr id="3" name="Text 1"/>
          <p:cNvSpPr txBox="1"/>
          <p:nvPr/>
        </p:nvSpPr>
        <p:spPr>
          <a:xfrm>
            <a:off x="822960" y="2331720"/>
            <a:ext cx="1188720" cy="118872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1</a:t>
            </a:r>
            <a:endParaRPr lang="en-US" sz="3600" dirty="0"/>
          </a:p>
        </p:txBody>
      </p:sp>
      <p:sp>
        <p:nvSpPr>
          <p:cNvPr id="4" name="Text 2"/>
          <p:cNvSpPr txBox="1"/>
          <p:nvPr/>
        </p:nvSpPr>
        <p:spPr>
          <a:xfrm>
            <a:off x="2377440" y="2240280"/>
            <a:ext cx="86868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problem</a:t>
            </a:r>
            <a:endParaRPr lang="en-US" sz="4000" dirty="0"/>
          </a:p>
        </p:txBody>
      </p:sp>
      <p:sp>
        <p:nvSpPr>
          <p:cNvPr id="5" name="Text 3"/>
          <p:cNvSpPr txBox="1"/>
          <p:nvPr/>
        </p:nvSpPr>
        <p:spPr>
          <a:xfrm>
            <a:off x="2377440" y="3063240"/>
            <a:ext cx="8686800" cy="548640"/>
          </a:xfrm>
          <a:prstGeom prst="rect">
            <a:avLst/>
          </a:prstGeom>
          <a:noFill/>
          <a:ln/>
        </p:spPr>
        <p:txBody>
          <a:bodyPr wrap="square" lIns="0" tIns="0" rIns="0" bIns="0" rtlCol="0" anchor="ctr"/>
          <a:lstStyle/>
          <a:p>
            <a:pPr indent="0" marL="0">
              <a:buNone/>
            </a:pPr>
            <a:r>
              <a:rPr lang="en-US" sz="1800" dirty="0">
                <a:solidFill>
                  <a:srgbClr val="CAD5E6"/>
                </a:solidFill>
                <a:latin typeface="Calibri" pitchFamily="34" charset="0"/>
                <a:ea typeface="Calibri" pitchFamily="34" charset="-122"/>
                <a:cs typeface="Calibri" pitchFamily="34" charset="-120"/>
              </a:rPr>
              <a:t>Joint regression across data that cannot be pooled</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Two datasets, one question, no pooling</a:t>
            </a:r>
            <a:endParaRPr lang="en-US" sz="3200" dirty="0"/>
          </a:p>
        </p:txBody>
      </p:sp>
      <p:sp>
        <p:nvSpPr>
          <p:cNvPr id="3" name="Shape 1"/>
          <p:cNvSpPr/>
          <p:nvPr/>
        </p:nvSpPr>
        <p:spPr>
          <a:xfrm>
            <a:off x="548640" y="1417320"/>
            <a:ext cx="5120640" cy="3246120"/>
          </a:xfrm>
          <a:prstGeom prst="roundRect">
            <a:avLst>
              <a:gd name="adj" fmla="val 2254"/>
            </a:avLst>
          </a:prstGeom>
          <a:solidFill>
            <a:srgbClr val="EEF2F7"/>
          </a:solidFill>
          <a:ln w="12700">
            <a:solidFill>
              <a:srgbClr val="EEF2F7"/>
            </a:solidFill>
            <a:prstDash val="solid"/>
          </a:ln>
        </p:spPr>
      </p:sp>
      <p:sp>
        <p:nvSpPr>
          <p:cNvPr id="4" name="Shape 2"/>
          <p:cNvSpPr/>
          <p:nvPr/>
        </p:nvSpPr>
        <p:spPr>
          <a:xfrm>
            <a:off x="822960" y="1691640"/>
            <a:ext cx="731520" cy="731520"/>
          </a:xfrm>
          <a:prstGeom prst="ellipse">
            <a:avLst/>
          </a:prstGeom>
          <a:solidFill>
            <a:srgbClr val="3D5A80"/>
          </a:solidFill>
          <a:ln w="12700">
            <a:solidFill>
              <a:srgbClr val="3D5A80"/>
            </a:solidFill>
            <a:prstDash val="solid"/>
          </a:ln>
        </p:spPr>
      </p:sp>
      <p:pic>
        <p:nvPicPr>
          <p:cNvPr id="5" name="Image 0" descr="preencoded.png">    </p:cNvPr>
          <p:cNvPicPr>
            <a:picLocks noChangeAspect="1"/>
          </p:cNvPicPr>
          <p:nvPr/>
        </p:nvPicPr>
        <p:blipFill>
          <a:blip r:embed="rId1"/>
          <a:stretch>
            <a:fillRect/>
          </a:stretch>
        </p:blipFill>
        <p:spPr>
          <a:xfrm>
            <a:off x="998525" y="1867205"/>
            <a:ext cx="380390" cy="380390"/>
          </a:xfrm>
          <a:prstGeom prst="rect">
            <a:avLst/>
          </a:prstGeom>
        </p:spPr>
      </p:pic>
      <p:sp>
        <p:nvSpPr>
          <p:cNvPr id="6" name="Text 3"/>
          <p:cNvSpPr txBox="1"/>
          <p:nvPr/>
        </p:nvSpPr>
        <p:spPr>
          <a:xfrm>
            <a:off x="1737360" y="1783080"/>
            <a:ext cx="3657600" cy="457200"/>
          </a:xfrm>
          <a:prstGeom prst="rect">
            <a:avLst/>
          </a:prstGeom>
          <a:noFill/>
          <a:ln/>
        </p:spPr>
        <p:txBody>
          <a:bodyPr wrap="square" lIns="0" tIns="0" rIns="0" bIns="0" rtlCol="0" anchor="t"/>
          <a:lstStyle/>
          <a:p>
            <a:pPr indent="0" marL="0">
              <a:buNone/>
            </a:pPr>
            <a:r>
              <a:rPr lang="en-US" sz="2200" b="1" dirty="0">
                <a:solidFill>
                  <a:srgbClr val="14213D"/>
                </a:solidFill>
                <a:latin typeface="Cambria" pitchFamily="34" charset="0"/>
                <a:ea typeface="Cambria" pitchFamily="34" charset="-122"/>
                <a:cs typeface="Cambria" pitchFamily="34" charset="-120"/>
              </a:rPr>
              <a:t>Researcher  R</a:t>
            </a:r>
            <a:endParaRPr lang="en-US" sz="2200" dirty="0"/>
          </a:p>
        </p:txBody>
      </p:sp>
      <p:sp>
        <p:nvSpPr>
          <p:cNvPr id="7" name="Text 4"/>
          <p:cNvSpPr txBox="1"/>
          <p:nvPr/>
        </p:nvSpPr>
        <p:spPr>
          <a:xfrm>
            <a:off x="868680" y="2606040"/>
            <a:ext cx="457200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Smaller cohort with rich domain variables: health, education, surveys</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Wants to know whether these predict an administrative outcome</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Holds features X</a:t>
            </a:r>
            <a:r>
              <a:rPr lang="en-US" sz="1500" baseline="-25000" dirty="0">
                <a:solidFill>
                  <a:srgbClr val="1F2937"/>
                </a:solidFill>
                <a:latin typeface="Calibri" pitchFamily="34" charset="0"/>
                <a:ea typeface="Calibri" pitchFamily="34" charset="-122"/>
                <a:cs typeface="Calibri" pitchFamily="34" charset="-120"/>
              </a:rPr>
              <a:t>R</a:t>
            </a:r>
            <a:r>
              <a:rPr lang="en-US" sz="1500" dirty="0">
                <a:solidFill>
                  <a:srgbClr val="1F2937"/>
                </a:solidFill>
                <a:latin typeface="Calibri" pitchFamily="34" charset="0"/>
                <a:ea typeface="Calibri" pitchFamily="34" charset="-122"/>
                <a:cs typeface="Calibri" pitchFamily="34" charset="-120"/>
              </a:rPr>
              <a:t> and identifiers</a:t>
            </a:r>
            <a:endParaRPr lang="en-US" sz="1500" dirty="0"/>
          </a:p>
        </p:txBody>
      </p:sp>
      <p:sp>
        <p:nvSpPr>
          <p:cNvPr id="8" name="Shape 5"/>
          <p:cNvSpPr/>
          <p:nvPr/>
        </p:nvSpPr>
        <p:spPr>
          <a:xfrm>
            <a:off x="6035040" y="1417320"/>
            <a:ext cx="5577840" cy="3246120"/>
          </a:xfrm>
          <a:prstGeom prst="roundRect">
            <a:avLst>
              <a:gd name="adj" fmla="val 2254"/>
            </a:avLst>
          </a:prstGeom>
          <a:solidFill>
            <a:srgbClr val="EEF2F7"/>
          </a:solidFill>
          <a:ln w="12700">
            <a:solidFill>
              <a:srgbClr val="EEF2F7"/>
            </a:solidFill>
            <a:prstDash val="solid"/>
          </a:ln>
        </p:spPr>
      </p:sp>
      <p:sp>
        <p:nvSpPr>
          <p:cNvPr id="9" name="Shape 6"/>
          <p:cNvSpPr/>
          <p:nvPr/>
        </p:nvSpPr>
        <p:spPr>
          <a:xfrm>
            <a:off x="6309360" y="1691640"/>
            <a:ext cx="731520" cy="731520"/>
          </a:xfrm>
          <a:prstGeom prst="ellipse">
            <a:avLst/>
          </a:prstGeom>
          <a:solidFill>
            <a:srgbClr val="C45A0C"/>
          </a:solidFill>
          <a:ln w="12700">
            <a:solidFill>
              <a:srgbClr val="C45A0C"/>
            </a:solidFill>
            <a:prstDash val="solid"/>
          </a:ln>
        </p:spPr>
      </p:sp>
      <p:pic>
        <p:nvPicPr>
          <p:cNvPr id="10" name="Image 1" descr="preencoded.png">    </p:cNvPr>
          <p:cNvPicPr>
            <a:picLocks noChangeAspect="1"/>
          </p:cNvPicPr>
          <p:nvPr/>
        </p:nvPicPr>
        <p:blipFill>
          <a:blip r:embed="rId2"/>
          <a:stretch>
            <a:fillRect/>
          </a:stretch>
        </p:blipFill>
        <p:spPr>
          <a:xfrm>
            <a:off x="6484925" y="1867205"/>
            <a:ext cx="380390" cy="380390"/>
          </a:xfrm>
          <a:prstGeom prst="rect">
            <a:avLst/>
          </a:prstGeom>
        </p:spPr>
      </p:pic>
      <p:sp>
        <p:nvSpPr>
          <p:cNvPr id="11" name="Text 7"/>
          <p:cNvSpPr txBox="1"/>
          <p:nvPr/>
        </p:nvSpPr>
        <p:spPr>
          <a:xfrm>
            <a:off x="7223760" y="1783080"/>
            <a:ext cx="4297680" cy="457200"/>
          </a:xfrm>
          <a:prstGeom prst="rect">
            <a:avLst/>
          </a:prstGeom>
          <a:noFill/>
          <a:ln/>
        </p:spPr>
        <p:txBody>
          <a:bodyPr wrap="square" lIns="0" tIns="0" rIns="0" bIns="0" rtlCol="0" anchor="t"/>
          <a:lstStyle/>
          <a:p>
            <a:pPr indent="0" marL="0">
              <a:buNone/>
            </a:pPr>
            <a:r>
              <a:rPr lang="en-US" sz="2200" b="1" dirty="0">
                <a:solidFill>
                  <a:srgbClr val="14213D"/>
                </a:solidFill>
                <a:latin typeface="Cambria" pitchFamily="34" charset="0"/>
                <a:ea typeface="Cambria" pitchFamily="34" charset="-122"/>
                <a:cs typeface="Cambria" pitchFamily="34" charset="-120"/>
              </a:rPr>
              <a:t>Organization  O  (e.g. StatCan)</a:t>
            </a:r>
            <a:endParaRPr lang="en-US" sz="2200" dirty="0"/>
          </a:p>
        </p:txBody>
      </p:sp>
      <p:sp>
        <p:nvSpPr>
          <p:cNvPr id="12" name="Text 8"/>
          <p:cNvSpPr txBox="1"/>
          <p:nvPr/>
        </p:nvSpPr>
        <p:spPr>
          <a:xfrm>
            <a:off x="6355080" y="2606040"/>
            <a:ext cx="502920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Population register: tax filings, income, benefits</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Holds the outcome y and features X</a:t>
            </a:r>
            <a:r>
              <a:rPr lang="en-US" sz="1500" baseline="-25000" dirty="0">
                <a:solidFill>
                  <a:srgbClr val="1F2937"/>
                </a:solidFill>
                <a:latin typeface="Calibri" pitchFamily="34" charset="0"/>
                <a:ea typeface="Calibri" pitchFamily="34" charset="-122"/>
                <a:cs typeface="Calibri" pitchFamily="34" charset="-120"/>
              </a:rPr>
              <a:t>O</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Cannot release records; law and governance bar direct sharing</a:t>
            </a:r>
            <a:endParaRPr lang="en-US" sz="1500" dirty="0"/>
          </a:p>
        </p:txBody>
      </p:sp>
      <p:sp>
        <p:nvSpPr>
          <p:cNvPr id="13" name="Text 9"/>
          <p:cNvSpPr txBox="1"/>
          <p:nvPr/>
        </p:nvSpPr>
        <p:spPr>
          <a:xfrm>
            <a:off x="548640" y="4983480"/>
            <a:ext cx="3108960" cy="822960"/>
          </a:xfrm>
          <a:prstGeom prst="rect">
            <a:avLst/>
          </a:prstGeom>
          <a:noFill/>
          <a:ln/>
        </p:spPr>
        <p:txBody>
          <a:bodyPr wrap="square" lIns="0" tIns="0" rIns="0" bIns="0" rtlCol="0" anchor="t"/>
          <a:lstStyle/>
          <a:p>
            <a:pPr indent="0" marL="0">
              <a:buNone/>
            </a:pPr>
            <a:r>
              <a:rPr lang="en-US" sz="4400" b="1" dirty="0">
                <a:solidFill>
                  <a:srgbClr val="C45A0C"/>
                </a:solidFill>
                <a:latin typeface="Cambria" pitchFamily="34" charset="0"/>
                <a:ea typeface="Cambria" pitchFamily="34" charset="-122"/>
                <a:cs typeface="Cambria" pitchFamily="34" charset="-120"/>
              </a:rPr>
              <a:t>6–8 weeks</a:t>
            </a:r>
            <a:endParaRPr lang="en-US" sz="4400" dirty="0"/>
          </a:p>
        </p:txBody>
      </p:sp>
      <p:sp>
        <p:nvSpPr>
          <p:cNvPr id="14" name="Text 10"/>
          <p:cNvSpPr txBox="1"/>
          <p:nvPr/>
        </p:nvSpPr>
        <p:spPr>
          <a:xfrm>
            <a:off x="3657600" y="5074920"/>
            <a:ext cx="7955280" cy="822960"/>
          </a:xfrm>
          <a:prstGeom prst="rect">
            <a:avLst/>
          </a:prstGeom>
          <a:noFill/>
          <a:ln/>
        </p:spPr>
        <p:txBody>
          <a:bodyPr wrap="square" lIns="0" tIns="0" rIns="0" bIns="0" rtlCol="0" anchor="t"/>
          <a:lstStyle/>
          <a:p>
            <a:pPr indent="0" marL="0">
              <a:buNone/>
            </a:pPr>
            <a:r>
              <a:rPr lang="en-US" sz="1600" dirty="0">
                <a:solidFill>
                  <a:srgbClr val="5B6576"/>
                </a:solidFill>
                <a:latin typeface="Calibri" pitchFamily="34" charset="0"/>
                <a:ea typeface="Calibri" pitchFamily="34" charset="-122"/>
                <a:cs typeface="Calibri" pitchFamily="34" charset="-120"/>
              </a:rPr>
              <a:t>of vetting and approvals today before a researcher can link a cohort to agency records in a Research Data Centre. Neither dataset alone answers the question.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Same people, different variables</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Vertically partitioned data: overlapping rows, disjoint columns</a:t>
            </a:r>
            <a:endParaRPr lang="en-US" sz="1600" dirty="0"/>
          </a:p>
        </p:txBody>
      </p:sp>
      <p:sp>
        <p:nvSpPr>
          <p:cNvPr id="4" name="Text 2"/>
          <p:cNvSpPr txBox="1"/>
          <p:nvPr/>
        </p:nvSpPr>
        <p:spPr>
          <a:xfrm>
            <a:off x="731520" y="2240280"/>
            <a:ext cx="2926080" cy="320040"/>
          </a:xfrm>
          <a:prstGeom prst="rect">
            <a:avLst/>
          </a:prstGeom>
          <a:noFill/>
          <a:ln/>
        </p:spPr>
        <p:txBody>
          <a:bodyPr wrap="square" lIns="0" tIns="0" rIns="0" bIns="0" rtlCol="0" anchor="t"/>
          <a:lstStyle/>
          <a:p>
            <a:pPr indent="0" marL="0">
              <a:buNone/>
            </a:pPr>
            <a:r>
              <a:rPr lang="en-US" sz="1400" b="1" dirty="0">
                <a:solidFill>
                  <a:srgbClr val="3D5A80"/>
                </a:solidFill>
                <a:latin typeface="Calibri" pitchFamily="34" charset="0"/>
                <a:ea typeface="Calibri" pitchFamily="34" charset="-122"/>
                <a:cs typeface="Calibri" pitchFamily="34" charset="-120"/>
              </a:rPr>
              <a:t>R: cohort (n</a:t>
            </a:r>
            <a:r>
              <a:rPr lang="en-US" sz="1400" b="1" baseline="-25000" dirty="0">
                <a:solidFill>
                  <a:srgbClr val="3D5A80"/>
                </a:solidFill>
                <a:latin typeface="Calibri" pitchFamily="34" charset="0"/>
                <a:ea typeface="Calibri" pitchFamily="34" charset="-122"/>
                <a:cs typeface="Calibri" pitchFamily="34" charset="-120"/>
              </a:rPr>
              <a:t>R</a:t>
            </a:r>
            <a:r>
              <a:rPr lang="en-US" sz="1400" b="1" dirty="0">
                <a:solidFill>
                  <a:srgbClr val="3D5A80"/>
                </a:solidFill>
                <a:latin typeface="Calibri" pitchFamily="34" charset="0"/>
                <a:ea typeface="Calibri" pitchFamily="34" charset="-122"/>
                <a:cs typeface="Calibri" pitchFamily="34" charset="-120"/>
              </a:rPr>
              <a:t> rows)</a:t>
            </a:r>
            <a:endParaRPr lang="en-US" sz="1400" dirty="0"/>
          </a:p>
        </p:txBody>
      </p:sp>
      <p:sp>
        <p:nvSpPr>
          <p:cNvPr id="5" name="Shape 3"/>
          <p:cNvSpPr/>
          <p:nvPr/>
        </p:nvSpPr>
        <p:spPr>
          <a:xfrm>
            <a:off x="731520" y="2606040"/>
            <a:ext cx="2377440" cy="192024"/>
          </a:xfrm>
          <a:prstGeom prst="rect">
            <a:avLst/>
          </a:prstGeom>
          <a:solidFill>
            <a:srgbClr val="EEF2F7"/>
          </a:solidFill>
          <a:ln w="12700">
            <a:solidFill>
              <a:srgbClr val="FFFFFF"/>
            </a:solidFill>
            <a:prstDash val="solid"/>
          </a:ln>
        </p:spPr>
      </p:sp>
      <p:sp>
        <p:nvSpPr>
          <p:cNvPr id="6" name="Shape 4"/>
          <p:cNvSpPr/>
          <p:nvPr/>
        </p:nvSpPr>
        <p:spPr>
          <a:xfrm>
            <a:off x="731520" y="2834640"/>
            <a:ext cx="2377440" cy="192024"/>
          </a:xfrm>
          <a:prstGeom prst="rect">
            <a:avLst/>
          </a:prstGeom>
          <a:solidFill>
            <a:srgbClr val="EEF2F7"/>
          </a:solidFill>
          <a:ln w="12700">
            <a:solidFill>
              <a:srgbClr val="FFFFFF"/>
            </a:solidFill>
            <a:prstDash val="solid"/>
          </a:ln>
        </p:spPr>
      </p:sp>
      <p:sp>
        <p:nvSpPr>
          <p:cNvPr id="7" name="Shape 5"/>
          <p:cNvSpPr/>
          <p:nvPr/>
        </p:nvSpPr>
        <p:spPr>
          <a:xfrm>
            <a:off x="731520" y="3063240"/>
            <a:ext cx="2377440" cy="192024"/>
          </a:xfrm>
          <a:prstGeom prst="rect">
            <a:avLst/>
          </a:prstGeom>
          <a:solidFill>
            <a:srgbClr val="EEF2F7"/>
          </a:solidFill>
          <a:ln w="12700">
            <a:solidFill>
              <a:srgbClr val="FFFFFF"/>
            </a:solidFill>
            <a:prstDash val="solid"/>
          </a:ln>
        </p:spPr>
      </p:sp>
      <p:sp>
        <p:nvSpPr>
          <p:cNvPr id="8" name="Shape 6"/>
          <p:cNvSpPr/>
          <p:nvPr/>
        </p:nvSpPr>
        <p:spPr>
          <a:xfrm>
            <a:off x="731520" y="3291840"/>
            <a:ext cx="2377440" cy="192024"/>
          </a:xfrm>
          <a:prstGeom prst="rect">
            <a:avLst/>
          </a:prstGeom>
          <a:solidFill>
            <a:srgbClr val="D6E0EE"/>
          </a:solidFill>
          <a:ln w="12700">
            <a:solidFill>
              <a:srgbClr val="FFFFFF"/>
            </a:solidFill>
            <a:prstDash val="solid"/>
          </a:ln>
        </p:spPr>
      </p:sp>
      <p:sp>
        <p:nvSpPr>
          <p:cNvPr id="9" name="Shape 7"/>
          <p:cNvSpPr/>
          <p:nvPr/>
        </p:nvSpPr>
        <p:spPr>
          <a:xfrm>
            <a:off x="731520" y="3520440"/>
            <a:ext cx="2377440" cy="192024"/>
          </a:xfrm>
          <a:prstGeom prst="rect">
            <a:avLst/>
          </a:prstGeom>
          <a:solidFill>
            <a:srgbClr val="D6E0EE"/>
          </a:solidFill>
          <a:ln w="12700">
            <a:solidFill>
              <a:srgbClr val="FFFFFF"/>
            </a:solidFill>
            <a:prstDash val="solid"/>
          </a:ln>
        </p:spPr>
      </p:sp>
      <p:sp>
        <p:nvSpPr>
          <p:cNvPr id="10" name="Shape 8"/>
          <p:cNvSpPr/>
          <p:nvPr/>
        </p:nvSpPr>
        <p:spPr>
          <a:xfrm>
            <a:off x="731520" y="3749040"/>
            <a:ext cx="2377440" cy="192024"/>
          </a:xfrm>
          <a:prstGeom prst="rect">
            <a:avLst/>
          </a:prstGeom>
          <a:solidFill>
            <a:srgbClr val="D6E0EE"/>
          </a:solidFill>
          <a:ln w="12700">
            <a:solidFill>
              <a:srgbClr val="FFFFFF"/>
            </a:solidFill>
            <a:prstDash val="solid"/>
          </a:ln>
        </p:spPr>
      </p:sp>
      <p:sp>
        <p:nvSpPr>
          <p:cNvPr id="11" name="Shape 9"/>
          <p:cNvSpPr/>
          <p:nvPr/>
        </p:nvSpPr>
        <p:spPr>
          <a:xfrm>
            <a:off x="731520" y="3977640"/>
            <a:ext cx="2377440" cy="192024"/>
          </a:xfrm>
          <a:prstGeom prst="rect">
            <a:avLst/>
          </a:prstGeom>
          <a:solidFill>
            <a:srgbClr val="D6E0EE"/>
          </a:solidFill>
          <a:ln w="12700">
            <a:solidFill>
              <a:srgbClr val="FFFFFF"/>
            </a:solidFill>
            <a:prstDash val="solid"/>
          </a:ln>
        </p:spPr>
      </p:sp>
      <p:sp>
        <p:nvSpPr>
          <p:cNvPr id="12" name="Shape 10"/>
          <p:cNvSpPr/>
          <p:nvPr/>
        </p:nvSpPr>
        <p:spPr>
          <a:xfrm>
            <a:off x="731520" y="4206240"/>
            <a:ext cx="2377440" cy="192024"/>
          </a:xfrm>
          <a:prstGeom prst="rect">
            <a:avLst/>
          </a:prstGeom>
          <a:solidFill>
            <a:srgbClr val="D6E0EE"/>
          </a:solidFill>
          <a:ln w="12700">
            <a:solidFill>
              <a:srgbClr val="FFFFFF"/>
            </a:solidFill>
            <a:prstDash val="solid"/>
          </a:ln>
        </p:spPr>
      </p:sp>
      <p:sp>
        <p:nvSpPr>
          <p:cNvPr id="13" name="Shape 11"/>
          <p:cNvSpPr/>
          <p:nvPr/>
        </p:nvSpPr>
        <p:spPr>
          <a:xfrm>
            <a:off x="731520" y="4434840"/>
            <a:ext cx="2377440" cy="192024"/>
          </a:xfrm>
          <a:prstGeom prst="rect">
            <a:avLst/>
          </a:prstGeom>
          <a:solidFill>
            <a:srgbClr val="D6E0EE"/>
          </a:solidFill>
          <a:ln w="12700">
            <a:solidFill>
              <a:srgbClr val="FFFFFF"/>
            </a:solidFill>
            <a:prstDash val="solid"/>
          </a:ln>
        </p:spPr>
      </p:sp>
      <p:sp>
        <p:nvSpPr>
          <p:cNvPr id="14" name="Shape 12"/>
          <p:cNvSpPr/>
          <p:nvPr/>
        </p:nvSpPr>
        <p:spPr>
          <a:xfrm>
            <a:off x="731520" y="4663440"/>
            <a:ext cx="2377440" cy="192024"/>
          </a:xfrm>
          <a:prstGeom prst="rect">
            <a:avLst/>
          </a:prstGeom>
          <a:solidFill>
            <a:srgbClr val="D6E0EE"/>
          </a:solidFill>
          <a:ln w="12700">
            <a:solidFill>
              <a:srgbClr val="FFFFFF"/>
            </a:solidFill>
            <a:prstDash val="solid"/>
          </a:ln>
        </p:spPr>
      </p:sp>
      <p:sp>
        <p:nvSpPr>
          <p:cNvPr id="15" name="Shape 13"/>
          <p:cNvSpPr/>
          <p:nvPr/>
        </p:nvSpPr>
        <p:spPr>
          <a:xfrm>
            <a:off x="731520" y="4892040"/>
            <a:ext cx="2377440" cy="192024"/>
          </a:xfrm>
          <a:prstGeom prst="rect">
            <a:avLst/>
          </a:prstGeom>
          <a:solidFill>
            <a:srgbClr val="D6E0EE"/>
          </a:solidFill>
          <a:ln w="12700">
            <a:solidFill>
              <a:srgbClr val="FFFFFF"/>
            </a:solidFill>
            <a:prstDash val="solid"/>
          </a:ln>
        </p:spPr>
      </p:sp>
      <p:sp>
        <p:nvSpPr>
          <p:cNvPr id="16" name="Shape 14"/>
          <p:cNvSpPr/>
          <p:nvPr/>
        </p:nvSpPr>
        <p:spPr>
          <a:xfrm>
            <a:off x="731520" y="5120640"/>
            <a:ext cx="2377440" cy="192024"/>
          </a:xfrm>
          <a:prstGeom prst="rect">
            <a:avLst/>
          </a:prstGeom>
          <a:solidFill>
            <a:srgbClr val="EEF2F7"/>
          </a:solidFill>
          <a:ln w="12700">
            <a:solidFill>
              <a:srgbClr val="FFFFFF"/>
            </a:solidFill>
            <a:prstDash val="solid"/>
          </a:ln>
        </p:spPr>
      </p:sp>
      <p:sp>
        <p:nvSpPr>
          <p:cNvPr id="17" name="Text 15"/>
          <p:cNvSpPr txBox="1"/>
          <p:nvPr/>
        </p:nvSpPr>
        <p:spPr>
          <a:xfrm>
            <a:off x="731520" y="5394960"/>
            <a:ext cx="2377440" cy="320040"/>
          </a:xfrm>
          <a:prstGeom prst="rect">
            <a:avLst/>
          </a:prstGeom>
          <a:noFill/>
          <a:ln/>
        </p:spPr>
        <p:txBody>
          <a:bodyPr wrap="square" lIns="0" tIns="0" rIns="0" bIns="0" rtlCol="0" anchor="t"/>
          <a:lstStyle/>
          <a:p>
            <a:pPr algn="ctr" indent="0" marL="0">
              <a:buNone/>
            </a:pPr>
            <a:r>
              <a:rPr lang="en-US" sz="1400" b="1" dirty="0">
                <a:solidFill>
                  <a:srgbClr val="3D5A80"/>
                </a:solidFill>
                <a:latin typeface="Calibri" pitchFamily="34" charset="0"/>
                <a:ea typeface="Calibri" pitchFamily="34" charset="-122"/>
                <a:cs typeface="Calibri" pitchFamily="34" charset="-120"/>
              </a:rPr>
              <a:t>X</a:t>
            </a:r>
            <a:r>
              <a:rPr lang="en-US" sz="1400" b="1" baseline="-25000" dirty="0">
                <a:solidFill>
                  <a:srgbClr val="3D5A80"/>
                </a:solidFill>
                <a:latin typeface="Calibri" pitchFamily="34" charset="0"/>
                <a:ea typeface="Calibri" pitchFamily="34" charset="-122"/>
                <a:cs typeface="Calibri" pitchFamily="34" charset="-120"/>
              </a:rPr>
              <a:t>R</a:t>
            </a:r>
            <a:endParaRPr lang="en-US" sz="1400" dirty="0"/>
          </a:p>
        </p:txBody>
      </p:sp>
      <p:sp>
        <p:nvSpPr>
          <p:cNvPr id="18" name="Text 16"/>
          <p:cNvSpPr txBox="1"/>
          <p:nvPr/>
        </p:nvSpPr>
        <p:spPr>
          <a:xfrm>
            <a:off x="3931920" y="1554480"/>
            <a:ext cx="3840480" cy="320040"/>
          </a:xfrm>
          <a:prstGeom prst="rect">
            <a:avLst/>
          </a:prstGeom>
          <a:noFill/>
          <a:ln/>
        </p:spPr>
        <p:txBody>
          <a:bodyPr wrap="square" lIns="0" tIns="0" rIns="0" bIns="0" rtlCol="0" anchor="t"/>
          <a:lstStyle/>
          <a:p>
            <a:pPr indent="0" marL="0">
              <a:buNone/>
            </a:pPr>
            <a:r>
              <a:rPr lang="en-US" sz="1400" b="1" dirty="0">
                <a:solidFill>
                  <a:srgbClr val="C45A0C"/>
                </a:solidFill>
                <a:latin typeface="Calibri" pitchFamily="34" charset="0"/>
                <a:ea typeface="Calibri" pitchFamily="34" charset="-122"/>
                <a:cs typeface="Calibri" pitchFamily="34" charset="-120"/>
              </a:rPr>
              <a:t>O: register (n</a:t>
            </a:r>
            <a:r>
              <a:rPr lang="en-US" sz="1400" b="1" baseline="-25000" dirty="0">
                <a:solidFill>
                  <a:srgbClr val="C45A0C"/>
                </a:solidFill>
                <a:latin typeface="Calibri" pitchFamily="34" charset="0"/>
                <a:ea typeface="Calibri" pitchFamily="34" charset="-122"/>
                <a:cs typeface="Calibri" pitchFamily="34" charset="-120"/>
              </a:rPr>
              <a:t>O</a:t>
            </a:r>
            <a:r>
              <a:rPr lang="en-US" sz="1400" b="1" dirty="0">
                <a:solidFill>
                  <a:srgbClr val="C45A0C"/>
                </a:solidFill>
                <a:latin typeface="Calibri" pitchFamily="34" charset="0"/>
                <a:ea typeface="Calibri" pitchFamily="34" charset="-122"/>
                <a:cs typeface="Calibri" pitchFamily="34" charset="-120"/>
              </a:rPr>
              <a:t> rows, n</a:t>
            </a:r>
            <a:r>
              <a:rPr lang="en-US" sz="1400" b="1" baseline="-25000" dirty="0">
                <a:solidFill>
                  <a:srgbClr val="C45A0C"/>
                </a:solidFill>
                <a:latin typeface="Calibri" pitchFamily="34" charset="0"/>
                <a:ea typeface="Calibri" pitchFamily="34" charset="-122"/>
                <a:cs typeface="Calibri" pitchFamily="34" charset="-120"/>
              </a:rPr>
              <a:t>O</a:t>
            </a:r>
            <a:r>
              <a:rPr lang="en-US" sz="1400" b="1" dirty="0">
                <a:solidFill>
                  <a:srgbClr val="C45A0C"/>
                </a:solidFill>
                <a:latin typeface="Calibri" pitchFamily="34" charset="0"/>
                <a:ea typeface="Calibri" pitchFamily="34" charset="-122"/>
                <a:cs typeface="Calibri" pitchFamily="34" charset="-120"/>
              </a:rPr>
              <a:t> ≫ n</a:t>
            </a:r>
            <a:r>
              <a:rPr lang="en-US" sz="1400" b="1" baseline="-25000" dirty="0">
                <a:solidFill>
                  <a:srgbClr val="C45A0C"/>
                </a:solidFill>
                <a:latin typeface="Calibri" pitchFamily="34" charset="0"/>
                <a:ea typeface="Calibri" pitchFamily="34" charset="-122"/>
                <a:cs typeface="Calibri" pitchFamily="34" charset="-120"/>
              </a:rPr>
              <a:t>R</a:t>
            </a:r>
            <a:r>
              <a:rPr lang="en-US" sz="1400" b="1" dirty="0">
                <a:solidFill>
                  <a:srgbClr val="C45A0C"/>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3931920" y="1920240"/>
            <a:ext cx="2926080" cy="192024"/>
          </a:xfrm>
          <a:prstGeom prst="rect">
            <a:avLst/>
          </a:prstGeom>
          <a:solidFill>
            <a:srgbClr val="F8EDE5"/>
          </a:solidFill>
          <a:ln w="12700">
            <a:solidFill>
              <a:srgbClr val="FFFFFF"/>
            </a:solidFill>
            <a:prstDash val="solid"/>
          </a:ln>
        </p:spPr>
      </p:sp>
      <p:sp>
        <p:nvSpPr>
          <p:cNvPr id="20" name="Shape 18"/>
          <p:cNvSpPr/>
          <p:nvPr/>
        </p:nvSpPr>
        <p:spPr>
          <a:xfrm>
            <a:off x="6903720" y="1920240"/>
            <a:ext cx="457200" cy="192024"/>
          </a:xfrm>
          <a:prstGeom prst="rect">
            <a:avLst/>
          </a:prstGeom>
          <a:solidFill>
            <a:srgbClr val="F1D9C8"/>
          </a:solidFill>
          <a:ln w="12700">
            <a:solidFill>
              <a:srgbClr val="FFFFFF"/>
            </a:solidFill>
            <a:prstDash val="solid"/>
          </a:ln>
        </p:spPr>
      </p:sp>
      <p:sp>
        <p:nvSpPr>
          <p:cNvPr id="21" name="Shape 19"/>
          <p:cNvSpPr/>
          <p:nvPr/>
        </p:nvSpPr>
        <p:spPr>
          <a:xfrm>
            <a:off x="3931920" y="2148840"/>
            <a:ext cx="2926080" cy="192024"/>
          </a:xfrm>
          <a:prstGeom prst="rect">
            <a:avLst/>
          </a:prstGeom>
          <a:solidFill>
            <a:srgbClr val="F8EDE5"/>
          </a:solidFill>
          <a:ln w="12700">
            <a:solidFill>
              <a:srgbClr val="FFFFFF"/>
            </a:solidFill>
            <a:prstDash val="solid"/>
          </a:ln>
        </p:spPr>
      </p:sp>
      <p:sp>
        <p:nvSpPr>
          <p:cNvPr id="22" name="Shape 20"/>
          <p:cNvSpPr/>
          <p:nvPr/>
        </p:nvSpPr>
        <p:spPr>
          <a:xfrm>
            <a:off x="6903720" y="2148840"/>
            <a:ext cx="457200" cy="192024"/>
          </a:xfrm>
          <a:prstGeom prst="rect">
            <a:avLst/>
          </a:prstGeom>
          <a:solidFill>
            <a:srgbClr val="F1D9C8"/>
          </a:solidFill>
          <a:ln w="12700">
            <a:solidFill>
              <a:srgbClr val="FFFFFF"/>
            </a:solidFill>
            <a:prstDash val="solid"/>
          </a:ln>
        </p:spPr>
      </p:sp>
      <p:sp>
        <p:nvSpPr>
          <p:cNvPr id="23" name="Shape 21"/>
          <p:cNvSpPr/>
          <p:nvPr/>
        </p:nvSpPr>
        <p:spPr>
          <a:xfrm>
            <a:off x="3931920" y="2377440"/>
            <a:ext cx="2926080" cy="192024"/>
          </a:xfrm>
          <a:prstGeom prst="rect">
            <a:avLst/>
          </a:prstGeom>
          <a:solidFill>
            <a:srgbClr val="F8EDE5"/>
          </a:solidFill>
          <a:ln w="12700">
            <a:solidFill>
              <a:srgbClr val="FFFFFF"/>
            </a:solidFill>
            <a:prstDash val="solid"/>
          </a:ln>
        </p:spPr>
      </p:sp>
      <p:sp>
        <p:nvSpPr>
          <p:cNvPr id="24" name="Shape 22"/>
          <p:cNvSpPr/>
          <p:nvPr/>
        </p:nvSpPr>
        <p:spPr>
          <a:xfrm>
            <a:off x="6903720" y="2377440"/>
            <a:ext cx="457200" cy="192024"/>
          </a:xfrm>
          <a:prstGeom prst="rect">
            <a:avLst/>
          </a:prstGeom>
          <a:solidFill>
            <a:srgbClr val="F1D9C8"/>
          </a:solidFill>
          <a:ln w="12700">
            <a:solidFill>
              <a:srgbClr val="FFFFFF"/>
            </a:solidFill>
            <a:prstDash val="solid"/>
          </a:ln>
        </p:spPr>
      </p:sp>
      <p:sp>
        <p:nvSpPr>
          <p:cNvPr id="25" name="Shape 23"/>
          <p:cNvSpPr/>
          <p:nvPr/>
        </p:nvSpPr>
        <p:spPr>
          <a:xfrm>
            <a:off x="3931920" y="2606040"/>
            <a:ext cx="2926080" cy="192024"/>
          </a:xfrm>
          <a:prstGeom prst="rect">
            <a:avLst/>
          </a:prstGeom>
          <a:solidFill>
            <a:srgbClr val="F8EDE5"/>
          </a:solidFill>
          <a:ln w="12700">
            <a:solidFill>
              <a:srgbClr val="FFFFFF"/>
            </a:solidFill>
            <a:prstDash val="solid"/>
          </a:ln>
        </p:spPr>
      </p:sp>
      <p:sp>
        <p:nvSpPr>
          <p:cNvPr id="26" name="Shape 24"/>
          <p:cNvSpPr/>
          <p:nvPr/>
        </p:nvSpPr>
        <p:spPr>
          <a:xfrm>
            <a:off x="6903720" y="2606040"/>
            <a:ext cx="457200" cy="192024"/>
          </a:xfrm>
          <a:prstGeom prst="rect">
            <a:avLst/>
          </a:prstGeom>
          <a:solidFill>
            <a:srgbClr val="F1D9C8"/>
          </a:solidFill>
          <a:ln w="12700">
            <a:solidFill>
              <a:srgbClr val="FFFFFF"/>
            </a:solidFill>
            <a:prstDash val="solid"/>
          </a:ln>
        </p:spPr>
      </p:sp>
      <p:sp>
        <p:nvSpPr>
          <p:cNvPr id="27" name="Shape 25"/>
          <p:cNvSpPr/>
          <p:nvPr/>
        </p:nvSpPr>
        <p:spPr>
          <a:xfrm>
            <a:off x="3931920" y="2834640"/>
            <a:ext cx="2926080" cy="192024"/>
          </a:xfrm>
          <a:prstGeom prst="rect">
            <a:avLst/>
          </a:prstGeom>
          <a:solidFill>
            <a:srgbClr val="F8EDE5"/>
          </a:solidFill>
          <a:ln w="12700">
            <a:solidFill>
              <a:srgbClr val="FFFFFF"/>
            </a:solidFill>
            <a:prstDash val="solid"/>
          </a:ln>
        </p:spPr>
      </p:sp>
      <p:sp>
        <p:nvSpPr>
          <p:cNvPr id="28" name="Shape 26"/>
          <p:cNvSpPr/>
          <p:nvPr/>
        </p:nvSpPr>
        <p:spPr>
          <a:xfrm>
            <a:off x="6903720" y="2834640"/>
            <a:ext cx="457200" cy="192024"/>
          </a:xfrm>
          <a:prstGeom prst="rect">
            <a:avLst/>
          </a:prstGeom>
          <a:solidFill>
            <a:srgbClr val="F1D9C8"/>
          </a:solidFill>
          <a:ln w="12700">
            <a:solidFill>
              <a:srgbClr val="FFFFFF"/>
            </a:solidFill>
            <a:prstDash val="solid"/>
          </a:ln>
        </p:spPr>
      </p:sp>
      <p:sp>
        <p:nvSpPr>
          <p:cNvPr id="29" name="Shape 27"/>
          <p:cNvSpPr/>
          <p:nvPr/>
        </p:nvSpPr>
        <p:spPr>
          <a:xfrm>
            <a:off x="3931920" y="3063240"/>
            <a:ext cx="2926080" cy="192024"/>
          </a:xfrm>
          <a:prstGeom prst="rect">
            <a:avLst/>
          </a:prstGeom>
          <a:solidFill>
            <a:srgbClr val="F8EDE5"/>
          </a:solidFill>
          <a:ln w="12700">
            <a:solidFill>
              <a:srgbClr val="FFFFFF"/>
            </a:solidFill>
            <a:prstDash val="solid"/>
          </a:ln>
        </p:spPr>
      </p:sp>
      <p:sp>
        <p:nvSpPr>
          <p:cNvPr id="30" name="Shape 28"/>
          <p:cNvSpPr/>
          <p:nvPr/>
        </p:nvSpPr>
        <p:spPr>
          <a:xfrm>
            <a:off x="6903720" y="3063240"/>
            <a:ext cx="457200" cy="192024"/>
          </a:xfrm>
          <a:prstGeom prst="rect">
            <a:avLst/>
          </a:prstGeom>
          <a:solidFill>
            <a:srgbClr val="F1D9C8"/>
          </a:solidFill>
          <a:ln w="12700">
            <a:solidFill>
              <a:srgbClr val="FFFFFF"/>
            </a:solidFill>
            <a:prstDash val="solid"/>
          </a:ln>
        </p:spPr>
      </p:sp>
      <p:sp>
        <p:nvSpPr>
          <p:cNvPr id="31" name="Shape 29"/>
          <p:cNvSpPr/>
          <p:nvPr/>
        </p:nvSpPr>
        <p:spPr>
          <a:xfrm>
            <a:off x="3931920" y="3291840"/>
            <a:ext cx="2926080" cy="192024"/>
          </a:xfrm>
          <a:prstGeom prst="rect">
            <a:avLst/>
          </a:prstGeom>
          <a:solidFill>
            <a:srgbClr val="F3D2BC"/>
          </a:solidFill>
          <a:ln w="12700">
            <a:solidFill>
              <a:srgbClr val="FFFFFF"/>
            </a:solidFill>
            <a:prstDash val="solid"/>
          </a:ln>
        </p:spPr>
      </p:sp>
      <p:sp>
        <p:nvSpPr>
          <p:cNvPr id="32" name="Shape 30"/>
          <p:cNvSpPr/>
          <p:nvPr/>
        </p:nvSpPr>
        <p:spPr>
          <a:xfrm>
            <a:off x="6903720" y="3291840"/>
            <a:ext cx="457200" cy="192024"/>
          </a:xfrm>
          <a:prstGeom prst="rect">
            <a:avLst/>
          </a:prstGeom>
          <a:solidFill>
            <a:srgbClr val="E3A57B"/>
          </a:solidFill>
          <a:ln w="12700">
            <a:solidFill>
              <a:srgbClr val="FFFFFF"/>
            </a:solidFill>
            <a:prstDash val="solid"/>
          </a:ln>
        </p:spPr>
      </p:sp>
      <p:sp>
        <p:nvSpPr>
          <p:cNvPr id="33" name="Shape 31"/>
          <p:cNvSpPr/>
          <p:nvPr/>
        </p:nvSpPr>
        <p:spPr>
          <a:xfrm>
            <a:off x="3931920" y="3520440"/>
            <a:ext cx="2926080" cy="192024"/>
          </a:xfrm>
          <a:prstGeom prst="rect">
            <a:avLst/>
          </a:prstGeom>
          <a:solidFill>
            <a:srgbClr val="F3D2BC"/>
          </a:solidFill>
          <a:ln w="12700">
            <a:solidFill>
              <a:srgbClr val="FFFFFF"/>
            </a:solidFill>
            <a:prstDash val="solid"/>
          </a:ln>
        </p:spPr>
      </p:sp>
      <p:sp>
        <p:nvSpPr>
          <p:cNvPr id="34" name="Shape 32"/>
          <p:cNvSpPr/>
          <p:nvPr/>
        </p:nvSpPr>
        <p:spPr>
          <a:xfrm>
            <a:off x="6903720" y="3520440"/>
            <a:ext cx="457200" cy="192024"/>
          </a:xfrm>
          <a:prstGeom prst="rect">
            <a:avLst/>
          </a:prstGeom>
          <a:solidFill>
            <a:srgbClr val="E3A57B"/>
          </a:solidFill>
          <a:ln w="12700">
            <a:solidFill>
              <a:srgbClr val="FFFFFF"/>
            </a:solidFill>
            <a:prstDash val="solid"/>
          </a:ln>
        </p:spPr>
      </p:sp>
      <p:sp>
        <p:nvSpPr>
          <p:cNvPr id="35" name="Shape 33"/>
          <p:cNvSpPr/>
          <p:nvPr/>
        </p:nvSpPr>
        <p:spPr>
          <a:xfrm>
            <a:off x="3931920" y="3749040"/>
            <a:ext cx="2926080" cy="192024"/>
          </a:xfrm>
          <a:prstGeom prst="rect">
            <a:avLst/>
          </a:prstGeom>
          <a:solidFill>
            <a:srgbClr val="F3D2BC"/>
          </a:solidFill>
          <a:ln w="12700">
            <a:solidFill>
              <a:srgbClr val="FFFFFF"/>
            </a:solidFill>
            <a:prstDash val="solid"/>
          </a:ln>
        </p:spPr>
      </p:sp>
      <p:sp>
        <p:nvSpPr>
          <p:cNvPr id="36" name="Shape 34"/>
          <p:cNvSpPr/>
          <p:nvPr/>
        </p:nvSpPr>
        <p:spPr>
          <a:xfrm>
            <a:off x="6903720" y="3749040"/>
            <a:ext cx="457200" cy="192024"/>
          </a:xfrm>
          <a:prstGeom prst="rect">
            <a:avLst/>
          </a:prstGeom>
          <a:solidFill>
            <a:srgbClr val="E3A57B"/>
          </a:solidFill>
          <a:ln w="12700">
            <a:solidFill>
              <a:srgbClr val="FFFFFF"/>
            </a:solidFill>
            <a:prstDash val="solid"/>
          </a:ln>
        </p:spPr>
      </p:sp>
      <p:sp>
        <p:nvSpPr>
          <p:cNvPr id="37" name="Shape 35"/>
          <p:cNvSpPr/>
          <p:nvPr/>
        </p:nvSpPr>
        <p:spPr>
          <a:xfrm>
            <a:off x="3931920" y="3977640"/>
            <a:ext cx="2926080" cy="192024"/>
          </a:xfrm>
          <a:prstGeom prst="rect">
            <a:avLst/>
          </a:prstGeom>
          <a:solidFill>
            <a:srgbClr val="F3D2BC"/>
          </a:solidFill>
          <a:ln w="12700">
            <a:solidFill>
              <a:srgbClr val="FFFFFF"/>
            </a:solidFill>
            <a:prstDash val="solid"/>
          </a:ln>
        </p:spPr>
      </p:sp>
      <p:sp>
        <p:nvSpPr>
          <p:cNvPr id="38" name="Shape 36"/>
          <p:cNvSpPr/>
          <p:nvPr/>
        </p:nvSpPr>
        <p:spPr>
          <a:xfrm>
            <a:off x="6903720" y="3977640"/>
            <a:ext cx="457200" cy="192024"/>
          </a:xfrm>
          <a:prstGeom prst="rect">
            <a:avLst/>
          </a:prstGeom>
          <a:solidFill>
            <a:srgbClr val="E3A57B"/>
          </a:solidFill>
          <a:ln w="12700">
            <a:solidFill>
              <a:srgbClr val="FFFFFF"/>
            </a:solidFill>
            <a:prstDash val="solid"/>
          </a:ln>
        </p:spPr>
      </p:sp>
      <p:sp>
        <p:nvSpPr>
          <p:cNvPr id="39" name="Shape 37"/>
          <p:cNvSpPr/>
          <p:nvPr/>
        </p:nvSpPr>
        <p:spPr>
          <a:xfrm>
            <a:off x="3931920" y="4206240"/>
            <a:ext cx="2926080" cy="192024"/>
          </a:xfrm>
          <a:prstGeom prst="rect">
            <a:avLst/>
          </a:prstGeom>
          <a:solidFill>
            <a:srgbClr val="F3D2BC"/>
          </a:solidFill>
          <a:ln w="12700">
            <a:solidFill>
              <a:srgbClr val="FFFFFF"/>
            </a:solidFill>
            <a:prstDash val="solid"/>
          </a:ln>
        </p:spPr>
      </p:sp>
      <p:sp>
        <p:nvSpPr>
          <p:cNvPr id="40" name="Shape 38"/>
          <p:cNvSpPr/>
          <p:nvPr/>
        </p:nvSpPr>
        <p:spPr>
          <a:xfrm>
            <a:off x="6903720" y="4206240"/>
            <a:ext cx="457200" cy="192024"/>
          </a:xfrm>
          <a:prstGeom prst="rect">
            <a:avLst/>
          </a:prstGeom>
          <a:solidFill>
            <a:srgbClr val="E3A57B"/>
          </a:solidFill>
          <a:ln w="12700">
            <a:solidFill>
              <a:srgbClr val="FFFFFF"/>
            </a:solidFill>
            <a:prstDash val="solid"/>
          </a:ln>
        </p:spPr>
      </p:sp>
      <p:sp>
        <p:nvSpPr>
          <p:cNvPr id="41" name="Shape 39"/>
          <p:cNvSpPr/>
          <p:nvPr/>
        </p:nvSpPr>
        <p:spPr>
          <a:xfrm>
            <a:off x="3931920" y="4434840"/>
            <a:ext cx="2926080" cy="192024"/>
          </a:xfrm>
          <a:prstGeom prst="rect">
            <a:avLst/>
          </a:prstGeom>
          <a:solidFill>
            <a:srgbClr val="F3D2BC"/>
          </a:solidFill>
          <a:ln w="12700">
            <a:solidFill>
              <a:srgbClr val="FFFFFF"/>
            </a:solidFill>
            <a:prstDash val="solid"/>
          </a:ln>
        </p:spPr>
      </p:sp>
      <p:sp>
        <p:nvSpPr>
          <p:cNvPr id="42" name="Shape 40"/>
          <p:cNvSpPr/>
          <p:nvPr/>
        </p:nvSpPr>
        <p:spPr>
          <a:xfrm>
            <a:off x="6903720" y="4434840"/>
            <a:ext cx="457200" cy="192024"/>
          </a:xfrm>
          <a:prstGeom prst="rect">
            <a:avLst/>
          </a:prstGeom>
          <a:solidFill>
            <a:srgbClr val="E3A57B"/>
          </a:solidFill>
          <a:ln w="12700">
            <a:solidFill>
              <a:srgbClr val="FFFFFF"/>
            </a:solidFill>
            <a:prstDash val="solid"/>
          </a:ln>
        </p:spPr>
      </p:sp>
      <p:sp>
        <p:nvSpPr>
          <p:cNvPr id="43" name="Shape 41"/>
          <p:cNvSpPr/>
          <p:nvPr/>
        </p:nvSpPr>
        <p:spPr>
          <a:xfrm>
            <a:off x="3931920" y="4663440"/>
            <a:ext cx="2926080" cy="192024"/>
          </a:xfrm>
          <a:prstGeom prst="rect">
            <a:avLst/>
          </a:prstGeom>
          <a:solidFill>
            <a:srgbClr val="F3D2BC"/>
          </a:solidFill>
          <a:ln w="12700">
            <a:solidFill>
              <a:srgbClr val="FFFFFF"/>
            </a:solidFill>
            <a:prstDash val="solid"/>
          </a:ln>
        </p:spPr>
      </p:sp>
      <p:sp>
        <p:nvSpPr>
          <p:cNvPr id="44" name="Shape 42"/>
          <p:cNvSpPr/>
          <p:nvPr/>
        </p:nvSpPr>
        <p:spPr>
          <a:xfrm>
            <a:off x="6903720" y="4663440"/>
            <a:ext cx="457200" cy="192024"/>
          </a:xfrm>
          <a:prstGeom prst="rect">
            <a:avLst/>
          </a:prstGeom>
          <a:solidFill>
            <a:srgbClr val="E3A57B"/>
          </a:solidFill>
          <a:ln w="12700">
            <a:solidFill>
              <a:srgbClr val="FFFFFF"/>
            </a:solidFill>
            <a:prstDash val="solid"/>
          </a:ln>
        </p:spPr>
      </p:sp>
      <p:sp>
        <p:nvSpPr>
          <p:cNvPr id="45" name="Shape 43"/>
          <p:cNvSpPr/>
          <p:nvPr/>
        </p:nvSpPr>
        <p:spPr>
          <a:xfrm>
            <a:off x="3931920" y="4892040"/>
            <a:ext cx="2926080" cy="192024"/>
          </a:xfrm>
          <a:prstGeom prst="rect">
            <a:avLst/>
          </a:prstGeom>
          <a:solidFill>
            <a:srgbClr val="F3D2BC"/>
          </a:solidFill>
          <a:ln w="12700">
            <a:solidFill>
              <a:srgbClr val="FFFFFF"/>
            </a:solidFill>
            <a:prstDash val="solid"/>
          </a:ln>
        </p:spPr>
      </p:sp>
      <p:sp>
        <p:nvSpPr>
          <p:cNvPr id="46" name="Shape 44"/>
          <p:cNvSpPr/>
          <p:nvPr/>
        </p:nvSpPr>
        <p:spPr>
          <a:xfrm>
            <a:off x="6903720" y="4892040"/>
            <a:ext cx="457200" cy="192024"/>
          </a:xfrm>
          <a:prstGeom prst="rect">
            <a:avLst/>
          </a:prstGeom>
          <a:solidFill>
            <a:srgbClr val="E3A57B"/>
          </a:solidFill>
          <a:ln w="12700">
            <a:solidFill>
              <a:srgbClr val="FFFFFF"/>
            </a:solidFill>
            <a:prstDash val="solid"/>
          </a:ln>
        </p:spPr>
      </p:sp>
      <p:sp>
        <p:nvSpPr>
          <p:cNvPr id="47" name="Shape 45"/>
          <p:cNvSpPr/>
          <p:nvPr/>
        </p:nvSpPr>
        <p:spPr>
          <a:xfrm>
            <a:off x="3931920" y="5120640"/>
            <a:ext cx="2926080" cy="192024"/>
          </a:xfrm>
          <a:prstGeom prst="rect">
            <a:avLst/>
          </a:prstGeom>
          <a:solidFill>
            <a:srgbClr val="F8EDE5"/>
          </a:solidFill>
          <a:ln w="12700">
            <a:solidFill>
              <a:srgbClr val="FFFFFF"/>
            </a:solidFill>
            <a:prstDash val="solid"/>
          </a:ln>
        </p:spPr>
      </p:sp>
      <p:sp>
        <p:nvSpPr>
          <p:cNvPr id="48" name="Shape 46"/>
          <p:cNvSpPr/>
          <p:nvPr/>
        </p:nvSpPr>
        <p:spPr>
          <a:xfrm>
            <a:off x="6903720" y="5120640"/>
            <a:ext cx="457200" cy="192024"/>
          </a:xfrm>
          <a:prstGeom prst="rect">
            <a:avLst/>
          </a:prstGeom>
          <a:solidFill>
            <a:srgbClr val="F1D9C8"/>
          </a:solidFill>
          <a:ln w="12700">
            <a:solidFill>
              <a:srgbClr val="FFFFFF"/>
            </a:solidFill>
            <a:prstDash val="solid"/>
          </a:ln>
        </p:spPr>
      </p:sp>
      <p:sp>
        <p:nvSpPr>
          <p:cNvPr id="49" name="Shape 47"/>
          <p:cNvSpPr/>
          <p:nvPr/>
        </p:nvSpPr>
        <p:spPr>
          <a:xfrm>
            <a:off x="3931920" y="5349240"/>
            <a:ext cx="2926080" cy="192024"/>
          </a:xfrm>
          <a:prstGeom prst="rect">
            <a:avLst/>
          </a:prstGeom>
          <a:solidFill>
            <a:srgbClr val="F8EDE5"/>
          </a:solidFill>
          <a:ln w="12700">
            <a:solidFill>
              <a:srgbClr val="FFFFFF"/>
            </a:solidFill>
            <a:prstDash val="solid"/>
          </a:ln>
        </p:spPr>
      </p:sp>
      <p:sp>
        <p:nvSpPr>
          <p:cNvPr id="50" name="Shape 48"/>
          <p:cNvSpPr/>
          <p:nvPr/>
        </p:nvSpPr>
        <p:spPr>
          <a:xfrm>
            <a:off x="6903720" y="5349240"/>
            <a:ext cx="457200" cy="192024"/>
          </a:xfrm>
          <a:prstGeom prst="rect">
            <a:avLst/>
          </a:prstGeom>
          <a:solidFill>
            <a:srgbClr val="F1D9C8"/>
          </a:solidFill>
          <a:ln w="12700">
            <a:solidFill>
              <a:srgbClr val="FFFFFF"/>
            </a:solidFill>
            <a:prstDash val="solid"/>
          </a:ln>
        </p:spPr>
      </p:sp>
      <p:sp>
        <p:nvSpPr>
          <p:cNvPr id="51" name="Shape 49"/>
          <p:cNvSpPr/>
          <p:nvPr/>
        </p:nvSpPr>
        <p:spPr>
          <a:xfrm>
            <a:off x="3931920" y="5577840"/>
            <a:ext cx="2926080" cy="192024"/>
          </a:xfrm>
          <a:prstGeom prst="rect">
            <a:avLst/>
          </a:prstGeom>
          <a:solidFill>
            <a:srgbClr val="F8EDE5"/>
          </a:solidFill>
          <a:ln w="12700">
            <a:solidFill>
              <a:srgbClr val="FFFFFF"/>
            </a:solidFill>
            <a:prstDash val="solid"/>
          </a:ln>
        </p:spPr>
      </p:sp>
      <p:sp>
        <p:nvSpPr>
          <p:cNvPr id="52" name="Shape 50"/>
          <p:cNvSpPr/>
          <p:nvPr/>
        </p:nvSpPr>
        <p:spPr>
          <a:xfrm>
            <a:off x="6903720" y="5577840"/>
            <a:ext cx="457200" cy="192024"/>
          </a:xfrm>
          <a:prstGeom prst="rect">
            <a:avLst/>
          </a:prstGeom>
          <a:solidFill>
            <a:srgbClr val="F1D9C8"/>
          </a:solidFill>
          <a:ln w="12700">
            <a:solidFill>
              <a:srgbClr val="FFFFFF"/>
            </a:solidFill>
            <a:prstDash val="solid"/>
          </a:ln>
        </p:spPr>
      </p:sp>
      <p:sp>
        <p:nvSpPr>
          <p:cNvPr id="53" name="Shape 51"/>
          <p:cNvSpPr/>
          <p:nvPr/>
        </p:nvSpPr>
        <p:spPr>
          <a:xfrm>
            <a:off x="3931920" y="5806440"/>
            <a:ext cx="2926080" cy="192024"/>
          </a:xfrm>
          <a:prstGeom prst="rect">
            <a:avLst/>
          </a:prstGeom>
          <a:solidFill>
            <a:srgbClr val="F8EDE5"/>
          </a:solidFill>
          <a:ln w="12700">
            <a:solidFill>
              <a:srgbClr val="FFFFFF"/>
            </a:solidFill>
            <a:prstDash val="solid"/>
          </a:ln>
        </p:spPr>
      </p:sp>
      <p:sp>
        <p:nvSpPr>
          <p:cNvPr id="54" name="Shape 52"/>
          <p:cNvSpPr/>
          <p:nvPr/>
        </p:nvSpPr>
        <p:spPr>
          <a:xfrm>
            <a:off x="6903720" y="5806440"/>
            <a:ext cx="457200" cy="192024"/>
          </a:xfrm>
          <a:prstGeom prst="rect">
            <a:avLst/>
          </a:prstGeom>
          <a:solidFill>
            <a:srgbClr val="F1D9C8"/>
          </a:solidFill>
          <a:ln w="12700">
            <a:solidFill>
              <a:srgbClr val="FFFFFF"/>
            </a:solidFill>
            <a:prstDash val="solid"/>
          </a:ln>
        </p:spPr>
      </p:sp>
      <p:sp>
        <p:nvSpPr>
          <p:cNvPr id="55" name="Text 53"/>
          <p:cNvSpPr txBox="1"/>
          <p:nvPr/>
        </p:nvSpPr>
        <p:spPr>
          <a:xfrm>
            <a:off x="3931920" y="6080760"/>
            <a:ext cx="2926080" cy="320040"/>
          </a:xfrm>
          <a:prstGeom prst="rect">
            <a:avLst/>
          </a:prstGeom>
          <a:noFill/>
          <a:ln/>
        </p:spPr>
        <p:txBody>
          <a:bodyPr wrap="square" lIns="0" tIns="0" rIns="0" bIns="0" rtlCol="0" anchor="t"/>
          <a:lstStyle/>
          <a:p>
            <a:pPr algn="ctr" indent="0" marL="0">
              <a:buNone/>
            </a:pPr>
            <a:r>
              <a:rPr lang="en-US" sz="1400" b="1" dirty="0">
                <a:solidFill>
                  <a:srgbClr val="C45A0C"/>
                </a:solidFill>
                <a:latin typeface="Calibri" pitchFamily="34" charset="0"/>
                <a:ea typeface="Calibri" pitchFamily="34" charset="-122"/>
                <a:cs typeface="Calibri" pitchFamily="34" charset="-120"/>
              </a:rPr>
              <a:t>X</a:t>
            </a:r>
            <a:r>
              <a:rPr lang="en-US" sz="1400" b="1" baseline="-25000" dirty="0">
                <a:solidFill>
                  <a:srgbClr val="C45A0C"/>
                </a:solidFill>
                <a:latin typeface="Calibri" pitchFamily="34" charset="0"/>
                <a:ea typeface="Calibri" pitchFamily="34" charset="-122"/>
                <a:cs typeface="Calibri" pitchFamily="34" charset="-120"/>
              </a:rPr>
              <a:t>O</a:t>
            </a:r>
            <a:endParaRPr lang="en-US" sz="1400" dirty="0"/>
          </a:p>
        </p:txBody>
      </p:sp>
      <p:sp>
        <p:nvSpPr>
          <p:cNvPr id="56" name="Text 54"/>
          <p:cNvSpPr txBox="1"/>
          <p:nvPr/>
        </p:nvSpPr>
        <p:spPr>
          <a:xfrm>
            <a:off x="6903720" y="6080760"/>
            <a:ext cx="457200" cy="320040"/>
          </a:xfrm>
          <a:prstGeom prst="rect">
            <a:avLst/>
          </a:prstGeom>
          <a:noFill/>
          <a:ln/>
        </p:spPr>
        <p:txBody>
          <a:bodyPr wrap="square" lIns="0" tIns="0" rIns="0" bIns="0" rtlCol="0" anchor="t"/>
          <a:lstStyle/>
          <a:p>
            <a:pPr algn="ctr" indent="0" marL="0">
              <a:buNone/>
            </a:pPr>
            <a:r>
              <a:rPr lang="en-US" sz="1400" b="1" dirty="0">
                <a:solidFill>
                  <a:srgbClr val="C45A0C"/>
                </a:solidFill>
                <a:latin typeface="Calibri" pitchFamily="34" charset="0"/>
                <a:ea typeface="Calibri" pitchFamily="34" charset="-122"/>
                <a:cs typeface="Calibri" pitchFamily="34" charset="-120"/>
              </a:rPr>
              <a:t>y</a:t>
            </a:r>
            <a:endParaRPr lang="en-US" sz="1400" dirty="0"/>
          </a:p>
        </p:txBody>
      </p:sp>
      <p:sp>
        <p:nvSpPr>
          <p:cNvPr id="57" name="Shape 55"/>
          <p:cNvSpPr/>
          <p:nvPr/>
        </p:nvSpPr>
        <p:spPr>
          <a:xfrm>
            <a:off x="3246120" y="3291840"/>
            <a:ext cx="548640" cy="1792224"/>
          </a:xfrm>
          <a:prstGeom prst="rect">
            <a:avLst/>
          </a:prstGeom>
          <a:solidFill>
            <a:srgbClr val="14213D">
              <a:alpha val="15000"/>
            </a:srgbClr>
          </a:solidFill>
          <a:ln w="12700">
            <a:solidFill>
              <a:srgbClr val="14213D"/>
            </a:solidFill>
            <a:prstDash val="dash"/>
          </a:ln>
        </p:spPr>
      </p:sp>
      <p:sp>
        <p:nvSpPr>
          <p:cNvPr id="58" name="Text 56"/>
          <p:cNvSpPr txBox="1"/>
          <p:nvPr/>
        </p:nvSpPr>
        <p:spPr>
          <a:xfrm>
            <a:off x="3154680" y="4023360"/>
            <a:ext cx="731520" cy="731520"/>
          </a:xfrm>
          <a:prstGeom prst="rect">
            <a:avLst/>
          </a:prstGeom>
          <a:noFill/>
          <a:ln/>
        </p:spPr>
        <p:txBody>
          <a:bodyPr wrap="square" lIns="0" tIns="0" rIns="0" bIns="0" rtlCol="0" anchor="t"/>
          <a:lstStyle/>
          <a:p>
            <a:pPr algn="ctr" indent="0" marL="0">
              <a:buNone/>
            </a:pPr>
            <a:r>
              <a:rPr lang="en-US" sz="1100" b="1" dirty="0">
                <a:solidFill>
                  <a:srgbClr val="14213D"/>
                </a:solidFill>
                <a:latin typeface="Calibri" pitchFamily="34" charset="0"/>
                <a:ea typeface="Calibri" pitchFamily="34" charset="-122"/>
                <a:cs typeface="Calibri" pitchFamily="34" charset="-120"/>
              </a:rPr>
              <a:t>n</a:t>
            </a:r>
            <a:endParaRPr lang="en-US" sz="1100" dirty="0"/>
          </a:p>
          <a:p>
            <a:pPr algn="ctr" indent="0" marL="0">
              <a:buNone/>
            </a:pPr>
            <a:r>
              <a:rPr lang="en-US" sz="1100" b="1" dirty="0">
                <a:solidFill>
                  <a:srgbClr val="14213D"/>
                </a:solidFill>
                <a:latin typeface="Calibri" pitchFamily="34" charset="0"/>
                <a:ea typeface="Calibri" pitchFamily="34" charset="-122"/>
                <a:cs typeface="Calibri" pitchFamily="34" charset="-120"/>
              </a:rPr>
              <a:t>matched</a:t>
            </a:r>
            <a:endParaRPr lang="en-US" sz="1100" dirty="0"/>
          </a:p>
        </p:txBody>
      </p:sp>
      <p:sp>
        <p:nvSpPr>
          <p:cNvPr id="59" name="Shape 57"/>
          <p:cNvSpPr/>
          <p:nvPr/>
        </p:nvSpPr>
        <p:spPr>
          <a:xfrm>
            <a:off x="7955280" y="1417320"/>
            <a:ext cx="3657600" cy="4663440"/>
          </a:xfrm>
          <a:prstGeom prst="roundRect">
            <a:avLst>
              <a:gd name="adj" fmla="val 2000"/>
            </a:avLst>
          </a:prstGeom>
          <a:solidFill>
            <a:srgbClr val="EEF2F7"/>
          </a:solidFill>
          <a:ln w="12700">
            <a:solidFill>
              <a:srgbClr val="EEF2F7"/>
            </a:solidFill>
            <a:prstDash val="solid"/>
          </a:ln>
        </p:spPr>
      </p:sp>
      <p:sp>
        <p:nvSpPr>
          <p:cNvPr id="60" name="Text 58"/>
          <p:cNvSpPr txBox="1"/>
          <p:nvPr/>
        </p:nvSpPr>
        <p:spPr>
          <a:xfrm>
            <a:off x="8229600" y="1645920"/>
            <a:ext cx="3200400" cy="36576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Goal</a:t>
            </a:r>
            <a:endParaRPr lang="en-US" sz="2000" dirty="0"/>
          </a:p>
        </p:txBody>
      </p:sp>
      <p:sp>
        <p:nvSpPr>
          <p:cNvPr id="61" name="Text 59"/>
          <p:cNvSpPr txBox="1"/>
          <p:nvPr/>
        </p:nvSpPr>
        <p:spPr>
          <a:xfrm>
            <a:off x="8229600" y="2148840"/>
            <a:ext cx="3200400" cy="3749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Fit y on [X</a:t>
            </a:r>
            <a:r>
              <a:rPr lang="en-US" sz="1500" baseline="-25000" dirty="0">
                <a:solidFill>
                  <a:srgbClr val="1F2937"/>
                </a:solidFill>
                <a:latin typeface="Calibri" pitchFamily="34" charset="0"/>
                <a:ea typeface="Calibri" pitchFamily="34" charset="-122"/>
                <a:cs typeface="Calibri" pitchFamily="34" charset="-120"/>
              </a:rPr>
              <a:t>R</a:t>
            </a:r>
            <a:r>
              <a:rPr lang="en-US" sz="1500" dirty="0">
                <a:solidFill>
                  <a:srgbClr val="1F2937"/>
                </a:solidFill>
                <a:latin typeface="Calibri" pitchFamily="34" charset="0"/>
                <a:ea typeface="Calibri" pitchFamily="34" charset="-122"/>
                <a:cs typeface="Calibri" pitchFamily="34" charset="-120"/>
              </a:rPr>
              <a:t> | X</a:t>
            </a:r>
            <a:r>
              <a:rPr lang="en-US" sz="1500" baseline="-25000" dirty="0">
                <a:solidFill>
                  <a:srgbClr val="1F2937"/>
                </a:solidFill>
                <a:latin typeface="Calibri" pitchFamily="34" charset="0"/>
                <a:ea typeface="Calibri" pitchFamily="34" charset="-122"/>
                <a:cs typeface="Calibri" pitchFamily="34" charset="-120"/>
              </a:rPr>
              <a:t>O</a:t>
            </a:r>
            <a:r>
              <a:rPr lang="en-US" sz="1500" dirty="0">
                <a:solidFill>
                  <a:srgbClr val="1F2937"/>
                </a:solidFill>
                <a:latin typeface="Calibri" pitchFamily="34" charset="0"/>
                <a:ea typeface="Calibri" pitchFamily="34" charset="-122"/>
                <a:cs typeface="Calibri" pitchFamily="34" charset="-120"/>
              </a:rPr>
              <a:t>] over the n matched individuals</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Neither party sees the other's raw data</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O must not learn which of its records are in R's cohort</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The released model must not expose individuals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What has to be computed</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OLS on the matched join needs a Gram matrix that spans both parties</a:t>
            </a:r>
            <a:endParaRPr lang="en-US" sz="1600" dirty="0"/>
          </a:p>
        </p:txBody>
      </p:sp>
      <p:pic>
        <p:nvPicPr>
          <p:cNvPr id="4" name="Image 0" descr="/home/user/VerticalFederatedRegression/slides/assets/eq/ols.png">    </p:cNvPr>
          <p:cNvPicPr>
            <a:picLocks noChangeAspect="1"/>
          </p:cNvPicPr>
          <p:nvPr/>
        </p:nvPicPr>
        <p:blipFill>
          <a:blip r:embed="rId1"/>
          <a:stretch>
            <a:fillRect/>
          </a:stretch>
        </p:blipFill>
        <p:spPr>
          <a:xfrm>
            <a:off x="548640" y="1627632"/>
            <a:ext cx="5829945" cy="496192"/>
          </a:xfrm>
          <a:prstGeom prst="rect">
            <a:avLst/>
          </a:prstGeom>
        </p:spPr>
      </p:pic>
      <p:sp>
        <p:nvSpPr>
          <p:cNvPr id="5" name="Shape 2"/>
          <p:cNvSpPr/>
          <p:nvPr/>
        </p:nvSpPr>
        <p:spPr>
          <a:xfrm>
            <a:off x="822960" y="2468880"/>
            <a:ext cx="1417320" cy="1417320"/>
          </a:xfrm>
          <a:prstGeom prst="rect">
            <a:avLst/>
          </a:prstGeom>
          <a:solidFill>
            <a:srgbClr val="D6E0EE"/>
          </a:solidFill>
          <a:ln w="25400">
            <a:solidFill>
              <a:srgbClr val="FFFFFF"/>
            </a:solidFill>
            <a:prstDash val="solid"/>
          </a:ln>
        </p:spPr>
      </p:sp>
      <p:sp>
        <p:nvSpPr>
          <p:cNvPr id="6" name="Text 3"/>
          <p:cNvSpPr txBox="1"/>
          <p:nvPr/>
        </p:nvSpPr>
        <p:spPr>
          <a:xfrm>
            <a:off x="822960" y="2468880"/>
            <a:ext cx="1417320" cy="1417320"/>
          </a:xfrm>
          <a:prstGeom prst="rect">
            <a:avLst/>
          </a:prstGeom>
          <a:noFill/>
          <a:ln/>
        </p:spPr>
        <p:txBody>
          <a:bodyPr wrap="square" lIns="25400" tIns="25400" rIns="25400" bIns="25400" rtlCol="0" anchor="ctr"/>
          <a:lstStyle/>
          <a:p>
            <a:pPr algn="ctr" indent="0" marL="0">
              <a:buNone/>
            </a:pPr>
            <a:r>
              <a:rPr lang="en-US" sz="2400" b="1" dirty="0">
                <a:solidFill>
                  <a:srgbClr val="14213D"/>
                </a:solidFill>
                <a:latin typeface="Cambria" pitchFamily="34" charset="0"/>
                <a:ea typeface="Cambria" pitchFamily="34" charset="-122"/>
                <a:cs typeface="Cambria" pitchFamily="34" charset="-120"/>
              </a:rPr>
              <a:t>A</a:t>
            </a:r>
            <a:endParaRPr lang="en-US" sz="2400" dirty="0"/>
          </a:p>
          <a:p>
            <a:pPr algn="ctr" indent="0" marL="0">
              <a:buNone/>
            </a:pPr>
            <a:r>
              <a:rPr lang="en-US" sz="1400" dirty="0">
                <a:solidFill>
                  <a:srgbClr val="14213D"/>
                </a:solidFill>
                <a:latin typeface="Calibri" pitchFamily="34" charset="0"/>
                <a:ea typeface="Calibri" pitchFamily="34" charset="-122"/>
                <a:cs typeface="Calibri" pitchFamily="34" charset="-120"/>
              </a:rPr>
              <a:t>X</a:t>
            </a:r>
            <a:r>
              <a:rPr lang="en-US" sz="1400" baseline="-25000" dirty="0">
                <a:solidFill>
                  <a:srgbClr val="14213D"/>
                </a:solidFill>
                <a:latin typeface="Calibri" pitchFamily="34" charset="0"/>
                <a:ea typeface="Calibri" pitchFamily="34" charset="-122"/>
                <a:cs typeface="Calibri" pitchFamily="34" charset="-120"/>
              </a:rPr>
              <a:t>R</a:t>
            </a:r>
            <a:r>
              <a:rPr lang="en-US" sz="1400" baseline="30000" dirty="0">
                <a:solidFill>
                  <a:srgbClr val="14213D"/>
                </a:solidFill>
                <a:latin typeface="Calibri" pitchFamily="34" charset="0"/>
                <a:ea typeface="Calibri" pitchFamily="34" charset="-122"/>
                <a:cs typeface="Calibri" pitchFamily="34" charset="-120"/>
              </a:rPr>
              <a:t>T</a:t>
            </a:r>
            <a:r>
              <a:rPr lang="en-US" sz="1400" dirty="0">
                <a:solidFill>
                  <a:srgbClr val="14213D"/>
                </a:solidFill>
                <a:latin typeface="Calibri" pitchFamily="34" charset="0"/>
                <a:ea typeface="Calibri" pitchFamily="34" charset="-122"/>
                <a:cs typeface="Calibri" pitchFamily="34" charset="-120"/>
              </a:rPr>
              <a:t> X</a:t>
            </a:r>
            <a:r>
              <a:rPr lang="en-US" sz="1400" baseline="-25000" dirty="0">
                <a:solidFill>
                  <a:srgbClr val="14213D"/>
                </a:solidFill>
                <a:latin typeface="Calibri" pitchFamily="34" charset="0"/>
                <a:ea typeface="Calibri" pitchFamily="34" charset="-122"/>
                <a:cs typeface="Calibri" pitchFamily="34" charset="-120"/>
              </a:rPr>
              <a:t>R</a:t>
            </a:r>
            <a:endParaRPr lang="en-US" sz="2400" dirty="0"/>
          </a:p>
        </p:txBody>
      </p:sp>
      <p:sp>
        <p:nvSpPr>
          <p:cNvPr id="7" name="Shape 4"/>
          <p:cNvSpPr/>
          <p:nvPr/>
        </p:nvSpPr>
        <p:spPr>
          <a:xfrm>
            <a:off x="2240280" y="2468880"/>
            <a:ext cx="1417320" cy="1417320"/>
          </a:xfrm>
          <a:prstGeom prst="rect">
            <a:avLst/>
          </a:prstGeom>
          <a:solidFill>
            <a:srgbClr val="C45A0C"/>
          </a:solidFill>
          <a:ln w="25400">
            <a:solidFill>
              <a:srgbClr val="FFFFFF"/>
            </a:solidFill>
            <a:prstDash val="solid"/>
          </a:ln>
        </p:spPr>
      </p:sp>
      <p:sp>
        <p:nvSpPr>
          <p:cNvPr id="8" name="Text 5"/>
          <p:cNvSpPr txBox="1"/>
          <p:nvPr/>
        </p:nvSpPr>
        <p:spPr>
          <a:xfrm>
            <a:off x="2240280" y="2468880"/>
            <a:ext cx="1417320" cy="1417320"/>
          </a:xfrm>
          <a:prstGeom prst="rect">
            <a:avLst/>
          </a:prstGeom>
          <a:noFill/>
          <a:ln/>
        </p:spPr>
        <p:txBody>
          <a:bodyPr wrap="square" lIns="25400" tIns="25400" rIns="25400" bIns="2540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a:t>
            </a:r>
            <a:endParaRPr lang="en-US" sz="2400" dirty="0"/>
          </a:p>
          <a:p>
            <a:pPr algn="ctr" indent="0" marL="0">
              <a:buNone/>
            </a:pPr>
            <a:r>
              <a:rPr lang="en-US" sz="1400" dirty="0">
                <a:solidFill>
                  <a:srgbClr val="FFFFFF"/>
                </a:solidFill>
                <a:latin typeface="Calibri" pitchFamily="34" charset="0"/>
                <a:ea typeface="Calibri" pitchFamily="34" charset="-122"/>
                <a:cs typeface="Calibri" pitchFamily="34" charset="-120"/>
              </a:rPr>
              <a:t>X</a:t>
            </a:r>
            <a:r>
              <a:rPr lang="en-US" sz="1400" baseline="-25000" dirty="0">
                <a:solidFill>
                  <a:srgbClr val="FFFFFF"/>
                </a:solidFill>
                <a:latin typeface="Calibri" pitchFamily="34" charset="0"/>
                <a:ea typeface="Calibri" pitchFamily="34" charset="-122"/>
                <a:cs typeface="Calibri" pitchFamily="34" charset="-120"/>
              </a:rPr>
              <a:t>R</a:t>
            </a:r>
            <a:r>
              <a:rPr lang="en-US" sz="1400" baseline="30000" dirty="0">
                <a:solidFill>
                  <a:srgbClr val="FFFFFF"/>
                </a:solidFill>
                <a:latin typeface="Calibri" pitchFamily="34" charset="0"/>
                <a:ea typeface="Calibri" pitchFamily="34" charset="-122"/>
                <a:cs typeface="Calibri" pitchFamily="34" charset="-120"/>
              </a:rPr>
              <a:t>T</a:t>
            </a:r>
            <a:r>
              <a:rPr lang="en-US" sz="1400" dirty="0">
                <a:solidFill>
                  <a:srgbClr val="FFFFFF"/>
                </a:solidFill>
                <a:latin typeface="Calibri" pitchFamily="34" charset="0"/>
                <a:ea typeface="Calibri" pitchFamily="34" charset="-122"/>
                <a:cs typeface="Calibri" pitchFamily="34" charset="-120"/>
              </a:rPr>
              <a:t> X</a:t>
            </a:r>
            <a:r>
              <a:rPr lang="en-US" sz="1400" baseline="-25000" dirty="0">
                <a:solidFill>
                  <a:srgbClr val="FFFFFF"/>
                </a:solidFill>
                <a:latin typeface="Calibri" pitchFamily="34" charset="0"/>
                <a:ea typeface="Calibri" pitchFamily="34" charset="-122"/>
                <a:cs typeface="Calibri" pitchFamily="34" charset="-120"/>
              </a:rPr>
              <a:t>O</a:t>
            </a:r>
            <a:endParaRPr lang="en-US" sz="2400" dirty="0"/>
          </a:p>
        </p:txBody>
      </p:sp>
      <p:sp>
        <p:nvSpPr>
          <p:cNvPr id="9" name="Shape 6"/>
          <p:cNvSpPr/>
          <p:nvPr/>
        </p:nvSpPr>
        <p:spPr>
          <a:xfrm>
            <a:off x="822960" y="3886200"/>
            <a:ext cx="1417320" cy="1417320"/>
          </a:xfrm>
          <a:prstGeom prst="rect">
            <a:avLst/>
          </a:prstGeom>
          <a:solidFill>
            <a:srgbClr val="C45A0C"/>
          </a:solidFill>
          <a:ln w="25400">
            <a:solidFill>
              <a:srgbClr val="FFFFFF"/>
            </a:solidFill>
            <a:prstDash val="solid"/>
          </a:ln>
        </p:spPr>
      </p:sp>
      <p:sp>
        <p:nvSpPr>
          <p:cNvPr id="10" name="Text 7"/>
          <p:cNvSpPr txBox="1"/>
          <p:nvPr/>
        </p:nvSpPr>
        <p:spPr>
          <a:xfrm>
            <a:off x="822960" y="3886200"/>
            <a:ext cx="1417320" cy="1417320"/>
          </a:xfrm>
          <a:prstGeom prst="rect">
            <a:avLst/>
          </a:prstGeom>
          <a:noFill/>
          <a:ln/>
        </p:spPr>
        <p:txBody>
          <a:bodyPr wrap="square" lIns="25400" tIns="25400" rIns="25400" bIns="2540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a:t>
            </a:r>
            <a:r>
              <a:rPr lang="en-US" sz="2400" b="1" baseline="30000" dirty="0">
                <a:solidFill>
                  <a:srgbClr val="FFFFFF"/>
                </a:solidFill>
                <a:latin typeface="Cambria" pitchFamily="34" charset="0"/>
                <a:ea typeface="Cambria" pitchFamily="34" charset="-122"/>
                <a:cs typeface="Cambria" pitchFamily="34" charset="-120"/>
              </a:rPr>
              <a:t>T</a:t>
            </a:r>
            <a:endParaRPr lang="en-US" sz="2400" dirty="0"/>
          </a:p>
          <a:p>
            <a:pPr algn="ctr" indent="0" marL="0">
              <a:buNone/>
            </a:pPr>
            <a:endParaRPr lang="en-US" sz="2400" dirty="0"/>
          </a:p>
        </p:txBody>
      </p:sp>
      <p:sp>
        <p:nvSpPr>
          <p:cNvPr id="11" name="Shape 8"/>
          <p:cNvSpPr/>
          <p:nvPr/>
        </p:nvSpPr>
        <p:spPr>
          <a:xfrm>
            <a:off x="2240280" y="3886200"/>
            <a:ext cx="1417320" cy="1417320"/>
          </a:xfrm>
          <a:prstGeom prst="rect">
            <a:avLst/>
          </a:prstGeom>
          <a:solidFill>
            <a:srgbClr val="F3D2BC"/>
          </a:solidFill>
          <a:ln w="25400">
            <a:solidFill>
              <a:srgbClr val="FFFFFF"/>
            </a:solidFill>
            <a:prstDash val="solid"/>
          </a:ln>
        </p:spPr>
      </p:sp>
      <p:sp>
        <p:nvSpPr>
          <p:cNvPr id="12" name="Text 9"/>
          <p:cNvSpPr txBox="1"/>
          <p:nvPr/>
        </p:nvSpPr>
        <p:spPr>
          <a:xfrm>
            <a:off x="2240280" y="3886200"/>
            <a:ext cx="1417320" cy="1417320"/>
          </a:xfrm>
          <a:prstGeom prst="rect">
            <a:avLst/>
          </a:prstGeom>
          <a:noFill/>
          <a:ln/>
        </p:spPr>
        <p:txBody>
          <a:bodyPr wrap="square" lIns="25400" tIns="25400" rIns="25400" bIns="25400" rtlCol="0" anchor="ctr"/>
          <a:lstStyle/>
          <a:p>
            <a:pPr algn="ctr" indent="0" marL="0">
              <a:buNone/>
            </a:pPr>
            <a:r>
              <a:rPr lang="en-US" sz="2400" b="1" dirty="0">
                <a:solidFill>
                  <a:srgbClr val="14213D"/>
                </a:solidFill>
                <a:latin typeface="Cambria" pitchFamily="34" charset="0"/>
                <a:ea typeface="Cambria" pitchFamily="34" charset="-122"/>
                <a:cs typeface="Cambria" pitchFamily="34" charset="-120"/>
              </a:rPr>
              <a:t>B</a:t>
            </a:r>
            <a:endParaRPr lang="en-US" sz="2400" dirty="0"/>
          </a:p>
          <a:p>
            <a:pPr algn="ctr" indent="0" marL="0">
              <a:buNone/>
            </a:pPr>
            <a:r>
              <a:rPr lang="en-US" sz="1400" dirty="0">
                <a:solidFill>
                  <a:srgbClr val="14213D"/>
                </a:solidFill>
                <a:latin typeface="Calibri" pitchFamily="34" charset="0"/>
                <a:ea typeface="Calibri" pitchFamily="34" charset="-122"/>
                <a:cs typeface="Calibri" pitchFamily="34" charset="-120"/>
              </a:rPr>
              <a:t>X</a:t>
            </a:r>
            <a:r>
              <a:rPr lang="en-US" sz="1400" baseline="-25000" dirty="0">
                <a:solidFill>
                  <a:srgbClr val="14213D"/>
                </a:solidFill>
                <a:latin typeface="Calibri" pitchFamily="34" charset="0"/>
                <a:ea typeface="Calibri" pitchFamily="34" charset="-122"/>
                <a:cs typeface="Calibri" pitchFamily="34" charset="-120"/>
              </a:rPr>
              <a:t>O</a:t>
            </a:r>
            <a:r>
              <a:rPr lang="en-US" sz="1400" baseline="30000" dirty="0">
                <a:solidFill>
                  <a:srgbClr val="14213D"/>
                </a:solidFill>
                <a:latin typeface="Calibri" pitchFamily="34" charset="0"/>
                <a:ea typeface="Calibri" pitchFamily="34" charset="-122"/>
                <a:cs typeface="Calibri" pitchFamily="34" charset="-120"/>
              </a:rPr>
              <a:t>T</a:t>
            </a:r>
            <a:r>
              <a:rPr lang="en-US" sz="1400" dirty="0">
                <a:solidFill>
                  <a:srgbClr val="14213D"/>
                </a:solidFill>
                <a:latin typeface="Calibri" pitchFamily="34" charset="0"/>
                <a:ea typeface="Calibri" pitchFamily="34" charset="-122"/>
                <a:cs typeface="Calibri" pitchFamily="34" charset="-120"/>
              </a:rPr>
              <a:t> X</a:t>
            </a:r>
            <a:r>
              <a:rPr lang="en-US" sz="1400" baseline="-25000" dirty="0">
                <a:solidFill>
                  <a:srgbClr val="14213D"/>
                </a:solidFill>
                <a:latin typeface="Calibri" pitchFamily="34" charset="0"/>
                <a:ea typeface="Calibri" pitchFamily="34" charset="-122"/>
                <a:cs typeface="Calibri" pitchFamily="34" charset="-120"/>
              </a:rPr>
              <a:t>O</a:t>
            </a:r>
            <a:endParaRPr lang="en-US" sz="2400" dirty="0"/>
          </a:p>
        </p:txBody>
      </p:sp>
      <p:sp>
        <p:nvSpPr>
          <p:cNvPr id="13" name="Shape 10"/>
          <p:cNvSpPr/>
          <p:nvPr/>
        </p:nvSpPr>
        <p:spPr>
          <a:xfrm>
            <a:off x="4023360" y="2468880"/>
            <a:ext cx="1417320" cy="1417320"/>
          </a:xfrm>
          <a:prstGeom prst="rect">
            <a:avLst/>
          </a:prstGeom>
          <a:solidFill>
            <a:srgbClr val="C45A0C"/>
          </a:solidFill>
          <a:ln w="25400">
            <a:solidFill>
              <a:srgbClr val="FFFFFF"/>
            </a:solidFill>
            <a:prstDash val="solid"/>
          </a:ln>
        </p:spPr>
      </p:sp>
      <p:sp>
        <p:nvSpPr>
          <p:cNvPr id="14" name="Text 11"/>
          <p:cNvSpPr txBox="1"/>
          <p:nvPr/>
        </p:nvSpPr>
        <p:spPr>
          <a:xfrm>
            <a:off x="4023360" y="2468880"/>
            <a:ext cx="1417320" cy="1417320"/>
          </a:xfrm>
          <a:prstGeom prst="rect">
            <a:avLst/>
          </a:prstGeom>
          <a:noFill/>
          <a:ln/>
        </p:spPr>
        <p:txBody>
          <a:bodyPr wrap="square" lIns="25400" tIns="25400" rIns="25400" bIns="2540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a:t>
            </a:r>
            <a:r>
              <a:rPr lang="en-US" sz="2400" b="1" baseline="-25000" dirty="0">
                <a:solidFill>
                  <a:srgbClr val="FFFFFF"/>
                </a:solidFill>
                <a:latin typeface="Cambria" pitchFamily="34" charset="0"/>
                <a:ea typeface="Cambria" pitchFamily="34" charset="-122"/>
                <a:cs typeface="Cambria" pitchFamily="34" charset="-120"/>
              </a:rPr>
              <a:t>R</a:t>
            </a:r>
            <a:endParaRPr lang="en-US" sz="2400" dirty="0"/>
          </a:p>
          <a:p>
            <a:pPr algn="ctr" indent="0" marL="0">
              <a:buNone/>
            </a:pPr>
            <a:r>
              <a:rPr lang="en-US" sz="1400" dirty="0">
                <a:solidFill>
                  <a:srgbClr val="FFFFFF"/>
                </a:solidFill>
                <a:latin typeface="Calibri" pitchFamily="34" charset="0"/>
                <a:ea typeface="Calibri" pitchFamily="34" charset="-122"/>
                <a:cs typeface="Calibri" pitchFamily="34" charset="-120"/>
              </a:rPr>
              <a:t>X</a:t>
            </a:r>
            <a:r>
              <a:rPr lang="en-US" sz="1400" baseline="-25000" dirty="0">
                <a:solidFill>
                  <a:srgbClr val="FFFFFF"/>
                </a:solidFill>
                <a:latin typeface="Calibri" pitchFamily="34" charset="0"/>
                <a:ea typeface="Calibri" pitchFamily="34" charset="-122"/>
                <a:cs typeface="Calibri" pitchFamily="34" charset="-120"/>
              </a:rPr>
              <a:t>R</a:t>
            </a:r>
            <a:r>
              <a:rPr lang="en-US" sz="1400" baseline="30000" dirty="0">
                <a:solidFill>
                  <a:srgbClr val="FFFFFF"/>
                </a:solidFill>
                <a:latin typeface="Calibri" pitchFamily="34" charset="0"/>
                <a:ea typeface="Calibri" pitchFamily="34" charset="-122"/>
                <a:cs typeface="Calibri" pitchFamily="34" charset="-120"/>
              </a:rPr>
              <a:t>T</a:t>
            </a:r>
            <a:r>
              <a:rPr lang="en-US" sz="1400" dirty="0">
                <a:solidFill>
                  <a:srgbClr val="FFFFFF"/>
                </a:solidFill>
                <a:latin typeface="Calibri" pitchFamily="34" charset="0"/>
                <a:ea typeface="Calibri" pitchFamily="34" charset="-122"/>
                <a:cs typeface="Calibri" pitchFamily="34" charset="-120"/>
              </a:rPr>
              <a:t> y</a:t>
            </a:r>
            <a:endParaRPr lang="en-US" sz="2400" dirty="0"/>
          </a:p>
        </p:txBody>
      </p:sp>
      <p:sp>
        <p:nvSpPr>
          <p:cNvPr id="15" name="Shape 12"/>
          <p:cNvSpPr/>
          <p:nvPr/>
        </p:nvSpPr>
        <p:spPr>
          <a:xfrm>
            <a:off x="4023360" y="3886200"/>
            <a:ext cx="1417320" cy="1417320"/>
          </a:xfrm>
          <a:prstGeom prst="rect">
            <a:avLst/>
          </a:prstGeom>
          <a:solidFill>
            <a:srgbClr val="F3D2BC"/>
          </a:solidFill>
          <a:ln w="25400">
            <a:solidFill>
              <a:srgbClr val="FFFFFF"/>
            </a:solidFill>
            <a:prstDash val="solid"/>
          </a:ln>
        </p:spPr>
      </p:sp>
      <p:sp>
        <p:nvSpPr>
          <p:cNvPr id="16" name="Text 13"/>
          <p:cNvSpPr txBox="1"/>
          <p:nvPr/>
        </p:nvSpPr>
        <p:spPr>
          <a:xfrm>
            <a:off x="4023360" y="3886200"/>
            <a:ext cx="1417320" cy="1417320"/>
          </a:xfrm>
          <a:prstGeom prst="rect">
            <a:avLst/>
          </a:prstGeom>
          <a:noFill/>
          <a:ln/>
        </p:spPr>
        <p:txBody>
          <a:bodyPr wrap="square" lIns="25400" tIns="25400" rIns="25400" bIns="25400" rtlCol="0" anchor="ctr"/>
          <a:lstStyle/>
          <a:p>
            <a:pPr algn="ctr" indent="0" marL="0">
              <a:buNone/>
            </a:pPr>
            <a:r>
              <a:rPr lang="en-US" sz="2400" b="1" dirty="0">
                <a:solidFill>
                  <a:srgbClr val="14213D"/>
                </a:solidFill>
                <a:latin typeface="Cambria" pitchFamily="34" charset="0"/>
                <a:ea typeface="Cambria" pitchFamily="34" charset="-122"/>
                <a:cs typeface="Cambria" pitchFamily="34" charset="-120"/>
              </a:rPr>
              <a:t>c</a:t>
            </a:r>
            <a:r>
              <a:rPr lang="en-US" sz="2400" b="1" baseline="-25000" dirty="0">
                <a:solidFill>
                  <a:srgbClr val="14213D"/>
                </a:solidFill>
                <a:latin typeface="Cambria" pitchFamily="34" charset="0"/>
                <a:ea typeface="Cambria" pitchFamily="34" charset="-122"/>
                <a:cs typeface="Cambria" pitchFamily="34" charset="-120"/>
              </a:rPr>
              <a:t>O</a:t>
            </a:r>
            <a:endParaRPr lang="en-US" sz="2400" dirty="0"/>
          </a:p>
          <a:p>
            <a:pPr algn="ctr" indent="0" marL="0">
              <a:buNone/>
            </a:pPr>
            <a:r>
              <a:rPr lang="en-US" sz="1400" dirty="0">
                <a:solidFill>
                  <a:srgbClr val="14213D"/>
                </a:solidFill>
                <a:latin typeface="Calibri" pitchFamily="34" charset="0"/>
                <a:ea typeface="Calibri" pitchFamily="34" charset="-122"/>
                <a:cs typeface="Calibri" pitchFamily="34" charset="-120"/>
              </a:rPr>
              <a:t>X</a:t>
            </a:r>
            <a:r>
              <a:rPr lang="en-US" sz="1400" baseline="-25000" dirty="0">
                <a:solidFill>
                  <a:srgbClr val="14213D"/>
                </a:solidFill>
                <a:latin typeface="Calibri" pitchFamily="34" charset="0"/>
                <a:ea typeface="Calibri" pitchFamily="34" charset="-122"/>
                <a:cs typeface="Calibri" pitchFamily="34" charset="-120"/>
              </a:rPr>
              <a:t>O</a:t>
            </a:r>
            <a:r>
              <a:rPr lang="en-US" sz="1400" baseline="30000" dirty="0">
                <a:solidFill>
                  <a:srgbClr val="14213D"/>
                </a:solidFill>
                <a:latin typeface="Calibri" pitchFamily="34" charset="0"/>
                <a:ea typeface="Calibri" pitchFamily="34" charset="-122"/>
                <a:cs typeface="Calibri" pitchFamily="34" charset="-120"/>
              </a:rPr>
              <a:t>T</a:t>
            </a:r>
            <a:r>
              <a:rPr lang="en-US" sz="1400" dirty="0">
                <a:solidFill>
                  <a:srgbClr val="14213D"/>
                </a:solidFill>
                <a:latin typeface="Calibri" pitchFamily="34" charset="0"/>
                <a:ea typeface="Calibri" pitchFamily="34" charset="-122"/>
                <a:cs typeface="Calibri" pitchFamily="34" charset="-120"/>
              </a:rPr>
              <a:t> y</a:t>
            </a:r>
            <a:endParaRPr lang="en-US" sz="2400" dirty="0"/>
          </a:p>
        </p:txBody>
      </p:sp>
      <p:sp>
        <p:nvSpPr>
          <p:cNvPr id="17" name="Text 14"/>
          <p:cNvSpPr txBox="1"/>
          <p:nvPr/>
        </p:nvSpPr>
        <p:spPr>
          <a:xfrm>
            <a:off x="822960" y="5394960"/>
            <a:ext cx="2834640" cy="365760"/>
          </a:xfrm>
          <a:prstGeom prst="rect">
            <a:avLst/>
          </a:prstGeom>
          <a:noFill/>
          <a:ln/>
        </p:spPr>
        <p:txBody>
          <a:bodyPr wrap="square" lIns="0" tIns="0" rIns="0" bIns="0" rtlCol="0" anchor="t"/>
          <a:lstStyle/>
          <a:p>
            <a:pPr algn="ctr" indent="0" marL="0">
              <a:buNone/>
            </a:pPr>
            <a:r>
              <a:rPr lang="en-US" sz="1600" dirty="0">
                <a:solidFill>
                  <a:srgbClr val="5B6576"/>
                </a:solidFill>
                <a:latin typeface="Cambria" pitchFamily="34" charset="0"/>
                <a:ea typeface="Cambria" pitchFamily="34" charset="-122"/>
                <a:cs typeface="Cambria" pitchFamily="34" charset="-120"/>
              </a:rPr>
              <a:t>Z</a:t>
            </a:r>
            <a:r>
              <a:rPr lang="en-US" sz="1600" baseline="30000" dirty="0">
                <a:solidFill>
                  <a:srgbClr val="5B6576"/>
                </a:solidFill>
                <a:latin typeface="Cambria" pitchFamily="34" charset="0"/>
                <a:ea typeface="Cambria" pitchFamily="34" charset="-122"/>
                <a:cs typeface="Cambria" pitchFamily="34" charset="-120"/>
              </a:rPr>
              <a:t>T</a:t>
            </a:r>
            <a:r>
              <a:rPr lang="en-US" sz="1600" dirty="0">
                <a:solidFill>
                  <a:srgbClr val="5B6576"/>
                </a:solidFill>
                <a:latin typeface="Cambria" pitchFamily="34" charset="0"/>
                <a:ea typeface="Cambria" pitchFamily="34" charset="-122"/>
                <a:cs typeface="Cambria" pitchFamily="34" charset="-120"/>
              </a:rPr>
              <a:t>Z</a:t>
            </a:r>
            <a:endParaRPr lang="en-US" sz="1600" dirty="0"/>
          </a:p>
        </p:txBody>
      </p:sp>
      <p:sp>
        <p:nvSpPr>
          <p:cNvPr id="18" name="Text 15"/>
          <p:cNvSpPr txBox="1"/>
          <p:nvPr/>
        </p:nvSpPr>
        <p:spPr>
          <a:xfrm>
            <a:off x="4023360" y="5394960"/>
            <a:ext cx="1417320" cy="365760"/>
          </a:xfrm>
          <a:prstGeom prst="rect">
            <a:avLst/>
          </a:prstGeom>
          <a:noFill/>
          <a:ln/>
        </p:spPr>
        <p:txBody>
          <a:bodyPr wrap="square" lIns="0" tIns="0" rIns="0" bIns="0" rtlCol="0" anchor="t"/>
          <a:lstStyle/>
          <a:p>
            <a:pPr algn="ctr" indent="0" marL="0">
              <a:buNone/>
            </a:pPr>
            <a:r>
              <a:rPr lang="en-US" sz="1600" dirty="0">
                <a:solidFill>
                  <a:srgbClr val="5B6576"/>
                </a:solidFill>
                <a:latin typeface="Cambria" pitchFamily="34" charset="0"/>
                <a:ea typeface="Cambria" pitchFamily="34" charset="-122"/>
                <a:cs typeface="Cambria" pitchFamily="34" charset="-120"/>
              </a:rPr>
              <a:t>Z</a:t>
            </a:r>
            <a:r>
              <a:rPr lang="en-US" sz="1600" baseline="30000" dirty="0">
                <a:solidFill>
                  <a:srgbClr val="5B6576"/>
                </a:solidFill>
                <a:latin typeface="Cambria" pitchFamily="34" charset="0"/>
                <a:ea typeface="Cambria" pitchFamily="34" charset="-122"/>
                <a:cs typeface="Cambria" pitchFamily="34" charset="-120"/>
              </a:rPr>
              <a:t>T</a:t>
            </a:r>
            <a:r>
              <a:rPr lang="en-US" sz="1600" dirty="0">
                <a:solidFill>
                  <a:srgbClr val="5B6576"/>
                </a:solidFill>
                <a:latin typeface="Cambria" pitchFamily="34" charset="0"/>
                <a:ea typeface="Cambria" pitchFamily="34" charset="-122"/>
                <a:cs typeface="Cambria" pitchFamily="34" charset="-120"/>
              </a:rPr>
              <a:t>y</a:t>
            </a:r>
            <a:endParaRPr lang="en-US" sz="1600" dirty="0"/>
          </a:p>
        </p:txBody>
      </p:sp>
      <p:sp>
        <p:nvSpPr>
          <p:cNvPr id="19" name="Shape 16"/>
          <p:cNvSpPr/>
          <p:nvPr/>
        </p:nvSpPr>
        <p:spPr>
          <a:xfrm>
            <a:off x="6126480" y="2514600"/>
            <a:ext cx="365760" cy="365760"/>
          </a:xfrm>
          <a:prstGeom prst="rect">
            <a:avLst/>
          </a:prstGeom>
          <a:solidFill>
            <a:srgbClr val="D6E0EE"/>
          </a:solidFill>
          <a:ln w="12700">
            <a:solidFill>
              <a:srgbClr val="D6E0EE"/>
            </a:solidFill>
            <a:prstDash val="solid"/>
          </a:ln>
        </p:spPr>
      </p:sp>
      <p:sp>
        <p:nvSpPr>
          <p:cNvPr id="20" name="Text 17"/>
          <p:cNvSpPr txBox="1"/>
          <p:nvPr/>
        </p:nvSpPr>
        <p:spPr>
          <a:xfrm>
            <a:off x="6629400" y="2542032"/>
            <a:ext cx="4937760" cy="36576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R alone: exact, never leaves R</a:t>
            </a:r>
            <a:endParaRPr lang="en-US" sz="1500" dirty="0"/>
          </a:p>
        </p:txBody>
      </p:sp>
      <p:sp>
        <p:nvSpPr>
          <p:cNvPr id="21" name="Shape 18"/>
          <p:cNvSpPr/>
          <p:nvPr/>
        </p:nvSpPr>
        <p:spPr>
          <a:xfrm>
            <a:off x="6126480" y="3081528"/>
            <a:ext cx="365760" cy="365760"/>
          </a:xfrm>
          <a:prstGeom prst="rect">
            <a:avLst/>
          </a:prstGeom>
          <a:solidFill>
            <a:srgbClr val="F3D2BC"/>
          </a:solidFill>
          <a:ln w="12700">
            <a:solidFill>
              <a:srgbClr val="F3D2BC"/>
            </a:solidFill>
            <a:prstDash val="solid"/>
          </a:ln>
        </p:spPr>
      </p:sp>
      <p:sp>
        <p:nvSpPr>
          <p:cNvPr id="22" name="Text 19"/>
          <p:cNvSpPr txBox="1"/>
          <p:nvPr/>
        </p:nvSpPr>
        <p:spPr>
          <a:xfrm>
            <a:off x="6629400" y="3108960"/>
            <a:ext cx="4937760" cy="36576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O's data, but only on matched rows (needs b)</a:t>
            </a:r>
            <a:endParaRPr lang="en-US" sz="1500" dirty="0"/>
          </a:p>
        </p:txBody>
      </p:sp>
      <p:sp>
        <p:nvSpPr>
          <p:cNvPr id="23" name="Shape 20"/>
          <p:cNvSpPr/>
          <p:nvPr/>
        </p:nvSpPr>
        <p:spPr>
          <a:xfrm>
            <a:off x="6126480" y="3648456"/>
            <a:ext cx="365760" cy="365760"/>
          </a:xfrm>
          <a:prstGeom prst="rect">
            <a:avLst/>
          </a:prstGeom>
          <a:solidFill>
            <a:srgbClr val="C45A0C"/>
          </a:solidFill>
          <a:ln w="12700">
            <a:solidFill>
              <a:srgbClr val="C45A0C"/>
            </a:solidFill>
            <a:prstDash val="solid"/>
          </a:ln>
        </p:spPr>
      </p:sp>
      <p:sp>
        <p:nvSpPr>
          <p:cNvPr id="24" name="Text 21"/>
          <p:cNvSpPr txBox="1"/>
          <p:nvPr/>
        </p:nvSpPr>
        <p:spPr>
          <a:xfrm>
            <a:off x="6629400" y="3675888"/>
            <a:ext cx="4937760" cy="36576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Cross-party: needs both parties' data</a:t>
            </a:r>
            <a:endParaRPr lang="en-US" sz="1500" dirty="0"/>
          </a:p>
        </p:txBody>
      </p:sp>
      <p:sp>
        <p:nvSpPr>
          <p:cNvPr id="25" name="Shape 22"/>
          <p:cNvSpPr/>
          <p:nvPr/>
        </p:nvSpPr>
        <p:spPr>
          <a:xfrm>
            <a:off x="6126480" y="4389120"/>
            <a:ext cx="5486400" cy="1463040"/>
          </a:xfrm>
          <a:prstGeom prst="roundRect">
            <a:avLst>
              <a:gd name="adj" fmla="val 5000"/>
            </a:avLst>
          </a:prstGeom>
          <a:solidFill>
            <a:srgbClr val="F6E3D6"/>
          </a:solidFill>
          <a:ln w="12700">
            <a:solidFill>
              <a:srgbClr val="F6E3D6"/>
            </a:solidFill>
            <a:prstDash val="solid"/>
          </a:ln>
        </p:spPr>
      </p:sp>
      <p:sp>
        <p:nvSpPr>
          <p:cNvPr id="26" name="Text 23"/>
          <p:cNvSpPr txBox="1"/>
          <p:nvPr/>
        </p:nvSpPr>
        <p:spPr>
          <a:xfrm>
            <a:off x="6355080" y="4572000"/>
            <a:ext cx="5029200" cy="1188720"/>
          </a:xfrm>
          <a:prstGeom prst="rect">
            <a:avLst/>
          </a:prstGeom>
          <a:noFill/>
          <a:ln/>
        </p:spPr>
        <p:txBody>
          <a:bodyPr wrap="square" lIns="0" tIns="0" rIns="0" bIns="0" rtlCol="0" anchor="t"/>
          <a:lstStyle/>
          <a:p>
            <a:pPr indent="0" marL="0">
              <a:buNone/>
            </a:pPr>
            <a:r>
              <a:rPr lang="en-US" sz="1600" dirty="0">
                <a:solidFill>
                  <a:srgbClr val="14213D"/>
                </a:solidFill>
                <a:latin typeface="Calibri" pitchFamily="34" charset="0"/>
                <a:ea typeface="Calibri" pitchFamily="34" charset="-122"/>
                <a:cs typeface="Calibri" pitchFamily="34" charset="-120"/>
              </a:rPr>
              <a:t>Only A is purely R's. Everything that touches O's data is computed under encryption and noised by O before R sees it.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Three guarantees, honest-but-curious parties</a:t>
            </a:r>
            <a:endParaRPr lang="en-US" sz="3200" dirty="0"/>
          </a:p>
        </p:txBody>
      </p:sp>
      <p:sp>
        <p:nvSpPr>
          <p:cNvPr id="3" name="Shape 1"/>
          <p:cNvSpPr/>
          <p:nvPr/>
        </p:nvSpPr>
        <p:spPr>
          <a:xfrm>
            <a:off x="548640" y="1463040"/>
            <a:ext cx="3566160" cy="3291840"/>
          </a:xfrm>
          <a:prstGeom prst="roundRect">
            <a:avLst>
              <a:gd name="adj" fmla="val 2222"/>
            </a:avLst>
          </a:prstGeom>
          <a:solidFill>
            <a:srgbClr val="EEF2F7"/>
          </a:solidFill>
          <a:ln w="12700">
            <a:solidFill>
              <a:srgbClr val="EEF2F7"/>
            </a:solidFill>
            <a:prstDash val="solid"/>
          </a:ln>
        </p:spPr>
      </p:sp>
      <p:sp>
        <p:nvSpPr>
          <p:cNvPr id="4" name="Shape 2"/>
          <p:cNvSpPr/>
          <p:nvPr/>
        </p:nvSpPr>
        <p:spPr>
          <a:xfrm>
            <a:off x="822960" y="1737360"/>
            <a:ext cx="777240" cy="777240"/>
          </a:xfrm>
          <a:prstGeom prst="ellipse">
            <a:avLst/>
          </a:prstGeom>
          <a:solidFill>
            <a:srgbClr val="3D5A80"/>
          </a:solidFill>
          <a:ln w="12700">
            <a:solidFill>
              <a:srgbClr val="3D5A80"/>
            </a:solidFill>
            <a:prstDash val="solid"/>
          </a:ln>
        </p:spPr>
      </p:sp>
      <p:pic>
        <p:nvPicPr>
          <p:cNvPr id="5" name="Image 0" descr="preencoded.png">    </p:cNvPr>
          <p:cNvPicPr>
            <a:picLocks noChangeAspect="1"/>
          </p:cNvPicPr>
          <p:nvPr/>
        </p:nvPicPr>
        <p:blipFill>
          <a:blip r:embed="rId1"/>
          <a:stretch>
            <a:fillRect/>
          </a:stretch>
        </p:blipFill>
        <p:spPr>
          <a:xfrm>
            <a:off x="1009498" y="1923898"/>
            <a:ext cx="404165" cy="404165"/>
          </a:xfrm>
          <a:prstGeom prst="rect">
            <a:avLst/>
          </a:prstGeom>
        </p:spPr>
      </p:pic>
      <p:sp>
        <p:nvSpPr>
          <p:cNvPr id="6" name="Text 3"/>
          <p:cNvSpPr txBox="1"/>
          <p:nvPr/>
        </p:nvSpPr>
        <p:spPr>
          <a:xfrm>
            <a:off x="822960" y="2697480"/>
            <a:ext cx="3017520" cy="457200"/>
          </a:xfrm>
          <a:prstGeom prst="rect">
            <a:avLst/>
          </a:prstGeom>
          <a:noFill/>
          <a:ln/>
        </p:spPr>
        <p:txBody>
          <a:bodyPr wrap="square" lIns="0" tIns="0" rIns="0" bIns="0" rtlCol="0" anchor="t"/>
          <a:lstStyle/>
          <a:p>
            <a:pPr indent="0" marL="0">
              <a:buNone/>
            </a:pPr>
            <a:r>
              <a:rPr lang="en-US" sz="2100" b="1" dirty="0">
                <a:solidFill>
                  <a:srgbClr val="14213D"/>
                </a:solidFill>
                <a:latin typeface="Cambria" pitchFamily="34" charset="0"/>
                <a:ea typeface="Cambria" pitchFamily="34" charset="-122"/>
                <a:cs typeface="Cambria" pitchFamily="34" charset="-120"/>
              </a:rPr>
              <a:t>Input privacy</a:t>
            </a:r>
            <a:endParaRPr lang="en-US" sz="2100" dirty="0"/>
          </a:p>
        </p:txBody>
      </p:sp>
      <p:sp>
        <p:nvSpPr>
          <p:cNvPr id="7" name="Text 4"/>
          <p:cNvSpPr txBox="1"/>
          <p:nvPr/>
        </p:nvSpPr>
        <p:spPr>
          <a:xfrm>
            <a:off x="822960" y="3200400"/>
            <a:ext cx="3063240" cy="146304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Each party's view can be simulated from its own input and the agreed output. Neither sees the other's raw data.</a:t>
            </a:r>
            <a:endParaRPr lang="en-US" sz="1450" dirty="0"/>
          </a:p>
        </p:txBody>
      </p:sp>
      <p:sp>
        <p:nvSpPr>
          <p:cNvPr id="8" name="Shape 5"/>
          <p:cNvSpPr/>
          <p:nvPr/>
        </p:nvSpPr>
        <p:spPr>
          <a:xfrm>
            <a:off x="4343400" y="1463040"/>
            <a:ext cx="3566160" cy="3291840"/>
          </a:xfrm>
          <a:prstGeom prst="roundRect">
            <a:avLst>
              <a:gd name="adj" fmla="val 2222"/>
            </a:avLst>
          </a:prstGeom>
          <a:solidFill>
            <a:srgbClr val="EEF2F7"/>
          </a:solidFill>
          <a:ln w="12700">
            <a:solidFill>
              <a:srgbClr val="EEF2F7"/>
            </a:solidFill>
            <a:prstDash val="solid"/>
          </a:ln>
        </p:spPr>
      </p:sp>
      <p:sp>
        <p:nvSpPr>
          <p:cNvPr id="9" name="Shape 6"/>
          <p:cNvSpPr/>
          <p:nvPr/>
        </p:nvSpPr>
        <p:spPr>
          <a:xfrm>
            <a:off x="4617720" y="1737360"/>
            <a:ext cx="777240" cy="777240"/>
          </a:xfrm>
          <a:prstGeom prst="ellipse">
            <a:avLst/>
          </a:prstGeom>
          <a:solidFill>
            <a:srgbClr val="1B8A7A"/>
          </a:solidFill>
          <a:ln w="12700">
            <a:solidFill>
              <a:srgbClr val="1B8A7A"/>
            </a:solidFill>
            <a:prstDash val="solid"/>
          </a:ln>
        </p:spPr>
      </p:sp>
      <p:pic>
        <p:nvPicPr>
          <p:cNvPr id="10" name="Image 1" descr="preencoded.png">    </p:cNvPr>
          <p:cNvPicPr>
            <a:picLocks noChangeAspect="1"/>
          </p:cNvPicPr>
          <p:nvPr/>
        </p:nvPicPr>
        <p:blipFill>
          <a:blip r:embed="rId2"/>
          <a:stretch>
            <a:fillRect/>
          </a:stretch>
        </p:blipFill>
        <p:spPr>
          <a:xfrm>
            <a:off x="4804258" y="1923898"/>
            <a:ext cx="404165" cy="404165"/>
          </a:xfrm>
          <a:prstGeom prst="rect">
            <a:avLst/>
          </a:prstGeom>
        </p:spPr>
      </p:pic>
      <p:sp>
        <p:nvSpPr>
          <p:cNvPr id="11" name="Text 7"/>
          <p:cNvSpPr txBox="1"/>
          <p:nvPr/>
        </p:nvSpPr>
        <p:spPr>
          <a:xfrm>
            <a:off x="4617720" y="2697480"/>
            <a:ext cx="3017520" cy="457200"/>
          </a:xfrm>
          <a:prstGeom prst="rect">
            <a:avLst/>
          </a:prstGeom>
          <a:noFill/>
          <a:ln/>
        </p:spPr>
        <p:txBody>
          <a:bodyPr wrap="square" lIns="0" tIns="0" rIns="0" bIns="0" rtlCol="0" anchor="t"/>
          <a:lstStyle/>
          <a:p>
            <a:pPr indent="0" marL="0">
              <a:buNone/>
            </a:pPr>
            <a:r>
              <a:rPr lang="en-US" sz="2100" b="1" dirty="0">
                <a:solidFill>
                  <a:srgbClr val="14213D"/>
                </a:solidFill>
                <a:latin typeface="Cambria" pitchFamily="34" charset="0"/>
                <a:ea typeface="Cambria" pitchFamily="34" charset="-122"/>
                <a:cs typeface="Cambria" pitchFamily="34" charset="-120"/>
              </a:rPr>
              <a:t>Linkage privacy</a:t>
            </a:r>
            <a:endParaRPr lang="en-US" sz="2100" dirty="0"/>
          </a:p>
        </p:txBody>
      </p:sp>
      <p:sp>
        <p:nvSpPr>
          <p:cNvPr id="12" name="Text 8"/>
          <p:cNvSpPr txBox="1"/>
          <p:nvPr/>
        </p:nvSpPr>
        <p:spPr>
          <a:xfrm>
            <a:off x="4617720" y="3200400"/>
            <a:ext cx="3063240" cy="146304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O learns nothing about which of its records match R's cohort (only public sizes).</a:t>
            </a:r>
            <a:endParaRPr lang="en-US" sz="1450" dirty="0"/>
          </a:p>
        </p:txBody>
      </p:sp>
      <p:sp>
        <p:nvSpPr>
          <p:cNvPr id="13" name="Shape 9"/>
          <p:cNvSpPr/>
          <p:nvPr/>
        </p:nvSpPr>
        <p:spPr>
          <a:xfrm>
            <a:off x="8138160" y="1463040"/>
            <a:ext cx="3566160" cy="3291840"/>
          </a:xfrm>
          <a:prstGeom prst="roundRect">
            <a:avLst>
              <a:gd name="adj" fmla="val 2222"/>
            </a:avLst>
          </a:prstGeom>
          <a:solidFill>
            <a:srgbClr val="EEF2F7"/>
          </a:solidFill>
          <a:ln w="12700">
            <a:solidFill>
              <a:srgbClr val="EEF2F7"/>
            </a:solidFill>
            <a:prstDash val="solid"/>
          </a:ln>
        </p:spPr>
      </p:sp>
      <p:sp>
        <p:nvSpPr>
          <p:cNvPr id="14" name="Shape 10"/>
          <p:cNvSpPr/>
          <p:nvPr/>
        </p:nvSpPr>
        <p:spPr>
          <a:xfrm>
            <a:off x="8412480" y="1737360"/>
            <a:ext cx="777240" cy="777240"/>
          </a:xfrm>
          <a:prstGeom prst="ellipse">
            <a:avLst/>
          </a:prstGeom>
          <a:solidFill>
            <a:srgbClr val="C45A0C"/>
          </a:solidFill>
          <a:ln w="12700">
            <a:solidFill>
              <a:srgbClr val="C45A0C"/>
            </a:solidFill>
            <a:prstDash val="solid"/>
          </a:ln>
        </p:spPr>
      </p:sp>
      <p:pic>
        <p:nvPicPr>
          <p:cNvPr id="15" name="Image 2" descr="preencoded.png">    </p:cNvPr>
          <p:cNvPicPr>
            <a:picLocks noChangeAspect="1"/>
          </p:cNvPicPr>
          <p:nvPr/>
        </p:nvPicPr>
        <p:blipFill>
          <a:blip r:embed="rId3"/>
          <a:stretch>
            <a:fillRect/>
          </a:stretch>
        </p:blipFill>
        <p:spPr>
          <a:xfrm>
            <a:off x="8599018" y="1923898"/>
            <a:ext cx="404165" cy="404165"/>
          </a:xfrm>
          <a:prstGeom prst="rect">
            <a:avLst/>
          </a:prstGeom>
        </p:spPr>
      </p:pic>
      <p:sp>
        <p:nvSpPr>
          <p:cNvPr id="16" name="Text 11"/>
          <p:cNvSpPr txBox="1"/>
          <p:nvPr/>
        </p:nvSpPr>
        <p:spPr>
          <a:xfrm>
            <a:off x="8412480" y="2697480"/>
            <a:ext cx="3017520" cy="457200"/>
          </a:xfrm>
          <a:prstGeom prst="rect">
            <a:avLst/>
          </a:prstGeom>
          <a:noFill/>
          <a:ln/>
        </p:spPr>
        <p:txBody>
          <a:bodyPr wrap="square" lIns="0" tIns="0" rIns="0" bIns="0" rtlCol="0" anchor="t"/>
          <a:lstStyle/>
          <a:p>
            <a:pPr indent="0" marL="0">
              <a:buNone/>
            </a:pPr>
            <a:r>
              <a:rPr lang="en-US" sz="2100" b="1" dirty="0">
                <a:solidFill>
                  <a:srgbClr val="14213D"/>
                </a:solidFill>
                <a:latin typeface="Cambria" pitchFamily="34" charset="0"/>
                <a:ea typeface="Cambria" pitchFamily="34" charset="-122"/>
                <a:cs typeface="Cambria" pitchFamily="34" charset="-120"/>
              </a:rPr>
              <a:t>Output privacy</a:t>
            </a:r>
            <a:endParaRPr lang="en-US" sz="2100" dirty="0"/>
          </a:p>
        </p:txBody>
      </p:sp>
      <p:sp>
        <p:nvSpPr>
          <p:cNvPr id="17" name="Text 12"/>
          <p:cNvSpPr txBox="1"/>
          <p:nvPr/>
        </p:nvSpPr>
        <p:spPr>
          <a:xfrm>
            <a:off x="8412480" y="3200400"/>
            <a:ext cx="3063240" cy="146304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What R receives is differentially private (SIM-CDP) for each matched person's O-side data (x</a:t>
            </a:r>
            <a:r>
              <a:rPr lang="en-US" sz="1450" baseline="-25000" dirty="0">
                <a:solidFill>
                  <a:srgbClr val="1F2937"/>
                </a:solidFill>
                <a:latin typeface="Calibri" pitchFamily="34" charset="0"/>
                <a:ea typeface="Calibri" pitchFamily="34" charset="-122"/>
                <a:cs typeface="Calibri" pitchFamily="34" charset="-120"/>
              </a:rPr>
              <a:t>O</a:t>
            </a:r>
            <a:r>
              <a:rPr lang="en-US" sz="1450" dirty="0">
                <a:solidFill>
                  <a:srgbClr val="1F2937"/>
                </a:solidFill>
                <a:latin typeface="Calibri" pitchFamily="34" charset="0"/>
                <a:ea typeface="Calibri" pitchFamily="34" charset="-122"/>
                <a:cs typeface="Calibri" pitchFamily="34" charset="-120"/>
              </a:rPr>
              <a:t>, y), with R's features held fixed (replace-one).</a:t>
            </a:r>
            <a:endParaRPr lang="en-US" sz="1450" dirty="0"/>
          </a:p>
        </p:txBody>
      </p:sp>
      <p:sp>
        <p:nvSpPr>
          <p:cNvPr id="18" name="Shape 13"/>
          <p:cNvSpPr/>
          <p:nvPr/>
        </p:nvSpPr>
        <p:spPr>
          <a:xfrm>
            <a:off x="548640" y="5074920"/>
            <a:ext cx="11064240" cy="1143000"/>
          </a:xfrm>
          <a:prstGeom prst="roundRect">
            <a:avLst>
              <a:gd name="adj" fmla="val 6400"/>
            </a:avLst>
          </a:prstGeom>
          <a:solidFill>
            <a:srgbClr val="F7F9FC"/>
          </a:solidFill>
          <a:ln w="12700">
            <a:solidFill>
              <a:srgbClr val="F7F9FC"/>
            </a:solidFill>
            <a:prstDash val="solid"/>
          </a:ln>
        </p:spPr>
      </p:sp>
      <p:sp>
        <p:nvSpPr>
          <p:cNvPr id="19" name="Shape 14"/>
          <p:cNvSpPr/>
          <p:nvPr/>
        </p:nvSpPr>
        <p:spPr>
          <a:xfrm>
            <a:off x="777240" y="5285232"/>
            <a:ext cx="731520" cy="731520"/>
          </a:xfrm>
          <a:prstGeom prst="ellipse">
            <a:avLst/>
          </a:prstGeom>
          <a:solidFill>
            <a:srgbClr val="14213D"/>
          </a:solidFill>
          <a:ln w="12700">
            <a:solidFill>
              <a:srgbClr val="14213D"/>
            </a:solidFill>
            <a:prstDash val="solid"/>
          </a:ln>
        </p:spPr>
      </p:sp>
      <p:pic>
        <p:nvPicPr>
          <p:cNvPr id="20" name="Image 3" descr="preencoded.png">    </p:cNvPr>
          <p:cNvPicPr>
            <a:picLocks noChangeAspect="1"/>
          </p:cNvPicPr>
          <p:nvPr/>
        </p:nvPicPr>
        <p:blipFill>
          <a:blip r:embed="rId4"/>
          <a:stretch>
            <a:fillRect/>
          </a:stretch>
        </p:blipFill>
        <p:spPr>
          <a:xfrm>
            <a:off x="952805" y="5460797"/>
            <a:ext cx="380390" cy="380390"/>
          </a:xfrm>
          <a:prstGeom prst="rect">
            <a:avLst/>
          </a:prstGeom>
        </p:spPr>
      </p:pic>
      <p:sp>
        <p:nvSpPr>
          <p:cNvPr id="21" name="Text 15"/>
          <p:cNvSpPr txBox="1"/>
          <p:nvPr/>
        </p:nvSpPr>
        <p:spPr>
          <a:xfrm>
            <a:off x="1737360" y="5303520"/>
            <a:ext cx="9692640" cy="777240"/>
          </a:xfrm>
          <a:prstGeom prst="rect">
            <a:avLst/>
          </a:prstGeom>
          <a:noFill/>
          <a:ln/>
        </p:spPr>
        <p:txBody>
          <a:bodyPr wrap="square" lIns="0" tIns="0" rIns="0" bIns="0" rtlCol="0" anchor="ctr"/>
          <a:lstStyle/>
          <a:p>
            <a:pPr indent="0" marL="0">
              <a:buNone/>
            </a:pPr>
            <a:r>
              <a:rPr lang="en-US" sz="1550" dirty="0">
                <a:solidFill>
                  <a:srgbClr val="14213D"/>
                </a:solidFill>
                <a:latin typeface="Calibri" pitchFamily="34" charset="0"/>
                <a:ea typeface="Calibri" pitchFamily="34" charset="-122"/>
                <a:cs typeface="Calibri" pitchFamily="34" charset="-120"/>
              </a:rPr>
              <a:t>Parties follow the protocol but analyse everything they receive. In v3.1, R and O each hold a share of the decryption key (in v2, R held all of it). R learns the match set by design; O controls the privacy budget.</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Where this work sits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9144000" cy="914400"/>
        </p:xfrm>
        <a:graphic>
          <a:graphicData uri="http://schemas.openxmlformats.org/drawingml/2006/table">
            <a:tbl>
              <a:tblPr/>
              <a:tblGrid>
                <a:gridCol w="2743200"/>
                <a:gridCol w="2331720"/>
                <a:gridCol w="1920240"/>
                <a:gridCol w="1874520"/>
                <a:gridCol w="2194560"/>
              </a:tblGrid>
              <a:tr h="56692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Approach</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Where the data sit</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Record linkage</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Output privacy</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Gap for our setting</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566928">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Central DP regression (AdaSSP, Wang 2018)</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One trusted curator holds the joined table</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Not needed</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DP</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Assumes the pooled data exist</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566928">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VFL with HE (e.g. Yang et al. 2019)</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Split across parties</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Assumed or separate PSI</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Usually none</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Model can leak individuals</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566928">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Private set intersection (Chen–Laine–Rindal)</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Split across parties</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Yes</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Not applicable</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Linkage only, no model</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566928">
                <a:tc>
                  <a:txBody>
                    <a:bodyPr/>
                    <a:lstStyle/>
                    <a:p>
                      <a:pPr indent="0" marL="0">
                        <a:buNone/>
                      </a:pPr>
                      <a:r>
                        <a:rPr lang="en-US" sz="1350" b="1" dirty="0">
                          <a:solidFill>
                            <a:srgbClr val="C45A0C"/>
                          </a:solidFill>
                          <a:latin typeface="Calibri" pitchFamily="34" charset="0"/>
                          <a:ea typeface="Calibri" pitchFamily="34" charset="-122"/>
                          <a:cs typeface="Calibri" pitchFamily="34" charset="-120"/>
                        </a:rPr>
                        <a:t>This work</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Split; never pooled</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Labeled PSI, private to O</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DP, budget controlled by O</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5B6576"/>
                          </a:solidFill>
                          <a:latin typeface="Calibri" pitchFamily="34" charset="0"/>
                          <a:ea typeface="Calibri" pitchFamily="34" charset="-122"/>
                          <a:cs typeface="Calibri" pitchFamily="34" charset="-120"/>
                        </a:rPr>
                        <a:t>Narrower guarantee: protects O's side; R learns membership</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4" name="Shape 1"/>
          <p:cNvSpPr/>
          <p:nvPr/>
        </p:nvSpPr>
        <p:spPr>
          <a:xfrm>
            <a:off x="548640" y="4892040"/>
            <a:ext cx="11064240" cy="1234440"/>
          </a:xfrm>
          <a:prstGeom prst="roundRect">
            <a:avLst>
              <a:gd name="adj" fmla="val 5926"/>
            </a:avLst>
          </a:prstGeom>
          <a:solidFill>
            <a:srgbClr val="F6E3D6"/>
          </a:solidFill>
          <a:ln w="12700">
            <a:solidFill>
              <a:srgbClr val="F6E3D6"/>
            </a:solidFill>
            <a:prstDash val="solid"/>
          </a:ln>
        </p:spPr>
      </p:sp>
      <p:sp>
        <p:nvSpPr>
          <p:cNvPr id="5" name="Text 2"/>
          <p:cNvSpPr txBox="1"/>
          <p:nvPr/>
        </p:nvSpPr>
        <p:spPr>
          <a:xfrm>
            <a:off x="822960" y="5074920"/>
            <a:ext cx="10515600" cy="914400"/>
          </a:xfrm>
          <a:prstGeom prst="rect">
            <a:avLst/>
          </a:prstGeom>
          <a:noFill/>
          <a:ln/>
        </p:spPr>
        <p:txBody>
          <a:bodyPr wrap="square" lIns="0" tIns="0" rIns="0" bIns="0" rtlCol="0" anchor="ctr"/>
          <a:lstStyle/>
          <a:p>
            <a:pPr indent="0" marL="0">
              <a:buNone/>
            </a:pPr>
            <a:r>
              <a:rPr lang="en-US" sz="1650" dirty="0">
                <a:solidFill>
                  <a:srgbClr val="14213D"/>
                </a:solidFill>
                <a:latin typeface="Calibri" pitchFamily="34" charset="0"/>
                <a:ea typeface="Calibri" pitchFamily="34" charset="-122"/>
                <a:cs typeface="Calibri" pitchFamily="34" charset="-120"/>
              </a:rPr>
              <a:t>Same statistical engine as AdaSSP (perturb the sufficient statistics, then solve a ridge), delivered without pooling, and with R's own block kept exact.</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22960" y="1051560"/>
            <a:ext cx="1188720" cy="1188720"/>
          </a:xfrm>
          <a:prstGeom prst="ellipse">
            <a:avLst/>
          </a:prstGeom>
          <a:solidFill>
            <a:srgbClr val="C45A0C"/>
          </a:solidFill>
          <a:ln w="12700">
            <a:solidFill>
              <a:srgbClr val="C45A0C"/>
            </a:solidFill>
            <a:prstDash val="solid"/>
          </a:ln>
        </p:spPr>
      </p:sp>
      <p:sp>
        <p:nvSpPr>
          <p:cNvPr id="3" name="Text 1"/>
          <p:cNvSpPr txBox="1"/>
          <p:nvPr/>
        </p:nvSpPr>
        <p:spPr>
          <a:xfrm>
            <a:off x="822960" y="1051560"/>
            <a:ext cx="1188720" cy="118872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2</a:t>
            </a:r>
            <a:endParaRPr lang="en-US" sz="3600" dirty="0"/>
          </a:p>
        </p:txBody>
      </p:sp>
      <p:sp>
        <p:nvSpPr>
          <p:cNvPr id="4" name="Text 2"/>
          <p:cNvSpPr txBox="1"/>
          <p:nvPr/>
        </p:nvSpPr>
        <p:spPr>
          <a:xfrm>
            <a:off x="2377440" y="960120"/>
            <a:ext cx="86868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we did</a:t>
            </a:r>
            <a:endParaRPr lang="en-US" sz="4000" dirty="0"/>
          </a:p>
        </p:txBody>
      </p:sp>
      <p:sp>
        <p:nvSpPr>
          <p:cNvPr id="5" name="Text 3"/>
          <p:cNvSpPr txBox="1"/>
          <p:nvPr/>
        </p:nvSpPr>
        <p:spPr>
          <a:xfrm>
            <a:off x="2377440" y="1783080"/>
            <a:ext cx="9326880" cy="548640"/>
          </a:xfrm>
          <a:prstGeom prst="rect">
            <a:avLst/>
          </a:prstGeom>
          <a:noFill/>
          <a:ln/>
        </p:spPr>
        <p:txBody>
          <a:bodyPr wrap="square" lIns="0" tIns="0" rIns="0" bIns="0" rtlCol="0" anchor="ctr"/>
          <a:lstStyle/>
          <a:p>
            <a:pPr indent="0" marL="0">
              <a:buNone/>
            </a:pPr>
            <a:r>
              <a:rPr lang="en-US" sz="1800" dirty="0">
                <a:solidFill>
                  <a:srgbClr val="CAD5E6"/>
                </a:solidFill>
                <a:latin typeface="Calibri" pitchFamily="34" charset="0"/>
                <a:ea typeface="Calibri" pitchFamily="34" charset="-122"/>
                <a:cs typeface="Calibri" pitchFamily="34" charset="-120"/>
              </a:rPr>
              <a:t>Reviewed the draft and rebuilt it; had the rebuild refereed, then rebuilt and proved it</a:t>
            </a:r>
            <a:endParaRPr lang="en-US" sz="1800" dirty="0"/>
          </a:p>
        </p:txBody>
      </p:sp>
      <p:sp>
        <p:nvSpPr>
          <p:cNvPr id="6" name="Shape 4"/>
          <p:cNvSpPr/>
          <p:nvPr/>
        </p:nvSpPr>
        <p:spPr>
          <a:xfrm>
            <a:off x="914400" y="3621024"/>
            <a:ext cx="9985248" cy="0"/>
          </a:xfrm>
          <a:prstGeom prst="line">
            <a:avLst/>
          </a:prstGeom>
          <a:noFill/>
          <a:ln w="25400">
            <a:solidFill>
              <a:srgbClr val="3D5A80"/>
            </a:solidFill>
            <a:prstDash val="solid"/>
          </a:ln>
        </p:spPr>
      </p:sp>
      <p:sp>
        <p:nvSpPr>
          <p:cNvPr id="7" name="Shape 5"/>
          <p:cNvSpPr/>
          <p:nvPr/>
        </p:nvSpPr>
        <p:spPr>
          <a:xfrm>
            <a:off x="548640" y="3291840"/>
            <a:ext cx="658368" cy="658368"/>
          </a:xfrm>
          <a:prstGeom prst="ellipse">
            <a:avLst/>
          </a:prstGeom>
          <a:solidFill>
            <a:srgbClr val="3D5A80"/>
          </a:solidFill>
          <a:ln w="12700">
            <a:solidFill>
              <a:srgbClr val="3D5A80"/>
            </a:solidFill>
            <a:prstDash val="solid"/>
          </a:ln>
        </p:spPr>
      </p:sp>
      <p:pic>
        <p:nvPicPr>
          <p:cNvPr id="8" name="Image 0" descr="preencoded.png">    </p:cNvPr>
          <p:cNvPicPr>
            <a:picLocks noChangeAspect="1"/>
          </p:cNvPicPr>
          <p:nvPr/>
        </p:nvPicPr>
        <p:blipFill>
          <a:blip r:embed="rId1"/>
          <a:stretch>
            <a:fillRect/>
          </a:stretch>
        </p:blipFill>
        <p:spPr>
          <a:xfrm>
            <a:off x="706648" y="3449848"/>
            <a:ext cx="342351" cy="342351"/>
          </a:xfrm>
          <a:prstGeom prst="rect">
            <a:avLst/>
          </a:prstGeom>
        </p:spPr>
      </p:pic>
      <p:sp>
        <p:nvSpPr>
          <p:cNvPr id="9" name="Text 6"/>
          <p:cNvSpPr txBox="1"/>
          <p:nvPr/>
        </p:nvSpPr>
        <p:spPr>
          <a:xfrm>
            <a:off x="457200" y="4133088"/>
            <a:ext cx="1444752" cy="384048"/>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1. Review</a:t>
            </a:r>
            <a:endParaRPr lang="en-US" sz="1350" dirty="0"/>
          </a:p>
        </p:txBody>
      </p:sp>
      <p:sp>
        <p:nvSpPr>
          <p:cNvPr id="10" name="Text 7"/>
          <p:cNvSpPr txBox="1"/>
          <p:nvPr/>
        </p:nvSpPr>
        <p:spPr>
          <a:xfrm>
            <a:off x="457200" y="4553712"/>
            <a:ext cx="1298448" cy="1371600"/>
          </a:xfrm>
          <a:prstGeom prst="rect">
            <a:avLst/>
          </a:prstGeom>
          <a:noFill/>
          <a:ln/>
        </p:spPr>
        <p:txBody>
          <a:bodyPr wrap="square" lIns="0" tIns="0" rIns="0" bIns="0" rtlCol="0" anchor="t"/>
          <a:lstStyle/>
          <a:p>
            <a:pPr indent="0" marL="0">
              <a:buNone/>
            </a:pPr>
            <a:r>
              <a:rPr lang="en-US" sz="1250" dirty="0">
                <a:solidFill>
                  <a:srgbClr val="CAD5E6"/>
                </a:solidFill>
                <a:latin typeface="Calibri" pitchFamily="34" charset="0"/>
                <a:ea typeface="Calibri" pitchFamily="34" charset="-122"/>
                <a:cs typeface="Calibri" pitchFamily="34" charset="-120"/>
              </a:rPr>
              <a:t>Draft paper and code checked line by line</a:t>
            </a:r>
            <a:endParaRPr lang="en-US" sz="1250" dirty="0"/>
          </a:p>
        </p:txBody>
      </p:sp>
      <p:sp>
        <p:nvSpPr>
          <p:cNvPr id="11" name="Shape 8"/>
          <p:cNvSpPr/>
          <p:nvPr/>
        </p:nvSpPr>
        <p:spPr>
          <a:xfrm>
            <a:off x="1975104" y="3291840"/>
            <a:ext cx="658368" cy="658368"/>
          </a:xfrm>
          <a:prstGeom prst="ellipse">
            <a:avLst/>
          </a:prstGeom>
          <a:solidFill>
            <a:srgbClr val="3D5A80"/>
          </a:solidFill>
          <a:ln w="12700">
            <a:solidFill>
              <a:srgbClr val="3D5A80"/>
            </a:solidFill>
            <a:prstDash val="solid"/>
          </a:ln>
        </p:spPr>
      </p:sp>
      <p:pic>
        <p:nvPicPr>
          <p:cNvPr id="12" name="Image 1" descr="preencoded.png">    </p:cNvPr>
          <p:cNvPicPr>
            <a:picLocks noChangeAspect="1"/>
          </p:cNvPicPr>
          <p:nvPr/>
        </p:nvPicPr>
        <p:blipFill>
          <a:blip r:embed="rId2"/>
          <a:stretch>
            <a:fillRect/>
          </a:stretch>
        </p:blipFill>
        <p:spPr>
          <a:xfrm>
            <a:off x="2133112" y="3449848"/>
            <a:ext cx="342351" cy="342351"/>
          </a:xfrm>
          <a:prstGeom prst="rect">
            <a:avLst/>
          </a:prstGeom>
        </p:spPr>
      </p:pic>
      <p:sp>
        <p:nvSpPr>
          <p:cNvPr id="13" name="Text 9"/>
          <p:cNvSpPr txBox="1"/>
          <p:nvPr/>
        </p:nvSpPr>
        <p:spPr>
          <a:xfrm>
            <a:off x="1883664" y="4133088"/>
            <a:ext cx="1444752" cy="384048"/>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2. Run</a:t>
            </a:r>
            <a:endParaRPr lang="en-US" sz="1350" dirty="0"/>
          </a:p>
        </p:txBody>
      </p:sp>
      <p:sp>
        <p:nvSpPr>
          <p:cNvPr id="14" name="Text 10"/>
          <p:cNvSpPr txBox="1"/>
          <p:nvPr/>
        </p:nvSpPr>
        <p:spPr>
          <a:xfrm>
            <a:off x="1883664" y="4553712"/>
            <a:ext cx="1298448" cy="1371600"/>
          </a:xfrm>
          <a:prstGeom prst="rect">
            <a:avLst/>
          </a:prstGeom>
          <a:noFill/>
          <a:ln/>
        </p:spPr>
        <p:txBody>
          <a:bodyPr wrap="square" lIns="0" tIns="0" rIns="0" bIns="0" rtlCol="0" anchor="t"/>
          <a:lstStyle/>
          <a:p>
            <a:pPr indent="0" marL="0">
              <a:buNone/>
            </a:pPr>
            <a:r>
              <a:rPr lang="en-US" sz="1250" dirty="0">
                <a:solidFill>
                  <a:srgbClr val="CAD5E6"/>
                </a:solidFill>
                <a:latin typeface="Calibri" pitchFamily="34" charset="0"/>
                <a:ea typeface="Calibri" pitchFamily="34" charset="-122"/>
                <a:cs typeface="Calibri" pitchFamily="34" charset="-120"/>
              </a:rPr>
              <a:t>End-to-end over sockets: plaintext and OpenFHE</a:t>
            </a:r>
            <a:endParaRPr lang="en-US" sz="1250" dirty="0"/>
          </a:p>
        </p:txBody>
      </p:sp>
      <p:sp>
        <p:nvSpPr>
          <p:cNvPr id="15" name="Shape 11"/>
          <p:cNvSpPr/>
          <p:nvPr/>
        </p:nvSpPr>
        <p:spPr>
          <a:xfrm>
            <a:off x="3401568" y="3291840"/>
            <a:ext cx="658368" cy="658368"/>
          </a:xfrm>
          <a:prstGeom prst="ellipse">
            <a:avLst/>
          </a:prstGeom>
          <a:solidFill>
            <a:srgbClr val="C45A0C"/>
          </a:solidFill>
          <a:ln w="12700">
            <a:solidFill>
              <a:srgbClr val="C45A0C"/>
            </a:solidFill>
            <a:prstDash val="solid"/>
          </a:ln>
        </p:spPr>
      </p:sp>
      <p:pic>
        <p:nvPicPr>
          <p:cNvPr id="16" name="Image 2" descr="preencoded.png">    </p:cNvPr>
          <p:cNvPicPr>
            <a:picLocks noChangeAspect="1"/>
          </p:cNvPicPr>
          <p:nvPr/>
        </p:nvPicPr>
        <p:blipFill>
          <a:blip r:embed="rId3"/>
          <a:stretch>
            <a:fillRect/>
          </a:stretch>
        </p:blipFill>
        <p:spPr>
          <a:xfrm>
            <a:off x="3559576" y="3449848"/>
            <a:ext cx="342351" cy="342351"/>
          </a:xfrm>
          <a:prstGeom prst="rect">
            <a:avLst/>
          </a:prstGeom>
        </p:spPr>
      </p:pic>
      <p:sp>
        <p:nvSpPr>
          <p:cNvPr id="17" name="Text 12"/>
          <p:cNvSpPr txBox="1"/>
          <p:nvPr/>
        </p:nvSpPr>
        <p:spPr>
          <a:xfrm>
            <a:off x="3310128" y="4133088"/>
            <a:ext cx="1444752" cy="384048"/>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3. Attack</a:t>
            </a:r>
            <a:endParaRPr lang="en-US" sz="1350" dirty="0"/>
          </a:p>
        </p:txBody>
      </p:sp>
      <p:sp>
        <p:nvSpPr>
          <p:cNvPr id="18" name="Text 13"/>
          <p:cNvSpPr txBox="1"/>
          <p:nvPr/>
        </p:nvSpPr>
        <p:spPr>
          <a:xfrm>
            <a:off x="3310128" y="4553712"/>
            <a:ext cx="1298448" cy="1371600"/>
          </a:xfrm>
          <a:prstGeom prst="rect">
            <a:avLst/>
          </a:prstGeom>
          <a:noFill/>
          <a:ln/>
        </p:spPr>
        <p:txBody>
          <a:bodyPr wrap="square" lIns="0" tIns="0" rIns="0" bIns="0" rtlCol="0" anchor="t"/>
          <a:lstStyle/>
          <a:p>
            <a:pPr indent="0" marL="0">
              <a:buNone/>
            </a:pPr>
            <a:r>
              <a:rPr lang="en-US" sz="1250" dirty="0">
                <a:solidFill>
                  <a:srgbClr val="CAD5E6"/>
                </a:solidFill>
                <a:latin typeface="Calibri" pitchFamily="34" charset="0"/>
                <a:ea typeface="Calibri" pitchFamily="34" charset="-122"/>
                <a:cs typeface="Calibri" pitchFamily="34" charset="-120"/>
              </a:rPr>
              <a:t>Three privacy reviews and a critique</a:t>
            </a:r>
            <a:endParaRPr lang="en-US" sz="1250" dirty="0"/>
          </a:p>
        </p:txBody>
      </p:sp>
      <p:sp>
        <p:nvSpPr>
          <p:cNvPr id="19" name="Shape 14"/>
          <p:cNvSpPr/>
          <p:nvPr/>
        </p:nvSpPr>
        <p:spPr>
          <a:xfrm>
            <a:off x="4828032" y="3291840"/>
            <a:ext cx="658368" cy="658368"/>
          </a:xfrm>
          <a:prstGeom prst="ellipse">
            <a:avLst/>
          </a:prstGeom>
          <a:solidFill>
            <a:srgbClr val="3D5A80"/>
          </a:solidFill>
          <a:ln w="12700">
            <a:solidFill>
              <a:srgbClr val="3D5A80"/>
            </a:solidFill>
            <a:prstDash val="solid"/>
          </a:ln>
        </p:spPr>
      </p:sp>
      <p:pic>
        <p:nvPicPr>
          <p:cNvPr id="20" name="Image 3" descr="preencoded.png">    </p:cNvPr>
          <p:cNvPicPr>
            <a:picLocks noChangeAspect="1"/>
          </p:cNvPicPr>
          <p:nvPr/>
        </p:nvPicPr>
        <p:blipFill>
          <a:blip r:embed="rId4"/>
          <a:stretch>
            <a:fillRect/>
          </a:stretch>
        </p:blipFill>
        <p:spPr>
          <a:xfrm>
            <a:off x="4986040" y="3449848"/>
            <a:ext cx="342351" cy="342351"/>
          </a:xfrm>
          <a:prstGeom prst="rect">
            <a:avLst/>
          </a:prstGeom>
        </p:spPr>
      </p:pic>
      <p:sp>
        <p:nvSpPr>
          <p:cNvPr id="21" name="Text 15"/>
          <p:cNvSpPr txBox="1"/>
          <p:nvPr/>
        </p:nvSpPr>
        <p:spPr>
          <a:xfrm>
            <a:off x="4736592" y="4133088"/>
            <a:ext cx="1444752" cy="384048"/>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4. Redesign</a:t>
            </a:r>
            <a:endParaRPr lang="en-US" sz="1350" dirty="0"/>
          </a:p>
        </p:txBody>
      </p:sp>
      <p:sp>
        <p:nvSpPr>
          <p:cNvPr id="22" name="Text 16"/>
          <p:cNvSpPr txBox="1"/>
          <p:nvPr/>
        </p:nvSpPr>
        <p:spPr>
          <a:xfrm>
            <a:off x="4736592" y="4553712"/>
            <a:ext cx="1298448" cy="1371600"/>
          </a:xfrm>
          <a:prstGeom prst="rect">
            <a:avLst/>
          </a:prstGeom>
          <a:noFill/>
          <a:ln/>
        </p:spPr>
        <p:txBody>
          <a:bodyPr wrap="square" lIns="0" tIns="0" rIns="0" bIns="0" rtlCol="0" anchor="t"/>
          <a:lstStyle/>
          <a:p>
            <a:pPr indent="0" marL="0">
              <a:buNone/>
            </a:pPr>
            <a:r>
              <a:rPr lang="en-US" sz="1250" dirty="0">
                <a:solidFill>
                  <a:srgbClr val="CAD5E6"/>
                </a:solidFill>
                <a:latin typeface="Calibri" pitchFamily="34" charset="0"/>
                <a:ea typeface="Calibri" pitchFamily="34" charset="-122"/>
                <a:cs typeface="Calibri" pitchFamily="34" charset="-120"/>
              </a:rPr>
              <a:t>First revision (v2) and rewritten paper</a:t>
            </a:r>
            <a:endParaRPr lang="en-US" sz="1250" dirty="0"/>
          </a:p>
        </p:txBody>
      </p:sp>
      <p:sp>
        <p:nvSpPr>
          <p:cNvPr id="23" name="Shape 17"/>
          <p:cNvSpPr/>
          <p:nvPr/>
        </p:nvSpPr>
        <p:spPr>
          <a:xfrm>
            <a:off x="6254496" y="3291840"/>
            <a:ext cx="658368" cy="658368"/>
          </a:xfrm>
          <a:prstGeom prst="ellipse">
            <a:avLst/>
          </a:prstGeom>
          <a:solidFill>
            <a:srgbClr val="3D5A80"/>
          </a:solidFill>
          <a:ln w="12700">
            <a:solidFill>
              <a:srgbClr val="3D5A80"/>
            </a:solidFill>
            <a:prstDash val="solid"/>
          </a:ln>
        </p:spPr>
      </p:sp>
      <p:pic>
        <p:nvPicPr>
          <p:cNvPr id="24" name="Image 4" descr="preencoded.png">    </p:cNvPr>
          <p:cNvPicPr>
            <a:picLocks noChangeAspect="1"/>
          </p:cNvPicPr>
          <p:nvPr/>
        </p:nvPicPr>
        <p:blipFill>
          <a:blip r:embed="rId5"/>
          <a:stretch>
            <a:fillRect/>
          </a:stretch>
        </p:blipFill>
        <p:spPr>
          <a:xfrm>
            <a:off x="6412504" y="3449848"/>
            <a:ext cx="342351" cy="342351"/>
          </a:xfrm>
          <a:prstGeom prst="rect">
            <a:avLst/>
          </a:prstGeom>
        </p:spPr>
      </p:pic>
      <p:sp>
        <p:nvSpPr>
          <p:cNvPr id="25" name="Text 18"/>
          <p:cNvSpPr txBox="1"/>
          <p:nvPr/>
        </p:nvSpPr>
        <p:spPr>
          <a:xfrm>
            <a:off x="6163056" y="4133088"/>
            <a:ext cx="1444752" cy="384048"/>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5. Simulate</a:t>
            </a:r>
            <a:endParaRPr lang="en-US" sz="1350" dirty="0"/>
          </a:p>
        </p:txBody>
      </p:sp>
      <p:sp>
        <p:nvSpPr>
          <p:cNvPr id="26" name="Text 19"/>
          <p:cNvSpPr txBox="1"/>
          <p:nvPr/>
        </p:nvSpPr>
        <p:spPr>
          <a:xfrm>
            <a:off x="6163056" y="4553712"/>
            <a:ext cx="1298448" cy="1371600"/>
          </a:xfrm>
          <a:prstGeom prst="rect">
            <a:avLst/>
          </a:prstGeom>
          <a:noFill/>
          <a:ln/>
        </p:spPr>
        <p:txBody>
          <a:bodyPr wrap="square" lIns="0" tIns="0" rIns="0" bIns="0" rtlCol="0" anchor="t"/>
          <a:lstStyle/>
          <a:p>
            <a:pPr indent="0" marL="0">
              <a:buNone/>
            </a:pPr>
            <a:r>
              <a:rPr lang="en-US" sz="1250" dirty="0">
                <a:solidFill>
                  <a:srgbClr val="CAD5E6"/>
                </a:solidFill>
                <a:latin typeface="Calibri" pitchFamily="34" charset="0"/>
                <a:ea typeface="Calibri" pitchFamily="34" charset="-122"/>
                <a:cs typeface="Calibri" pitchFamily="34" charset="-120"/>
              </a:rPr>
              <a:t>Accuracy and bias-correction studies</a:t>
            </a:r>
            <a:endParaRPr lang="en-US" sz="1250" dirty="0"/>
          </a:p>
        </p:txBody>
      </p:sp>
      <p:sp>
        <p:nvSpPr>
          <p:cNvPr id="27" name="Shape 20"/>
          <p:cNvSpPr/>
          <p:nvPr/>
        </p:nvSpPr>
        <p:spPr>
          <a:xfrm>
            <a:off x="7680960" y="3291840"/>
            <a:ext cx="658368" cy="658368"/>
          </a:xfrm>
          <a:prstGeom prst="ellipse">
            <a:avLst/>
          </a:prstGeom>
          <a:solidFill>
            <a:srgbClr val="3D5A80"/>
          </a:solidFill>
          <a:ln w="12700">
            <a:solidFill>
              <a:srgbClr val="3D5A80"/>
            </a:solidFill>
            <a:prstDash val="solid"/>
          </a:ln>
        </p:spPr>
      </p:sp>
      <p:pic>
        <p:nvPicPr>
          <p:cNvPr id="28" name="Image 5" descr="preencoded.png">    </p:cNvPr>
          <p:cNvPicPr>
            <a:picLocks noChangeAspect="1"/>
          </p:cNvPicPr>
          <p:nvPr/>
        </p:nvPicPr>
        <p:blipFill>
          <a:blip r:embed="rId6"/>
          <a:stretch>
            <a:fillRect/>
          </a:stretch>
        </p:blipFill>
        <p:spPr>
          <a:xfrm>
            <a:off x="7838968" y="3449848"/>
            <a:ext cx="342351" cy="342351"/>
          </a:xfrm>
          <a:prstGeom prst="rect">
            <a:avLst/>
          </a:prstGeom>
        </p:spPr>
      </p:pic>
      <p:sp>
        <p:nvSpPr>
          <p:cNvPr id="29" name="Text 21"/>
          <p:cNvSpPr txBox="1"/>
          <p:nvPr/>
        </p:nvSpPr>
        <p:spPr>
          <a:xfrm>
            <a:off x="7589520" y="4133088"/>
            <a:ext cx="1444752" cy="384048"/>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6. Benchmark</a:t>
            </a:r>
            <a:endParaRPr lang="en-US" sz="1350" dirty="0"/>
          </a:p>
        </p:txBody>
      </p:sp>
      <p:sp>
        <p:nvSpPr>
          <p:cNvPr id="30" name="Text 22"/>
          <p:cNvSpPr txBox="1"/>
          <p:nvPr/>
        </p:nvSpPr>
        <p:spPr>
          <a:xfrm>
            <a:off x="7589520" y="4553712"/>
            <a:ext cx="1298448" cy="1371600"/>
          </a:xfrm>
          <a:prstGeom prst="rect">
            <a:avLst/>
          </a:prstGeom>
          <a:noFill/>
          <a:ln/>
        </p:spPr>
        <p:txBody>
          <a:bodyPr wrap="square" lIns="0" tIns="0" rIns="0" bIns="0" rtlCol="0" anchor="t"/>
          <a:lstStyle/>
          <a:p>
            <a:pPr indent="0" marL="0">
              <a:buNone/>
            </a:pPr>
            <a:r>
              <a:rPr lang="en-US" sz="1250" dirty="0">
                <a:solidFill>
                  <a:srgbClr val="CAD5E6"/>
                </a:solidFill>
                <a:latin typeface="Calibri" pitchFamily="34" charset="0"/>
                <a:ea typeface="Calibri" pitchFamily="34" charset="-122"/>
                <a:cs typeface="Calibri" pitchFamily="34" charset="-120"/>
              </a:rPr>
              <a:t>AdaSSP on 29 of Wang's UCI datasets</a:t>
            </a:r>
            <a:endParaRPr lang="en-US" sz="1250" dirty="0"/>
          </a:p>
        </p:txBody>
      </p:sp>
      <p:sp>
        <p:nvSpPr>
          <p:cNvPr id="31" name="Shape 23"/>
          <p:cNvSpPr/>
          <p:nvPr/>
        </p:nvSpPr>
        <p:spPr>
          <a:xfrm>
            <a:off x="9107424" y="3291840"/>
            <a:ext cx="658368" cy="658368"/>
          </a:xfrm>
          <a:prstGeom prst="ellipse">
            <a:avLst/>
          </a:prstGeom>
          <a:solidFill>
            <a:srgbClr val="3D5A80"/>
          </a:solidFill>
          <a:ln w="12700">
            <a:solidFill>
              <a:srgbClr val="3D5A80"/>
            </a:solidFill>
            <a:prstDash val="solid"/>
          </a:ln>
        </p:spPr>
      </p:sp>
      <p:pic>
        <p:nvPicPr>
          <p:cNvPr id="32" name="Image 6" descr="preencoded.png">    </p:cNvPr>
          <p:cNvPicPr>
            <a:picLocks noChangeAspect="1"/>
          </p:cNvPicPr>
          <p:nvPr/>
        </p:nvPicPr>
        <p:blipFill>
          <a:blip r:embed="rId7"/>
          <a:stretch>
            <a:fillRect/>
          </a:stretch>
        </p:blipFill>
        <p:spPr>
          <a:xfrm>
            <a:off x="9265432" y="3449848"/>
            <a:ext cx="342351" cy="342351"/>
          </a:xfrm>
          <a:prstGeom prst="rect">
            <a:avLst/>
          </a:prstGeom>
        </p:spPr>
      </p:pic>
      <p:sp>
        <p:nvSpPr>
          <p:cNvPr id="33" name="Text 24"/>
          <p:cNvSpPr txBox="1"/>
          <p:nvPr/>
        </p:nvSpPr>
        <p:spPr>
          <a:xfrm>
            <a:off x="9015984" y="4133088"/>
            <a:ext cx="1444752" cy="384048"/>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7. Referee</a:t>
            </a:r>
            <a:endParaRPr lang="en-US" sz="1350" dirty="0"/>
          </a:p>
        </p:txBody>
      </p:sp>
      <p:sp>
        <p:nvSpPr>
          <p:cNvPr id="34" name="Text 25"/>
          <p:cNvSpPr txBox="1"/>
          <p:nvPr/>
        </p:nvSpPr>
        <p:spPr>
          <a:xfrm>
            <a:off x="9015984" y="4553712"/>
            <a:ext cx="1298448" cy="1371600"/>
          </a:xfrm>
          <a:prstGeom prst="rect">
            <a:avLst/>
          </a:prstGeom>
          <a:noFill/>
          <a:ln/>
        </p:spPr>
        <p:txBody>
          <a:bodyPr wrap="square" lIns="0" tIns="0" rIns="0" bIns="0" rtlCol="0" anchor="t"/>
          <a:lstStyle/>
          <a:p>
            <a:pPr indent="0" marL="0">
              <a:buNone/>
            </a:pPr>
            <a:r>
              <a:rPr lang="en-US" sz="1250" dirty="0">
                <a:solidFill>
                  <a:srgbClr val="CAD5E6"/>
                </a:solidFill>
                <a:latin typeface="Calibri" pitchFamily="34" charset="0"/>
                <a:ea typeface="Calibri" pitchFamily="34" charset="-122"/>
                <a:cs typeface="Calibri" pitchFamily="34" charset="-120"/>
              </a:rPr>
              <a:t>Journal-style review; key claims re-checked</a:t>
            </a:r>
            <a:endParaRPr lang="en-US" sz="1250" dirty="0"/>
          </a:p>
        </p:txBody>
      </p:sp>
      <p:sp>
        <p:nvSpPr>
          <p:cNvPr id="35" name="Shape 26"/>
          <p:cNvSpPr/>
          <p:nvPr/>
        </p:nvSpPr>
        <p:spPr>
          <a:xfrm>
            <a:off x="10533888" y="3291840"/>
            <a:ext cx="658368" cy="658368"/>
          </a:xfrm>
          <a:prstGeom prst="ellipse">
            <a:avLst/>
          </a:prstGeom>
          <a:solidFill>
            <a:srgbClr val="C45A0C"/>
          </a:solidFill>
          <a:ln w="12700">
            <a:solidFill>
              <a:srgbClr val="C45A0C"/>
            </a:solidFill>
            <a:prstDash val="solid"/>
          </a:ln>
        </p:spPr>
      </p:sp>
      <p:pic>
        <p:nvPicPr>
          <p:cNvPr id="36" name="Image 7" descr="preencoded.png">    </p:cNvPr>
          <p:cNvPicPr>
            <a:picLocks noChangeAspect="1"/>
          </p:cNvPicPr>
          <p:nvPr/>
        </p:nvPicPr>
        <p:blipFill>
          <a:blip r:embed="rId8"/>
          <a:stretch>
            <a:fillRect/>
          </a:stretch>
        </p:blipFill>
        <p:spPr>
          <a:xfrm>
            <a:off x="10691896" y="3449848"/>
            <a:ext cx="342351" cy="342351"/>
          </a:xfrm>
          <a:prstGeom prst="rect">
            <a:avLst/>
          </a:prstGeom>
        </p:spPr>
      </p:pic>
      <p:sp>
        <p:nvSpPr>
          <p:cNvPr id="37" name="Text 27"/>
          <p:cNvSpPr txBox="1"/>
          <p:nvPr/>
        </p:nvSpPr>
        <p:spPr>
          <a:xfrm>
            <a:off x="10442448" y="4133088"/>
            <a:ext cx="1444752" cy="384048"/>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8. Prove</a:t>
            </a:r>
            <a:endParaRPr lang="en-US" sz="1350" dirty="0"/>
          </a:p>
        </p:txBody>
      </p:sp>
      <p:sp>
        <p:nvSpPr>
          <p:cNvPr id="38" name="Text 28"/>
          <p:cNvSpPr txBox="1"/>
          <p:nvPr/>
        </p:nvSpPr>
        <p:spPr>
          <a:xfrm>
            <a:off x="10442448" y="4553712"/>
            <a:ext cx="1298448" cy="1371600"/>
          </a:xfrm>
          <a:prstGeom prst="rect">
            <a:avLst/>
          </a:prstGeom>
          <a:noFill/>
          <a:ln/>
        </p:spPr>
        <p:txBody>
          <a:bodyPr wrap="square" lIns="0" tIns="0" rIns="0" bIns="0" rtlCol="0" anchor="t"/>
          <a:lstStyle/>
          <a:p>
            <a:pPr indent="0" marL="0">
              <a:buNone/>
            </a:pPr>
            <a:r>
              <a:rPr lang="en-US" sz="1250" dirty="0">
                <a:solidFill>
                  <a:srgbClr val="CAD5E6"/>
                </a:solidFill>
                <a:latin typeface="Calibri" pitchFamily="34" charset="0"/>
                <a:ea typeface="Calibri" pitchFamily="34" charset="-122"/>
                <a:cs typeface="Calibri" pitchFamily="34" charset="-120"/>
              </a:rPr>
              <a:t>Second revision (v3.1) with a proofs appendix</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Critical finding: the noise did not protect the ciphertext</a:t>
            </a:r>
            <a:endParaRPr lang="en-US" sz="3200" dirty="0"/>
          </a:p>
        </p:txBody>
      </p:sp>
      <p:sp>
        <p:nvSpPr>
          <p:cNvPr id="3" name="Text 1"/>
          <p:cNvSpPr txBox="1"/>
          <p:nvPr/>
        </p:nvSpPr>
        <p:spPr>
          <a:xfrm>
            <a:off x="548640" y="1508760"/>
            <a:ext cx="3108960" cy="1097280"/>
          </a:xfrm>
          <a:prstGeom prst="rect">
            <a:avLst/>
          </a:prstGeom>
          <a:noFill/>
          <a:ln/>
        </p:spPr>
        <p:txBody>
          <a:bodyPr wrap="square" lIns="0" tIns="0" rIns="0" bIns="0" rtlCol="0" anchor="t"/>
          <a:lstStyle/>
          <a:p>
            <a:pPr indent="0" marL="0">
              <a:buNone/>
            </a:pPr>
            <a:r>
              <a:rPr lang="en-US" sz="6400" b="1" dirty="0">
                <a:solidFill>
                  <a:srgbClr val="C45A0C"/>
                </a:solidFill>
                <a:latin typeface="Cambria" pitchFamily="34" charset="0"/>
                <a:ea typeface="Cambria" pitchFamily="34" charset="-122"/>
                <a:cs typeface="Cambria" pitchFamily="34" charset="-120"/>
              </a:rPr>
              <a:t>100%</a:t>
            </a:r>
            <a:endParaRPr lang="en-US" sz="6400" dirty="0"/>
          </a:p>
        </p:txBody>
      </p:sp>
      <p:sp>
        <p:nvSpPr>
          <p:cNvPr id="4" name="Text 2"/>
          <p:cNvSpPr txBox="1"/>
          <p:nvPr/>
        </p:nvSpPr>
        <p:spPr>
          <a:xfrm>
            <a:off x="548640" y="2651760"/>
            <a:ext cx="3291840" cy="128016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of trials in which R identified the true dataset from O's reply: matched and unmatched records alike (real OpenFHE, 20/20).</a:t>
            </a:r>
            <a:endParaRPr lang="en-US" sz="1450" dirty="0"/>
          </a:p>
        </p:txBody>
      </p:sp>
      <p:sp>
        <p:nvSpPr>
          <p:cNvPr id="5" name="Text 3"/>
          <p:cNvSpPr txBox="1"/>
          <p:nvPr/>
        </p:nvSpPr>
        <p:spPr>
          <a:xfrm>
            <a:off x="548640" y="3977640"/>
            <a:ext cx="3108960" cy="914400"/>
          </a:xfrm>
          <a:prstGeom prst="rect">
            <a:avLst/>
          </a:prstGeom>
          <a:noFill/>
          <a:ln/>
        </p:spPr>
        <p:txBody>
          <a:bodyPr wrap="square" lIns="0" tIns="0" rIns="0" bIns="0" rtlCol="0" anchor="t"/>
          <a:lstStyle/>
          <a:p>
            <a:pPr indent="0" marL="0">
              <a:buNone/>
            </a:pPr>
            <a:r>
              <a:rPr lang="en-US" sz="4800" b="1" dirty="0">
                <a:solidFill>
                  <a:srgbClr val="3D5A80"/>
                </a:solidFill>
                <a:latin typeface="Cambria" pitchFamily="34" charset="0"/>
                <a:ea typeface="Cambria" pitchFamily="34" charset="-122"/>
                <a:cs typeface="Cambria" pitchFamily="34" charset="-120"/>
              </a:rPr>
              <a:t>73%</a:t>
            </a:r>
            <a:endParaRPr lang="en-US" sz="4800" dirty="0"/>
          </a:p>
        </p:txBody>
      </p:sp>
      <p:sp>
        <p:nvSpPr>
          <p:cNvPr id="6" name="Text 4"/>
          <p:cNvSpPr txBox="1"/>
          <p:nvPr/>
        </p:nvSpPr>
        <p:spPr>
          <a:xfrm>
            <a:off x="548640" y="4892040"/>
            <a:ext cx="3291840" cy="73152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the most that ε = 1 differential privacy allows.</a:t>
            </a:r>
            <a:endParaRPr lang="en-US" sz="1450" dirty="0"/>
          </a:p>
        </p:txBody>
      </p:sp>
      <p:sp>
        <p:nvSpPr>
          <p:cNvPr id="7" name="Shape 5"/>
          <p:cNvSpPr/>
          <p:nvPr/>
        </p:nvSpPr>
        <p:spPr>
          <a:xfrm>
            <a:off x="4297680" y="1508760"/>
            <a:ext cx="3520440" cy="4206240"/>
          </a:xfrm>
          <a:prstGeom prst="roundRect">
            <a:avLst>
              <a:gd name="adj" fmla="val 2078"/>
            </a:avLst>
          </a:prstGeom>
          <a:solidFill>
            <a:srgbClr val="EEF2F7"/>
          </a:solidFill>
          <a:ln w="12700">
            <a:solidFill>
              <a:srgbClr val="EEF2F7"/>
            </a:solidFill>
            <a:prstDash val="solid"/>
          </a:ln>
        </p:spPr>
      </p:sp>
      <p:sp>
        <p:nvSpPr>
          <p:cNvPr id="8" name="Text 6"/>
          <p:cNvSpPr txBox="1"/>
          <p:nvPr/>
        </p:nvSpPr>
        <p:spPr>
          <a:xfrm>
            <a:off x="4526280" y="1691640"/>
            <a:ext cx="3108960" cy="41148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Why</a:t>
            </a:r>
            <a:endParaRPr lang="en-US" sz="2000" dirty="0"/>
          </a:p>
        </p:txBody>
      </p:sp>
      <p:sp>
        <p:nvSpPr>
          <p:cNvPr id="9" name="Text 7"/>
          <p:cNvSpPr txBox="1"/>
          <p:nvPr/>
        </p:nvSpPr>
        <p:spPr>
          <a:xfrm>
            <a:off x="4526280" y="219456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The draft added the noise as a plaintext scalar, which changes only c</a:t>
            </a:r>
            <a:r>
              <a:rPr lang="en-US" sz="1450" baseline="-25000" dirty="0">
                <a:solidFill>
                  <a:srgbClr val="1F2937"/>
                </a:solidFill>
                <a:latin typeface="Calibri" pitchFamily="34" charset="0"/>
                <a:ea typeface="Calibri" pitchFamily="34" charset="-122"/>
                <a:cs typeface="Calibri" pitchFamily="34" charset="-120"/>
              </a:rPr>
              <a:t>0</a:t>
            </a:r>
            <a:endParaRPr lang="en-US" sz="1450" dirty="0"/>
          </a:p>
          <a:p>
            <a:pPr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c</a:t>
            </a:r>
            <a:r>
              <a:rPr lang="en-US" sz="1450" baseline="-25000" dirty="0">
                <a:solidFill>
                  <a:srgbClr val="1F2937"/>
                </a:solidFill>
                <a:latin typeface="Calibri" pitchFamily="34" charset="0"/>
                <a:ea typeface="Calibri" pitchFamily="34" charset="-122"/>
                <a:cs typeface="Calibri" pitchFamily="34" charset="-120"/>
              </a:rPr>
              <a:t>1</a:t>
            </a:r>
            <a:r>
              <a:rPr lang="en-US" sz="1450" dirty="0">
                <a:solidFill>
                  <a:srgbClr val="1F2937"/>
                </a:solidFill>
                <a:latin typeface="Calibri" pitchFamily="34" charset="0"/>
                <a:ea typeface="Calibri" pitchFamily="34" charset="-122"/>
                <a:cs typeface="Calibri" pitchFamily="34" charset="-120"/>
              </a:rPr>
              <a:t> is a deterministic function of R's own ciphertexts, keys and O's data</a:t>
            </a:r>
            <a:endParaRPr lang="en-US" sz="1450" dirty="0"/>
          </a:p>
          <a:p>
            <a:pPr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R, who holds the key, recomputes c</a:t>
            </a:r>
            <a:r>
              <a:rPr lang="en-US" sz="1450" baseline="-25000" dirty="0">
                <a:solidFill>
                  <a:srgbClr val="1F2937"/>
                </a:solidFill>
                <a:latin typeface="Calibri" pitchFamily="34" charset="0"/>
                <a:ea typeface="Calibri" pitchFamily="34" charset="-122"/>
                <a:cs typeface="Calibri" pitchFamily="34" charset="-120"/>
              </a:rPr>
              <a:t>1</a:t>
            </a:r>
            <a:r>
              <a:rPr lang="en-US" sz="1450" dirty="0">
                <a:solidFill>
                  <a:srgbClr val="1F2937"/>
                </a:solidFill>
                <a:latin typeface="Calibri" pitchFamily="34" charset="0"/>
                <a:ea typeface="Calibri" pitchFamily="34" charset="-122"/>
                <a:cs typeface="Calibri" pitchFamily="34" charset="-120"/>
              </a:rPr>
              <a:t> for each candidate dataset and compares</a:t>
            </a:r>
            <a:endParaRPr lang="en-US" sz="1450" dirty="0"/>
          </a:p>
        </p:txBody>
      </p:sp>
      <p:sp>
        <p:nvSpPr>
          <p:cNvPr id="10" name="Shape 8"/>
          <p:cNvSpPr/>
          <p:nvPr/>
        </p:nvSpPr>
        <p:spPr>
          <a:xfrm>
            <a:off x="8092440" y="1508760"/>
            <a:ext cx="3520440" cy="4206240"/>
          </a:xfrm>
          <a:prstGeom prst="roundRect">
            <a:avLst>
              <a:gd name="adj" fmla="val 2078"/>
            </a:avLst>
          </a:prstGeom>
          <a:solidFill>
            <a:srgbClr val="F6E3D6"/>
          </a:solidFill>
          <a:ln w="12700">
            <a:solidFill>
              <a:srgbClr val="F6E3D6"/>
            </a:solidFill>
            <a:prstDash val="solid"/>
          </a:ln>
        </p:spPr>
      </p:sp>
      <p:sp>
        <p:nvSpPr>
          <p:cNvPr id="11" name="Text 9"/>
          <p:cNvSpPr txBox="1"/>
          <p:nvPr/>
        </p:nvSpPr>
        <p:spPr>
          <a:xfrm>
            <a:off x="8321040" y="1691640"/>
            <a:ext cx="3108960" cy="411480"/>
          </a:xfrm>
          <a:prstGeom prst="rect">
            <a:avLst/>
          </a:prstGeom>
          <a:noFill/>
          <a:ln/>
        </p:spPr>
        <p:txBody>
          <a:bodyPr wrap="square" lIns="0" tIns="0" rIns="0" bIns="0" rtlCol="0" anchor="t"/>
          <a:lstStyle/>
          <a:p>
            <a:pPr indent="0" marL="0">
              <a:buNone/>
            </a:pPr>
            <a:r>
              <a:rPr lang="en-US" sz="2000" b="1" dirty="0">
                <a:solidFill>
                  <a:srgbClr val="C45A0C"/>
                </a:solidFill>
                <a:latin typeface="Cambria" pitchFamily="34" charset="0"/>
                <a:ea typeface="Cambria" pitchFamily="34" charset="-122"/>
                <a:cs typeface="Cambria" pitchFamily="34" charset="-120"/>
              </a:rPr>
              <a:t>Fix</a:t>
            </a:r>
            <a:endParaRPr lang="en-US" sz="2000" dirty="0"/>
          </a:p>
        </p:txBody>
      </p:sp>
      <p:sp>
        <p:nvSpPr>
          <p:cNvPr id="12" name="Text 10"/>
          <p:cNvSpPr txBox="1"/>
          <p:nvPr/>
        </p:nvSpPr>
        <p:spPr>
          <a:xfrm>
            <a:off x="8321040" y="2194560"/>
            <a:ext cx="3108960" cy="338328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Add a fresh encryption of the noise, which re-randomizes c</a:t>
            </a:r>
            <a:r>
              <a:rPr lang="en-US" sz="1450" baseline="-25000" dirty="0">
                <a:solidFill>
                  <a:srgbClr val="1F2937"/>
                </a:solidFill>
                <a:latin typeface="Calibri" pitchFamily="34" charset="0"/>
                <a:ea typeface="Calibri" pitchFamily="34" charset="-122"/>
                <a:cs typeface="Calibri" pitchFamily="34" charset="-120"/>
              </a:rPr>
              <a:t>1</a:t>
            </a:r>
            <a:endParaRPr lang="en-US" sz="1450" dirty="0"/>
          </a:p>
          <a:p>
            <a:pPr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Switch to the last modulus level, then flood the error term</a:t>
            </a:r>
            <a:endParaRPr lang="en-US" sz="1450" dirty="0"/>
          </a:p>
          <a:p>
            <a:pPr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BFV linkage replies: statistical flooding; CKKS: DP-calibrated flooding</a:t>
            </a:r>
            <a:endParaRPr lang="en-US" sz="1450" dirty="0"/>
          </a:p>
          <a:p>
            <a:pPr marL="342900" indent="-342900">
              <a:spcAft>
                <a:spcPts val="600"/>
              </a:spcAft>
              <a:buSzPct val="100000"/>
              <a:buChar char="•"/>
            </a:pPr>
            <a:r>
              <a:rPr lang="en-US" sz="1450" b="1" dirty="0">
                <a:solidFill>
                  <a:srgbClr val="1F2937"/>
                </a:solidFill>
                <a:latin typeface="Calibri" pitchFamily="34" charset="0"/>
                <a:ea typeface="Calibri" pitchFamily="34" charset="-122"/>
                <a:cs typeface="Calibri" pitchFamily="34" charset="-120"/>
              </a:rPr>
              <a:t>v3.1 goes further: the key is split, and O's decryption share carries the noise</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Review scorecard</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Findings on the draft, how the first revision (v2) handled them, and where they stand in v3.1</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9144000" cy="914400"/>
        </p:xfrm>
        <a:graphic>
          <a:graphicData uri="http://schemas.openxmlformats.org/drawingml/2006/table">
            <a:tbl>
              <a:tblPr/>
              <a:tblGrid>
                <a:gridCol w="3657600"/>
                <a:gridCol w="1143000"/>
                <a:gridCol w="2743200"/>
                <a:gridCol w="3520440"/>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Finding on the draft</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Severity</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First revision (v2)</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Now (v3.1)</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45720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Plaintext-scalar noise leaks through the ciphertext</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C45A0C"/>
                          </a:solidFill>
                          <a:latin typeface="Calibri" pitchFamily="34" charset="0"/>
                          <a:ea typeface="Calibri" pitchFamily="34" charset="-122"/>
                          <a:cs typeface="Calibri" pitchFamily="34" charset="-120"/>
                        </a:rPr>
                        <a:t>Critical</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i="1" dirty="0">
                          <a:solidFill>
                            <a:srgbClr val="9AA5B4"/>
                          </a:solidFill>
                          <a:latin typeface="Calibri" pitchFamily="34" charset="0"/>
                          <a:ea typeface="Calibri" pitchFamily="34" charset="-122"/>
                          <a:cs typeface="Calibri" pitchFamily="34" charset="-120"/>
                        </a:rPr>
                        <a:t>Fresh encryption plus flooding</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Split key; O's decryption share carries the noise (proven)</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5720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Calibration step shares raw-data statistics</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C45A0C"/>
                          </a:solidFill>
                          <a:latin typeface="Calibri" pitchFamily="34" charset="0"/>
                          <a:ea typeface="Calibri" pitchFamily="34" charset="-122"/>
                          <a:cs typeface="Calibri" pitchFamily="34" charset="-120"/>
                        </a:rPr>
                        <a:t>Critical</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Per-party commitments, public constants only</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Unchanged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5720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Add/remove sensitivity vs replace-one adjacency (true ε up to ~2× the claim)</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B7791F"/>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Replace-one Δ, closed form</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Δ proven exact; y</a:t>
                      </a:r>
                      <a:r>
                        <a:rPr lang="en-US" sz="1250" baseline="30000" dirty="0">
                          <a:solidFill>
                            <a:srgbClr val="1F2937"/>
                          </a:solidFill>
                          <a:latin typeface="Calibri" pitchFamily="34" charset="0"/>
                          <a:ea typeface="Calibri" pitchFamily="34" charset="-122"/>
                          <a:cs typeface="Calibri" pitchFamily="34" charset="-120"/>
                        </a:rPr>
                        <a:t>T</a:t>
                      </a:r>
                      <a:r>
                        <a:rPr lang="en-US" sz="1250" dirty="0">
                          <a:solidFill>
                            <a:srgbClr val="1F2937"/>
                          </a:solidFill>
                          <a:latin typeface="Calibri" pitchFamily="34" charset="0"/>
                          <a:ea typeface="Calibri" pitchFamily="34" charset="-122"/>
                          <a:cs typeface="Calibri" pitchFamily="34" charset="-120"/>
                        </a:rPr>
                        <a:t>y released only where it is free</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5720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No privacy ledger across runs</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B7791F"/>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i="1" dirty="0">
                          <a:solidFill>
                            <a:srgbClr val="9AA5B4"/>
                          </a:solidFill>
                          <a:latin typeface="Calibri" pitchFamily="34" charset="0"/>
                          <a:ea typeface="Calibri" pitchFamily="34" charset="-122"/>
                          <a:cs typeface="Calibri" pitchFamily="34" charset="-120"/>
                        </a:rPr>
                        <a:t>zCDP ledger at O</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(ρ, δ) ledger per register; flooding costs only δ</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5720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PSI reveals O's row order and bin loads</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B7791F"/>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Secret permutation, public padding</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Also OPRF-based; R's cohort capped and padded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5720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Adaptive λ cancels the bias correction</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3D5A80"/>
                          </a:solidFill>
                          <a:latin typeface="Calibri" pitchFamily="34" charset="0"/>
                          <a:ea typeface="Calibri" pitchFamily="34" charset="-122"/>
                          <a:cs typeface="Calibri" pitchFamily="34" charset="-120"/>
                        </a:rPr>
                        <a:t>Validity</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i="1" dirty="0">
                          <a:solidFill>
                            <a:srgbClr val="9AA5B4"/>
                          </a:solidFill>
                          <a:latin typeface="Calibri" pitchFamily="34" charset="0"/>
                          <a:ea typeface="Calibri" pitchFamily="34" charset="-122"/>
                          <a:cs typeface="Calibri" pitchFamily="34" charset="-120"/>
                        </a:rPr>
                        <a:t>λ set from public inputs</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λ from a stage-1 release, independent of stage 2 (proven)</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5720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CKKS slot leak; HE parameter security</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1B8A7A"/>
                          </a:solidFill>
                          <a:latin typeface="Calibri" pitchFamily="34" charset="0"/>
                          <a:ea typeface="Calibri" pitchFamily="34" charset="-122"/>
                          <a:cs typeface="Calibri" pitchFamily="34" charset="-120"/>
                        </a:rPr>
                        <a:t>Checked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Not an issue with OpenFHE</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CKKS scale must rise to ≈2</a:t>
                      </a:r>
                      <a:r>
                        <a:rPr lang="en-US" sz="1250" baseline="30000" dirty="0">
                          <a:solidFill>
                            <a:srgbClr val="1F2937"/>
                          </a:solidFill>
                          <a:latin typeface="Calibri" pitchFamily="34" charset="0"/>
                          <a:ea typeface="Calibri" pitchFamily="34" charset="-122"/>
                          <a:cs typeface="Calibri" pitchFamily="34" charset="-120"/>
                        </a:rPr>
                        <a:t>61.5</a:t>
                      </a:r>
                      <a:r>
                        <a:rPr lang="en-US" sz="1250" dirty="0">
                          <a:solidFill>
                            <a:srgbClr val="1F2937"/>
                          </a:solidFill>
                          <a:latin typeface="Calibri" pitchFamily="34" charset="0"/>
                          <a:ea typeface="Calibri" pitchFamily="34" charset="-122"/>
                          <a:cs typeface="Calibri" pitchFamily="34" charset="-120"/>
                        </a:rPr>
                        <a:t> (proofs)</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5720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R learns which of its cohort are in the register</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5B6576"/>
                          </a:solidFill>
                          <a:latin typeface="Calibri" pitchFamily="34" charset="0"/>
                          <a:ea typeface="Calibri" pitchFamily="34" charset="-122"/>
                          <a:cs typeface="Calibri" pitchFamily="34" charset="-120"/>
                        </a:rPr>
                        <a:t>By design</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Stated in Definition 4</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Unchanged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5" name="Text 2"/>
          <p:cNvSpPr txBox="1"/>
          <p:nvPr/>
        </p:nvSpPr>
        <p:spPr>
          <a:xfrm>
            <a:off x="548640" y="5943600"/>
            <a:ext cx="7315200" cy="274320"/>
          </a:xfrm>
          <a:prstGeom prst="rect">
            <a:avLst/>
          </a:prstGeom>
          <a:noFill/>
          <a:ln/>
        </p:spPr>
        <p:txBody>
          <a:bodyPr wrap="square" lIns="0" tIns="0" rIns="0" bIns="0" rtlCol="0" anchor="t"/>
          <a:lstStyle/>
          <a:p>
            <a:pPr indent="0" marL="0">
              <a:buNone/>
            </a:pPr>
            <a:r>
              <a:rPr lang="en-US" sz="1100" i="1" dirty="0">
                <a:solidFill>
                  <a:srgbClr val="5B6576"/>
                </a:solidFill>
                <a:latin typeface="Calibri" pitchFamily="34" charset="0"/>
                <a:ea typeface="Calibri" pitchFamily="34" charset="-122"/>
                <a:cs typeface="Calibri" pitchFamily="34" charset="-120"/>
              </a:rPr>
              <a:t>Grey: fixes that the referee later found incomplete (Part 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Contributions</a:t>
            </a:r>
            <a:endParaRPr lang="en-US" sz="3200" dirty="0"/>
          </a:p>
        </p:txBody>
      </p:sp>
      <p:sp>
        <p:nvSpPr>
          <p:cNvPr id="3" name="Shape 1"/>
          <p:cNvSpPr/>
          <p:nvPr/>
        </p:nvSpPr>
        <p:spPr>
          <a:xfrm>
            <a:off x="548640" y="1463040"/>
            <a:ext cx="5440680" cy="2148840"/>
          </a:xfrm>
          <a:prstGeom prst="roundRect">
            <a:avLst>
              <a:gd name="adj" fmla="val 3404"/>
            </a:avLst>
          </a:prstGeom>
          <a:solidFill>
            <a:srgbClr val="EEF2F7"/>
          </a:solidFill>
          <a:ln w="12700">
            <a:solidFill>
              <a:srgbClr val="EEF2F7"/>
            </a:solidFill>
            <a:prstDash val="solid"/>
          </a:ln>
        </p:spPr>
      </p:sp>
      <p:sp>
        <p:nvSpPr>
          <p:cNvPr id="4" name="Shape 2"/>
          <p:cNvSpPr/>
          <p:nvPr/>
        </p:nvSpPr>
        <p:spPr>
          <a:xfrm>
            <a:off x="822960" y="1737360"/>
            <a:ext cx="640080" cy="640080"/>
          </a:xfrm>
          <a:prstGeom prst="ellipse">
            <a:avLst/>
          </a:prstGeom>
          <a:solidFill>
            <a:srgbClr val="14213D"/>
          </a:solidFill>
          <a:ln w="12700">
            <a:solidFill>
              <a:srgbClr val="14213D"/>
            </a:solidFill>
            <a:prstDash val="solid"/>
          </a:ln>
        </p:spPr>
      </p:sp>
      <p:sp>
        <p:nvSpPr>
          <p:cNvPr id="5" name="Text 3"/>
          <p:cNvSpPr txBox="1"/>
          <p:nvPr/>
        </p:nvSpPr>
        <p:spPr>
          <a:xfrm>
            <a:off x="822960" y="173736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645920" y="1810512"/>
            <a:ext cx="4114800" cy="457200"/>
          </a:xfrm>
          <a:prstGeom prst="rect">
            <a:avLst/>
          </a:prstGeom>
          <a:noFill/>
          <a:ln/>
        </p:spPr>
        <p:txBody>
          <a:bodyPr wrap="square" lIns="0" tIns="0" rIns="0" bIns="0" rtlCol="0" anchor="t"/>
          <a:lstStyle/>
          <a:p>
            <a:pPr indent="0" marL="0">
              <a:buNone/>
            </a:pPr>
            <a:r>
              <a:rPr lang="en-US" sz="2100" b="1" dirty="0">
                <a:solidFill>
                  <a:srgbClr val="14213D"/>
                </a:solidFill>
                <a:latin typeface="Cambria" pitchFamily="34" charset="0"/>
                <a:ea typeface="Cambria" pitchFamily="34" charset="-122"/>
                <a:cs typeface="Cambria" pitchFamily="34" charset="-120"/>
              </a:rPr>
              <a:t>Corrected data flow</a:t>
            </a:r>
            <a:endParaRPr lang="en-US" sz="2100" dirty="0"/>
          </a:p>
        </p:txBody>
      </p:sp>
      <p:sp>
        <p:nvSpPr>
          <p:cNvPr id="7" name="Text 5"/>
          <p:cNvSpPr txBox="1"/>
          <p:nvPr/>
        </p:nvSpPr>
        <p:spPr>
          <a:xfrm>
            <a:off x="1645920" y="2331720"/>
            <a:ext cx="4114800" cy="118872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R's Gram block A is computed locally, is never sent and never noised. The sensitivity loses its B</a:t>
            </a:r>
            <a:r>
              <a:rPr lang="en-US" sz="1500" baseline="-25000" dirty="0">
                <a:solidFill>
                  <a:srgbClr val="1F2937"/>
                </a:solidFill>
                <a:latin typeface="Calibri" pitchFamily="34" charset="0"/>
                <a:ea typeface="Calibri" pitchFamily="34" charset="-122"/>
                <a:cs typeface="Calibri" pitchFamily="34" charset="-120"/>
              </a:rPr>
              <a:t>R</a:t>
            </a:r>
            <a:r>
              <a:rPr lang="en-US" sz="1500" baseline="30000" dirty="0">
                <a:solidFill>
                  <a:srgbClr val="1F2937"/>
                </a:solidFill>
                <a:latin typeface="Calibri" pitchFamily="34" charset="0"/>
                <a:ea typeface="Calibri" pitchFamily="34" charset="-122"/>
                <a:cs typeface="Calibri" pitchFamily="34" charset="-120"/>
              </a:rPr>
              <a:t>4</a:t>
            </a:r>
            <a:r>
              <a:rPr lang="en-US" sz="1500" dirty="0">
                <a:solidFill>
                  <a:srgbClr val="1F2937"/>
                </a:solidFill>
                <a:latin typeface="Calibri" pitchFamily="34" charset="0"/>
                <a:ea typeface="Calibri" pitchFamily="34" charset="-122"/>
                <a:cs typeface="Calibri" pitchFamily="34" charset="-120"/>
              </a:rPr>
              <a:t> term.</a:t>
            </a:r>
            <a:endParaRPr lang="en-US" sz="1500" dirty="0"/>
          </a:p>
        </p:txBody>
      </p:sp>
      <p:sp>
        <p:nvSpPr>
          <p:cNvPr id="8" name="Shape 6"/>
          <p:cNvSpPr/>
          <p:nvPr/>
        </p:nvSpPr>
        <p:spPr>
          <a:xfrm>
            <a:off x="6172200" y="1463040"/>
            <a:ext cx="5440680" cy="2148840"/>
          </a:xfrm>
          <a:prstGeom prst="roundRect">
            <a:avLst>
              <a:gd name="adj" fmla="val 3404"/>
            </a:avLst>
          </a:prstGeom>
          <a:solidFill>
            <a:srgbClr val="EEF2F7"/>
          </a:solidFill>
          <a:ln w="12700">
            <a:solidFill>
              <a:srgbClr val="EEF2F7"/>
            </a:solidFill>
            <a:prstDash val="solid"/>
          </a:ln>
        </p:spPr>
      </p:sp>
      <p:sp>
        <p:nvSpPr>
          <p:cNvPr id="9" name="Shape 7"/>
          <p:cNvSpPr/>
          <p:nvPr/>
        </p:nvSpPr>
        <p:spPr>
          <a:xfrm>
            <a:off x="6446520" y="1737360"/>
            <a:ext cx="640080" cy="640080"/>
          </a:xfrm>
          <a:prstGeom prst="ellipse">
            <a:avLst/>
          </a:prstGeom>
          <a:solidFill>
            <a:srgbClr val="C45A0C"/>
          </a:solidFill>
          <a:ln w="12700">
            <a:solidFill>
              <a:srgbClr val="C45A0C"/>
            </a:solidFill>
            <a:prstDash val="solid"/>
          </a:ln>
        </p:spPr>
      </p:sp>
      <p:sp>
        <p:nvSpPr>
          <p:cNvPr id="10" name="Text 8"/>
          <p:cNvSpPr txBox="1"/>
          <p:nvPr/>
        </p:nvSpPr>
        <p:spPr>
          <a:xfrm>
            <a:off x="6446520" y="173736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Text 9"/>
          <p:cNvSpPr txBox="1"/>
          <p:nvPr/>
        </p:nvSpPr>
        <p:spPr>
          <a:xfrm>
            <a:off x="7269480" y="1810512"/>
            <a:ext cx="4114800" cy="457200"/>
          </a:xfrm>
          <a:prstGeom prst="rect">
            <a:avLst/>
          </a:prstGeom>
          <a:noFill/>
          <a:ln/>
        </p:spPr>
        <p:txBody>
          <a:bodyPr wrap="square" lIns="0" tIns="0" rIns="0" bIns="0" rtlCol="0" anchor="t"/>
          <a:lstStyle/>
          <a:p>
            <a:pPr indent="0" marL="0">
              <a:buNone/>
            </a:pPr>
            <a:r>
              <a:rPr lang="en-US" sz="2100" b="1" dirty="0">
                <a:solidFill>
                  <a:srgbClr val="14213D"/>
                </a:solidFill>
                <a:latin typeface="Cambria" pitchFamily="34" charset="0"/>
                <a:ea typeface="Cambria" pitchFamily="34" charset="-122"/>
                <a:cs typeface="Cambria" pitchFamily="34" charset="-120"/>
              </a:rPr>
              <a:t>Protocol v3.1</a:t>
            </a:r>
            <a:endParaRPr lang="en-US" sz="2100" dirty="0"/>
          </a:p>
        </p:txBody>
      </p:sp>
      <p:sp>
        <p:nvSpPr>
          <p:cNvPr id="12" name="Text 10"/>
          <p:cNvSpPr txBox="1"/>
          <p:nvPr/>
        </p:nvSpPr>
        <p:spPr>
          <a:xfrm>
            <a:off x="7269480" y="2331720"/>
            <a:ext cx="4114800" cy="118872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Split decryption key with the noise in O's share, replace-one DP, (ρ, δ) ledger, OPRF-based PSI, two-stage ridge, valid intervals.</a:t>
            </a:r>
            <a:endParaRPr lang="en-US" sz="1500" dirty="0"/>
          </a:p>
        </p:txBody>
      </p:sp>
      <p:sp>
        <p:nvSpPr>
          <p:cNvPr id="13" name="Shape 11"/>
          <p:cNvSpPr/>
          <p:nvPr/>
        </p:nvSpPr>
        <p:spPr>
          <a:xfrm>
            <a:off x="548640" y="3840480"/>
            <a:ext cx="5440680" cy="2148840"/>
          </a:xfrm>
          <a:prstGeom prst="roundRect">
            <a:avLst>
              <a:gd name="adj" fmla="val 3404"/>
            </a:avLst>
          </a:prstGeom>
          <a:solidFill>
            <a:srgbClr val="EEF2F7"/>
          </a:solidFill>
          <a:ln w="12700">
            <a:solidFill>
              <a:srgbClr val="EEF2F7"/>
            </a:solidFill>
            <a:prstDash val="solid"/>
          </a:ln>
        </p:spPr>
      </p:sp>
      <p:sp>
        <p:nvSpPr>
          <p:cNvPr id="14" name="Shape 12"/>
          <p:cNvSpPr/>
          <p:nvPr/>
        </p:nvSpPr>
        <p:spPr>
          <a:xfrm>
            <a:off x="822960" y="4114800"/>
            <a:ext cx="640080" cy="640080"/>
          </a:xfrm>
          <a:prstGeom prst="ellipse">
            <a:avLst/>
          </a:prstGeom>
          <a:solidFill>
            <a:srgbClr val="14213D"/>
          </a:solidFill>
          <a:ln w="12700">
            <a:solidFill>
              <a:srgbClr val="14213D"/>
            </a:solidFill>
            <a:prstDash val="solid"/>
          </a:ln>
        </p:spPr>
      </p:sp>
      <p:sp>
        <p:nvSpPr>
          <p:cNvPr id="15" name="Text 13"/>
          <p:cNvSpPr txBox="1"/>
          <p:nvPr/>
        </p:nvSpPr>
        <p:spPr>
          <a:xfrm>
            <a:off x="822960" y="41148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txBox="1"/>
          <p:nvPr/>
        </p:nvSpPr>
        <p:spPr>
          <a:xfrm>
            <a:off x="1645920" y="4187952"/>
            <a:ext cx="4114800" cy="457200"/>
          </a:xfrm>
          <a:prstGeom prst="rect">
            <a:avLst/>
          </a:prstGeom>
          <a:noFill/>
          <a:ln/>
        </p:spPr>
        <p:txBody>
          <a:bodyPr wrap="square" lIns="0" tIns="0" rIns="0" bIns="0" rtlCol="0" anchor="t"/>
          <a:lstStyle/>
          <a:p>
            <a:pPr indent="0" marL="0">
              <a:buNone/>
            </a:pPr>
            <a:r>
              <a:rPr lang="en-US" sz="2100" b="1" dirty="0">
                <a:solidFill>
                  <a:srgbClr val="14213D"/>
                </a:solidFill>
                <a:latin typeface="Cambria" pitchFamily="34" charset="0"/>
                <a:ea typeface="Cambria" pitchFamily="34" charset="-122"/>
                <a:cs typeface="Cambria" pitchFamily="34" charset="-120"/>
              </a:rPr>
              <a:t>Proofs</a:t>
            </a:r>
            <a:endParaRPr lang="en-US" sz="2100" dirty="0"/>
          </a:p>
        </p:txBody>
      </p:sp>
      <p:sp>
        <p:nvSpPr>
          <p:cNvPr id="17" name="Text 15"/>
          <p:cNvSpPr txBox="1"/>
          <p:nvPr/>
        </p:nvSpPr>
        <p:spPr>
          <a:xfrm>
            <a:off x="1645920" y="4709160"/>
            <a:ext cx="4114800" cy="118872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Output privacy (SIM-CDP) with a worst-case error bound, the exact replace-one sensitivity, and interval coverage to first order.</a:t>
            </a:r>
            <a:endParaRPr lang="en-US" sz="1500" dirty="0"/>
          </a:p>
        </p:txBody>
      </p:sp>
      <p:sp>
        <p:nvSpPr>
          <p:cNvPr id="18" name="Shape 16"/>
          <p:cNvSpPr/>
          <p:nvPr/>
        </p:nvSpPr>
        <p:spPr>
          <a:xfrm>
            <a:off x="6172200" y="3840480"/>
            <a:ext cx="5440680" cy="2148840"/>
          </a:xfrm>
          <a:prstGeom prst="roundRect">
            <a:avLst>
              <a:gd name="adj" fmla="val 3404"/>
            </a:avLst>
          </a:prstGeom>
          <a:solidFill>
            <a:srgbClr val="EEF2F7"/>
          </a:solidFill>
          <a:ln w="12700">
            <a:solidFill>
              <a:srgbClr val="EEF2F7"/>
            </a:solidFill>
            <a:prstDash val="solid"/>
          </a:ln>
        </p:spPr>
      </p:sp>
      <p:sp>
        <p:nvSpPr>
          <p:cNvPr id="19" name="Shape 17"/>
          <p:cNvSpPr/>
          <p:nvPr/>
        </p:nvSpPr>
        <p:spPr>
          <a:xfrm>
            <a:off x="6446520" y="4114800"/>
            <a:ext cx="640080" cy="640080"/>
          </a:xfrm>
          <a:prstGeom prst="ellipse">
            <a:avLst/>
          </a:prstGeom>
          <a:solidFill>
            <a:srgbClr val="14213D"/>
          </a:solidFill>
          <a:ln w="12700">
            <a:solidFill>
              <a:srgbClr val="14213D"/>
            </a:solidFill>
            <a:prstDash val="solid"/>
          </a:ln>
        </p:spPr>
      </p:sp>
      <p:sp>
        <p:nvSpPr>
          <p:cNvPr id="20" name="Text 18"/>
          <p:cNvSpPr txBox="1"/>
          <p:nvPr/>
        </p:nvSpPr>
        <p:spPr>
          <a:xfrm>
            <a:off x="6446520" y="41148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Text 19"/>
          <p:cNvSpPr txBox="1"/>
          <p:nvPr/>
        </p:nvSpPr>
        <p:spPr>
          <a:xfrm>
            <a:off x="7269480" y="4187952"/>
            <a:ext cx="4114800" cy="457200"/>
          </a:xfrm>
          <a:prstGeom prst="rect">
            <a:avLst/>
          </a:prstGeom>
          <a:noFill/>
          <a:ln/>
        </p:spPr>
        <p:txBody>
          <a:bodyPr wrap="square" lIns="0" tIns="0" rIns="0" bIns="0" rtlCol="0" anchor="t"/>
          <a:lstStyle/>
          <a:p>
            <a:pPr indent="0" marL="0">
              <a:buNone/>
            </a:pPr>
            <a:r>
              <a:rPr lang="en-US" sz="2100" b="1" dirty="0">
                <a:solidFill>
                  <a:srgbClr val="14213D"/>
                </a:solidFill>
                <a:latin typeface="Cambria" pitchFamily="34" charset="0"/>
                <a:ea typeface="Cambria" pitchFamily="34" charset="-122"/>
                <a:cs typeface="Cambria" pitchFamily="34" charset="-120"/>
              </a:rPr>
              <a:t>Evaluation</a:t>
            </a:r>
            <a:endParaRPr lang="en-US" sz="2100" dirty="0"/>
          </a:p>
        </p:txBody>
      </p:sp>
      <p:sp>
        <p:nvSpPr>
          <p:cNvPr id="22" name="Text 20"/>
          <p:cNvSpPr txBox="1"/>
          <p:nvPr/>
        </p:nvSpPr>
        <p:spPr>
          <a:xfrm>
            <a:off x="7269480" y="4709160"/>
            <a:ext cx="4114800" cy="118872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End-to-end runs, simulation studies of accuracy and of the bias correction, and a benchmark against AdaSSP.</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22960" y="2331720"/>
            <a:ext cx="1188720" cy="1188720"/>
          </a:xfrm>
          <a:prstGeom prst="ellipse">
            <a:avLst/>
          </a:prstGeom>
          <a:solidFill>
            <a:srgbClr val="C45A0C"/>
          </a:solidFill>
          <a:ln w="12700">
            <a:solidFill>
              <a:srgbClr val="C45A0C"/>
            </a:solidFill>
            <a:prstDash val="solid"/>
          </a:ln>
        </p:spPr>
      </p:sp>
      <p:sp>
        <p:nvSpPr>
          <p:cNvPr id="3" name="Text 1"/>
          <p:cNvSpPr txBox="1"/>
          <p:nvPr/>
        </p:nvSpPr>
        <p:spPr>
          <a:xfrm>
            <a:off x="822960" y="2331720"/>
            <a:ext cx="1188720" cy="118872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3</a:t>
            </a:r>
            <a:endParaRPr lang="en-US" sz="3600" dirty="0"/>
          </a:p>
        </p:txBody>
      </p:sp>
      <p:sp>
        <p:nvSpPr>
          <p:cNvPr id="4" name="Text 2"/>
          <p:cNvSpPr txBox="1"/>
          <p:nvPr/>
        </p:nvSpPr>
        <p:spPr>
          <a:xfrm>
            <a:off x="2377440" y="2240280"/>
            <a:ext cx="86868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Methodology</a:t>
            </a:r>
            <a:endParaRPr lang="en-US" sz="4000" dirty="0"/>
          </a:p>
        </p:txBody>
      </p:sp>
      <p:sp>
        <p:nvSpPr>
          <p:cNvPr id="5" name="Text 3"/>
          <p:cNvSpPr txBox="1"/>
          <p:nvPr/>
        </p:nvSpPr>
        <p:spPr>
          <a:xfrm>
            <a:off x="2377440" y="3063240"/>
            <a:ext cx="8686800" cy="548640"/>
          </a:xfrm>
          <a:prstGeom prst="rect">
            <a:avLst/>
          </a:prstGeom>
          <a:noFill/>
          <a:ln/>
        </p:spPr>
        <p:txBody>
          <a:bodyPr wrap="square" lIns="0" tIns="0" rIns="0" bIns="0" rtlCol="0" anchor="ctr"/>
          <a:lstStyle/>
          <a:p>
            <a:pPr indent="0" marL="0">
              <a:buNone/>
            </a:pPr>
            <a:r>
              <a:rPr lang="en-US" sz="1800" dirty="0">
                <a:solidFill>
                  <a:srgbClr val="CAD5E6"/>
                </a:solidFill>
                <a:latin typeface="Calibri" pitchFamily="34" charset="0"/>
                <a:ea typeface="Calibri" pitchFamily="34" charset="-122"/>
                <a:cs typeface="Calibri" pitchFamily="34" charset="-120"/>
              </a:rPr>
              <a:t>The first revision (v2), phase by phase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Protocol v2 at a glance</a:t>
            </a:r>
            <a:endParaRPr lang="en-US" sz="3200" dirty="0"/>
          </a:p>
        </p:txBody>
      </p:sp>
      <p:sp>
        <p:nvSpPr>
          <p:cNvPr id="3" name="Shape 1"/>
          <p:cNvSpPr/>
          <p:nvPr/>
        </p:nvSpPr>
        <p:spPr>
          <a:xfrm>
            <a:off x="548640" y="1554480"/>
            <a:ext cx="640080" cy="640080"/>
          </a:xfrm>
          <a:prstGeom prst="ellipse">
            <a:avLst/>
          </a:prstGeom>
          <a:solidFill>
            <a:srgbClr val="14213D"/>
          </a:solidFill>
          <a:ln w="12700">
            <a:solidFill>
              <a:srgbClr val="14213D"/>
            </a:solidFill>
            <a:prstDash val="solid"/>
          </a:ln>
        </p:spPr>
      </p:sp>
      <p:sp>
        <p:nvSpPr>
          <p:cNvPr id="4" name="Text 2"/>
          <p:cNvSpPr txBox="1"/>
          <p:nvPr/>
        </p:nvSpPr>
        <p:spPr>
          <a:xfrm>
            <a:off x="548640" y="15544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0</a:t>
            </a:r>
            <a:endParaRPr lang="en-US" sz="2000" dirty="0"/>
          </a:p>
        </p:txBody>
      </p:sp>
      <p:sp>
        <p:nvSpPr>
          <p:cNvPr id="5" name="Text 3"/>
          <p:cNvSpPr txBox="1"/>
          <p:nvPr/>
        </p:nvSpPr>
        <p:spPr>
          <a:xfrm>
            <a:off x="1371600" y="1572768"/>
            <a:ext cx="4572000" cy="41148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Setup and commitments</a:t>
            </a:r>
            <a:endParaRPr lang="en-US" sz="2000" dirty="0"/>
          </a:p>
        </p:txBody>
      </p:sp>
      <p:sp>
        <p:nvSpPr>
          <p:cNvPr id="6" name="Text 4"/>
          <p:cNvSpPr txBox="1"/>
          <p:nvPr/>
        </p:nvSpPr>
        <p:spPr>
          <a:xfrm>
            <a:off x="1371600" y="2011680"/>
            <a:ext cx="4572000" cy="457200"/>
          </a:xfrm>
          <a:prstGeom prst="rect">
            <a:avLst/>
          </a:prstGeom>
          <a:noFill/>
          <a:ln/>
        </p:spPr>
        <p:txBody>
          <a:bodyPr wrap="square" lIns="0" tIns="0" rIns="0" bIns="0" rtlCol="0" anchor="t"/>
          <a:lstStyle/>
          <a:p>
            <a:pPr indent="0" marL="0">
              <a:buNone/>
            </a:pPr>
            <a:r>
              <a:rPr lang="en-US" sz="1500" dirty="0">
                <a:solidFill>
                  <a:srgbClr val="5B6576"/>
                </a:solidFill>
                <a:latin typeface="Calibri" pitchFamily="34" charset="0"/>
                <a:ea typeface="Calibri" pitchFamily="34" charset="-122"/>
                <a:cs typeface="Calibri" pitchFamily="34" charset="-120"/>
              </a:rPr>
              <a:t>Only public constants cross</a:t>
            </a:r>
            <a:endParaRPr lang="en-US" sz="1500" dirty="0"/>
          </a:p>
        </p:txBody>
      </p:sp>
      <p:sp>
        <p:nvSpPr>
          <p:cNvPr id="7" name="Shape 5"/>
          <p:cNvSpPr/>
          <p:nvPr/>
        </p:nvSpPr>
        <p:spPr>
          <a:xfrm>
            <a:off x="548640" y="2743200"/>
            <a:ext cx="640080" cy="640080"/>
          </a:xfrm>
          <a:prstGeom prst="ellipse">
            <a:avLst/>
          </a:prstGeom>
          <a:solidFill>
            <a:srgbClr val="14213D"/>
          </a:solidFill>
          <a:ln w="12700">
            <a:solidFill>
              <a:srgbClr val="14213D"/>
            </a:solidFill>
            <a:prstDash val="solid"/>
          </a:ln>
        </p:spPr>
      </p:sp>
      <p:sp>
        <p:nvSpPr>
          <p:cNvPr id="8" name="Text 6"/>
          <p:cNvSpPr txBox="1"/>
          <p:nvPr/>
        </p:nvSpPr>
        <p:spPr>
          <a:xfrm>
            <a:off x="548640" y="274320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7"/>
          <p:cNvSpPr txBox="1"/>
          <p:nvPr/>
        </p:nvSpPr>
        <p:spPr>
          <a:xfrm>
            <a:off x="1371600" y="2761488"/>
            <a:ext cx="4572000" cy="41148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Private linkage</a:t>
            </a:r>
            <a:endParaRPr lang="en-US" sz="2000" dirty="0"/>
          </a:p>
        </p:txBody>
      </p:sp>
      <p:sp>
        <p:nvSpPr>
          <p:cNvPr id="10" name="Text 8"/>
          <p:cNvSpPr txBox="1"/>
          <p:nvPr/>
        </p:nvSpPr>
        <p:spPr>
          <a:xfrm>
            <a:off x="1371600" y="3200400"/>
            <a:ext cx="4572000" cy="457200"/>
          </a:xfrm>
          <a:prstGeom prst="rect">
            <a:avLst/>
          </a:prstGeom>
          <a:noFill/>
          <a:ln/>
        </p:spPr>
        <p:txBody>
          <a:bodyPr wrap="square" lIns="0" tIns="0" rIns="0" bIns="0" rtlCol="0" anchor="t"/>
          <a:lstStyle/>
          <a:p>
            <a:pPr indent="0" marL="0">
              <a:buNone/>
            </a:pPr>
            <a:r>
              <a:rPr lang="en-US" sz="1500" dirty="0">
                <a:solidFill>
                  <a:srgbClr val="5B6576"/>
                </a:solidFill>
                <a:latin typeface="Calibri" pitchFamily="34" charset="0"/>
                <a:ea typeface="Calibri" pitchFamily="34" charset="-122"/>
                <a:cs typeface="Calibri" pitchFamily="34" charset="-120"/>
              </a:rPr>
              <a:t>BFV labeled PSI; R learns the match set</a:t>
            </a:r>
            <a:endParaRPr lang="en-US" sz="1500" dirty="0"/>
          </a:p>
        </p:txBody>
      </p:sp>
      <p:sp>
        <p:nvSpPr>
          <p:cNvPr id="11" name="Shape 9"/>
          <p:cNvSpPr/>
          <p:nvPr/>
        </p:nvSpPr>
        <p:spPr>
          <a:xfrm>
            <a:off x="548640" y="3931920"/>
            <a:ext cx="640080" cy="640080"/>
          </a:xfrm>
          <a:prstGeom prst="ellipse">
            <a:avLst/>
          </a:prstGeom>
          <a:solidFill>
            <a:srgbClr val="C45A0C"/>
          </a:solidFill>
          <a:ln w="12700">
            <a:solidFill>
              <a:srgbClr val="C45A0C"/>
            </a:solidFill>
            <a:prstDash val="solid"/>
          </a:ln>
        </p:spPr>
      </p:sp>
      <p:sp>
        <p:nvSpPr>
          <p:cNvPr id="12" name="Text 10"/>
          <p:cNvSpPr txBox="1"/>
          <p:nvPr/>
        </p:nvSpPr>
        <p:spPr>
          <a:xfrm>
            <a:off x="548640" y="39319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txBox="1"/>
          <p:nvPr/>
        </p:nvSpPr>
        <p:spPr>
          <a:xfrm>
            <a:off x="1371600" y="3950208"/>
            <a:ext cx="4572000" cy="41148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Encrypted aggregation</a:t>
            </a:r>
            <a:endParaRPr lang="en-US" sz="2000" dirty="0"/>
          </a:p>
        </p:txBody>
      </p:sp>
      <p:sp>
        <p:nvSpPr>
          <p:cNvPr id="14" name="Text 12"/>
          <p:cNvSpPr txBox="1"/>
          <p:nvPr/>
        </p:nvSpPr>
        <p:spPr>
          <a:xfrm>
            <a:off x="1371600" y="4389120"/>
            <a:ext cx="4572000" cy="457200"/>
          </a:xfrm>
          <a:prstGeom prst="rect">
            <a:avLst/>
          </a:prstGeom>
          <a:noFill/>
          <a:ln/>
        </p:spPr>
        <p:txBody>
          <a:bodyPr wrap="square" lIns="0" tIns="0" rIns="0" bIns="0" rtlCol="0" anchor="t"/>
          <a:lstStyle/>
          <a:p>
            <a:pPr indent="0" marL="0">
              <a:buNone/>
            </a:pPr>
            <a:r>
              <a:rPr lang="en-US" sz="1500" dirty="0">
                <a:solidFill>
                  <a:srgbClr val="5B6576"/>
                </a:solidFill>
                <a:latin typeface="Calibri" pitchFamily="34" charset="0"/>
                <a:ea typeface="Calibri" pitchFamily="34" charset="-122"/>
                <a:cs typeface="Calibri" pitchFamily="34" charset="-120"/>
              </a:rPr>
              <a:t>CKKS, depth 1; DP noise added by O</a:t>
            </a:r>
            <a:endParaRPr lang="en-US" sz="1500" dirty="0"/>
          </a:p>
        </p:txBody>
      </p:sp>
      <p:sp>
        <p:nvSpPr>
          <p:cNvPr id="15" name="Shape 13"/>
          <p:cNvSpPr/>
          <p:nvPr/>
        </p:nvSpPr>
        <p:spPr>
          <a:xfrm>
            <a:off x="548640" y="5120640"/>
            <a:ext cx="640080" cy="640080"/>
          </a:xfrm>
          <a:prstGeom prst="ellipse">
            <a:avLst/>
          </a:prstGeom>
          <a:solidFill>
            <a:srgbClr val="14213D"/>
          </a:solidFill>
          <a:ln w="12700">
            <a:solidFill>
              <a:srgbClr val="14213D"/>
            </a:solidFill>
            <a:prstDash val="solid"/>
          </a:ln>
        </p:spPr>
      </p:sp>
      <p:sp>
        <p:nvSpPr>
          <p:cNvPr id="16" name="Text 14"/>
          <p:cNvSpPr txBox="1"/>
          <p:nvPr/>
        </p:nvSpPr>
        <p:spPr>
          <a:xfrm>
            <a:off x="548640" y="51206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txBox="1"/>
          <p:nvPr/>
        </p:nvSpPr>
        <p:spPr>
          <a:xfrm>
            <a:off x="1371600" y="5138928"/>
            <a:ext cx="4572000" cy="41148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Solve at R</a:t>
            </a:r>
            <a:endParaRPr lang="en-US" sz="2000" dirty="0"/>
          </a:p>
        </p:txBody>
      </p:sp>
      <p:sp>
        <p:nvSpPr>
          <p:cNvPr id="18" name="Text 16"/>
          <p:cNvSpPr txBox="1"/>
          <p:nvPr/>
        </p:nvSpPr>
        <p:spPr>
          <a:xfrm>
            <a:off x="1371600" y="5577840"/>
            <a:ext cx="4572000" cy="457200"/>
          </a:xfrm>
          <a:prstGeom prst="rect">
            <a:avLst/>
          </a:prstGeom>
          <a:noFill/>
          <a:ln/>
        </p:spPr>
        <p:txBody>
          <a:bodyPr wrap="square" lIns="0" tIns="0" rIns="0" bIns="0" rtlCol="0" anchor="t"/>
          <a:lstStyle/>
          <a:p>
            <a:pPr indent="0" marL="0">
              <a:buNone/>
            </a:pPr>
            <a:r>
              <a:rPr lang="en-US" sz="1500" dirty="0">
                <a:solidFill>
                  <a:srgbClr val="5B6576"/>
                </a:solidFill>
                <a:latin typeface="Calibri" pitchFamily="34" charset="0"/>
                <a:ea typeface="Calibri" pitchFamily="34" charset="-122"/>
                <a:cs typeface="Calibri" pitchFamily="34" charset="-120"/>
              </a:rPr>
              <a:t>Fixed ridge, bias correction; post-processing</a:t>
            </a:r>
            <a:endParaRPr lang="en-US" sz="1500" dirty="0"/>
          </a:p>
        </p:txBody>
      </p:sp>
      <p:sp>
        <p:nvSpPr>
          <p:cNvPr id="19" name="Text 17"/>
          <p:cNvSpPr txBox="1"/>
          <p:nvPr/>
        </p:nvSpPr>
        <p:spPr>
          <a:xfrm>
            <a:off x="548640" y="6217920"/>
            <a:ext cx="5852160" cy="320040"/>
          </a:xfrm>
          <a:prstGeom prst="rect">
            <a:avLst/>
          </a:prstGeom>
          <a:noFill/>
          <a:ln/>
        </p:spPr>
        <p:txBody>
          <a:bodyPr wrap="square" lIns="0" tIns="0" rIns="0" bIns="0" rtlCol="0" anchor="t"/>
          <a:lstStyle/>
          <a:p>
            <a:pPr indent="0" marL="0">
              <a:buNone/>
            </a:pPr>
            <a:r>
              <a:rPr lang="en-US" sz="1200" i="1" dirty="0">
                <a:solidFill>
                  <a:srgbClr val="5B6576"/>
                </a:solidFill>
                <a:latin typeface="Calibri" pitchFamily="34" charset="0"/>
                <a:ea typeface="Calibri" pitchFamily="34" charset="-122"/>
                <a:cs typeface="Calibri" pitchFamily="34" charset="-120"/>
              </a:rPr>
              <a:t>Orange in the figure marks what changed from the draft. Part 5 shows what v3.1 changes.</a:t>
            </a:r>
            <a:endParaRPr lang="en-US" sz="1200" dirty="0"/>
          </a:p>
        </p:txBody>
      </p:sp>
      <p:pic>
        <p:nvPicPr>
          <p:cNvPr id="20" name="Image 0" descr="/home/user/VerticalFederatedRegression/protocol_v2/protocol_v2.png">    </p:cNvPr>
          <p:cNvPicPr>
            <a:picLocks noChangeAspect="1"/>
          </p:cNvPicPr>
          <p:nvPr/>
        </p:nvPicPr>
        <p:blipFill>
          <a:blip r:embed="rId1"/>
          <a:stretch>
            <a:fillRect/>
          </a:stretch>
        </p:blipFill>
        <p:spPr>
          <a:xfrm>
            <a:off x="6732308" y="274320"/>
            <a:ext cx="4823384" cy="63550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Phases 0–1: commitments and private linkage</a:t>
            </a:r>
            <a:endParaRPr lang="en-US" sz="3200" dirty="0"/>
          </a:p>
        </p:txBody>
      </p:sp>
      <p:sp>
        <p:nvSpPr>
          <p:cNvPr id="3" name="Shape 1"/>
          <p:cNvSpPr/>
          <p:nvPr/>
        </p:nvSpPr>
        <p:spPr>
          <a:xfrm>
            <a:off x="548640" y="1417320"/>
            <a:ext cx="5440680" cy="4754880"/>
          </a:xfrm>
          <a:prstGeom prst="roundRect">
            <a:avLst>
              <a:gd name="adj" fmla="val 1538"/>
            </a:avLst>
          </a:prstGeom>
          <a:solidFill>
            <a:srgbClr val="EEF2F7"/>
          </a:solidFill>
          <a:ln w="12700">
            <a:solidFill>
              <a:srgbClr val="EEF2F7"/>
            </a:solidFill>
            <a:prstDash val="solid"/>
          </a:ln>
        </p:spPr>
      </p:sp>
      <p:sp>
        <p:nvSpPr>
          <p:cNvPr id="4" name="Shape 2"/>
          <p:cNvSpPr/>
          <p:nvPr/>
        </p:nvSpPr>
        <p:spPr>
          <a:xfrm>
            <a:off x="822960" y="1645920"/>
            <a:ext cx="548640" cy="548640"/>
          </a:xfrm>
          <a:prstGeom prst="ellipse">
            <a:avLst/>
          </a:prstGeom>
          <a:solidFill>
            <a:srgbClr val="14213D"/>
          </a:solidFill>
          <a:ln w="12700">
            <a:solidFill>
              <a:srgbClr val="14213D"/>
            </a:solidFill>
            <a:prstDash val="solid"/>
          </a:ln>
        </p:spPr>
      </p:sp>
      <p:sp>
        <p:nvSpPr>
          <p:cNvPr id="5" name="Text 3"/>
          <p:cNvSpPr txBox="1"/>
          <p:nvPr/>
        </p:nvSpPr>
        <p:spPr>
          <a:xfrm>
            <a:off x="822960" y="16459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a:t>
            </a:r>
            <a:endParaRPr lang="en-US" sz="1600" dirty="0"/>
          </a:p>
        </p:txBody>
      </p:sp>
      <p:sp>
        <p:nvSpPr>
          <p:cNvPr id="6" name="Text 4"/>
          <p:cNvSpPr txBox="1"/>
          <p:nvPr/>
        </p:nvSpPr>
        <p:spPr>
          <a:xfrm>
            <a:off x="1554480" y="1673352"/>
            <a:ext cx="4206240" cy="45720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Setup and commitments</a:t>
            </a:r>
            <a:endParaRPr lang="en-US" sz="2000" dirty="0"/>
          </a:p>
        </p:txBody>
      </p:sp>
      <p:sp>
        <p:nvSpPr>
          <p:cNvPr id="7" name="Text 5"/>
          <p:cNvSpPr txBox="1"/>
          <p:nvPr/>
        </p:nvSpPr>
        <p:spPr>
          <a:xfrm>
            <a:off x="868680" y="2377440"/>
            <a:ext cx="4892040" cy="365760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R: standardizes with its own constants (kept), clips rows to B</a:t>
            </a:r>
            <a:r>
              <a:rPr lang="en-US" sz="1450" baseline="-25000" dirty="0">
                <a:solidFill>
                  <a:srgbClr val="1F2937"/>
                </a:solidFill>
                <a:latin typeface="Calibri" pitchFamily="34" charset="0"/>
                <a:ea typeface="Calibri" pitchFamily="34" charset="-122"/>
                <a:cs typeface="Calibri" pitchFamily="34" charset="-120"/>
              </a:rPr>
              <a:t>R</a:t>
            </a:r>
            <a:r>
              <a:rPr lang="en-US" sz="1450" dirty="0">
                <a:solidFill>
                  <a:srgbClr val="1F2937"/>
                </a:solidFill>
                <a:latin typeface="Calibri" pitchFamily="34" charset="0"/>
                <a:ea typeface="Calibri" pitchFamily="34" charset="-122"/>
                <a:cs typeface="Calibri" pitchFamily="34" charset="-120"/>
              </a:rPr>
              <a:t>, generates BFV and CKKS keys</a:t>
            </a:r>
            <a:endParaRPr lang="en-US" sz="1450" dirty="0"/>
          </a:p>
          <a:p>
            <a:pPr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O: standardizes with public constants, clips to B</a:t>
            </a:r>
            <a:r>
              <a:rPr lang="en-US" sz="1450" baseline="-25000" dirty="0">
                <a:solidFill>
                  <a:srgbClr val="1F2937"/>
                </a:solidFill>
                <a:latin typeface="Calibri" pitchFamily="34" charset="0"/>
                <a:ea typeface="Calibri" pitchFamily="34" charset="-122"/>
                <a:cs typeface="Calibri" pitchFamily="34" charset="-120"/>
              </a:rPr>
              <a:t>O</a:t>
            </a:r>
            <a:r>
              <a:rPr lang="en-US" sz="1450" dirty="0">
                <a:solidFill>
                  <a:srgbClr val="1F2937"/>
                </a:solidFill>
                <a:latin typeface="Calibri" pitchFamily="34" charset="0"/>
                <a:ea typeface="Calibri" pitchFamily="34" charset="-122"/>
                <a:cs typeface="Calibri" pitchFamily="34" charset="-120"/>
              </a:rPr>
              <a:t> and B</a:t>
            </a:r>
            <a:r>
              <a:rPr lang="en-US" sz="1450" baseline="-25000" dirty="0">
                <a:solidFill>
                  <a:srgbClr val="1F2937"/>
                </a:solidFill>
                <a:latin typeface="Calibri" pitchFamily="34" charset="0"/>
                <a:ea typeface="Calibri" pitchFamily="34" charset="-122"/>
                <a:cs typeface="Calibri" pitchFamily="34" charset="-120"/>
              </a:rPr>
              <a:t>y</a:t>
            </a:r>
            <a:endParaRPr lang="en-US" sz="1450" dirty="0"/>
          </a:p>
          <a:p>
            <a:pPr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O computes Δ</a:t>
            </a:r>
            <a:r>
              <a:rPr lang="en-US" sz="1450" baseline="-25000" dirty="0">
                <a:solidFill>
                  <a:srgbClr val="1F2937"/>
                </a:solidFill>
                <a:latin typeface="Calibri" pitchFamily="34" charset="0"/>
                <a:ea typeface="Calibri" pitchFamily="34" charset="-122"/>
                <a:cs typeface="Calibri" pitchFamily="34" charset="-120"/>
              </a:rPr>
              <a:t>rep</a:t>
            </a:r>
            <a:r>
              <a:rPr lang="en-US" sz="1450" dirty="0">
                <a:solidFill>
                  <a:srgbClr val="1F2937"/>
                </a:solidFill>
                <a:latin typeface="Calibri" pitchFamily="34" charset="0"/>
                <a:ea typeface="Calibri" pitchFamily="34" charset="-122"/>
                <a:cs typeface="Calibri" pitchFamily="34" charset="-120"/>
              </a:rPr>
              <a:t> and σ, and refuses the run if the ledger would exceed its cap</a:t>
            </a:r>
            <a:endParaRPr lang="en-US" sz="1450" dirty="0"/>
          </a:p>
          <a:p>
            <a:pPr marL="342900" indent="-342900">
              <a:spcAft>
                <a:spcPts val="600"/>
              </a:spcAft>
              <a:buSzPct val="100000"/>
              <a:buChar char="•"/>
            </a:pPr>
            <a:r>
              <a:rPr lang="en-US" sz="1450" b="1" dirty="0">
                <a:solidFill>
                  <a:srgbClr val="1F2937"/>
                </a:solidFill>
                <a:latin typeface="Calibri" pitchFamily="34" charset="0"/>
                <a:ea typeface="Calibri" pitchFamily="34" charset="-122"/>
                <a:cs typeface="Calibri" pitchFamily="34" charset="-120"/>
              </a:rPr>
              <a:t>Only public constants cross: no quantiles, clip rates or sample moments</a:t>
            </a:r>
            <a:endParaRPr lang="en-US" sz="1450" dirty="0"/>
          </a:p>
        </p:txBody>
      </p:sp>
      <p:sp>
        <p:nvSpPr>
          <p:cNvPr id="8" name="Shape 6"/>
          <p:cNvSpPr/>
          <p:nvPr/>
        </p:nvSpPr>
        <p:spPr>
          <a:xfrm>
            <a:off x="6172200" y="1417320"/>
            <a:ext cx="5440680" cy="4754880"/>
          </a:xfrm>
          <a:prstGeom prst="roundRect">
            <a:avLst>
              <a:gd name="adj" fmla="val 1538"/>
            </a:avLst>
          </a:prstGeom>
          <a:solidFill>
            <a:srgbClr val="EEF2F7"/>
          </a:solidFill>
          <a:ln w="12700">
            <a:solidFill>
              <a:srgbClr val="EEF2F7"/>
            </a:solidFill>
            <a:prstDash val="solid"/>
          </a:ln>
        </p:spPr>
      </p:sp>
      <p:sp>
        <p:nvSpPr>
          <p:cNvPr id="9" name="Shape 7"/>
          <p:cNvSpPr/>
          <p:nvPr/>
        </p:nvSpPr>
        <p:spPr>
          <a:xfrm>
            <a:off x="6446520" y="1645920"/>
            <a:ext cx="548640" cy="548640"/>
          </a:xfrm>
          <a:prstGeom prst="ellipse">
            <a:avLst/>
          </a:prstGeom>
          <a:solidFill>
            <a:srgbClr val="14213D"/>
          </a:solidFill>
          <a:ln w="12700">
            <a:solidFill>
              <a:srgbClr val="14213D"/>
            </a:solidFill>
            <a:prstDash val="solid"/>
          </a:ln>
        </p:spPr>
      </p:sp>
      <p:sp>
        <p:nvSpPr>
          <p:cNvPr id="10" name="Text 8"/>
          <p:cNvSpPr txBox="1"/>
          <p:nvPr/>
        </p:nvSpPr>
        <p:spPr>
          <a:xfrm>
            <a:off x="6446520" y="16459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9"/>
          <p:cNvSpPr txBox="1"/>
          <p:nvPr/>
        </p:nvSpPr>
        <p:spPr>
          <a:xfrm>
            <a:off x="7178040" y="1673352"/>
            <a:ext cx="4206240" cy="45720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Labeled PSI with alignment</a:t>
            </a:r>
            <a:endParaRPr lang="en-US" sz="2000" dirty="0"/>
          </a:p>
        </p:txBody>
      </p:sp>
      <p:sp>
        <p:nvSpPr>
          <p:cNvPr id="12" name="Text 10"/>
          <p:cNvSpPr txBox="1"/>
          <p:nvPr/>
        </p:nvSpPr>
        <p:spPr>
          <a:xfrm>
            <a:off x="6492240" y="2377440"/>
            <a:ext cx="4892040" cy="365760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O applies a secret permutation τ, so labels are random positions</a:t>
            </a:r>
            <a:endParaRPr lang="en-US" sz="1450" dirty="0"/>
          </a:p>
          <a:p>
            <a:pPr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Keyed hashing; bins padded to a public degree D and count α</a:t>
            </a:r>
            <a:endParaRPr lang="en-US" sz="1450" dirty="0"/>
          </a:p>
          <a:p>
            <a:pPr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R cuckoo-hashes its IDs and sends encrypted windowed powers</a:t>
            </a:r>
            <a:endParaRPr lang="en-US" sz="1450" dirty="0"/>
          </a:p>
          <a:p>
            <a:pPr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O evaluates membership and label polynomials, masks, and sanitizes</a:t>
            </a:r>
            <a:endParaRPr lang="en-US" sz="1450" dirty="0"/>
          </a:p>
          <a:p>
            <a:pPr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R learns I and the aligned positions; O learns only public sizes</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Phase 2: encrypted aggregation</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O multiplies R's encrypted vectors by its own plaintext columns (depth 1)</a:t>
            </a:r>
            <a:endParaRPr lang="en-US" sz="1600" dirty="0"/>
          </a:p>
        </p:txBody>
      </p:sp>
      <p:sp>
        <p:nvSpPr>
          <p:cNvPr id="4" name="Shape 2"/>
          <p:cNvSpPr/>
          <p:nvPr/>
        </p:nvSpPr>
        <p:spPr>
          <a:xfrm>
            <a:off x="548640" y="1645920"/>
            <a:ext cx="6492240" cy="3063240"/>
          </a:xfrm>
          <a:prstGeom prst="roundRect">
            <a:avLst>
              <a:gd name="adj" fmla="val 2388"/>
            </a:avLst>
          </a:prstGeom>
          <a:solidFill>
            <a:srgbClr val="F7F9FC"/>
          </a:solidFill>
          <a:ln w="12700">
            <a:solidFill>
              <a:srgbClr val="F7F9FC"/>
            </a:solidFill>
            <a:prstDash val="solid"/>
          </a:ln>
        </p:spPr>
      </p:sp>
      <p:pic>
        <p:nvPicPr>
          <p:cNvPr id="5" name="Image 0" descr="/home/user/VerticalFederatedRegression/slides/assets/eq/agg.png">    </p:cNvPr>
          <p:cNvPicPr>
            <a:picLocks noChangeAspect="1"/>
          </p:cNvPicPr>
          <p:nvPr/>
        </p:nvPicPr>
        <p:blipFill>
          <a:blip r:embed="rId1"/>
          <a:stretch>
            <a:fillRect/>
          </a:stretch>
        </p:blipFill>
        <p:spPr>
          <a:xfrm>
            <a:off x="868680" y="1828800"/>
            <a:ext cx="4246217" cy="2103120"/>
          </a:xfrm>
          <a:prstGeom prst="rect">
            <a:avLst/>
          </a:prstGeom>
        </p:spPr>
      </p:pic>
      <p:sp>
        <p:nvSpPr>
          <p:cNvPr id="6" name="Text 3"/>
          <p:cNvSpPr txBox="1"/>
          <p:nvPr/>
        </p:nvSpPr>
        <p:spPr>
          <a:xfrm>
            <a:off x="868680" y="4069080"/>
            <a:ext cx="6035040" cy="457200"/>
          </a:xfrm>
          <a:prstGeom prst="rect">
            <a:avLst/>
          </a:prstGeom>
          <a:noFill/>
          <a:ln/>
        </p:spPr>
        <p:txBody>
          <a:bodyPr wrap="square" lIns="0" tIns="0" rIns="0" bIns="0" rtlCol="0" anchor="t"/>
          <a:lstStyle/>
          <a:p>
            <a:pPr indent="0" marL="0">
              <a:buNone/>
            </a:pPr>
            <a:r>
              <a:rPr lang="en-US" sz="1250" i="1" dirty="0">
                <a:solidFill>
                  <a:srgbClr val="5B6576"/>
                </a:solidFill>
                <a:latin typeface="Calibri" pitchFamily="34" charset="0"/>
                <a:ea typeface="Calibri" pitchFamily="34" charset="-122"/>
                <a:cs typeface="Calibri" pitchFamily="34" charset="-120"/>
              </a:rPr>
              <a:t>b: selection vector;  Ẋ</a:t>
            </a:r>
            <a:r>
              <a:rPr lang="en-US" sz="1250" i="1" baseline="-25000" dirty="0">
                <a:solidFill>
                  <a:srgbClr val="5B6576"/>
                </a:solidFill>
                <a:latin typeface="Calibri" pitchFamily="34" charset="0"/>
                <a:ea typeface="Calibri" pitchFamily="34" charset="-122"/>
                <a:cs typeface="Calibri" pitchFamily="34" charset="-120"/>
              </a:rPr>
              <a:t>R</a:t>
            </a:r>
            <a:r>
              <a:rPr lang="en-US" sz="1250" i="1" dirty="0">
                <a:solidFill>
                  <a:srgbClr val="5B6576"/>
                </a:solidFill>
                <a:latin typeface="Calibri" pitchFamily="34" charset="0"/>
                <a:ea typeface="Calibri" pitchFamily="34" charset="-122"/>
                <a:cs typeface="Calibri" pitchFamily="34" charset="-120"/>
              </a:rPr>
              <a:t>: R's features in O's order (zero off the match set)</a:t>
            </a:r>
            <a:endParaRPr lang="en-US" sz="1250" dirty="0"/>
          </a:p>
        </p:txBody>
      </p:sp>
      <p:sp>
        <p:nvSpPr>
          <p:cNvPr id="7" name="Shape 4"/>
          <p:cNvSpPr/>
          <p:nvPr/>
        </p:nvSpPr>
        <p:spPr>
          <a:xfrm>
            <a:off x="7406640" y="1691640"/>
            <a:ext cx="685800" cy="685800"/>
          </a:xfrm>
          <a:prstGeom prst="ellipse">
            <a:avLst/>
          </a:prstGeom>
          <a:solidFill>
            <a:srgbClr val="3D5A80"/>
          </a:solidFill>
          <a:ln w="12700">
            <a:solidFill>
              <a:srgbClr val="3D5A80"/>
            </a:solidFill>
            <a:prstDash val="solid"/>
          </a:ln>
        </p:spPr>
      </p:sp>
      <p:pic>
        <p:nvPicPr>
          <p:cNvPr id="8" name="Image 1" descr="preencoded.png">    </p:cNvPr>
          <p:cNvPicPr>
            <a:picLocks noChangeAspect="1"/>
          </p:cNvPicPr>
          <p:nvPr/>
        </p:nvPicPr>
        <p:blipFill>
          <a:blip r:embed="rId2"/>
          <a:stretch>
            <a:fillRect/>
          </a:stretch>
        </p:blipFill>
        <p:spPr>
          <a:xfrm>
            <a:off x="7571232" y="1856232"/>
            <a:ext cx="356616" cy="356616"/>
          </a:xfrm>
          <a:prstGeom prst="rect">
            <a:avLst/>
          </a:prstGeom>
        </p:spPr>
      </p:pic>
      <p:sp>
        <p:nvSpPr>
          <p:cNvPr id="9" name="Text 5"/>
          <p:cNvSpPr txBox="1"/>
          <p:nvPr/>
        </p:nvSpPr>
        <p:spPr>
          <a:xfrm>
            <a:off x="8275320" y="1783080"/>
            <a:ext cx="3383280" cy="45720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A = Ẋ</a:t>
            </a:r>
            <a:r>
              <a:rPr lang="en-US" sz="1700" b="1" baseline="-25000" dirty="0">
                <a:solidFill>
                  <a:srgbClr val="14213D"/>
                </a:solidFill>
                <a:latin typeface="Calibri" pitchFamily="34" charset="0"/>
                <a:ea typeface="Calibri" pitchFamily="34" charset="-122"/>
                <a:cs typeface="Calibri" pitchFamily="34" charset="-120"/>
              </a:rPr>
              <a:t>R</a:t>
            </a:r>
            <a:r>
              <a:rPr lang="en-US" sz="1700" b="1" baseline="30000" dirty="0">
                <a:solidFill>
                  <a:srgbClr val="14213D"/>
                </a:solidFill>
                <a:latin typeface="Calibri" pitchFamily="34" charset="0"/>
                <a:ea typeface="Calibri" pitchFamily="34" charset="-122"/>
                <a:cs typeface="Calibri" pitchFamily="34" charset="-120"/>
              </a:rPr>
              <a:t>T</a:t>
            </a:r>
            <a:r>
              <a:rPr lang="en-US" sz="1700" b="1" dirty="0">
                <a:solidFill>
                  <a:srgbClr val="14213D"/>
                </a:solidFill>
                <a:latin typeface="Calibri" pitchFamily="34" charset="0"/>
                <a:ea typeface="Calibri" pitchFamily="34" charset="-122"/>
                <a:cs typeface="Calibri" pitchFamily="34" charset="-120"/>
              </a:rPr>
              <a:t> Ẋ</a:t>
            </a:r>
            <a:r>
              <a:rPr lang="en-US" sz="1700" b="1" baseline="-25000" dirty="0">
                <a:solidFill>
                  <a:srgbClr val="14213D"/>
                </a:solidFill>
                <a:latin typeface="Calibri" pitchFamily="34" charset="0"/>
                <a:ea typeface="Calibri" pitchFamily="34" charset="-122"/>
                <a:cs typeface="Calibri" pitchFamily="34" charset="-120"/>
              </a:rPr>
              <a:t>R</a:t>
            </a:r>
            <a:r>
              <a:rPr lang="en-US" sz="1700" b="1" dirty="0">
                <a:solidFill>
                  <a:srgbClr val="14213D"/>
                </a:solidFill>
                <a:latin typeface="Calibri" pitchFamily="34" charset="0"/>
                <a:ea typeface="Calibri" pitchFamily="34" charset="-122"/>
                <a:cs typeface="Calibri" pitchFamily="34" charset="-120"/>
              </a:rPr>
              <a:t> stays with R</a:t>
            </a:r>
            <a:endParaRPr lang="en-US" sz="1700" dirty="0"/>
          </a:p>
        </p:txBody>
      </p:sp>
      <p:sp>
        <p:nvSpPr>
          <p:cNvPr id="10" name="Text 6"/>
          <p:cNvSpPr txBox="1"/>
          <p:nvPr/>
        </p:nvSpPr>
        <p:spPr>
          <a:xfrm>
            <a:off x="8275320" y="2240280"/>
            <a:ext cx="3383280" cy="457200"/>
          </a:xfrm>
          <a:prstGeom prst="rect">
            <a:avLst/>
          </a:prstGeom>
          <a:noFill/>
          <a:ln/>
        </p:spPr>
        <p:txBody>
          <a:bodyPr wrap="square" lIns="0" tIns="0" rIns="0" bIns="0" rtlCol="0" anchor="t"/>
          <a:lstStyle/>
          <a:p>
            <a:pPr indent="0" marL="0">
              <a:buNone/>
            </a:pPr>
            <a:r>
              <a:rPr lang="en-US" sz="1400" dirty="0">
                <a:solidFill>
                  <a:srgbClr val="5B6576"/>
                </a:solidFill>
                <a:latin typeface="Calibri" pitchFamily="34" charset="0"/>
                <a:ea typeface="Calibri" pitchFamily="34" charset="-122"/>
                <a:cs typeface="Calibri" pitchFamily="34" charset="-120"/>
              </a:rPr>
              <a:t>Exact, never transmitted, never noised.</a:t>
            </a:r>
            <a:endParaRPr lang="en-US" sz="1400" dirty="0"/>
          </a:p>
        </p:txBody>
      </p:sp>
      <p:sp>
        <p:nvSpPr>
          <p:cNvPr id="11" name="Shape 7"/>
          <p:cNvSpPr/>
          <p:nvPr/>
        </p:nvSpPr>
        <p:spPr>
          <a:xfrm>
            <a:off x="7406640" y="3017520"/>
            <a:ext cx="685800" cy="685800"/>
          </a:xfrm>
          <a:prstGeom prst="ellipse">
            <a:avLst/>
          </a:prstGeom>
          <a:solidFill>
            <a:srgbClr val="C45A0C"/>
          </a:solidFill>
          <a:ln w="12700">
            <a:solidFill>
              <a:srgbClr val="C45A0C"/>
            </a:solidFill>
            <a:prstDash val="solid"/>
          </a:ln>
        </p:spPr>
      </p:sp>
      <p:pic>
        <p:nvPicPr>
          <p:cNvPr id="12" name="Image 2" descr="preencoded.png">    </p:cNvPr>
          <p:cNvPicPr>
            <a:picLocks noChangeAspect="1"/>
          </p:cNvPicPr>
          <p:nvPr/>
        </p:nvPicPr>
        <p:blipFill>
          <a:blip r:embed="rId3"/>
          <a:stretch>
            <a:fillRect/>
          </a:stretch>
        </p:blipFill>
        <p:spPr>
          <a:xfrm>
            <a:off x="7571232" y="3182112"/>
            <a:ext cx="356616" cy="356616"/>
          </a:xfrm>
          <a:prstGeom prst="rect">
            <a:avLst/>
          </a:prstGeom>
        </p:spPr>
      </p:pic>
      <p:sp>
        <p:nvSpPr>
          <p:cNvPr id="13" name="Text 8"/>
          <p:cNvSpPr txBox="1"/>
          <p:nvPr/>
        </p:nvSpPr>
        <p:spPr>
          <a:xfrm>
            <a:off x="8275320" y="3108960"/>
            <a:ext cx="3383280" cy="45720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One noise draw per entry</a:t>
            </a:r>
            <a:endParaRPr lang="en-US" sz="1700" dirty="0"/>
          </a:p>
        </p:txBody>
      </p:sp>
      <p:sp>
        <p:nvSpPr>
          <p:cNvPr id="14" name="Text 9"/>
          <p:cNvSpPr txBox="1"/>
          <p:nvPr/>
        </p:nvSpPr>
        <p:spPr>
          <a:xfrm>
            <a:off x="8275320" y="3566160"/>
            <a:ext cx="3383280" cy="914400"/>
          </a:xfrm>
          <a:prstGeom prst="rect">
            <a:avLst/>
          </a:prstGeom>
          <a:noFill/>
          <a:ln/>
        </p:spPr>
        <p:txBody>
          <a:bodyPr wrap="square" lIns="0" tIns="0" rIns="0" bIns="0" rtlCol="0" anchor="t"/>
          <a:lstStyle/>
          <a:p>
            <a:pPr indent="0" marL="0">
              <a:buNone/>
            </a:pPr>
            <a:r>
              <a:rPr lang="en-US" sz="1400" dirty="0">
                <a:solidFill>
                  <a:srgbClr val="5B6576"/>
                </a:solidFill>
                <a:latin typeface="Calibri" pitchFamily="34" charset="0"/>
                <a:ea typeface="Calibri" pitchFamily="34" charset="-122"/>
                <a:cs typeface="Calibri" pitchFamily="34" charset="-120"/>
              </a:rPr>
              <a:t>z is the same in every CKKS slot. Independent noise per slot could be averaged away.</a:t>
            </a:r>
            <a:endParaRPr lang="en-US" sz="1400" dirty="0"/>
          </a:p>
        </p:txBody>
      </p:sp>
      <p:sp>
        <p:nvSpPr>
          <p:cNvPr id="15" name="Shape 10"/>
          <p:cNvSpPr/>
          <p:nvPr/>
        </p:nvSpPr>
        <p:spPr>
          <a:xfrm>
            <a:off x="548640" y="5029200"/>
            <a:ext cx="11064240" cy="1097280"/>
          </a:xfrm>
          <a:prstGeom prst="roundRect">
            <a:avLst>
              <a:gd name="adj" fmla="val 6667"/>
            </a:avLst>
          </a:prstGeom>
          <a:solidFill>
            <a:srgbClr val="F6E3D6"/>
          </a:solidFill>
          <a:ln w="12700">
            <a:solidFill>
              <a:srgbClr val="F6E3D6"/>
            </a:solidFill>
            <a:prstDash val="solid"/>
          </a:ln>
        </p:spPr>
      </p:sp>
      <p:sp>
        <p:nvSpPr>
          <p:cNvPr id="16" name="Text 11"/>
          <p:cNvSpPr txBox="1"/>
          <p:nvPr/>
        </p:nvSpPr>
        <p:spPr>
          <a:xfrm>
            <a:off x="822960" y="5138928"/>
            <a:ext cx="10515600" cy="868680"/>
          </a:xfrm>
          <a:prstGeom prst="rect">
            <a:avLst/>
          </a:prstGeom>
          <a:noFill/>
          <a:ln/>
        </p:spPr>
        <p:txBody>
          <a:bodyPr wrap="square" lIns="0" tIns="0" rIns="0" bIns="0" rtlCol="0" anchor="ctr"/>
          <a:lstStyle/>
          <a:p>
            <a:pPr indent="0" marL="0">
              <a:buNone/>
            </a:pPr>
            <a:r>
              <a:rPr lang="en-US" sz="1650" dirty="0">
                <a:solidFill>
                  <a:srgbClr val="14213D"/>
                </a:solidFill>
                <a:latin typeface="Calibri" pitchFamily="34" charset="0"/>
                <a:ea typeface="Calibri" pitchFamily="34" charset="-122"/>
                <a:cs typeface="Calibri" pitchFamily="34" charset="-120"/>
              </a:rPr>
              <a:t>Each released entry:  ct ← Sanitize</a:t>
            </a:r>
            <a:r>
              <a:rPr lang="en-US" sz="1650" baseline="-25000" dirty="0">
                <a:solidFill>
                  <a:srgbClr val="14213D"/>
                </a:solidFill>
                <a:latin typeface="Calibri" pitchFamily="34" charset="0"/>
                <a:ea typeface="Calibri" pitchFamily="34" charset="-122"/>
                <a:cs typeface="Calibri" pitchFamily="34" charset="-120"/>
              </a:rPr>
              <a:t>CKKS</a:t>
            </a:r>
            <a:r>
              <a:rPr lang="en-US" sz="1650" dirty="0">
                <a:solidFill>
                  <a:srgbClr val="14213D"/>
                </a:solidFill>
                <a:latin typeface="Calibri" pitchFamily="34" charset="0"/>
                <a:ea typeface="Calibri" pitchFamily="34" charset="-122"/>
                <a:cs typeface="Calibri" pitchFamily="34" charset="-120"/>
              </a:rPr>
              <a:t>( ct ⊞ Enc</a:t>
            </a:r>
            <a:r>
              <a:rPr lang="en-US" sz="1650" baseline="-25000" dirty="0">
                <a:solidFill>
                  <a:srgbClr val="14213D"/>
                </a:solidFill>
                <a:latin typeface="Calibri" pitchFamily="34" charset="0"/>
                <a:ea typeface="Calibri" pitchFamily="34" charset="-122"/>
                <a:cs typeface="Calibri" pitchFamily="34" charset="-120"/>
              </a:rPr>
              <a:t>pk</a:t>
            </a:r>
            <a:r>
              <a:rPr lang="en-US" sz="1650" dirty="0">
                <a:solidFill>
                  <a:srgbClr val="14213D"/>
                </a:solidFill>
                <a:latin typeface="Calibri" pitchFamily="34" charset="0"/>
                <a:ea typeface="Calibri" pitchFamily="34" charset="-122"/>
                <a:cs typeface="Calibri" pitchFamily="34" charset="-120"/>
              </a:rPr>
              <a:t>(z) ),   z ~ discrete Gaussian N</a:t>
            </a:r>
            <a:r>
              <a:rPr lang="en-US" sz="1650" baseline="-25000" dirty="0">
                <a:solidFill>
                  <a:srgbClr val="14213D"/>
                </a:solidFill>
                <a:latin typeface="Calibri" pitchFamily="34" charset="0"/>
                <a:ea typeface="Calibri" pitchFamily="34" charset="-122"/>
                <a:cs typeface="Calibri" pitchFamily="34" charset="-120"/>
              </a:rPr>
              <a:t>ℤ</a:t>
            </a:r>
            <a:r>
              <a:rPr lang="en-US" sz="1650" dirty="0">
                <a:solidFill>
                  <a:srgbClr val="14213D"/>
                </a:solidFill>
                <a:latin typeface="Calibri" pitchFamily="34" charset="0"/>
                <a:ea typeface="Calibri" pitchFamily="34" charset="-122"/>
                <a:cs typeface="Calibri" pitchFamily="34" charset="-120"/>
              </a:rPr>
              <a:t>(0, σ</a:t>
            </a:r>
            <a:r>
              <a:rPr lang="en-US" sz="1650" baseline="30000" dirty="0">
                <a:solidFill>
                  <a:srgbClr val="14213D"/>
                </a:solidFill>
                <a:latin typeface="Calibri" pitchFamily="34" charset="0"/>
                <a:ea typeface="Calibri" pitchFamily="34" charset="-122"/>
                <a:cs typeface="Calibri" pitchFamily="34" charset="-120"/>
              </a:rPr>
              <a:t>2</a:t>
            </a:r>
            <a:r>
              <a:rPr lang="en-US" sz="1650" dirty="0">
                <a:solidFill>
                  <a:srgbClr val="14213D"/>
                </a:solidFill>
                <a:latin typeface="Calibri" pitchFamily="34" charset="0"/>
                <a:ea typeface="Calibri" pitchFamily="34" charset="-122"/>
                <a:cs typeface="Calibri" pitchFamily="34" charset="-120"/>
              </a:rPr>
              <a:t>) from a CSPRNG</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Calibrating the noise, and keeping count</a:t>
            </a:r>
            <a:endParaRPr lang="en-US" sz="3200" dirty="0"/>
          </a:p>
        </p:txBody>
      </p:sp>
      <p:sp>
        <p:nvSpPr>
          <p:cNvPr id="3" name="Text 1"/>
          <p:cNvSpPr txBox="1"/>
          <p:nvPr/>
        </p:nvSpPr>
        <p:spPr>
          <a:xfrm>
            <a:off x="548640" y="1417320"/>
            <a:ext cx="5669280" cy="411480"/>
          </a:xfrm>
          <a:prstGeom prst="rect">
            <a:avLst/>
          </a:prstGeom>
          <a:noFill/>
          <a:ln/>
        </p:spPr>
        <p:txBody>
          <a:bodyPr wrap="square" lIns="0" tIns="0" rIns="0" bIns="0" rtlCol="0" anchor="t"/>
          <a:lstStyle/>
          <a:p>
            <a:pPr indent="0" marL="0">
              <a:buNone/>
            </a:pPr>
            <a:r>
              <a:rPr lang="en-US" sz="2000" b="1" dirty="0">
                <a:solidFill>
                  <a:srgbClr val="14213D"/>
                </a:solidFill>
                <a:latin typeface="Cambria" pitchFamily="34" charset="0"/>
                <a:ea typeface="Cambria" pitchFamily="34" charset="-122"/>
                <a:cs typeface="Cambria" pitchFamily="34" charset="-120"/>
              </a:rPr>
              <a:t>Replace-one sensitivity</a:t>
            </a:r>
            <a:endParaRPr lang="en-US" sz="2000" dirty="0"/>
          </a:p>
        </p:txBody>
      </p:sp>
      <p:sp>
        <p:nvSpPr>
          <p:cNvPr id="4" name="Text 2"/>
          <p:cNvSpPr txBox="1"/>
          <p:nvPr/>
        </p:nvSpPr>
        <p:spPr>
          <a:xfrm>
            <a:off x="548640" y="1874520"/>
            <a:ext cx="5669280" cy="731520"/>
          </a:xfrm>
          <a:prstGeom prst="rect">
            <a:avLst/>
          </a:prstGeom>
          <a:noFill/>
          <a:ln/>
        </p:spPr>
        <p:txBody>
          <a:bodyPr wrap="square" lIns="0" tIns="0" rIns="0" bIns="0" rtlCol="0" anchor="t"/>
          <a:lstStyle/>
          <a:p>
            <a:pPr indent="0" marL="0">
              <a:buNone/>
            </a:pPr>
            <a:r>
              <a:rPr lang="en-US" sz="1450" dirty="0">
                <a:solidFill>
                  <a:srgbClr val="5B6576"/>
                </a:solidFill>
                <a:latin typeface="Calibri" pitchFamily="34" charset="0"/>
                <a:ea typeface="Calibri" pitchFamily="34" charset="-122"/>
                <a:cs typeface="Calibri" pitchFamily="34" charset="-120"/>
              </a:rPr>
              <a:t>The adjacency replaces one matched person's (x</a:t>
            </a:r>
            <a:r>
              <a:rPr lang="en-US" sz="1450" baseline="-25000" dirty="0">
                <a:solidFill>
                  <a:srgbClr val="5B6576"/>
                </a:solidFill>
                <a:latin typeface="Calibri" pitchFamily="34" charset="0"/>
                <a:ea typeface="Calibri" pitchFamily="34" charset="-122"/>
                <a:cs typeface="Calibri" pitchFamily="34" charset="-120"/>
              </a:rPr>
              <a:t>O</a:t>
            </a:r>
            <a:r>
              <a:rPr lang="en-US" sz="1450" dirty="0">
                <a:solidFill>
                  <a:srgbClr val="5B6576"/>
                </a:solidFill>
                <a:latin typeface="Calibri" pitchFamily="34" charset="0"/>
                <a:ea typeface="Calibri" pitchFamily="34" charset="-122"/>
                <a:cs typeface="Calibri" pitchFamily="34" charset="-120"/>
              </a:rPr>
              <a:t>, y). The draft used the add/remove bound, which understates Δ.</a:t>
            </a:r>
            <a:endParaRPr lang="en-US" sz="14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9144000" cy="914400"/>
        </p:xfrm>
        <a:graphic>
          <a:graphicData uri="http://schemas.openxmlformats.org/drawingml/2006/table">
            <a:tbl>
              <a:tblPr/>
              <a:tblGrid>
                <a:gridCol w="2103120"/>
                <a:gridCol w="1234440"/>
                <a:gridCol w="1325880"/>
                <a:gridCol w="1005840"/>
              </a:tblGrid>
              <a:tr h="42062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a:t>
                      </a:r>
                      <a:r>
                        <a:rPr lang="en-US" sz="1300" b="1" baseline="-25000" dirty="0">
                          <a:solidFill>
                            <a:srgbClr val="FFFFFF"/>
                          </a:solidFill>
                          <a:latin typeface="Calibri" pitchFamily="34" charset="0"/>
                          <a:ea typeface="Calibri" pitchFamily="34" charset="-122"/>
                          <a:cs typeface="Calibri" pitchFamily="34" charset="-120"/>
                        </a:rPr>
                        <a:t>R</a:t>
                      </a:r>
                      <a:r>
                        <a:rPr lang="en-US" sz="1300" b="1" dirty="0">
                          <a:solidFill>
                            <a:srgbClr val="FFFFFF"/>
                          </a:solidFill>
                          <a:latin typeface="Calibri" pitchFamily="34" charset="0"/>
                          <a:ea typeface="Calibri" pitchFamily="34" charset="-122"/>
                          <a:cs typeface="Calibri" pitchFamily="34" charset="-120"/>
                        </a:rPr>
                        <a:t>, B</a:t>
                      </a:r>
                      <a:r>
                        <a:rPr lang="en-US" sz="1300" b="1" baseline="-25000" dirty="0">
                          <a:solidFill>
                            <a:srgbClr val="FFFFFF"/>
                          </a:solidFill>
                          <a:latin typeface="Calibri" pitchFamily="34" charset="0"/>
                          <a:ea typeface="Calibri" pitchFamily="34" charset="-122"/>
                          <a:cs typeface="Calibri" pitchFamily="34" charset="-120"/>
                        </a:rPr>
                        <a:t>O</a:t>
                      </a:r>
                      <a:r>
                        <a:rPr lang="en-US" sz="1300" b="1" dirty="0">
                          <a:solidFill>
                            <a:srgbClr val="FFFFFF"/>
                          </a:solidFill>
                          <a:latin typeface="Calibri" pitchFamily="34" charset="0"/>
                          <a:ea typeface="Calibri" pitchFamily="34" charset="-122"/>
                          <a:cs typeface="Calibri" pitchFamily="34" charset="-120"/>
                        </a:rPr>
                        <a:t>, B</a:t>
                      </a:r>
                      <a:r>
                        <a:rPr lang="en-US" sz="1300" b="1" baseline="-25000" dirty="0">
                          <a:solidFill>
                            <a:srgbClr val="FFFFFF"/>
                          </a:solidFill>
                          <a:latin typeface="Calibri" pitchFamily="34" charset="0"/>
                          <a:ea typeface="Calibri" pitchFamily="34" charset="-122"/>
                          <a:cs typeface="Calibri" pitchFamily="34" charset="-120"/>
                        </a:rPr>
                        <a:t>y</a:t>
                      </a: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Δ</a:t>
                      </a:r>
                      <a:r>
                        <a:rPr lang="en-US" sz="1300" b="1" baseline="-25000" dirty="0">
                          <a:solidFill>
                            <a:srgbClr val="FFFFFF"/>
                          </a:solidFill>
                          <a:latin typeface="Calibri" pitchFamily="34" charset="0"/>
                          <a:ea typeface="Calibri" pitchFamily="34" charset="-122"/>
                          <a:cs typeface="Calibri" pitchFamily="34" charset="-120"/>
                        </a:rPr>
                        <a:t>add</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Δ</a:t>
                      </a:r>
                      <a:r>
                        <a:rPr lang="en-US" sz="1300" b="1" baseline="-25000" dirty="0">
                          <a:solidFill>
                            <a:srgbClr val="FFFFFF"/>
                          </a:solidFill>
                          <a:latin typeface="Calibri" pitchFamily="34" charset="0"/>
                          <a:ea typeface="Calibri" pitchFamily="34" charset="-122"/>
                          <a:cs typeface="Calibri" pitchFamily="34" charset="-120"/>
                        </a:rPr>
                        <a:t>rep</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Ratio</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420624">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(1, 1, 1)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2.24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3.16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1.41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20624">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(3.16, 3, 3)</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20.6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29.4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1.43</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20624">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(√5, √5, 5)</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30.4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31.6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1.04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20624">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Simulation population</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58.2</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86.2</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1.48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6" name="Text 3"/>
          <p:cNvSpPr txBox="1"/>
          <p:nvPr/>
        </p:nvSpPr>
        <p:spPr>
          <a:xfrm>
            <a:off x="548640" y="4983480"/>
            <a:ext cx="5669280" cy="822960"/>
          </a:xfrm>
          <a:prstGeom prst="rect">
            <a:avLst/>
          </a:prstGeom>
          <a:noFill/>
          <a:ln/>
        </p:spPr>
        <p:txBody>
          <a:bodyPr wrap="square" lIns="0" tIns="0" rIns="0" bIns="0" rtlCol="0" anchor="t"/>
          <a:lstStyle/>
          <a:p>
            <a:pPr indent="0" marL="0">
              <a:buNone/>
            </a:pPr>
            <a:r>
              <a:rPr lang="en-US" sz="1300" i="1" dirty="0">
                <a:solidFill>
                  <a:srgbClr val="5B6576"/>
                </a:solidFill>
                <a:latin typeface="Calibri" pitchFamily="34" charset="0"/>
                <a:ea typeface="Calibri" pitchFamily="34" charset="-122"/>
                <a:cs typeface="Calibri" pitchFamily="34" charset="-120"/>
              </a:rPr>
              <a:t>Δ</a:t>
            </a:r>
            <a:r>
              <a:rPr lang="en-US" sz="1300" i="1" baseline="-25000" dirty="0">
                <a:solidFill>
                  <a:srgbClr val="5B6576"/>
                </a:solidFill>
                <a:latin typeface="Calibri" pitchFamily="34" charset="0"/>
                <a:ea typeface="Calibri" pitchFamily="34" charset="-122"/>
                <a:cs typeface="Calibri" pitchFamily="34" charset="-120"/>
              </a:rPr>
              <a:t>add</a:t>
            </a:r>
            <a:r>
              <a:rPr lang="en-US" sz="1300" i="1" dirty="0">
                <a:solidFill>
                  <a:srgbClr val="5B6576"/>
                </a:solidFill>
                <a:latin typeface="Calibri" pitchFamily="34" charset="0"/>
                <a:ea typeface="Calibri" pitchFamily="34" charset="-122"/>
                <a:cs typeface="Calibri" pitchFamily="34" charset="-120"/>
              </a:rPr>
              <a:t> ≤ Δ</a:t>
            </a:r>
            <a:r>
              <a:rPr lang="en-US" sz="1300" i="1" baseline="-25000" dirty="0">
                <a:solidFill>
                  <a:srgbClr val="5B6576"/>
                </a:solidFill>
                <a:latin typeface="Calibri" pitchFamily="34" charset="0"/>
                <a:ea typeface="Calibri" pitchFamily="34" charset="-122"/>
                <a:cs typeface="Calibri" pitchFamily="34" charset="-120"/>
              </a:rPr>
              <a:t>rep</a:t>
            </a:r>
            <a:r>
              <a:rPr lang="en-US" sz="1300" i="1" dirty="0">
                <a:solidFill>
                  <a:srgbClr val="5B6576"/>
                </a:solidFill>
                <a:latin typeface="Calibri" pitchFamily="34" charset="0"/>
                <a:ea typeface="Calibri" pitchFamily="34" charset="-122"/>
                <a:cs typeface="Calibri" pitchFamily="34" charset="-120"/>
              </a:rPr>
              <a:t> ≤ 2Δ</a:t>
            </a:r>
            <a:r>
              <a:rPr lang="en-US" sz="1300" i="1" baseline="-25000" dirty="0">
                <a:solidFill>
                  <a:srgbClr val="5B6576"/>
                </a:solidFill>
                <a:latin typeface="Calibri" pitchFamily="34" charset="0"/>
                <a:ea typeface="Calibri" pitchFamily="34" charset="-122"/>
                <a:cs typeface="Calibri" pitchFamily="34" charset="-120"/>
              </a:rPr>
              <a:t>add</a:t>
            </a:r>
            <a:r>
              <a:rPr lang="en-US" sz="1300" i="1" dirty="0">
                <a:solidFill>
                  <a:srgbClr val="5B6576"/>
                </a:solidFill>
                <a:latin typeface="Calibri" pitchFamily="34" charset="0"/>
                <a:ea typeface="Calibri" pitchFamily="34" charset="-122"/>
                <a:cs typeface="Calibri" pitchFamily="34" charset="-120"/>
              </a:rPr>
              <a:t>. Adding y</a:t>
            </a:r>
            <a:r>
              <a:rPr lang="en-US" sz="1300" i="1" baseline="30000" dirty="0">
                <a:solidFill>
                  <a:srgbClr val="5B6576"/>
                </a:solidFill>
                <a:latin typeface="Calibri" pitchFamily="34" charset="0"/>
                <a:ea typeface="Calibri" pitchFamily="34" charset="-122"/>
                <a:cs typeface="Calibri" pitchFamily="34" charset="-120"/>
              </a:rPr>
              <a:t>T</a:t>
            </a:r>
            <a:r>
              <a:rPr lang="en-US" sz="1300" i="1" dirty="0">
                <a:solidFill>
                  <a:srgbClr val="5B6576"/>
                </a:solidFill>
                <a:latin typeface="Calibri" pitchFamily="34" charset="0"/>
                <a:ea typeface="Calibri" pitchFamily="34" charset="-122"/>
                <a:cs typeface="Calibri" pitchFamily="34" charset="-120"/>
              </a:rPr>
              <a:t>y costs nothing in these rows, but not always: it is free if B</a:t>
            </a:r>
            <a:r>
              <a:rPr lang="en-US" sz="1300" i="1" baseline="-25000" dirty="0">
                <a:solidFill>
                  <a:srgbClr val="5B6576"/>
                </a:solidFill>
                <a:latin typeface="Calibri" pitchFamily="34" charset="0"/>
                <a:ea typeface="Calibri" pitchFamily="34" charset="-122"/>
                <a:cs typeface="Calibri" pitchFamily="34" charset="-120"/>
              </a:rPr>
              <a:t>y</a:t>
            </a:r>
            <a:r>
              <a:rPr lang="en-US" sz="1300" i="1" baseline="30000" dirty="0">
                <a:solidFill>
                  <a:srgbClr val="5B6576"/>
                </a:solidFill>
                <a:latin typeface="Calibri" pitchFamily="34" charset="0"/>
                <a:ea typeface="Calibri" pitchFamily="34" charset="-122"/>
                <a:cs typeface="Calibri" pitchFamily="34" charset="-120"/>
              </a:rPr>
              <a:t>2</a:t>
            </a:r>
            <a:r>
              <a:rPr lang="en-US" sz="1300" i="1" dirty="0">
                <a:solidFill>
                  <a:srgbClr val="5B6576"/>
                </a:solidFill>
                <a:latin typeface="Calibri" pitchFamily="34" charset="0"/>
                <a:ea typeface="Calibri" pitchFamily="34" charset="-122"/>
                <a:cs typeface="Calibri" pitchFamily="34" charset="-120"/>
              </a:rPr>
              <a:t> ≤ 2(B</a:t>
            </a:r>
            <a:r>
              <a:rPr lang="en-US" sz="1300" i="1" baseline="-25000" dirty="0">
                <a:solidFill>
                  <a:srgbClr val="5B6576"/>
                </a:solidFill>
                <a:latin typeface="Calibri" pitchFamily="34" charset="0"/>
                <a:ea typeface="Calibri" pitchFamily="34" charset="-122"/>
                <a:cs typeface="Calibri" pitchFamily="34" charset="-120"/>
              </a:rPr>
              <a:t>R</a:t>
            </a:r>
            <a:r>
              <a:rPr lang="en-US" sz="1300" i="1" baseline="30000" dirty="0">
                <a:solidFill>
                  <a:srgbClr val="5B6576"/>
                </a:solidFill>
                <a:latin typeface="Calibri" pitchFamily="34" charset="0"/>
                <a:ea typeface="Calibri" pitchFamily="34" charset="-122"/>
                <a:cs typeface="Calibri" pitchFamily="34" charset="-120"/>
              </a:rPr>
              <a:t>2</a:t>
            </a:r>
            <a:r>
              <a:rPr lang="en-US" sz="1300" i="1" dirty="0">
                <a:solidFill>
                  <a:srgbClr val="5B6576"/>
                </a:solidFill>
                <a:latin typeface="Calibri" pitchFamily="34" charset="0"/>
                <a:ea typeface="Calibri" pitchFamily="34" charset="-122"/>
                <a:cs typeface="Calibri" pitchFamily="34" charset="-120"/>
              </a:rPr>
              <a:t> + B</a:t>
            </a:r>
            <a:r>
              <a:rPr lang="en-US" sz="1300" i="1" baseline="-25000" dirty="0">
                <a:solidFill>
                  <a:srgbClr val="5B6576"/>
                </a:solidFill>
                <a:latin typeface="Calibri" pitchFamily="34" charset="0"/>
                <a:ea typeface="Calibri" pitchFamily="34" charset="-122"/>
                <a:cs typeface="Calibri" pitchFamily="34" charset="-120"/>
              </a:rPr>
              <a:t>O</a:t>
            </a:r>
            <a:r>
              <a:rPr lang="en-US" sz="1300" i="1" baseline="30000" dirty="0">
                <a:solidFill>
                  <a:srgbClr val="5B6576"/>
                </a:solidFill>
                <a:latin typeface="Calibri" pitchFamily="34" charset="0"/>
                <a:ea typeface="Calibri" pitchFamily="34" charset="-122"/>
                <a:cs typeface="Calibri" pitchFamily="34" charset="-120"/>
              </a:rPr>
              <a:t>2</a:t>
            </a:r>
            <a:r>
              <a:rPr lang="en-US" sz="1300" i="1" dirty="0">
                <a:solidFill>
                  <a:srgbClr val="5B6576"/>
                </a:solidFill>
                <a:latin typeface="Calibri" pitchFamily="34" charset="0"/>
                <a:ea typeface="Calibri" pitchFamily="34" charset="-122"/>
                <a:cs typeface="Calibri" pitchFamily="34" charset="-120"/>
              </a:rPr>
              <a:t>). At (1, 1, 5), Δ = 26.1 with y</a:t>
            </a:r>
            <a:r>
              <a:rPr lang="en-US" sz="1300" i="1" baseline="30000" dirty="0">
                <a:solidFill>
                  <a:srgbClr val="5B6576"/>
                </a:solidFill>
                <a:latin typeface="Calibri" pitchFamily="34" charset="0"/>
                <a:ea typeface="Calibri" pitchFamily="34" charset="-122"/>
                <a:cs typeface="Calibri" pitchFamily="34" charset="-120"/>
              </a:rPr>
              <a:t>T</a:t>
            </a:r>
            <a:r>
              <a:rPr lang="en-US" sz="1300" i="1" dirty="0">
                <a:solidFill>
                  <a:srgbClr val="5B6576"/>
                </a:solidFill>
                <a:latin typeface="Calibri" pitchFamily="34" charset="0"/>
                <a:ea typeface="Calibri" pitchFamily="34" charset="-122"/>
                <a:cs typeface="Calibri" pitchFamily="34" charset="-120"/>
              </a:rPr>
              <a:t>y and 14.1 without.</a:t>
            </a:r>
            <a:endParaRPr lang="en-US" sz="1300" dirty="0"/>
          </a:p>
        </p:txBody>
      </p:sp>
      <p:sp>
        <p:nvSpPr>
          <p:cNvPr id="7" name="Shape 4"/>
          <p:cNvSpPr/>
          <p:nvPr/>
        </p:nvSpPr>
        <p:spPr>
          <a:xfrm>
            <a:off x="6583680" y="1417320"/>
            <a:ext cx="5029200" cy="2148840"/>
          </a:xfrm>
          <a:prstGeom prst="roundRect">
            <a:avLst>
              <a:gd name="adj" fmla="val 3404"/>
            </a:avLst>
          </a:prstGeom>
          <a:solidFill>
            <a:srgbClr val="EEF2F7"/>
          </a:solidFill>
          <a:ln w="12700">
            <a:solidFill>
              <a:srgbClr val="EEF2F7"/>
            </a:solidFill>
            <a:prstDash val="solid"/>
          </a:ln>
        </p:spPr>
      </p:sp>
      <p:sp>
        <p:nvSpPr>
          <p:cNvPr id="8" name="Shape 5"/>
          <p:cNvSpPr/>
          <p:nvPr/>
        </p:nvSpPr>
        <p:spPr>
          <a:xfrm>
            <a:off x="6812280" y="1645920"/>
            <a:ext cx="640080" cy="640080"/>
          </a:xfrm>
          <a:prstGeom prst="ellipse">
            <a:avLst/>
          </a:prstGeom>
          <a:solidFill>
            <a:srgbClr val="3D5A80"/>
          </a:solidFill>
          <a:ln w="12700">
            <a:solidFill>
              <a:srgbClr val="3D5A80"/>
            </a:solidFill>
            <a:prstDash val="solid"/>
          </a:ln>
        </p:spPr>
      </p:sp>
      <p:pic>
        <p:nvPicPr>
          <p:cNvPr id="9" name="Image 0" descr="preencoded.png">    </p:cNvPr>
          <p:cNvPicPr>
            <a:picLocks noChangeAspect="1"/>
          </p:cNvPicPr>
          <p:nvPr/>
        </p:nvPicPr>
        <p:blipFill>
          <a:blip r:embed="rId1"/>
          <a:stretch>
            <a:fillRect/>
          </a:stretch>
        </p:blipFill>
        <p:spPr>
          <a:xfrm>
            <a:off x="6965899" y="1799539"/>
            <a:ext cx="332842" cy="332842"/>
          </a:xfrm>
          <a:prstGeom prst="rect">
            <a:avLst/>
          </a:prstGeom>
        </p:spPr>
      </p:pic>
      <p:sp>
        <p:nvSpPr>
          <p:cNvPr id="10" name="Text 6"/>
          <p:cNvSpPr txBox="1"/>
          <p:nvPr/>
        </p:nvSpPr>
        <p:spPr>
          <a:xfrm>
            <a:off x="7635240" y="1719072"/>
            <a:ext cx="3840480" cy="41148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σ from the analytic Gaussian</a:t>
            </a:r>
            <a:endParaRPr lang="en-US" sz="1700" dirty="0"/>
          </a:p>
        </p:txBody>
      </p:sp>
      <p:sp>
        <p:nvSpPr>
          <p:cNvPr id="11" name="Text 7"/>
          <p:cNvSpPr txBox="1"/>
          <p:nvPr/>
        </p:nvSpPr>
        <p:spPr>
          <a:xfrm>
            <a:off x="7635240" y="2176272"/>
            <a:ext cx="3794760" cy="12801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Smallest σ meeting (ε, δ) for the whole stacked release (Balle–Wang). Discrete Gaussian at the CKKS resolution.</a:t>
            </a:r>
            <a:endParaRPr lang="en-US" sz="1400" dirty="0"/>
          </a:p>
        </p:txBody>
      </p:sp>
      <p:sp>
        <p:nvSpPr>
          <p:cNvPr id="12" name="Shape 8"/>
          <p:cNvSpPr/>
          <p:nvPr/>
        </p:nvSpPr>
        <p:spPr>
          <a:xfrm>
            <a:off x="6583680" y="3794760"/>
            <a:ext cx="5029200" cy="2331720"/>
          </a:xfrm>
          <a:prstGeom prst="roundRect">
            <a:avLst>
              <a:gd name="adj" fmla="val 3137"/>
            </a:avLst>
          </a:prstGeom>
          <a:solidFill>
            <a:srgbClr val="F6E3D6"/>
          </a:solidFill>
          <a:ln w="12700">
            <a:solidFill>
              <a:srgbClr val="F6E3D6"/>
            </a:solidFill>
            <a:prstDash val="solid"/>
          </a:ln>
        </p:spPr>
      </p:sp>
      <p:sp>
        <p:nvSpPr>
          <p:cNvPr id="13" name="Shape 9"/>
          <p:cNvSpPr/>
          <p:nvPr/>
        </p:nvSpPr>
        <p:spPr>
          <a:xfrm>
            <a:off x="6812280" y="4023360"/>
            <a:ext cx="640080" cy="640080"/>
          </a:xfrm>
          <a:prstGeom prst="ellipse">
            <a:avLst/>
          </a:prstGeom>
          <a:solidFill>
            <a:srgbClr val="C45A0C"/>
          </a:solidFill>
          <a:ln w="12700">
            <a:solidFill>
              <a:srgbClr val="C45A0C"/>
            </a:solidFill>
            <a:prstDash val="solid"/>
          </a:ln>
        </p:spPr>
      </p:sp>
      <p:pic>
        <p:nvPicPr>
          <p:cNvPr id="14" name="Image 1" descr="preencoded.png">    </p:cNvPr>
          <p:cNvPicPr>
            <a:picLocks noChangeAspect="1"/>
          </p:cNvPicPr>
          <p:nvPr/>
        </p:nvPicPr>
        <p:blipFill>
          <a:blip r:embed="rId2"/>
          <a:stretch>
            <a:fillRect/>
          </a:stretch>
        </p:blipFill>
        <p:spPr>
          <a:xfrm>
            <a:off x="6965899" y="4176979"/>
            <a:ext cx="332842" cy="332842"/>
          </a:xfrm>
          <a:prstGeom prst="rect">
            <a:avLst/>
          </a:prstGeom>
        </p:spPr>
      </p:pic>
      <p:sp>
        <p:nvSpPr>
          <p:cNvPr id="15" name="Text 10"/>
          <p:cNvSpPr txBox="1"/>
          <p:nvPr/>
        </p:nvSpPr>
        <p:spPr>
          <a:xfrm>
            <a:off x="7635240" y="4096512"/>
            <a:ext cx="3840480" cy="41148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Privacy ledger at O</a:t>
            </a:r>
            <a:endParaRPr lang="en-US" sz="1700" dirty="0"/>
          </a:p>
        </p:txBody>
      </p:sp>
      <p:sp>
        <p:nvSpPr>
          <p:cNvPr id="16" name="Text 11"/>
          <p:cNvSpPr txBox="1"/>
          <p:nvPr/>
        </p:nvSpPr>
        <p:spPr>
          <a:xfrm>
            <a:off x="7635240" y="4553712"/>
            <a:ext cx="3794760" cy="15087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O refuses a run once the spend would pass its cap; re-runs and inference queries count. v2 charged ρ</a:t>
            </a:r>
            <a:r>
              <a:rPr lang="en-US" sz="1300" baseline="-25000" dirty="0">
                <a:solidFill>
                  <a:srgbClr val="1F2937"/>
                </a:solidFill>
                <a:latin typeface="Calibri" pitchFamily="34" charset="0"/>
                <a:ea typeface="Calibri" pitchFamily="34" charset="-122"/>
                <a:cs typeface="Calibri" pitchFamily="34" charset="-120"/>
              </a:rPr>
              <a:t>err</a:t>
            </a:r>
            <a:r>
              <a:rPr lang="en-US" sz="1300" dirty="0">
                <a:solidFill>
                  <a:srgbClr val="1F2937"/>
                </a:solidFill>
                <a:latin typeface="Calibri" pitchFamily="34" charset="0"/>
                <a:ea typeface="Calibri" pitchFamily="34" charset="-122"/>
                <a:cs typeface="Calibri" pitchFamily="34" charset="-120"/>
              </a:rPr>
              <a:t> once per run, though one record moves the error of all 63 replies. v3.1 tracks (ρ, δ): flooding costs only δ.</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Sanitizing O's replies in v2 (circuit privacy)</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R holds the key, so every reply must reveal nothing beyond its decrypted value</a:t>
            </a:r>
            <a:endParaRPr lang="en-US" sz="1600" dirty="0"/>
          </a:p>
        </p:txBody>
      </p:sp>
      <p:sp>
        <p:nvSpPr>
          <p:cNvPr id="4" name="Shape 2"/>
          <p:cNvSpPr/>
          <p:nvPr/>
        </p:nvSpPr>
        <p:spPr>
          <a:xfrm>
            <a:off x="548640" y="1691640"/>
            <a:ext cx="3566160" cy="2286000"/>
          </a:xfrm>
          <a:prstGeom prst="roundRect">
            <a:avLst>
              <a:gd name="adj" fmla="val 3200"/>
            </a:avLst>
          </a:prstGeom>
          <a:solidFill>
            <a:srgbClr val="EEF2F7"/>
          </a:solidFill>
          <a:ln w="12700">
            <a:solidFill>
              <a:srgbClr val="EEF2F7"/>
            </a:solidFill>
            <a:prstDash val="solid"/>
          </a:ln>
        </p:spPr>
      </p:sp>
      <p:sp>
        <p:nvSpPr>
          <p:cNvPr id="5" name="Shape 3"/>
          <p:cNvSpPr/>
          <p:nvPr/>
        </p:nvSpPr>
        <p:spPr>
          <a:xfrm>
            <a:off x="822960" y="1892808"/>
            <a:ext cx="594360" cy="594360"/>
          </a:xfrm>
          <a:prstGeom prst="ellipse">
            <a:avLst/>
          </a:prstGeom>
          <a:solidFill>
            <a:srgbClr val="C45A0C"/>
          </a:solidFill>
          <a:ln w="12700">
            <a:solidFill>
              <a:srgbClr val="C45A0C"/>
            </a:solidFill>
            <a:prstDash val="solid"/>
          </a:ln>
        </p:spPr>
      </p:sp>
      <p:sp>
        <p:nvSpPr>
          <p:cNvPr id="6" name="Text 4"/>
          <p:cNvSpPr txBox="1"/>
          <p:nvPr/>
        </p:nvSpPr>
        <p:spPr>
          <a:xfrm>
            <a:off x="822960" y="1892808"/>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554480" y="1965960"/>
            <a:ext cx="2468880" cy="457200"/>
          </a:xfrm>
          <a:prstGeom prst="rect">
            <a:avLst/>
          </a:prstGeom>
          <a:noFill/>
          <a:ln/>
        </p:spPr>
        <p:txBody>
          <a:bodyPr wrap="square" lIns="0" tIns="0" rIns="0" bIns="0" rtlCol="0" anchor="t"/>
          <a:lstStyle/>
          <a:p>
            <a:pPr indent="0" marL="0">
              <a:buNone/>
            </a:pPr>
            <a:r>
              <a:rPr lang="en-US" sz="1900" b="1" dirty="0">
                <a:solidFill>
                  <a:srgbClr val="14213D"/>
                </a:solidFill>
                <a:latin typeface="Cambria" pitchFamily="34" charset="0"/>
                <a:ea typeface="Cambria" pitchFamily="34" charset="-122"/>
                <a:cs typeface="Cambria" pitchFamily="34" charset="-120"/>
              </a:rPr>
              <a:t>Fresh encryption</a:t>
            </a:r>
            <a:endParaRPr lang="en-US" sz="1900" dirty="0"/>
          </a:p>
        </p:txBody>
      </p:sp>
      <p:sp>
        <p:nvSpPr>
          <p:cNvPr id="8" name="Text 6"/>
          <p:cNvSpPr txBox="1"/>
          <p:nvPr/>
        </p:nvSpPr>
        <p:spPr>
          <a:xfrm>
            <a:off x="822960" y="2606040"/>
            <a:ext cx="3063240" cy="132588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ct ⊞ Enc</a:t>
            </a:r>
            <a:r>
              <a:rPr lang="en-US" sz="1450" baseline="-25000" dirty="0">
                <a:solidFill>
                  <a:srgbClr val="1F2937"/>
                </a:solidFill>
                <a:latin typeface="Calibri" pitchFamily="34" charset="0"/>
                <a:ea typeface="Calibri" pitchFamily="34" charset="-122"/>
                <a:cs typeface="Calibri" pitchFamily="34" charset="-120"/>
              </a:rPr>
              <a:t>pk</a:t>
            </a:r>
            <a:r>
              <a:rPr lang="en-US" sz="1450" dirty="0">
                <a:solidFill>
                  <a:srgbClr val="1F2937"/>
                </a:solidFill>
                <a:latin typeface="Calibri" pitchFamily="34" charset="0"/>
                <a:ea typeface="Calibri" pitchFamily="34" charset="-122"/>
                <a:cs typeface="Calibri" pitchFamily="34" charset="-120"/>
              </a:rPr>
              <a:t>(z) makes c</a:t>
            </a:r>
            <a:r>
              <a:rPr lang="en-US" sz="1450" baseline="-25000" dirty="0">
                <a:solidFill>
                  <a:srgbClr val="1F2937"/>
                </a:solidFill>
                <a:latin typeface="Calibri" pitchFamily="34" charset="0"/>
                <a:ea typeface="Calibri" pitchFamily="34" charset="-122"/>
                <a:cs typeface="Calibri" pitchFamily="34" charset="-120"/>
              </a:rPr>
              <a:t>1</a:t>
            </a:r>
            <a:r>
              <a:rPr lang="en-US" sz="1450" dirty="0">
                <a:solidFill>
                  <a:srgbClr val="1F2937"/>
                </a:solidFill>
                <a:latin typeface="Calibri" pitchFamily="34" charset="0"/>
                <a:ea typeface="Calibri" pitchFamily="34" charset="-122"/>
                <a:cs typeface="Calibri" pitchFamily="34" charset="-120"/>
              </a:rPr>
              <a:t> computationally uniform: it no longer depends on O's data.</a:t>
            </a:r>
            <a:endParaRPr lang="en-US" sz="1450" dirty="0"/>
          </a:p>
        </p:txBody>
      </p:sp>
      <p:sp>
        <p:nvSpPr>
          <p:cNvPr id="9" name="Shape 7"/>
          <p:cNvSpPr/>
          <p:nvPr/>
        </p:nvSpPr>
        <p:spPr>
          <a:xfrm>
            <a:off x="4343400" y="1691640"/>
            <a:ext cx="3566160" cy="2286000"/>
          </a:xfrm>
          <a:prstGeom prst="roundRect">
            <a:avLst>
              <a:gd name="adj" fmla="val 3200"/>
            </a:avLst>
          </a:prstGeom>
          <a:solidFill>
            <a:srgbClr val="EEF2F7"/>
          </a:solidFill>
          <a:ln w="12700">
            <a:solidFill>
              <a:srgbClr val="EEF2F7"/>
            </a:solidFill>
            <a:prstDash val="solid"/>
          </a:ln>
        </p:spPr>
      </p:sp>
      <p:sp>
        <p:nvSpPr>
          <p:cNvPr id="10" name="Shape 8"/>
          <p:cNvSpPr/>
          <p:nvPr/>
        </p:nvSpPr>
        <p:spPr>
          <a:xfrm>
            <a:off x="4617720" y="1892808"/>
            <a:ext cx="594360" cy="594360"/>
          </a:xfrm>
          <a:prstGeom prst="ellipse">
            <a:avLst/>
          </a:prstGeom>
          <a:solidFill>
            <a:srgbClr val="C45A0C"/>
          </a:solidFill>
          <a:ln w="12700">
            <a:solidFill>
              <a:srgbClr val="C45A0C"/>
            </a:solidFill>
            <a:prstDash val="solid"/>
          </a:ln>
        </p:spPr>
      </p:sp>
      <p:sp>
        <p:nvSpPr>
          <p:cNvPr id="11" name="Text 9"/>
          <p:cNvSpPr txBox="1"/>
          <p:nvPr/>
        </p:nvSpPr>
        <p:spPr>
          <a:xfrm>
            <a:off x="4617720" y="1892808"/>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5349240" y="1965960"/>
            <a:ext cx="2468880" cy="457200"/>
          </a:xfrm>
          <a:prstGeom prst="rect">
            <a:avLst/>
          </a:prstGeom>
          <a:noFill/>
          <a:ln/>
        </p:spPr>
        <p:txBody>
          <a:bodyPr wrap="square" lIns="0" tIns="0" rIns="0" bIns="0" rtlCol="0" anchor="t"/>
          <a:lstStyle/>
          <a:p>
            <a:pPr indent="0" marL="0">
              <a:buNone/>
            </a:pPr>
            <a:r>
              <a:rPr lang="en-US" sz="1900" b="1" dirty="0">
                <a:solidFill>
                  <a:srgbClr val="14213D"/>
                </a:solidFill>
                <a:latin typeface="Cambria" pitchFamily="34" charset="0"/>
                <a:ea typeface="Cambria" pitchFamily="34" charset="-122"/>
                <a:cs typeface="Cambria" pitchFamily="34" charset="-120"/>
              </a:rPr>
              <a:t>Modulus switch</a:t>
            </a:r>
            <a:endParaRPr lang="en-US" sz="1900" dirty="0"/>
          </a:p>
        </p:txBody>
      </p:sp>
      <p:sp>
        <p:nvSpPr>
          <p:cNvPr id="13" name="Text 11"/>
          <p:cNvSpPr txBox="1"/>
          <p:nvPr/>
        </p:nvSpPr>
        <p:spPr>
          <a:xfrm>
            <a:off x="4617720" y="2606040"/>
            <a:ext cx="3063240" cy="132588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Drop to the last level, which scales down the data-dependent error.</a:t>
            </a:r>
            <a:endParaRPr lang="en-US" sz="1450" dirty="0"/>
          </a:p>
        </p:txBody>
      </p:sp>
      <p:sp>
        <p:nvSpPr>
          <p:cNvPr id="14" name="Shape 12"/>
          <p:cNvSpPr/>
          <p:nvPr/>
        </p:nvSpPr>
        <p:spPr>
          <a:xfrm>
            <a:off x="8138160" y="1691640"/>
            <a:ext cx="3566160" cy="2286000"/>
          </a:xfrm>
          <a:prstGeom prst="roundRect">
            <a:avLst>
              <a:gd name="adj" fmla="val 3200"/>
            </a:avLst>
          </a:prstGeom>
          <a:solidFill>
            <a:srgbClr val="EEF2F7"/>
          </a:solidFill>
          <a:ln w="12700">
            <a:solidFill>
              <a:srgbClr val="EEF2F7"/>
            </a:solidFill>
            <a:prstDash val="solid"/>
          </a:ln>
        </p:spPr>
      </p:sp>
      <p:sp>
        <p:nvSpPr>
          <p:cNvPr id="15" name="Shape 13"/>
          <p:cNvSpPr/>
          <p:nvPr/>
        </p:nvSpPr>
        <p:spPr>
          <a:xfrm>
            <a:off x="8412480" y="1892808"/>
            <a:ext cx="594360" cy="594360"/>
          </a:xfrm>
          <a:prstGeom prst="ellipse">
            <a:avLst/>
          </a:prstGeom>
          <a:solidFill>
            <a:srgbClr val="C45A0C"/>
          </a:solidFill>
          <a:ln w="12700">
            <a:solidFill>
              <a:srgbClr val="C45A0C"/>
            </a:solidFill>
            <a:prstDash val="solid"/>
          </a:ln>
        </p:spPr>
      </p:sp>
      <p:sp>
        <p:nvSpPr>
          <p:cNvPr id="16" name="Text 14"/>
          <p:cNvSpPr txBox="1"/>
          <p:nvPr/>
        </p:nvSpPr>
        <p:spPr>
          <a:xfrm>
            <a:off x="8412480" y="1892808"/>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9144000" y="1965960"/>
            <a:ext cx="2468880" cy="457200"/>
          </a:xfrm>
          <a:prstGeom prst="rect">
            <a:avLst/>
          </a:prstGeom>
          <a:noFill/>
          <a:ln/>
        </p:spPr>
        <p:txBody>
          <a:bodyPr wrap="square" lIns="0" tIns="0" rIns="0" bIns="0" rtlCol="0" anchor="t"/>
          <a:lstStyle/>
          <a:p>
            <a:pPr indent="0" marL="0">
              <a:buNone/>
            </a:pPr>
            <a:r>
              <a:rPr lang="en-US" sz="1900" b="1" dirty="0">
                <a:solidFill>
                  <a:srgbClr val="14213D"/>
                </a:solidFill>
                <a:latin typeface="Cambria" pitchFamily="34" charset="0"/>
                <a:ea typeface="Cambria" pitchFamily="34" charset="-122"/>
                <a:cs typeface="Cambria" pitchFamily="34" charset="-120"/>
              </a:rPr>
              <a:t>Flood the error</a:t>
            </a:r>
            <a:endParaRPr lang="en-US" sz="1900" dirty="0"/>
          </a:p>
        </p:txBody>
      </p:sp>
      <p:sp>
        <p:nvSpPr>
          <p:cNvPr id="18" name="Text 16"/>
          <p:cNvSpPr txBox="1"/>
          <p:nvPr/>
        </p:nvSpPr>
        <p:spPr>
          <a:xfrm>
            <a:off x="8412480" y="2606040"/>
            <a:ext cx="3063240" cy="132588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BFV: statistical flooding with N·2</a:t>
            </a:r>
            <a:r>
              <a:rPr lang="en-US" sz="1450" baseline="30000" dirty="0">
                <a:solidFill>
                  <a:srgbClr val="1F2937"/>
                </a:solidFill>
                <a:latin typeface="Calibri" pitchFamily="34" charset="0"/>
                <a:ea typeface="Calibri" pitchFamily="34" charset="-122"/>
                <a:cs typeface="Calibri" pitchFamily="34" charset="-120"/>
              </a:rPr>
              <a:t>−κ</a:t>
            </a:r>
            <a:r>
              <a:rPr lang="en-US" sz="1450" dirty="0">
                <a:solidFill>
                  <a:srgbClr val="1F2937"/>
                </a:solidFill>
                <a:latin typeface="Calibri" pitchFamily="34" charset="0"/>
                <a:ea typeface="Calibri" pitchFamily="34" charset="-122"/>
                <a:cs typeface="Calibri" pitchFamily="34" charset="-120"/>
              </a:rPr>
              <a:t> ≤ 2</a:t>
            </a:r>
            <a:r>
              <a:rPr lang="en-US" sz="1450" baseline="30000" dirty="0">
                <a:solidFill>
                  <a:srgbClr val="1F2937"/>
                </a:solidFill>
                <a:latin typeface="Calibri" pitchFamily="34" charset="0"/>
                <a:ea typeface="Calibri" pitchFamily="34" charset="-122"/>
                <a:cs typeface="Calibri" pitchFamily="34" charset="-120"/>
              </a:rPr>
              <a:t>−40</a:t>
            </a:r>
            <a:r>
              <a:rPr lang="en-US" sz="1450" dirty="0">
                <a:solidFill>
                  <a:srgbClr val="1F2937"/>
                </a:solidFill>
                <a:latin typeface="Calibri" pitchFamily="34" charset="0"/>
                <a:ea typeface="Calibri" pitchFamily="34" charset="-122"/>
                <a:cs typeface="Calibri" pitchFamily="34" charset="-120"/>
              </a:rPr>
              <a:t>. CKKS: DP-calibrated flooding with width ς = S</a:t>
            </a:r>
            <a:r>
              <a:rPr lang="en-US" sz="1450" baseline="-25000" dirty="0">
                <a:solidFill>
                  <a:srgbClr val="1F2937"/>
                </a:solidFill>
                <a:latin typeface="Calibri" pitchFamily="34" charset="0"/>
                <a:ea typeface="Calibri" pitchFamily="34" charset="-122"/>
                <a:cs typeface="Calibri" pitchFamily="34" charset="-120"/>
              </a:rPr>
              <a:t>err</a:t>
            </a:r>
            <a:r>
              <a:rPr lang="en-US" sz="1450" dirty="0">
                <a:solidFill>
                  <a:srgbClr val="1F2937"/>
                </a:solidFill>
                <a:latin typeface="Calibri" pitchFamily="34" charset="0"/>
                <a:ea typeface="Calibri" pitchFamily="34" charset="-122"/>
                <a:cs typeface="Calibri" pitchFamily="34" charset="-120"/>
              </a:rPr>
              <a:t> / √(2ρ</a:t>
            </a:r>
            <a:r>
              <a:rPr lang="en-US" sz="1450" baseline="-25000" dirty="0">
                <a:solidFill>
                  <a:srgbClr val="1F2937"/>
                </a:solidFill>
                <a:latin typeface="Calibri" pitchFamily="34" charset="0"/>
                <a:ea typeface="Calibri" pitchFamily="34" charset="-122"/>
                <a:cs typeface="Calibri" pitchFamily="34" charset="-120"/>
              </a:rPr>
              <a:t>err</a:t>
            </a:r>
            <a:r>
              <a:rPr lang="en-US" sz="1450" dirty="0">
                <a:solidFill>
                  <a:srgbClr val="1F2937"/>
                </a:solidFill>
                <a:latin typeface="Calibri" pitchFamily="34" charset="0"/>
                <a:ea typeface="Calibri" pitchFamily="34" charset="-122"/>
                <a:cs typeface="Calibri" pitchFamily="34" charset="-120"/>
              </a:rPr>
              <a:t>).</a:t>
            </a:r>
            <a:endParaRPr lang="en-US" sz="1450" dirty="0"/>
          </a:p>
        </p:txBody>
      </p:sp>
      <p:sp>
        <p:nvSpPr>
          <p:cNvPr id="19" name="Shape 17"/>
          <p:cNvSpPr/>
          <p:nvPr/>
        </p:nvSpPr>
        <p:spPr>
          <a:xfrm>
            <a:off x="548640" y="4206240"/>
            <a:ext cx="4846320" cy="2194560"/>
          </a:xfrm>
          <a:prstGeom prst="roundRect">
            <a:avLst>
              <a:gd name="adj" fmla="val 3333"/>
            </a:avLst>
          </a:prstGeom>
          <a:solidFill>
            <a:srgbClr val="F7F9FC"/>
          </a:solidFill>
          <a:ln w="12700">
            <a:solidFill>
              <a:srgbClr val="F7F9FC"/>
            </a:solidFill>
            <a:prstDash val="solid"/>
          </a:ln>
        </p:spPr>
      </p:sp>
      <p:sp>
        <p:nvSpPr>
          <p:cNvPr id="20" name="Text 18"/>
          <p:cNvSpPr txBox="1"/>
          <p:nvPr/>
        </p:nvSpPr>
        <p:spPr>
          <a:xfrm>
            <a:off x="777240" y="4343400"/>
            <a:ext cx="448056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What v2 relied on</a:t>
            </a:r>
            <a:endParaRPr lang="en-US" sz="1500" dirty="0"/>
          </a:p>
        </p:txBody>
      </p:sp>
      <p:sp>
        <p:nvSpPr>
          <p:cNvPr id="21" name="Text 19"/>
          <p:cNvSpPr txBox="1"/>
          <p:nvPr/>
        </p:nvSpPr>
        <p:spPr>
          <a:xfrm>
            <a:off x="777240" y="4754880"/>
            <a:ext cx="4434840" cy="1143000"/>
          </a:xfrm>
          <a:prstGeom prst="rect">
            <a:avLst/>
          </a:prstGeom>
          <a:noFill/>
          <a:ln/>
        </p:spPr>
        <p:txBody>
          <a:bodyPr wrap="square" lIns="0" tIns="0" rIns="0" bIns="0" rtlCol="0" anchor="t"/>
          <a:lstStyle/>
          <a:p>
            <a:pPr indent="0" marL="0">
              <a:buNone/>
            </a:pPr>
            <a:r>
              <a:rPr lang="en-US" sz="1350" dirty="0">
                <a:solidFill>
                  <a:srgbClr val="5B6576"/>
                </a:solidFill>
                <a:latin typeface="Calibri" pitchFamily="34" charset="0"/>
                <a:ea typeface="Calibri" pitchFamily="34" charset="-122"/>
                <a:cs typeface="Calibri" pitchFamily="34" charset="-120"/>
              </a:rPr>
              <a:t>A flood sized as a DP mechanism, only a few bits above the error, to save CKKS precision; and the fresh encryption to hide c</a:t>
            </a:r>
            <a:r>
              <a:rPr lang="en-US" sz="1350" baseline="-25000" dirty="0">
                <a:solidFill>
                  <a:srgbClr val="5B6576"/>
                </a:solidFill>
                <a:latin typeface="Calibri" pitchFamily="34" charset="0"/>
                <a:ea typeface="Calibri" pitchFamily="34" charset="-122"/>
                <a:cs typeface="Calibri" pitchFamily="34" charset="-120"/>
              </a:rPr>
              <a:t>1</a:t>
            </a:r>
            <a:r>
              <a:rPr lang="en-US" sz="1350" dirty="0">
                <a:solidFill>
                  <a:srgbClr val="5B6576"/>
                </a:solidFill>
                <a:latin typeface="Calibri" pitchFamily="34" charset="0"/>
                <a:ea typeface="Calibri" pitchFamily="34" charset="-122"/>
                <a:cs typeface="Calibri" pitchFamily="34" charset="-120"/>
              </a:rPr>
              <a:t> from the key holder.</a:t>
            </a:r>
            <a:endParaRPr lang="en-US" sz="1350" dirty="0"/>
          </a:p>
        </p:txBody>
      </p:sp>
      <p:sp>
        <p:nvSpPr>
          <p:cNvPr id="22" name="Shape 20"/>
          <p:cNvSpPr/>
          <p:nvPr/>
        </p:nvSpPr>
        <p:spPr>
          <a:xfrm>
            <a:off x="5623560" y="4206240"/>
            <a:ext cx="5989320" cy="2194560"/>
          </a:xfrm>
          <a:prstGeom prst="roundRect">
            <a:avLst>
              <a:gd name="adj" fmla="val 3333"/>
            </a:avLst>
          </a:prstGeom>
          <a:solidFill>
            <a:srgbClr val="F6E3D6"/>
          </a:solidFill>
          <a:ln w="12700">
            <a:solidFill>
              <a:srgbClr val="F6E3D6"/>
            </a:solidFill>
            <a:prstDash val="solid"/>
          </a:ln>
        </p:spPr>
      </p:sp>
      <p:sp>
        <p:nvSpPr>
          <p:cNvPr id="23" name="Text 21"/>
          <p:cNvSpPr txBox="1"/>
          <p:nvPr/>
        </p:nvSpPr>
        <p:spPr>
          <a:xfrm>
            <a:off x="5852160" y="4343400"/>
            <a:ext cx="5577840" cy="365760"/>
          </a:xfrm>
          <a:prstGeom prst="rect">
            <a:avLst/>
          </a:prstGeom>
          <a:noFill/>
          <a:ln/>
        </p:spPr>
        <p:txBody>
          <a:bodyPr wrap="square" lIns="0" tIns="0" rIns="0" bIns="0" rtlCol="0" anchor="t"/>
          <a:lstStyle/>
          <a:p>
            <a:pPr indent="0" marL="0">
              <a:buNone/>
            </a:pPr>
            <a:r>
              <a:rPr lang="en-US" sz="1500" b="1" dirty="0">
                <a:solidFill>
                  <a:srgbClr val="C45A0C"/>
                </a:solidFill>
                <a:latin typeface="Calibri" pitchFamily="34" charset="0"/>
                <a:ea typeface="Calibri" pitchFamily="34" charset="-122"/>
                <a:cs typeface="Calibri" pitchFamily="34" charset="-120"/>
              </a:rPr>
              <a:t>What the referee and the proofs found</a:t>
            </a:r>
            <a:endParaRPr lang="en-US" sz="1500" dirty="0"/>
          </a:p>
        </p:txBody>
      </p:sp>
      <p:sp>
        <p:nvSpPr>
          <p:cNvPr id="24" name="Text 22"/>
          <p:cNvSpPr txBox="1"/>
          <p:nvPr/>
        </p:nvSpPr>
        <p:spPr>
          <a:xfrm>
            <a:off x="5852160" y="4754880"/>
            <a:ext cx="557784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S</a:t>
            </a:r>
            <a:r>
              <a:rPr lang="en-US" sz="1300" baseline="-25000" dirty="0">
                <a:solidFill>
                  <a:srgbClr val="1F2937"/>
                </a:solidFill>
                <a:latin typeface="Calibri" pitchFamily="34" charset="0"/>
                <a:ea typeface="Calibri" pitchFamily="34" charset="-122"/>
                <a:cs typeface="Calibri" pitchFamily="34" charset="-120"/>
              </a:rPr>
              <a:t>err</a:t>
            </a:r>
            <a:r>
              <a:rPr lang="en-US" sz="1300" dirty="0">
                <a:solidFill>
                  <a:srgbClr val="1F2937"/>
                </a:solidFill>
                <a:latin typeface="Calibri" pitchFamily="34" charset="0"/>
                <a:ea typeface="Calibri" pitchFamily="34" charset="-122"/>
                <a:cs typeface="Calibri" pitchFamily="34" charset="-120"/>
              </a:rPr>
              <a:t> is as large as the whole error, and its cost was charged once, not per reply</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Decrypting, R sees a hint on the fresh randomness: not a plain RLWE reduction</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v3.1 floods the full error inside O's decryption share. Proven, at a CKKS scale of 2</a:t>
            </a:r>
            <a:r>
              <a:rPr lang="en-US" sz="1300" baseline="30000" dirty="0">
                <a:solidFill>
                  <a:srgbClr val="1F2937"/>
                </a:solidFill>
                <a:latin typeface="Calibri" pitchFamily="34" charset="0"/>
                <a:ea typeface="Calibri" pitchFamily="34" charset="-122"/>
                <a:cs typeface="Calibri" pitchFamily="34" charset="-120"/>
              </a:rPr>
              <a:t>61.5</a:t>
            </a:r>
            <a:r>
              <a:rPr lang="en-US" sz="1300" dirty="0">
                <a:solidFill>
                  <a:srgbClr val="1F2937"/>
                </a:solidFill>
                <a:latin typeface="Calibri" pitchFamily="34" charset="0"/>
                <a:ea typeface="Calibri" pitchFamily="34" charset="-122"/>
                <a:cs typeface="Calibri" pitchFamily="34" charset="-120"/>
              </a:rPr>
              <a:t> (2</a:t>
            </a:r>
            <a:r>
              <a:rPr lang="en-US" sz="1300" baseline="30000" dirty="0">
                <a:solidFill>
                  <a:srgbClr val="1F2937"/>
                </a:solidFill>
                <a:latin typeface="Calibri" pitchFamily="34" charset="0"/>
                <a:ea typeface="Calibri" pitchFamily="34" charset="-122"/>
                <a:cs typeface="Calibri" pitchFamily="34" charset="-120"/>
              </a:rPr>
              <a:t>53.7</a:t>
            </a:r>
            <a:r>
              <a:rPr lang="en-US" sz="1300" dirty="0">
                <a:solidFill>
                  <a:srgbClr val="1F2937"/>
                </a:solidFill>
                <a:latin typeface="Calibri" pitchFamily="34" charset="0"/>
                <a:ea typeface="Calibri" pitchFamily="34" charset="-122"/>
                <a:cs typeface="Calibri" pitchFamily="34" charset="-120"/>
              </a:rPr>
              <a:t> with circuit changes)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Phase 3: fixed ridge and zero-budget bias correction</a:t>
            </a:r>
            <a:endParaRPr lang="en-US" sz="3200" dirty="0"/>
          </a:p>
        </p:txBody>
      </p:sp>
      <p:sp>
        <p:nvSpPr>
          <p:cNvPr id="3" name="Shape 1"/>
          <p:cNvSpPr/>
          <p:nvPr/>
        </p:nvSpPr>
        <p:spPr>
          <a:xfrm>
            <a:off x="548640" y="1417320"/>
            <a:ext cx="5486400" cy="4709160"/>
          </a:xfrm>
          <a:prstGeom prst="roundRect">
            <a:avLst>
              <a:gd name="adj" fmla="val 1553"/>
            </a:avLst>
          </a:prstGeom>
          <a:solidFill>
            <a:srgbClr val="F7F9FC"/>
          </a:solidFill>
          <a:ln w="12700">
            <a:solidFill>
              <a:srgbClr val="F7F9FC"/>
            </a:solidFill>
            <a:prstDash val="solid"/>
          </a:ln>
        </p:spPr>
      </p:sp>
      <p:sp>
        <p:nvSpPr>
          <p:cNvPr id="4" name="Text 2"/>
          <p:cNvSpPr txBox="1"/>
          <p:nvPr/>
        </p:nvSpPr>
        <p:spPr>
          <a:xfrm>
            <a:off x="822960" y="1645920"/>
            <a:ext cx="5029200" cy="365760"/>
          </a:xfrm>
          <a:prstGeom prst="rect">
            <a:avLst/>
          </a:prstGeom>
          <a:noFill/>
          <a:ln/>
        </p:spPr>
        <p:txBody>
          <a:bodyPr wrap="square" lIns="0" tIns="0" rIns="0" bIns="0" rtlCol="0" anchor="t"/>
          <a:lstStyle/>
          <a:p>
            <a:pPr indent="0" marL="0">
              <a:buNone/>
            </a:pPr>
            <a:r>
              <a:rPr lang="en-US" sz="1400" b="1" dirty="0">
                <a:solidFill>
                  <a:srgbClr val="3D5A80"/>
                </a:solidFill>
                <a:latin typeface="Calibri" pitchFamily="34" charset="0"/>
                <a:ea typeface="Calibri" pitchFamily="34" charset="-122"/>
                <a:cs typeface="Calibri" pitchFamily="34" charset="-120"/>
              </a:rPr>
              <a:t>Ridge, fixed before decryption</a:t>
            </a:r>
            <a:endParaRPr lang="en-US" sz="1400" dirty="0"/>
          </a:p>
        </p:txBody>
      </p:sp>
      <p:pic>
        <p:nvPicPr>
          <p:cNvPr id="5" name="Image 0" descr="/home/user/VerticalFederatedRegression/slides/assets/eq/ridge.png">    </p:cNvPr>
          <p:cNvPicPr>
            <a:picLocks noChangeAspect="1"/>
          </p:cNvPicPr>
          <p:nvPr/>
        </p:nvPicPr>
        <p:blipFill>
          <a:blip r:embed="rId1"/>
          <a:stretch>
            <a:fillRect/>
          </a:stretch>
        </p:blipFill>
        <p:spPr>
          <a:xfrm>
            <a:off x="822960" y="2048256"/>
            <a:ext cx="4369308" cy="313792"/>
          </a:xfrm>
          <a:prstGeom prst="rect">
            <a:avLst/>
          </a:prstGeom>
        </p:spPr>
      </p:pic>
      <p:sp>
        <p:nvSpPr>
          <p:cNvPr id="6" name="Text 3"/>
          <p:cNvSpPr txBox="1"/>
          <p:nvPr/>
        </p:nvSpPr>
        <p:spPr>
          <a:xfrm>
            <a:off x="822960" y="2743200"/>
            <a:ext cx="5029200" cy="365760"/>
          </a:xfrm>
          <a:prstGeom prst="rect">
            <a:avLst/>
          </a:prstGeom>
          <a:noFill/>
          <a:ln/>
        </p:spPr>
        <p:txBody>
          <a:bodyPr wrap="square" lIns="0" tIns="0" rIns="0" bIns="0" rtlCol="0" anchor="t"/>
          <a:lstStyle/>
          <a:p>
            <a:pPr indent="0" marL="0">
              <a:buNone/>
            </a:pPr>
            <a:r>
              <a:rPr lang="en-US" sz="1400" b="1" dirty="0">
                <a:solidFill>
                  <a:srgbClr val="3D5A80"/>
                </a:solidFill>
                <a:latin typeface="Calibri" pitchFamily="34" charset="0"/>
                <a:ea typeface="Calibri" pitchFamily="34" charset="-122"/>
                <a:cs typeface="Calibri" pitchFamily="34" charset="-120"/>
              </a:rPr>
              <a:t>Release gate</a:t>
            </a:r>
            <a:endParaRPr lang="en-US" sz="1400" dirty="0"/>
          </a:p>
        </p:txBody>
      </p:sp>
      <p:pic>
        <p:nvPicPr>
          <p:cNvPr id="7" name="Image 1" descr="/home/user/VerticalFederatedRegression/slides/assets/eq/gate.png">    </p:cNvPr>
          <p:cNvPicPr>
            <a:picLocks noChangeAspect="1"/>
          </p:cNvPicPr>
          <p:nvPr/>
        </p:nvPicPr>
        <p:blipFill>
          <a:blip r:embed="rId2"/>
          <a:stretch>
            <a:fillRect/>
          </a:stretch>
        </p:blipFill>
        <p:spPr>
          <a:xfrm>
            <a:off x="822960" y="3145536"/>
            <a:ext cx="3628771" cy="356489"/>
          </a:xfrm>
          <a:prstGeom prst="rect">
            <a:avLst/>
          </a:prstGeom>
        </p:spPr>
      </p:pic>
      <p:sp>
        <p:nvSpPr>
          <p:cNvPr id="8" name="Text 4"/>
          <p:cNvSpPr txBox="1"/>
          <p:nvPr/>
        </p:nvSpPr>
        <p:spPr>
          <a:xfrm>
            <a:off x="822960" y="3840480"/>
            <a:ext cx="5029200" cy="365760"/>
          </a:xfrm>
          <a:prstGeom prst="rect">
            <a:avLst/>
          </a:prstGeom>
          <a:noFill/>
          <a:ln/>
        </p:spPr>
        <p:txBody>
          <a:bodyPr wrap="square" lIns="0" tIns="0" rIns="0" bIns="0" rtlCol="0" anchor="t"/>
          <a:lstStyle/>
          <a:p>
            <a:pPr indent="0" marL="0">
              <a:buNone/>
            </a:pPr>
            <a:r>
              <a:rPr lang="en-US" sz="1400" b="1" dirty="0">
                <a:solidFill>
                  <a:srgbClr val="3D5A80"/>
                </a:solidFill>
                <a:latin typeface="Calibri" pitchFamily="34" charset="0"/>
                <a:ea typeface="Calibri" pitchFamily="34" charset="-122"/>
                <a:cs typeface="Calibri" pitchFamily="34" charset="-120"/>
              </a:rPr>
              <a:t>Private ridge estimate</a:t>
            </a:r>
            <a:endParaRPr lang="en-US" sz="1400" dirty="0"/>
          </a:p>
        </p:txBody>
      </p:sp>
      <p:pic>
        <p:nvPicPr>
          <p:cNvPr id="9" name="Image 2" descr="/home/user/VerticalFederatedRegression/slides/assets/eq/ridge_est.png">    </p:cNvPr>
          <p:cNvPicPr>
            <a:picLocks noChangeAspect="1"/>
          </p:cNvPicPr>
          <p:nvPr/>
        </p:nvPicPr>
        <p:blipFill>
          <a:blip r:embed="rId3"/>
          <a:stretch>
            <a:fillRect/>
          </a:stretch>
        </p:blipFill>
        <p:spPr>
          <a:xfrm>
            <a:off x="822960" y="4242816"/>
            <a:ext cx="2070938" cy="349656"/>
          </a:xfrm>
          <a:prstGeom prst="rect">
            <a:avLst/>
          </a:prstGeom>
        </p:spPr>
      </p:pic>
      <p:sp>
        <p:nvSpPr>
          <p:cNvPr id="10" name="Text 5"/>
          <p:cNvSpPr txBox="1"/>
          <p:nvPr/>
        </p:nvSpPr>
        <p:spPr>
          <a:xfrm>
            <a:off x="822960" y="4937760"/>
            <a:ext cx="5029200" cy="365760"/>
          </a:xfrm>
          <a:prstGeom prst="rect">
            <a:avLst/>
          </a:prstGeom>
          <a:noFill/>
          <a:ln/>
        </p:spPr>
        <p:txBody>
          <a:bodyPr wrap="square" lIns="0" tIns="0" rIns="0" bIns="0" rtlCol="0" anchor="t"/>
          <a:lstStyle/>
          <a:p>
            <a:pPr indent="0" marL="0">
              <a:buNone/>
            </a:pPr>
            <a:r>
              <a:rPr lang="en-US" sz="1400" b="1" dirty="0">
                <a:solidFill>
                  <a:srgbClr val="3D5A80"/>
                </a:solidFill>
                <a:latin typeface="Calibri" pitchFamily="34" charset="0"/>
                <a:ea typeface="Calibri" pitchFamily="34" charset="-122"/>
                <a:cs typeface="Calibri" pitchFamily="34" charset="-120"/>
              </a:rPr>
              <a:t>Bias correction (optional in v3.1; off by default)</a:t>
            </a:r>
            <a:endParaRPr lang="en-US" sz="1400" dirty="0"/>
          </a:p>
        </p:txBody>
      </p:sp>
      <p:pic>
        <p:nvPicPr>
          <p:cNvPr id="11" name="Image 3" descr="/home/user/VerticalFederatedRegression/slides/assets/eq/bc.png">    </p:cNvPr>
          <p:cNvPicPr>
            <a:picLocks noChangeAspect="1"/>
          </p:cNvPicPr>
          <p:nvPr/>
        </p:nvPicPr>
        <p:blipFill>
          <a:blip r:embed="rId4"/>
          <a:stretch>
            <a:fillRect/>
          </a:stretch>
        </p:blipFill>
        <p:spPr>
          <a:xfrm>
            <a:off x="822960" y="5340096"/>
            <a:ext cx="2686304" cy="356387"/>
          </a:xfrm>
          <a:prstGeom prst="rect">
            <a:avLst/>
          </a:prstGeom>
        </p:spPr>
      </p:pic>
      <p:sp>
        <p:nvSpPr>
          <p:cNvPr id="12" name="Shape 6"/>
          <p:cNvSpPr/>
          <p:nvPr/>
        </p:nvSpPr>
        <p:spPr>
          <a:xfrm>
            <a:off x="6263640" y="1417320"/>
            <a:ext cx="5349240" cy="2560320"/>
          </a:xfrm>
          <a:prstGeom prst="roundRect">
            <a:avLst>
              <a:gd name="adj" fmla="val 2857"/>
            </a:avLst>
          </a:prstGeom>
          <a:solidFill>
            <a:srgbClr val="EEF2F7"/>
          </a:solidFill>
          <a:ln w="12700">
            <a:solidFill>
              <a:srgbClr val="EEF2F7"/>
            </a:solidFill>
            <a:prstDash val="solid"/>
          </a:ln>
        </p:spPr>
      </p:sp>
      <p:sp>
        <p:nvSpPr>
          <p:cNvPr id="13" name="Text 7"/>
          <p:cNvSpPr txBox="1"/>
          <p:nvPr/>
        </p:nvSpPr>
        <p:spPr>
          <a:xfrm>
            <a:off x="6492240" y="1572768"/>
            <a:ext cx="4937760" cy="41148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Theorem (conditional bias)</a:t>
            </a:r>
            <a:endParaRPr lang="en-US" sz="1800" dirty="0"/>
          </a:p>
        </p:txBody>
      </p:sp>
      <p:pic>
        <p:nvPicPr>
          <p:cNvPr id="14" name="Image 4" descr="/home/user/VerticalFederatedRegression/slides/assets/eq/thm.png">    </p:cNvPr>
          <p:cNvPicPr>
            <a:picLocks noChangeAspect="1"/>
          </p:cNvPicPr>
          <p:nvPr/>
        </p:nvPicPr>
        <p:blipFill>
          <a:blip r:embed="rId5"/>
          <a:stretch>
            <a:fillRect/>
          </a:stretch>
        </p:blipFill>
        <p:spPr>
          <a:xfrm>
            <a:off x="6492240" y="2057400"/>
            <a:ext cx="4983480" cy="330855"/>
          </a:xfrm>
          <a:prstGeom prst="rect">
            <a:avLst/>
          </a:prstGeom>
        </p:spPr>
      </p:pic>
      <p:pic>
        <p:nvPicPr>
          <p:cNvPr id="15" name="Image 5" descr="/home/user/VerticalFederatedRegression/slides/assets/eq/mp.png">    </p:cNvPr>
          <p:cNvPicPr>
            <a:picLocks noChangeAspect="1"/>
          </p:cNvPicPr>
          <p:nvPr/>
        </p:nvPicPr>
        <p:blipFill>
          <a:blip r:embed="rId6"/>
          <a:stretch>
            <a:fillRect/>
          </a:stretch>
        </p:blipFill>
        <p:spPr>
          <a:xfrm>
            <a:off x="6492240" y="2606040"/>
            <a:ext cx="3415913" cy="575824"/>
          </a:xfrm>
          <a:prstGeom prst="rect">
            <a:avLst/>
          </a:prstGeom>
        </p:spPr>
      </p:pic>
      <p:sp>
        <p:nvSpPr>
          <p:cNvPr id="16" name="Text 8"/>
          <p:cNvSpPr txBox="1"/>
          <p:nvPr/>
        </p:nvSpPr>
        <p:spPr>
          <a:xfrm>
            <a:off x="6492240" y="3429000"/>
            <a:ext cx="4983480" cy="457200"/>
          </a:xfrm>
          <a:prstGeom prst="rect">
            <a:avLst/>
          </a:prstGeom>
          <a:noFill/>
          <a:ln/>
        </p:spPr>
        <p:txBody>
          <a:bodyPr wrap="square" lIns="0" tIns="0" rIns="0" bIns="0" rtlCol="0" anchor="t"/>
          <a:lstStyle/>
          <a:p>
            <a:pPr indent="0" marL="0">
              <a:buNone/>
            </a:pPr>
            <a:r>
              <a:rPr lang="en-US" sz="1300" i="1" dirty="0">
                <a:solidFill>
                  <a:srgbClr val="5B6576"/>
                </a:solidFill>
                <a:latin typeface="Calibri" pitchFamily="34" charset="0"/>
                <a:ea typeface="Calibri" pitchFamily="34" charset="-122"/>
                <a:cs typeface="Calibri" pitchFamily="34" charset="-120"/>
              </a:rPr>
              <a:t>The plain mean does not exist, hence the conditioning on ℰ</a:t>
            </a:r>
            <a:r>
              <a:rPr lang="en-US" sz="1300" i="1" baseline="-25000" dirty="0">
                <a:solidFill>
                  <a:srgbClr val="5B6576"/>
                </a:solidFill>
                <a:latin typeface="Calibri" pitchFamily="34" charset="0"/>
                <a:ea typeface="Calibri" pitchFamily="34" charset="-122"/>
                <a:cs typeface="Calibri" pitchFamily="34" charset="-120"/>
              </a:rPr>
              <a:t>η</a:t>
            </a:r>
            <a:r>
              <a:rPr lang="en-US" sz="1300" i="1" dirty="0">
                <a:solidFill>
                  <a:srgbClr val="5B6576"/>
                </a:solidFill>
                <a:latin typeface="Calibri" pitchFamily="34" charset="0"/>
                <a:ea typeface="Calibri" pitchFamily="34" charset="-122"/>
                <a:cs typeface="Calibri" pitchFamily="34" charset="-120"/>
              </a:rPr>
              <a:t>.</a:t>
            </a:r>
            <a:endParaRPr lang="en-US" sz="1300" dirty="0"/>
          </a:p>
        </p:txBody>
      </p:sp>
      <p:sp>
        <p:nvSpPr>
          <p:cNvPr id="17" name="Shape 9"/>
          <p:cNvSpPr/>
          <p:nvPr/>
        </p:nvSpPr>
        <p:spPr>
          <a:xfrm>
            <a:off x="6263640" y="4160520"/>
            <a:ext cx="5349240" cy="1965960"/>
          </a:xfrm>
          <a:prstGeom prst="roundRect">
            <a:avLst>
              <a:gd name="adj" fmla="val 3721"/>
            </a:avLst>
          </a:prstGeom>
          <a:solidFill>
            <a:srgbClr val="F6E3D6"/>
          </a:solidFill>
          <a:ln w="12700">
            <a:solidFill>
              <a:srgbClr val="F6E3D6"/>
            </a:solidFill>
            <a:prstDash val="solid"/>
          </a:ln>
        </p:spPr>
      </p:sp>
      <p:sp>
        <p:nvSpPr>
          <p:cNvPr id="18" name="Text 10"/>
          <p:cNvSpPr txBox="1"/>
          <p:nvPr/>
        </p:nvSpPr>
        <p:spPr>
          <a:xfrm>
            <a:off x="6492240" y="4270248"/>
            <a:ext cx="4937760" cy="365760"/>
          </a:xfrm>
          <a:prstGeom prst="rect">
            <a:avLst/>
          </a:prstGeom>
          <a:noFill/>
          <a:ln/>
        </p:spPr>
        <p:txBody>
          <a:bodyPr wrap="square" lIns="0" tIns="0" rIns="0" bIns="0" rtlCol="0" anchor="t"/>
          <a:lstStyle/>
          <a:p>
            <a:pPr indent="0" marL="0">
              <a:buNone/>
            </a:pPr>
            <a:r>
              <a:rPr lang="en-US" sz="1500" b="1" dirty="0">
                <a:solidFill>
                  <a:srgbClr val="C45A0C"/>
                </a:solidFill>
                <a:latin typeface="Calibri" pitchFamily="34" charset="0"/>
                <a:ea typeface="Calibri" pitchFamily="34" charset="-122"/>
                <a:cs typeface="Calibri" pitchFamily="34" charset="-120"/>
              </a:rPr>
              <a:t>Why λ must not depend on the noise</a:t>
            </a:r>
            <a:endParaRPr lang="en-US" sz="1500" dirty="0"/>
          </a:p>
        </p:txBody>
      </p:sp>
      <p:sp>
        <p:nvSpPr>
          <p:cNvPr id="19" name="Text 11"/>
          <p:cNvSpPr txBox="1"/>
          <p:nvPr/>
        </p:nvSpPr>
        <p:spPr>
          <a:xfrm>
            <a:off x="6492240" y="4663440"/>
            <a:ext cx="4983480" cy="1371600"/>
          </a:xfrm>
          <a:prstGeom prst="rect">
            <a:avLst/>
          </a:prstGeom>
          <a:noFill/>
          <a:ln/>
        </p:spPr>
        <p:txBody>
          <a:bodyPr wrap="square" lIns="0" tIns="0" rIns="0" bIns="0" rtlCol="0" anchor="t"/>
          <a:lstStyle/>
          <a:p>
            <a:pPr indent="0" marL="0">
              <a:buNone/>
            </a:pPr>
            <a:r>
              <a:rPr lang="en-US" sz="1300" dirty="0">
                <a:solidFill>
                  <a:srgbClr val="14213D"/>
                </a:solidFill>
                <a:latin typeface="Calibri" pitchFamily="34" charset="0"/>
                <a:ea typeface="Calibri" pitchFamily="34" charset="-122"/>
                <a:cs typeface="Calibri" pitchFamily="34" charset="-120"/>
              </a:rPr>
              <a:t>Chosen from G̃, λ moves with the noise, and the correction removed none of the bias (1.0–1.6× left); with fixed λ it removes 87–98%. But ℓ needs the joint Gram, so in practice ℓ = 0. v3.1 picks λ from a separate stage-1 release instead.</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How we evaluate</a:t>
            </a:r>
            <a:endParaRPr lang="en-US" sz="3200" dirty="0"/>
          </a:p>
        </p:txBody>
      </p:sp>
      <p:sp>
        <p:nvSpPr>
          <p:cNvPr id="3" name="Shape 1"/>
          <p:cNvSpPr/>
          <p:nvPr/>
        </p:nvSpPr>
        <p:spPr>
          <a:xfrm>
            <a:off x="548640" y="1417320"/>
            <a:ext cx="5440680" cy="2194560"/>
          </a:xfrm>
          <a:prstGeom prst="roundRect">
            <a:avLst>
              <a:gd name="adj" fmla="val 3333"/>
            </a:avLst>
          </a:prstGeom>
          <a:solidFill>
            <a:srgbClr val="EEF2F7"/>
          </a:solidFill>
          <a:ln w="12700">
            <a:solidFill>
              <a:srgbClr val="EEF2F7"/>
            </a:solidFill>
            <a:prstDash val="solid"/>
          </a:ln>
        </p:spPr>
      </p:sp>
      <p:sp>
        <p:nvSpPr>
          <p:cNvPr id="4" name="Shape 2"/>
          <p:cNvSpPr/>
          <p:nvPr/>
        </p:nvSpPr>
        <p:spPr>
          <a:xfrm>
            <a:off x="822960" y="1691640"/>
            <a:ext cx="685800" cy="685800"/>
          </a:xfrm>
          <a:prstGeom prst="ellipse">
            <a:avLst/>
          </a:prstGeom>
          <a:solidFill>
            <a:srgbClr val="3D5A80"/>
          </a:solidFill>
          <a:ln w="12700">
            <a:solidFill>
              <a:srgbClr val="3D5A80"/>
            </a:solidFill>
            <a:prstDash val="solid"/>
          </a:ln>
        </p:spPr>
      </p:sp>
      <p:pic>
        <p:nvPicPr>
          <p:cNvPr id="5" name="Image 0" descr="preencoded.png">    </p:cNvPr>
          <p:cNvPicPr>
            <a:picLocks noChangeAspect="1"/>
          </p:cNvPicPr>
          <p:nvPr/>
        </p:nvPicPr>
        <p:blipFill>
          <a:blip r:embed="rId1"/>
          <a:stretch>
            <a:fillRect/>
          </a:stretch>
        </p:blipFill>
        <p:spPr>
          <a:xfrm>
            <a:off x="987552" y="1856232"/>
            <a:ext cx="356616" cy="356616"/>
          </a:xfrm>
          <a:prstGeom prst="rect">
            <a:avLst/>
          </a:prstGeom>
        </p:spPr>
      </p:pic>
      <p:sp>
        <p:nvSpPr>
          <p:cNvPr id="6" name="Text 3"/>
          <p:cNvSpPr txBox="1"/>
          <p:nvPr/>
        </p:nvSpPr>
        <p:spPr>
          <a:xfrm>
            <a:off x="1691640" y="1764792"/>
            <a:ext cx="4114800" cy="411480"/>
          </a:xfrm>
          <a:prstGeom prst="rect">
            <a:avLst/>
          </a:prstGeom>
          <a:noFill/>
          <a:ln/>
        </p:spPr>
        <p:txBody>
          <a:bodyPr wrap="square" lIns="0" tIns="0" rIns="0" bIns="0" rtlCol="0" anchor="t"/>
          <a:lstStyle/>
          <a:p>
            <a:pPr indent="0" marL="0">
              <a:buNone/>
            </a:pPr>
            <a:r>
              <a:rPr lang="en-US" sz="1900" b="1" dirty="0">
                <a:solidFill>
                  <a:srgbClr val="14213D"/>
                </a:solidFill>
                <a:latin typeface="Cambria" pitchFamily="34" charset="0"/>
                <a:ea typeface="Cambria" pitchFamily="34" charset="-122"/>
                <a:cs typeface="Cambria" pitchFamily="34" charset="-120"/>
              </a:rPr>
              <a:t>Simulation population</a:t>
            </a:r>
            <a:endParaRPr lang="en-US" sz="1900" dirty="0"/>
          </a:p>
        </p:txBody>
      </p:sp>
      <p:sp>
        <p:nvSpPr>
          <p:cNvPr id="7" name="Text 4"/>
          <p:cNvSpPr txBox="1"/>
          <p:nvPr/>
        </p:nvSpPr>
        <p:spPr>
          <a:xfrm>
            <a:off x="1691640" y="2240280"/>
            <a:ext cx="4114800" cy="13258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Features on real-world scales (income, age, binary indicators, counts), correlated. Public standardization constants; committed 99.5% bounds; R</a:t>
            </a:r>
            <a:r>
              <a:rPr lang="en-US" sz="1400" baseline="30000" dirty="0">
                <a:solidFill>
                  <a:srgbClr val="1F2937"/>
                </a:solidFill>
                <a:latin typeface="Calibri" pitchFamily="34" charset="0"/>
                <a:ea typeface="Calibri" pitchFamily="34" charset="-122"/>
                <a:cs typeface="Calibri" pitchFamily="34" charset="-120"/>
              </a:rPr>
              <a:t>2</a:t>
            </a:r>
            <a:r>
              <a:rPr lang="en-US" sz="1400" dirty="0">
                <a:solidFill>
                  <a:srgbClr val="1F2937"/>
                </a:solidFill>
                <a:latin typeface="Calibri" pitchFamily="34" charset="0"/>
                <a:ea typeface="Calibri" pitchFamily="34" charset="-122"/>
                <a:cs typeface="Calibri" pitchFamily="34" charset="-120"/>
              </a:rPr>
              <a:t> ∈ {0.3, 0.5, 0.9}.</a:t>
            </a:r>
            <a:endParaRPr lang="en-US" sz="1400" dirty="0"/>
          </a:p>
        </p:txBody>
      </p:sp>
      <p:sp>
        <p:nvSpPr>
          <p:cNvPr id="8" name="Shape 5"/>
          <p:cNvSpPr/>
          <p:nvPr/>
        </p:nvSpPr>
        <p:spPr>
          <a:xfrm>
            <a:off x="6172200" y="1417320"/>
            <a:ext cx="5440680" cy="2194560"/>
          </a:xfrm>
          <a:prstGeom prst="roundRect">
            <a:avLst>
              <a:gd name="adj" fmla="val 3333"/>
            </a:avLst>
          </a:prstGeom>
          <a:solidFill>
            <a:srgbClr val="EEF2F7"/>
          </a:solidFill>
          <a:ln w="12700">
            <a:solidFill>
              <a:srgbClr val="EEF2F7"/>
            </a:solidFill>
            <a:prstDash val="solid"/>
          </a:ln>
        </p:spPr>
      </p:sp>
      <p:sp>
        <p:nvSpPr>
          <p:cNvPr id="9" name="Shape 6"/>
          <p:cNvSpPr/>
          <p:nvPr/>
        </p:nvSpPr>
        <p:spPr>
          <a:xfrm>
            <a:off x="6446520" y="1691640"/>
            <a:ext cx="685800" cy="685800"/>
          </a:xfrm>
          <a:prstGeom prst="ellipse">
            <a:avLst/>
          </a:prstGeom>
          <a:solidFill>
            <a:srgbClr val="3D5A80"/>
          </a:solidFill>
          <a:ln w="12700">
            <a:solidFill>
              <a:srgbClr val="3D5A80"/>
            </a:solidFill>
            <a:prstDash val="solid"/>
          </a:ln>
        </p:spPr>
      </p:sp>
      <p:pic>
        <p:nvPicPr>
          <p:cNvPr id="10" name="Image 1" descr="preencoded.png">    </p:cNvPr>
          <p:cNvPicPr>
            <a:picLocks noChangeAspect="1"/>
          </p:cNvPicPr>
          <p:nvPr/>
        </p:nvPicPr>
        <p:blipFill>
          <a:blip r:embed="rId2"/>
          <a:stretch>
            <a:fillRect/>
          </a:stretch>
        </p:blipFill>
        <p:spPr>
          <a:xfrm>
            <a:off x="6611112" y="1856232"/>
            <a:ext cx="356616" cy="356616"/>
          </a:xfrm>
          <a:prstGeom prst="rect">
            <a:avLst/>
          </a:prstGeom>
        </p:spPr>
      </p:pic>
      <p:sp>
        <p:nvSpPr>
          <p:cNvPr id="11" name="Text 7"/>
          <p:cNvSpPr txBox="1"/>
          <p:nvPr/>
        </p:nvSpPr>
        <p:spPr>
          <a:xfrm>
            <a:off x="7315200" y="1764792"/>
            <a:ext cx="4114800" cy="411480"/>
          </a:xfrm>
          <a:prstGeom prst="rect">
            <a:avLst/>
          </a:prstGeom>
          <a:noFill/>
          <a:ln/>
        </p:spPr>
        <p:txBody>
          <a:bodyPr wrap="square" lIns="0" tIns="0" rIns="0" bIns="0" rtlCol="0" anchor="t"/>
          <a:lstStyle/>
          <a:p>
            <a:pPr indent="0" marL="0">
              <a:buNone/>
            </a:pPr>
            <a:r>
              <a:rPr lang="en-US" sz="1900" b="1" dirty="0">
                <a:solidFill>
                  <a:srgbClr val="14213D"/>
                </a:solidFill>
                <a:latin typeface="Cambria" pitchFamily="34" charset="0"/>
                <a:ea typeface="Cambria" pitchFamily="34" charset="-122"/>
                <a:cs typeface="Cambria" pitchFamily="34" charset="-120"/>
              </a:rPr>
              <a:t>Monte Carlo</a:t>
            </a:r>
            <a:endParaRPr lang="en-US" sz="1900" dirty="0"/>
          </a:p>
        </p:txBody>
      </p:sp>
      <p:sp>
        <p:nvSpPr>
          <p:cNvPr id="12" name="Text 8"/>
          <p:cNvSpPr txBox="1"/>
          <p:nvPr/>
        </p:nvSpPr>
        <p:spPr>
          <a:xfrm>
            <a:off x="7315200" y="2240280"/>
            <a:ext cx="4114800" cy="13258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n from 100 to 100k matched records; ε ∈ {0.5, 1, 2, 4, 8}, δ = 10</a:t>
            </a:r>
            <a:r>
              <a:rPr lang="en-US" sz="1400" baseline="30000" dirty="0">
                <a:solidFill>
                  <a:srgbClr val="1F2937"/>
                </a:solidFill>
                <a:latin typeface="Calibri" pitchFamily="34" charset="0"/>
                <a:ea typeface="Calibri" pitchFamily="34" charset="-122"/>
                <a:cs typeface="Calibri" pitchFamily="34" charset="-120"/>
              </a:rPr>
              <a:t>−5</a:t>
            </a:r>
            <a:r>
              <a:rPr lang="en-US" sz="1400" dirty="0">
                <a:solidFill>
                  <a:srgbClr val="1F2937"/>
                </a:solidFill>
                <a:latin typeface="Calibri" pitchFamily="34" charset="0"/>
                <a:ea typeface="Calibri" pitchFamily="34" charset="-122"/>
                <a:cs typeface="Calibri" pitchFamily="34" charset="-120"/>
              </a:rPr>
              <a:t>; 200 replicates, each with new data and a new DP release.</a:t>
            </a:r>
            <a:endParaRPr lang="en-US" sz="1400" dirty="0"/>
          </a:p>
        </p:txBody>
      </p:sp>
      <p:sp>
        <p:nvSpPr>
          <p:cNvPr id="13" name="Shape 9"/>
          <p:cNvSpPr/>
          <p:nvPr/>
        </p:nvSpPr>
        <p:spPr>
          <a:xfrm>
            <a:off x="548640" y="3840480"/>
            <a:ext cx="5440680" cy="2194560"/>
          </a:xfrm>
          <a:prstGeom prst="roundRect">
            <a:avLst>
              <a:gd name="adj" fmla="val 3333"/>
            </a:avLst>
          </a:prstGeom>
          <a:solidFill>
            <a:srgbClr val="EEF2F7"/>
          </a:solidFill>
          <a:ln w="12700">
            <a:solidFill>
              <a:srgbClr val="EEF2F7"/>
            </a:solidFill>
            <a:prstDash val="solid"/>
          </a:ln>
        </p:spPr>
      </p:sp>
      <p:sp>
        <p:nvSpPr>
          <p:cNvPr id="14" name="Shape 10"/>
          <p:cNvSpPr/>
          <p:nvPr/>
        </p:nvSpPr>
        <p:spPr>
          <a:xfrm>
            <a:off x="822960" y="4114800"/>
            <a:ext cx="685800" cy="685800"/>
          </a:xfrm>
          <a:prstGeom prst="ellipse">
            <a:avLst/>
          </a:prstGeom>
          <a:solidFill>
            <a:srgbClr val="3D5A80"/>
          </a:solidFill>
          <a:ln w="12700">
            <a:solidFill>
              <a:srgbClr val="3D5A80"/>
            </a:solidFill>
            <a:prstDash val="solid"/>
          </a:ln>
        </p:spPr>
      </p:sp>
      <p:pic>
        <p:nvPicPr>
          <p:cNvPr id="15" name="Image 2" descr="preencoded.png">    </p:cNvPr>
          <p:cNvPicPr>
            <a:picLocks noChangeAspect="1"/>
          </p:cNvPicPr>
          <p:nvPr/>
        </p:nvPicPr>
        <p:blipFill>
          <a:blip r:embed="rId3"/>
          <a:stretch>
            <a:fillRect/>
          </a:stretch>
        </p:blipFill>
        <p:spPr>
          <a:xfrm>
            <a:off x="987552" y="4279392"/>
            <a:ext cx="356616" cy="356616"/>
          </a:xfrm>
          <a:prstGeom prst="rect">
            <a:avLst/>
          </a:prstGeom>
        </p:spPr>
      </p:pic>
      <p:sp>
        <p:nvSpPr>
          <p:cNvPr id="16" name="Text 11"/>
          <p:cNvSpPr txBox="1"/>
          <p:nvPr/>
        </p:nvSpPr>
        <p:spPr>
          <a:xfrm>
            <a:off x="1691640" y="4187952"/>
            <a:ext cx="4114800" cy="411480"/>
          </a:xfrm>
          <a:prstGeom prst="rect">
            <a:avLst/>
          </a:prstGeom>
          <a:noFill/>
          <a:ln/>
        </p:spPr>
        <p:txBody>
          <a:bodyPr wrap="square" lIns="0" tIns="0" rIns="0" bIns="0" rtlCol="0" anchor="t"/>
          <a:lstStyle/>
          <a:p>
            <a:pPr indent="0" marL="0">
              <a:buNone/>
            </a:pPr>
            <a:r>
              <a:rPr lang="en-US" sz="1900" b="1" dirty="0">
                <a:solidFill>
                  <a:srgbClr val="14213D"/>
                </a:solidFill>
                <a:latin typeface="Cambria" pitchFamily="34" charset="0"/>
                <a:ea typeface="Cambria" pitchFamily="34" charset="-122"/>
                <a:cs typeface="Cambria" pitchFamily="34" charset="-120"/>
              </a:rPr>
              <a:t>Metrics</a:t>
            </a:r>
            <a:endParaRPr lang="en-US" sz="1900" dirty="0"/>
          </a:p>
        </p:txBody>
      </p:sp>
      <p:sp>
        <p:nvSpPr>
          <p:cNvPr id="17" name="Text 12"/>
          <p:cNvSpPr txBox="1"/>
          <p:nvPr/>
        </p:nvSpPr>
        <p:spPr>
          <a:xfrm>
            <a:off x="1691640" y="4663440"/>
            <a:ext cx="4114800" cy="13258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RMSE against the true β (standardized); per-coefficient efficiency ratio; interval coverage; MSE ratio corrected/uncorrected.</a:t>
            </a:r>
            <a:endParaRPr lang="en-US" sz="1400" dirty="0"/>
          </a:p>
        </p:txBody>
      </p:sp>
      <p:sp>
        <p:nvSpPr>
          <p:cNvPr id="18" name="Shape 13"/>
          <p:cNvSpPr/>
          <p:nvPr/>
        </p:nvSpPr>
        <p:spPr>
          <a:xfrm>
            <a:off x="6172200" y="3840480"/>
            <a:ext cx="5440680" cy="2194560"/>
          </a:xfrm>
          <a:prstGeom prst="roundRect">
            <a:avLst>
              <a:gd name="adj" fmla="val 3333"/>
            </a:avLst>
          </a:prstGeom>
          <a:solidFill>
            <a:srgbClr val="EEF2F7"/>
          </a:solidFill>
          <a:ln w="12700">
            <a:solidFill>
              <a:srgbClr val="EEF2F7"/>
            </a:solidFill>
            <a:prstDash val="solid"/>
          </a:ln>
        </p:spPr>
      </p:sp>
      <p:sp>
        <p:nvSpPr>
          <p:cNvPr id="19" name="Shape 14"/>
          <p:cNvSpPr/>
          <p:nvPr/>
        </p:nvSpPr>
        <p:spPr>
          <a:xfrm>
            <a:off x="6446520" y="4114800"/>
            <a:ext cx="685800" cy="685800"/>
          </a:xfrm>
          <a:prstGeom prst="ellipse">
            <a:avLst/>
          </a:prstGeom>
          <a:solidFill>
            <a:srgbClr val="C45A0C"/>
          </a:solidFill>
          <a:ln w="12700">
            <a:solidFill>
              <a:srgbClr val="C45A0C"/>
            </a:solidFill>
            <a:prstDash val="solid"/>
          </a:ln>
        </p:spPr>
      </p:sp>
      <p:pic>
        <p:nvPicPr>
          <p:cNvPr id="20" name="Image 3" descr="preencoded.png">    </p:cNvPr>
          <p:cNvPicPr>
            <a:picLocks noChangeAspect="1"/>
          </p:cNvPicPr>
          <p:nvPr/>
        </p:nvPicPr>
        <p:blipFill>
          <a:blip r:embed="rId4"/>
          <a:stretch>
            <a:fillRect/>
          </a:stretch>
        </p:blipFill>
        <p:spPr>
          <a:xfrm>
            <a:off x="6611112" y="4279392"/>
            <a:ext cx="356616" cy="356616"/>
          </a:xfrm>
          <a:prstGeom prst="rect">
            <a:avLst/>
          </a:prstGeom>
        </p:spPr>
      </p:pic>
      <p:sp>
        <p:nvSpPr>
          <p:cNvPr id="21" name="Text 15"/>
          <p:cNvSpPr txBox="1"/>
          <p:nvPr/>
        </p:nvSpPr>
        <p:spPr>
          <a:xfrm>
            <a:off x="7315200" y="4187952"/>
            <a:ext cx="4114800" cy="411480"/>
          </a:xfrm>
          <a:prstGeom prst="rect">
            <a:avLst/>
          </a:prstGeom>
          <a:noFill/>
          <a:ln/>
        </p:spPr>
        <p:txBody>
          <a:bodyPr wrap="square" lIns="0" tIns="0" rIns="0" bIns="0" rtlCol="0" anchor="t"/>
          <a:lstStyle/>
          <a:p>
            <a:pPr indent="0" marL="0">
              <a:buNone/>
            </a:pPr>
            <a:r>
              <a:rPr lang="en-US" sz="1900" b="1" dirty="0">
                <a:solidFill>
                  <a:srgbClr val="14213D"/>
                </a:solidFill>
                <a:latin typeface="Cambria" pitchFamily="34" charset="0"/>
                <a:ea typeface="Cambria" pitchFamily="34" charset="-122"/>
                <a:cs typeface="Cambria" pitchFamily="34" charset="-120"/>
              </a:rPr>
              <a:t>Benchmark</a:t>
            </a:r>
            <a:endParaRPr lang="en-US" sz="1900" dirty="0"/>
          </a:p>
        </p:txBody>
      </p:sp>
      <p:sp>
        <p:nvSpPr>
          <p:cNvPr id="22" name="Text 16"/>
          <p:cNvSpPr txBox="1"/>
          <p:nvPr/>
        </p:nvSpPr>
        <p:spPr>
          <a:xfrm>
            <a:off x="7315200" y="4663440"/>
            <a:ext cx="4114800" cy="13258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29 UCI datasets from Wang's published run, with his preprocessing; AdaSSP as published and under our guarantee; 10-fold test MSE.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22960" y="2331720"/>
            <a:ext cx="1188720" cy="1188720"/>
          </a:xfrm>
          <a:prstGeom prst="ellipse">
            <a:avLst/>
          </a:prstGeom>
          <a:solidFill>
            <a:srgbClr val="C45A0C"/>
          </a:solidFill>
          <a:ln w="12700">
            <a:solidFill>
              <a:srgbClr val="C45A0C"/>
            </a:solidFill>
            <a:prstDash val="solid"/>
          </a:ln>
        </p:spPr>
      </p:sp>
      <p:sp>
        <p:nvSpPr>
          <p:cNvPr id="3" name="Text 1"/>
          <p:cNvSpPr txBox="1"/>
          <p:nvPr/>
        </p:nvSpPr>
        <p:spPr>
          <a:xfrm>
            <a:off x="822960" y="2331720"/>
            <a:ext cx="1188720" cy="118872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4</a:t>
            </a:r>
            <a:endParaRPr lang="en-US" sz="3600" dirty="0"/>
          </a:p>
        </p:txBody>
      </p:sp>
      <p:sp>
        <p:nvSpPr>
          <p:cNvPr id="4" name="Text 2"/>
          <p:cNvSpPr txBox="1"/>
          <p:nvPr/>
        </p:nvSpPr>
        <p:spPr>
          <a:xfrm>
            <a:off x="2377440" y="2240280"/>
            <a:ext cx="86868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Results</a:t>
            </a:r>
            <a:endParaRPr lang="en-US" sz="4000" dirty="0"/>
          </a:p>
        </p:txBody>
      </p:sp>
      <p:sp>
        <p:nvSpPr>
          <p:cNvPr id="5" name="Text 3"/>
          <p:cNvSpPr txBox="1"/>
          <p:nvPr/>
        </p:nvSpPr>
        <p:spPr>
          <a:xfrm>
            <a:off x="2377440" y="3063240"/>
            <a:ext cx="8686800" cy="548640"/>
          </a:xfrm>
          <a:prstGeom prst="rect">
            <a:avLst/>
          </a:prstGeom>
          <a:noFill/>
          <a:ln/>
        </p:spPr>
        <p:txBody>
          <a:bodyPr wrap="square" lIns="0" tIns="0" rIns="0" bIns="0" rtlCol="0" anchor="ctr"/>
          <a:lstStyle/>
          <a:p>
            <a:pPr indent="0" marL="0">
              <a:buNone/>
            </a:pPr>
            <a:r>
              <a:rPr lang="en-US" sz="1800" dirty="0">
                <a:solidFill>
                  <a:srgbClr val="CAD5E6"/>
                </a:solidFill>
                <a:latin typeface="Calibri" pitchFamily="34" charset="0"/>
                <a:ea typeface="Calibri" pitchFamily="34" charset="-122"/>
                <a:cs typeface="Calibri" pitchFamily="34" charset="-120"/>
              </a:rPr>
              <a:t>Measured with the v2 release; what is still to run</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cryptographic layer is exact</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Draft protocol, run end-to-end over sockets with plaintext and real OpenFHE backends</a:t>
            </a:r>
            <a:endParaRPr lang="en-US" sz="1600" dirty="0"/>
          </a:p>
        </p:txBody>
      </p:sp>
      <p:sp>
        <p:nvSpPr>
          <p:cNvPr id="4" name="Shape 2"/>
          <p:cNvSpPr/>
          <p:nvPr/>
        </p:nvSpPr>
        <p:spPr>
          <a:xfrm>
            <a:off x="548640" y="1600200"/>
            <a:ext cx="3566160" cy="2240280"/>
          </a:xfrm>
          <a:prstGeom prst="roundRect">
            <a:avLst>
              <a:gd name="adj" fmla="val 3265"/>
            </a:avLst>
          </a:prstGeom>
          <a:solidFill>
            <a:srgbClr val="EEF2F7"/>
          </a:solidFill>
          <a:ln w="12700">
            <a:solidFill>
              <a:srgbClr val="EEF2F7"/>
            </a:solidFill>
            <a:prstDash val="solid"/>
          </a:ln>
        </p:spPr>
      </p:sp>
      <p:sp>
        <p:nvSpPr>
          <p:cNvPr id="5" name="Text 3"/>
          <p:cNvSpPr txBox="1"/>
          <p:nvPr/>
        </p:nvSpPr>
        <p:spPr>
          <a:xfrm>
            <a:off x="822960" y="1737360"/>
            <a:ext cx="3108960" cy="777240"/>
          </a:xfrm>
          <a:prstGeom prst="rect">
            <a:avLst/>
          </a:prstGeom>
          <a:noFill/>
          <a:ln/>
        </p:spPr>
        <p:txBody>
          <a:bodyPr wrap="square" lIns="0" tIns="0" rIns="0" bIns="0" rtlCol="0" anchor="t"/>
          <a:lstStyle/>
          <a:p>
            <a:pPr indent="0" marL="0">
              <a:buNone/>
            </a:pPr>
            <a:r>
              <a:rPr lang="en-US" sz="3800" b="1" dirty="0">
                <a:solidFill>
                  <a:srgbClr val="14213D"/>
                </a:solidFill>
                <a:latin typeface="Cambria" pitchFamily="34" charset="0"/>
                <a:ea typeface="Cambria" pitchFamily="34" charset="-122"/>
                <a:cs typeface="Cambria" pitchFamily="34" charset="-120"/>
              </a:rPr>
              <a:t>0</a:t>
            </a:r>
            <a:endParaRPr lang="en-US" sz="3800" dirty="0"/>
          </a:p>
        </p:txBody>
      </p:sp>
      <p:sp>
        <p:nvSpPr>
          <p:cNvPr id="6" name="Text 4"/>
          <p:cNvSpPr txBox="1"/>
          <p:nvPr/>
        </p:nvSpPr>
        <p:spPr>
          <a:xfrm>
            <a:off x="822960" y="2542032"/>
            <a:ext cx="3108960" cy="365760"/>
          </a:xfrm>
          <a:prstGeom prst="rect">
            <a:avLst/>
          </a:prstGeom>
          <a:noFill/>
          <a:ln/>
        </p:spPr>
        <p:txBody>
          <a:bodyPr wrap="square" lIns="0" tIns="0" rIns="0" bIns="0" rtlCol="0" anchor="t"/>
          <a:lstStyle/>
          <a:p>
            <a:pPr indent="0" marL="0">
              <a:buNone/>
            </a:pPr>
            <a:r>
              <a:rPr lang="en-US" sz="1500" b="1" dirty="0">
                <a:solidFill>
                  <a:srgbClr val="3D5A80"/>
                </a:solidFill>
                <a:latin typeface="Calibri" pitchFamily="34" charset="0"/>
                <a:ea typeface="Calibri" pitchFamily="34" charset="-122"/>
                <a:cs typeface="Calibri" pitchFamily="34" charset="-120"/>
              </a:rPr>
              <a:t>misaligned rows</a:t>
            </a:r>
            <a:endParaRPr lang="en-US" sz="1500" dirty="0"/>
          </a:p>
        </p:txBody>
      </p:sp>
      <p:sp>
        <p:nvSpPr>
          <p:cNvPr id="7" name="Text 5"/>
          <p:cNvSpPr txBox="1"/>
          <p:nvPr/>
        </p:nvSpPr>
        <p:spPr>
          <a:xfrm>
            <a:off x="822960" y="2926080"/>
            <a:ext cx="3063240" cy="82296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PSI recovered exactly the true match set in all 6 cohorts, plaintext and OpenFHE</a:t>
            </a:r>
            <a:endParaRPr lang="en-US" sz="1300" dirty="0"/>
          </a:p>
        </p:txBody>
      </p:sp>
      <p:sp>
        <p:nvSpPr>
          <p:cNvPr id="8" name="Shape 6"/>
          <p:cNvSpPr/>
          <p:nvPr/>
        </p:nvSpPr>
        <p:spPr>
          <a:xfrm>
            <a:off x="4343400" y="1600200"/>
            <a:ext cx="3566160" cy="2240280"/>
          </a:xfrm>
          <a:prstGeom prst="roundRect">
            <a:avLst>
              <a:gd name="adj" fmla="val 3265"/>
            </a:avLst>
          </a:prstGeom>
          <a:solidFill>
            <a:srgbClr val="EEF2F7"/>
          </a:solidFill>
          <a:ln w="12700">
            <a:solidFill>
              <a:srgbClr val="EEF2F7"/>
            </a:solidFill>
            <a:prstDash val="solid"/>
          </a:ln>
        </p:spPr>
      </p:sp>
      <p:sp>
        <p:nvSpPr>
          <p:cNvPr id="9" name="Text 7"/>
          <p:cNvSpPr txBox="1"/>
          <p:nvPr/>
        </p:nvSpPr>
        <p:spPr>
          <a:xfrm>
            <a:off x="4617720" y="1737360"/>
            <a:ext cx="3108960" cy="777240"/>
          </a:xfrm>
          <a:prstGeom prst="rect">
            <a:avLst/>
          </a:prstGeom>
          <a:noFill/>
          <a:ln/>
        </p:spPr>
        <p:txBody>
          <a:bodyPr wrap="square" lIns="0" tIns="0" rIns="0" bIns="0" rtlCol="0" anchor="t"/>
          <a:lstStyle/>
          <a:p>
            <a:pPr indent="0" marL="0">
              <a:buNone/>
            </a:pPr>
            <a:r>
              <a:rPr lang="en-US" sz="3800" b="1" dirty="0">
                <a:solidFill>
                  <a:srgbClr val="C45A0C"/>
                </a:solidFill>
                <a:latin typeface="Cambria" pitchFamily="34" charset="0"/>
                <a:ea typeface="Cambria" pitchFamily="34" charset="-122"/>
                <a:cs typeface="Cambria" pitchFamily="34" charset="-120"/>
              </a:rPr>
              <a:t>≈10</a:t>
            </a:r>
            <a:r>
              <a:rPr lang="en-US" sz="3800" b="1" baseline="30000" dirty="0">
                <a:solidFill>
                  <a:srgbClr val="C45A0C"/>
                </a:solidFill>
                <a:latin typeface="Cambria" pitchFamily="34" charset="0"/>
                <a:ea typeface="Cambria" pitchFamily="34" charset="-122"/>
                <a:cs typeface="Cambria" pitchFamily="34" charset="-120"/>
              </a:rPr>
              <a:t>−10</a:t>
            </a:r>
            <a:endParaRPr lang="en-US" sz="3800" dirty="0"/>
          </a:p>
        </p:txBody>
      </p:sp>
      <p:sp>
        <p:nvSpPr>
          <p:cNvPr id="10" name="Text 8"/>
          <p:cNvSpPr txBox="1"/>
          <p:nvPr/>
        </p:nvSpPr>
        <p:spPr>
          <a:xfrm>
            <a:off x="4617720" y="2542032"/>
            <a:ext cx="3108960" cy="365760"/>
          </a:xfrm>
          <a:prstGeom prst="rect">
            <a:avLst/>
          </a:prstGeom>
          <a:noFill/>
          <a:ln/>
        </p:spPr>
        <p:txBody>
          <a:bodyPr wrap="square" lIns="0" tIns="0" rIns="0" bIns="0" rtlCol="0" anchor="t"/>
          <a:lstStyle/>
          <a:p>
            <a:pPr indent="0" marL="0">
              <a:buNone/>
            </a:pPr>
            <a:r>
              <a:rPr lang="en-US" sz="1500" b="1" dirty="0">
                <a:solidFill>
                  <a:srgbClr val="3D5A80"/>
                </a:solidFill>
                <a:latin typeface="Calibri" pitchFamily="34" charset="0"/>
                <a:ea typeface="Calibri" pitchFamily="34" charset="-122"/>
                <a:cs typeface="Calibri" pitchFamily="34" charset="-120"/>
              </a:rPr>
              <a:t>max |β − plaintext answer|</a:t>
            </a:r>
            <a:endParaRPr lang="en-US" sz="1500" dirty="0"/>
          </a:p>
        </p:txBody>
      </p:sp>
      <p:sp>
        <p:nvSpPr>
          <p:cNvPr id="11" name="Text 9"/>
          <p:cNvSpPr txBox="1"/>
          <p:nvPr/>
        </p:nvSpPr>
        <p:spPr>
          <a:xfrm>
            <a:off x="4617720" y="2926080"/>
            <a:ext cx="3063240" cy="82296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noise off, against the plaintext ridge target at the same λ (10</a:t>
            </a:r>
            <a:r>
              <a:rPr lang="en-US" sz="1300" baseline="30000" dirty="0">
                <a:solidFill>
                  <a:srgbClr val="5B6576"/>
                </a:solidFill>
                <a:latin typeface="Calibri" pitchFamily="34" charset="0"/>
                <a:ea typeface="Calibri" pitchFamily="34" charset="-122"/>
                <a:cs typeface="Calibri" pitchFamily="34" charset="-120"/>
              </a:rPr>
              <a:t>−3</a:t>
            </a:r>
            <a:r>
              <a:rPr lang="en-US" sz="1300" dirty="0">
                <a:solidFill>
                  <a:srgbClr val="5B6576"/>
                </a:solidFill>
                <a:latin typeface="Calibri" pitchFamily="34" charset="0"/>
                <a:ea typeface="Calibri" pitchFamily="34" charset="-122"/>
                <a:cs typeface="Calibri" pitchFamily="34" charset="-120"/>
              </a:rPr>
              <a:t>): encryption adds no error</a:t>
            </a:r>
            <a:endParaRPr lang="en-US" sz="1300" dirty="0"/>
          </a:p>
        </p:txBody>
      </p:sp>
      <p:sp>
        <p:nvSpPr>
          <p:cNvPr id="12" name="Shape 10"/>
          <p:cNvSpPr/>
          <p:nvPr/>
        </p:nvSpPr>
        <p:spPr>
          <a:xfrm>
            <a:off x="8138160" y="1600200"/>
            <a:ext cx="3566160" cy="2240280"/>
          </a:xfrm>
          <a:prstGeom prst="roundRect">
            <a:avLst>
              <a:gd name="adj" fmla="val 3265"/>
            </a:avLst>
          </a:prstGeom>
          <a:solidFill>
            <a:srgbClr val="EEF2F7"/>
          </a:solidFill>
          <a:ln w="12700">
            <a:solidFill>
              <a:srgbClr val="EEF2F7"/>
            </a:solidFill>
            <a:prstDash val="solid"/>
          </a:ln>
        </p:spPr>
      </p:sp>
      <p:sp>
        <p:nvSpPr>
          <p:cNvPr id="13" name="Text 11"/>
          <p:cNvSpPr txBox="1"/>
          <p:nvPr/>
        </p:nvSpPr>
        <p:spPr>
          <a:xfrm>
            <a:off x="8412480" y="1737360"/>
            <a:ext cx="3108960" cy="777240"/>
          </a:xfrm>
          <a:prstGeom prst="rect">
            <a:avLst/>
          </a:prstGeom>
          <a:noFill/>
          <a:ln/>
        </p:spPr>
        <p:txBody>
          <a:bodyPr wrap="square" lIns="0" tIns="0" rIns="0" bIns="0" rtlCol="0" anchor="t"/>
          <a:lstStyle/>
          <a:p>
            <a:pPr indent="0" marL="0">
              <a:buNone/>
            </a:pPr>
            <a:r>
              <a:rPr lang="en-US" sz="3800" b="1" dirty="0">
                <a:solidFill>
                  <a:srgbClr val="14213D"/>
                </a:solidFill>
                <a:latin typeface="Cambria" pitchFamily="34" charset="0"/>
                <a:ea typeface="Cambria" pitchFamily="34" charset="-122"/>
                <a:cs typeface="Cambria" pitchFamily="34" charset="-120"/>
              </a:rPr>
              <a:t>≈13 s</a:t>
            </a:r>
            <a:endParaRPr lang="en-US" sz="3800" dirty="0"/>
          </a:p>
        </p:txBody>
      </p:sp>
      <p:sp>
        <p:nvSpPr>
          <p:cNvPr id="14" name="Text 12"/>
          <p:cNvSpPr txBox="1"/>
          <p:nvPr/>
        </p:nvSpPr>
        <p:spPr>
          <a:xfrm>
            <a:off x="8412480" y="2542032"/>
            <a:ext cx="3108960" cy="365760"/>
          </a:xfrm>
          <a:prstGeom prst="rect">
            <a:avLst/>
          </a:prstGeom>
          <a:noFill/>
          <a:ln/>
        </p:spPr>
        <p:txBody>
          <a:bodyPr wrap="square" lIns="0" tIns="0" rIns="0" bIns="0" rtlCol="0" anchor="t"/>
          <a:lstStyle/>
          <a:p>
            <a:pPr indent="0" marL="0">
              <a:buNone/>
            </a:pPr>
            <a:r>
              <a:rPr lang="en-US" sz="1500" b="1" dirty="0">
                <a:solidFill>
                  <a:srgbClr val="3D5A80"/>
                </a:solidFill>
                <a:latin typeface="Calibri" pitchFamily="34" charset="0"/>
                <a:ea typeface="Calibri" pitchFamily="34" charset="-122"/>
                <a:cs typeface="Calibri" pitchFamily="34" charset="-120"/>
              </a:rPr>
              <a:t>end-to-end on OpenFHE</a:t>
            </a:r>
            <a:endParaRPr lang="en-US" sz="1500" dirty="0"/>
          </a:p>
        </p:txBody>
      </p:sp>
      <p:sp>
        <p:nvSpPr>
          <p:cNvPr id="15" name="Text 13"/>
          <p:cNvSpPr txBox="1"/>
          <p:nvPr/>
        </p:nvSpPr>
        <p:spPr>
          <a:xfrm>
            <a:off x="8412480" y="2926080"/>
            <a:ext cx="3063240" cy="82296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n = 400 matched out of n</a:t>
            </a:r>
            <a:r>
              <a:rPr lang="en-US" sz="1300" baseline="-25000" dirty="0">
                <a:solidFill>
                  <a:srgbClr val="5B6576"/>
                </a:solidFill>
                <a:latin typeface="Calibri" pitchFamily="34" charset="0"/>
                <a:ea typeface="Calibri" pitchFamily="34" charset="-122"/>
                <a:cs typeface="Calibri" pitchFamily="34" charset="-120"/>
              </a:rPr>
              <a:t>O</a:t>
            </a:r>
            <a:r>
              <a:rPr lang="en-US" sz="1300" dirty="0">
                <a:solidFill>
                  <a:srgbClr val="5B6576"/>
                </a:solidFill>
                <a:latin typeface="Calibri" pitchFamily="34" charset="0"/>
                <a:ea typeface="Calibri" pitchFamily="34" charset="-122"/>
                <a:cs typeface="Calibri" pitchFamily="34" charset="-120"/>
              </a:rPr>
              <a:t> = 4,000 records (OpenFHE 1.5.1)</a:t>
            </a:r>
            <a:endParaRPr lang="en-US" sz="1300" dirty="0"/>
          </a:p>
        </p:txBody>
      </p:sp>
      <p:sp>
        <p:nvSpPr>
          <p:cNvPr id="16" name="Text 14"/>
          <p:cNvSpPr txBox="1"/>
          <p:nvPr/>
        </p:nvSpPr>
        <p:spPr>
          <a:xfrm>
            <a:off x="548640" y="4114800"/>
            <a:ext cx="7315200" cy="41148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Cost of protocol v3.1 in OpenFHE</a:t>
            </a:r>
            <a:endParaRPr lang="en-US" sz="1800" dirty="0"/>
          </a:p>
        </p:txBody>
      </p:sp>
      <p:sp>
        <p:nvSpPr>
          <p:cNvPr id="17" name="Shape 15"/>
          <p:cNvSpPr/>
          <p:nvPr/>
        </p:nvSpPr>
        <p:spPr>
          <a:xfrm>
            <a:off x="10058400" y="4160520"/>
            <a:ext cx="1554480" cy="292608"/>
          </a:xfrm>
          <a:prstGeom prst="roundRect">
            <a:avLst>
              <a:gd name="adj" fmla="val 25000"/>
            </a:avLst>
          </a:prstGeom>
          <a:solidFill>
            <a:srgbClr val="3D5A80"/>
          </a:solidFill>
          <a:ln w="12700">
            <a:solidFill>
              <a:srgbClr val="3D5A80"/>
            </a:solidFill>
            <a:prstDash val="solid"/>
          </a:ln>
        </p:spPr>
      </p:sp>
      <p:sp>
        <p:nvSpPr>
          <p:cNvPr id="18" name="Text 16"/>
          <p:cNvSpPr txBox="1"/>
          <p:nvPr/>
        </p:nvSpPr>
        <p:spPr>
          <a:xfrm>
            <a:off x="10058400" y="4160520"/>
            <a:ext cx="15544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 be run</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4617720"/>
          <a:ext cx="9144000" cy="914400"/>
        </p:xfrm>
        <a:graphic>
          <a:graphicData uri="http://schemas.openxmlformats.org/drawingml/2006/table">
            <a:tbl>
              <a:tblPr/>
              <a:tblGrid>
                <a:gridCol w="2103120"/>
                <a:gridCol w="731520"/>
                <a:gridCol w="1737360"/>
                <a:gridCol w="2194560"/>
                <a:gridCol w="1828800"/>
                <a:gridCol w="246888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Register size n</a:t>
                      </a:r>
                      <a:r>
                        <a:rPr lang="en-US" sz="1250" b="1" baseline="-25000" dirty="0">
                          <a:solidFill>
                            <a:srgbClr val="FFFFFF"/>
                          </a:solidFill>
                          <a:latin typeface="Calibri" pitchFamily="34" charset="0"/>
                          <a:ea typeface="Calibri" pitchFamily="34" charset="-122"/>
                          <a:cs typeface="Calibri" pitchFamily="34" charset="-120"/>
                        </a:rPr>
                        <a:t>O</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PSI time (s)</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Aggregation time (s)</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Traffic (MB)</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Release overhead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310896">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4,000</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i="1" dirty="0">
                          <a:solidFill>
                            <a:srgbClr val="9AA5B4"/>
                          </a:solidFill>
                          <a:latin typeface="Calibri" pitchFamily="34" charset="0"/>
                          <a:ea typeface="Calibri" pitchFamily="34" charset="-122"/>
                          <a:cs typeface="Calibri" pitchFamily="34" charset="-120"/>
                        </a:rPr>
                        <a:t>tbd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i="1" dirty="0">
                          <a:solidFill>
                            <a:srgbClr val="9AA5B4"/>
                          </a:solidFill>
                          <a:latin typeface="Calibri" pitchFamily="34" charset="0"/>
                          <a:ea typeface="Calibri" pitchFamily="34" charset="-122"/>
                          <a:cs typeface="Calibri" pitchFamily="34" charset="-120"/>
                        </a:rPr>
                        <a:t>tbd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i="1" dirty="0">
                          <a:solidFill>
                            <a:srgbClr val="9AA5B4"/>
                          </a:solidFill>
                          <a:latin typeface="Calibri" pitchFamily="34" charset="0"/>
                          <a:ea typeface="Calibri" pitchFamily="34" charset="-122"/>
                          <a:cs typeface="Calibri" pitchFamily="34" charset="-120"/>
                        </a:rPr>
                        <a:t>tbd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i="1" dirty="0">
                          <a:solidFill>
                            <a:srgbClr val="9AA5B4"/>
                          </a:solidFill>
                          <a:latin typeface="Calibri" pitchFamily="34" charset="0"/>
                          <a:ea typeface="Calibri" pitchFamily="34" charset="-122"/>
                          <a:cs typeface="Calibri" pitchFamily="34" charset="-120"/>
                        </a:rPr>
                        <a:t>tbd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10896">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32,000</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i="1" dirty="0">
                          <a:solidFill>
                            <a:srgbClr val="9AA5B4"/>
                          </a:solidFill>
                          <a:latin typeface="Calibri" pitchFamily="34" charset="0"/>
                          <a:ea typeface="Calibri" pitchFamily="34" charset="-122"/>
                          <a:cs typeface="Calibri" pitchFamily="34" charset="-120"/>
                        </a:rPr>
                        <a:t>tbd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i="1" dirty="0">
                          <a:solidFill>
                            <a:srgbClr val="9AA5B4"/>
                          </a:solidFill>
                          <a:latin typeface="Calibri" pitchFamily="34" charset="0"/>
                          <a:ea typeface="Calibri" pitchFamily="34" charset="-122"/>
                          <a:cs typeface="Calibri" pitchFamily="34" charset="-120"/>
                        </a:rPr>
                        <a:t>tbd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i="1" dirty="0">
                          <a:solidFill>
                            <a:srgbClr val="9AA5B4"/>
                          </a:solidFill>
                          <a:latin typeface="Calibri" pitchFamily="34" charset="0"/>
                          <a:ea typeface="Calibri" pitchFamily="34" charset="-122"/>
                          <a:cs typeface="Calibri" pitchFamily="34" charset="-120"/>
                        </a:rPr>
                        <a:t>tbd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i="1" dirty="0">
                          <a:solidFill>
                            <a:srgbClr val="9AA5B4"/>
                          </a:solidFill>
                          <a:latin typeface="Calibri" pitchFamily="34" charset="0"/>
                          <a:ea typeface="Calibri" pitchFamily="34" charset="-122"/>
                          <a:cs typeface="Calibri" pitchFamily="34" charset="-120"/>
                        </a:rPr>
                        <a:t>tbd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10896">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65,536</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i="1" dirty="0">
                          <a:solidFill>
                            <a:srgbClr val="9AA5B4"/>
                          </a:solidFill>
                          <a:latin typeface="Calibri" pitchFamily="34" charset="0"/>
                          <a:ea typeface="Calibri" pitchFamily="34" charset="-122"/>
                          <a:cs typeface="Calibri" pitchFamily="34" charset="-120"/>
                        </a:rPr>
                        <a:t>tbd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i="1" dirty="0">
                          <a:solidFill>
                            <a:srgbClr val="9AA5B4"/>
                          </a:solidFill>
                          <a:latin typeface="Calibri" pitchFamily="34" charset="0"/>
                          <a:ea typeface="Calibri" pitchFamily="34" charset="-122"/>
                          <a:cs typeface="Calibri" pitchFamily="34" charset="-120"/>
                        </a:rPr>
                        <a:t>tbd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i="1" dirty="0">
                          <a:solidFill>
                            <a:srgbClr val="9AA5B4"/>
                          </a:solidFill>
                          <a:latin typeface="Calibri" pitchFamily="34" charset="0"/>
                          <a:ea typeface="Calibri" pitchFamily="34" charset="-122"/>
                          <a:cs typeface="Calibri" pitchFamily="34" charset="-120"/>
                        </a:rPr>
                        <a:t>tbd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i="1" dirty="0">
                          <a:solidFill>
                            <a:srgbClr val="9AA5B4"/>
                          </a:solidFill>
                          <a:latin typeface="Calibri" pitchFamily="34" charset="0"/>
                          <a:ea typeface="Calibri" pitchFamily="34" charset="-122"/>
                          <a:cs typeface="Calibri" pitchFamily="34" charset="-120"/>
                        </a:rPr>
                        <a:t>tbd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10896">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10</a:t>
                      </a:r>
                      <a:r>
                        <a:rPr lang="en-US" sz="1250" baseline="30000" dirty="0">
                          <a:solidFill>
                            <a:srgbClr val="1F2937"/>
                          </a:solidFill>
                          <a:latin typeface="Calibri" pitchFamily="34" charset="0"/>
                          <a:ea typeface="Calibri" pitchFamily="34" charset="-122"/>
                          <a:cs typeface="Calibri" pitchFamily="34" charset="-120"/>
                        </a:rPr>
                        <a:t>6</a:t>
                      </a:r>
                      <a:r>
                        <a:rPr lang="en-US" sz="1250" dirty="0">
                          <a:solidFill>
                            <a:srgbClr val="1F2937"/>
                          </a:solidFill>
                          <a:latin typeface="Calibri" pitchFamily="34" charset="0"/>
                          <a:ea typeface="Calibri" pitchFamily="34" charset="-122"/>
                          <a:cs typeface="Calibri" pitchFamily="34" charset="-120"/>
                        </a:rPr>
                        <a:t> (chunked)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i="1" dirty="0">
                          <a:solidFill>
                            <a:srgbClr val="9AA5B4"/>
                          </a:solidFill>
                          <a:latin typeface="Calibri" pitchFamily="34" charset="0"/>
                          <a:ea typeface="Calibri" pitchFamily="34" charset="-122"/>
                          <a:cs typeface="Calibri" pitchFamily="34" charset="-120"/>
                        </a:rPr>
                        <a:t>tbd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i="1" dirty="0">
                          <a:solidFill>
                            <a:srgbClr val="9AA5B4"/>
                          </a:solidFill>
                          <a:latin typeface="Calibri" pitchFamily="34" charset="0"/>
                          <a:ea typeface="Calibri" pitchFamily="34" charset="-122"/>
                          <a:cs typeface="Calibri" pitchFamily="34" charset="-120"/>
                        </a:rPr>
                        <a:t>tbd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i="1" dirty="0">
                          <a:solidFill>
                            <a:srgbClr val="9AA5B4"/>
                          </a:solidFill>
                          <a:latin typeface="Calibri" pitchFamily="34" charset="0"/>
                          <a:ea typeface="Calibri" pitchFamily="34" charset="-122"/>
                          <a:cs typeface="Calibri" pitchFamily="34" charset="-120"/>
                        </a:rPr>
                        <a:t>tbd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i="1" dirty="0">
                          <a:solidFill>
                            <a:srgbClr val="9AA5B4"/>
                          </a:solidFill>
                          <a:latin typeface="Calibri" pitchFamily="34" charset="0"/>
                          <a:ea typeface="Calibri" pitchFamily="34" charset="-122"/>
                          <a:cs typeface="Calibri" pitchFamily="34" charset="-120"/>
                        </a:rPr>
                        <a:t>tbd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Accuracy against intersection size</a:t>
            </a:r>
            <a:endParaRPr lang="en-US" sz="3200" dirty="0"/>
          </a:p>
        </p:txBody>
      </p:sp>
      <p:pic>
        <p:nvPicPr>
          <p:cNvPr id="3" name="Image 0" descr="/home/user/VerticalFederatedRegression/reports/coef_accuracy/figA_rmse_vs_n_r2_0.5.png">    </p:cNvPr>
          <p:cNvPicPr>
            <a:picLocks noChangeAspect="1"/>
          </p:cNvPicPr>
          <p:nvPr/>
        </p:nvPicPr>
        <p:blipFill>
          <a:blip r:embed="rId1"/>
          <a:stretch>
            <a:fillRect/>
          </a:stretch>
        </p:blipFill>
        <p:spPr>
          <a:xfrm>
            <a:off x="365760" y="1188720"/>
            <a:ext cx="7772400" cy="4996543"/>
          </a:xfrm>
          <a:prstGeom prst="rect">
            <a:avLst/>
          </a:prstGeom>
        </p:spPr>
      </p:pic>
      <p:sp>
        <p:nvSpPr>
          <p:cNvPr id="4" name="Shape 1"/>
          <p:cNvSpPr/>
          <p:nvPr/>
        </p:nvSpPr>
        <p:spPr>
          <a:xfrm>
            <a:off x="8321040" y="1280160"/>
            <a:ext cx="3337560" cy="4937760"/>
          </a:xfrm>
          <a:prstGeom prst="roundRect">
            <a:avLst>
              <a:gd name="adj" fmla="val 2192"/>
            </a:avLst>
          </a:prstGeom>
          <a:solidFill>
            <a:srgbClr val="EEF2F7"/>
          </a:solidFill>
          <a:ln w="12700">
            <a:solidFill>
              <a:srgbClr val="EEF2F7"/>
            </a:solidFill>
            <a:prstDash val="solid"/>
          </a:ln>
        </p:spPr>
      </p:sp>
      <p:sp>
        <p:nvSpPr>
          <p:cNvPr id="5" name="Text 2"/>
          <p:cNvSpPr txBox="1"/>
          <p:nvPr/>
        </p:nvSpPr>
        <p:spPr>
          <a:xfrm>
            <a:off x="8549640" y="1463040"/>
            <a:ext cx="2926080" cy="64008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Within 2× of non-private OLS at</a:t>
            </a:r>
            <a:endParaRPr lang="en-US" sz="1500" dirty="0"/>
          </a:p>
        </p:txBody>
      </p:sp>
      <p:sp>
        <p:nvSpPr>
          <p:cNvPr id="6" name="Text 3"/>
          <p:cNvSpPr txBox="1"/>
          <p:nvPr/>
        </p:nvSpPr>
        <p:spPr>
          <a:xfrm>
            <a:off x="8549640" y="2148840"/>
            <a:ext cx="1097280" cy="411480"/>
          </a:xfrm>
          <a:prstGeom prst="rect">
            <a:avLst/>
          </a:prstGeom>
          <a:noFill/>
          <a:ln/>
        </p:spPr>
        <p:txBody>
          <a:bodyPr wrap="square" lIns="0" tIns="0" rIns="0" bIns="0" rtlCol="0" anchor="t"/>
          <a:lstStyle/>
          <a:p>
            <a:pPr indent="0" marL="0">
              <a:buNone/>
            </a:pPr>
            <a:r>
              <a:rPr lang="en-US" sz="1500" dirty="0">
                <a:solidFill>
                  <a:srgbClr val="5B6576"/>
                </a:solidFill>
                <a:latin typeface="Calibri" pitchFamily="34" charset="0"/>
                <a:ea typeface="Calibri" pitchFamily="34" charset="-122"/>
                <a:cs typeface="Calibri" pitchFamily="34" charset="-120"/>
              </a:rPr>
              <a:t>ε = 8</a:t>
            </a:r>
            <a:endParaRPr lang="en-US" sz="1500" dirty="0"/>
          </a:p>
        </p:txBody>
      </p:sp>
      <p:sp>
        <p:nvSpPr>
          <p:cNvPr id="7" name="Text 4"/>
          <p:cNvSpPr txBox="1"/>
          <p:nvPr/>
        </p:nvSpPr>
        <p:spPr>
          <a:xfrm>
            <a:off x="9692640" y="2148840"/>
            <a:ext cx="1828800" cy="411480"/>
          </a:xfrm>
          <a:prstGeom prst="rect">
            <a:avLst/>
          </a:prstGeom>
          <a:noFill/>
          <a:ln/>
        </p:spPr>
        <p:txBody>
          <a:bodyPr wrap="square" lIns="0" tIns="0" rIns="0" bIns="0" rtlCol="0" anchor="t"/>
          <a:lstStyle/>
          <a:p>
            <a:pPr indent="0" marL="0">
              <a:buNone/>
            </a:pPr>
            <a:r>
              <a:rPr lang="en-US" sz="1500" b="1" dirty="0">
                <a:solidFill>
                  <a:srgbClr val="C45A0C"/>
                </a:solidFill>
                <a:latin typeface="Calibri" pitchFamily="34" charset="0"/>
                <a:ea typeface="Calibri" pitchFamily="34" charset="-122"/>
                <a:cs typeface="Calibri" pitchFamily="34" charset="-120"/>
              </a:rPr>
              <a:t>n ≈ 3.2k</a:t>
            </a:r>
            <a:endParaRPr lang="en-US" sz="1500" dirty="0"/>
          </a:p>
        </p:txBody>
      </p:sp>
      <p:sp>
        <p:nvSpPr>
          <p:cNvPr id="8" name="Text 5"/>
          <p:cNvSpPr txBox="1"/>
          <p:nvPr/>
        </p:nvSpPr>
        <p:spPr>
          <a:xfrm>
            <a:off x="8549640" y="2606040"/>
            <a:ext cx="1097280" cy="411480"/>
          </a:xfrm>
          <a:prstGeom prst="rect">
            <a:avLst/>
          </a:prstGeom>
          <a:noFill/>
          <a:ln/>
        </p:spPr>
        <p:txBody>
          <a:bodyPr wrap="square" lIns="0" tIns="0" rIns="0" bIns="0" rtlCol="0" anchor="t"/>
          <a:lstStyle/>
          <a:p>
            <a:pPr indent="0" marL="0">
              <a:buNone/>
            </a:pPr>
            <a:r>
              <a:rPr lang="en-US" sz="1500" dirty="0">
                <a:solidFill>
                  <a:srgbClr val="5B6576"/>
                </a:solidFill>
                <a:latin typeface="Calibri" pitchFamily="34" charset="0"/>
                <a:ea typeface="Calibri" pitchFamily="34" charset="-122"/>
                <a:cs typeface="Calibri" pitchFamily="34" charset="-120"/>
              </a:rPr>
              <a:t>ε = 4</a:t>
            </a:r>
            <a:endParaRPr lang="en-US" sz="1500" dirty="0"/>
          </a:p>
        </p:txBody>
      </p:sp>
      <p:sp>
        <p:nvSpPr>
          <p:cNvPr id="9" name="Text 6"/>
          <p:cNvSpPr txBox="1"/>
          <p:nvPr/>
        </p:nvSpPr>
        <p:spPr>
          <a:xfrm>
            <a:off x="9692640" y="2606040"/>
            <a:ext cx="1828800" cy="411480"/>
          </a:xfrm>
          <a:prstGeom prst="rect">
            <a:avLst/>
          </a:prstGeom>
          <a:noFill/>
          <a:ln/>
        </p:spPr>
        <p:txBody>
          <a:bodyPr wrap="square" lIns="0" tIns="0" rIns="0" bIns="0" rtlCol="0" anchor="t"/>
          <a:lstStyle/>
          <a:p>
            <a:pPr indent="0" marL="0">
              <a:buNone/>
            </a:pPr>
            <a:r>
              <a:rPr lang="en-US" sz="1500" b="1" dirty="0">
                <a:solidFill>
                  <a:srgbClr val="C45A0C"/>
                </a:solidFill>
                <a:latin typeface="Calibri" pitchFamily="34" charset="0"/>
                <a:ea typeface="Calibri" pitchFamily="34" charset="-122"/>
                <a:cs typeface="Calibri" pitchFamily="34" charset="-120"/>
              </a:rPr>
              <a:t>n ≈ 9.4k</a:t>
            </a:r>
            <a:endParaRPr lang="en-US" sz="1500" dirty="0"/>
          </a:p>
        </p:txBody>
      </p:sp>
      <p:sp>
        <p:nvSpPr>
          <p:cNvPr id="10" name="Text 7"/>
          <p:cNvSpPr txBox="1"/>
          <p:nvPr/>
        </p:nvSpPr>
        <p:spPr>
          <a:xfrm>
            <a:off x="8549640" y="3063240"/>
            <a:ext cx="1097280" cy="411480"/>
          </a:xfrm>
          <a:prstGeom prst="rect">
            <a:avLst/>
          </a:prstGeom>
          <a:noFill/>
          <a:ln/>
        </p:spPr>
        <p:txBody>
          <a:bodyPr wrap="square" lIns="0" tIns="0" rIns="0" bIns="0" rtlCol="0" anchor="t"/>
          <a:lstStyle/>
          <a:p>
            <a:pPr indent="0" marL="0">
              <a:buNone/>
            </a:pPr>
            <a:r>
              <a:rPr lang="en-US" sz="1500" dirty="0">
                <a:solidFill>
                  <a:srgbClr val="5B6576"/>
                </a:solidFill>
                <a:latin typeface="Calibri" pitchFamily="34" charset="0"/>
                <a:ea typeface="Calibri" pitchFamily="34" charset="-122"/>
                <a:cs typeface="Calibri" pitchFamily="34" charset="-120"/>
              </a:rPr>
              <a:t>ε = 2</a:t>
            </a:r>
            <a:endParaRPr lang="en-US" sz="1500" dirty="0"/>
          </a:p>
        </p:txBody>
      </p:sp>
      <p:sp>
        <p:nvSpPr>
          <p:cNvPr id="11" name="Text 8"/>
          <p:cNvSpPr txBox="1"/>
          <p:nvPr/>
        </p:nvSpPr>
        <p:spPr>
          <a:xfrm>
            <a:off x="9692640" y="3063240"/>
            <a:ext cx="1828800" cy="411480"/>
          </a:xfrm>
          <a:prstGeom prst="rect">
            <a:avLst/>
          </a:prstGeom>
          <a:noFill/>
          <a:ln/>
        </p:spPr>
        <p:txBody>
          <a:bodyPr wrap="square" lIns="0" tIns="0" rIns="0" bIns="0" rtlCol="0" anchor="t"/>
          <a:lstStyle/>
          <a:p>
            <a:pPr indent="0" marL="0">
              <a:buNone/>
            </a:pPr>
            <a:r>
              <a:rPr lang="en-US" sz="1500" b="1" dirty="0">
                <a:solidFill>
                  <a:srgbClr val="C45A0C"/>
                </a:solidFill>
                <a:latin typeface="Calibri" pitchFamily="34" charset="0"/>
                <a:ea typeface="Calibri" pitchFamily="34" charset="-122"/>
                <a:cs typeface="Calibri" pitchFamily="34" charset="-120"/>
              </a:rPr>
              <a:t>n ≈ 34k</a:t>
            </a:r>
            <a:endParaRPr lang="en-US" sz="1500" dirty="0"/>
          </a:p>
        </p:txBody>
      </p:sp>
      <p:sp>
        <p:nvSpPr>
          <p:cNvPr id="12" name="Text 9"/>
          <p:cNvSpPr txBox="1"/>
          <p:nvPr/>
        </p:nvSpPr>
        <p:spPr>
          <a:xfrm>
            <a:off x="8549640" y="3520440"/>
            <a:ext cx="1097280" cy="411480"/>
          </a:xfrm>
          <a:prstGeom prst="rect">
            <a:avLst/>
          </a:prstGeom>
          <a:noFill/>
          <a:ln/>
        </p:spPr>
        <p:txBody>
          <a:bodyPr wrap="square" lIns="0" tIns="0" rIns="0" bIns="0" rtlCol="0" anchor="t"/>
          <a:lstStyle/>
          <a:p>
            <a:pPr indent="0" marL="0">
              <a:buNone/>
            </a:pPr>
            <a:r>
              <a:rPr lang="en-US" sz="1500" dirty="0">
                <a:solidFill>
                  <a:srgbClr val="5B6576"/>
                </a:solidFill>
                <a:latin typeface="Calibri" pitchFamily="34" charset="0"/>
                <a:ea typeface="Calibri" pitchFamily="34" charset="-122"/>
                <a:cs typeface="Calibri" pitchFamily="34" charset="-120"/>
              </a:rPr>
              <a:t>ε = 1</a:t>
            </a:r>
            <a:endParaRPr lang="en-US" sz="1500" dirty="0"/>
          </a:p>
        </p:txBody>
      </p:sp>
      <p:sp>
        <p:nvSpPr>
          <p:cNvPr id="13" name="Text 10"/>
          <p:cNvSpPr txBox="1"/>
          <p:nvPr/>
        </p:nvSpPr>
        <p:spPr>
          <a:xfrm>
            <a:off x="9692640" y="3520440"/>
            <a:ext cx="1828800" cy="411480"/>
          </a:xfrm>
          <a:prstGeom prst="rect">
            <a:avLst/>
          </a:prstGeom>
          <a:noFill/>
          <a:ln/>
        </p:spPr>
        <p:txBody>
          <a:bodyPr wrap="square" lIns="0" tIns="0" rIns="0" bIns="0" rtlCol="0" anchor="t"/>
          <a:lstStyle/>
          <a:p>
            <a:pPr indent="0" marL="0">
              <a:buNone/>
            </a:pPr>
            <a:r>
              <a:rPr lang="en-US" sz="1500" b="1" dirty="0">
                <a:solidFill>
                  <a:srgbClr val="C45A0C"/>
                </a:solidFill>
                <a:latin typeface="Calibri" pitchFamily="34" charset="0"/>
                <a:ea typeface="Calibri" pitchFamily="34" charset="-122"/>
                <a:cs typeface="Calibri" pitchFamily="34" charset="-120"/>
              </a:rPr>
              <a:t>n ≈ 105k</a:t>
            </a:r>
            <a:endParaRPr lang="en-US" sz="1500" dirty="0"/>
          </a:p>
        </p:txBody>
      </p:sp>
      <p:sp>
        <p:nvSpPr>
          <p:cNvPr id="14" name="Text 11"/>
          <p:cNvSpPr txBox="1"/>
          <p:nvPr/>
        </p:nvSpPr>
        <p:spPr>
          <a:xfrm>
            <a:off x="8549640" y="4114800"/>
            <a:ext cx="2926080" cy="20116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Small n: the ridge shrinks β̂ towards 0</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Then the DP error falls like 1/n and merges into the OLS floor</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Run-to-run spread is about ×2.5–3</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Key numbers</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Median RMSE of the standardized slopes against the true β (ratio to the OLS floor), R</a:t>
            </a:r>
            <a:r>
              <a:rPr lang="en-US" sz="1600" i="1" baseline="30000" dirty="0">
                <a:solidFill>
                  <a:srgbClr val="5B6576"/>
                </a:solidFill>
                <a:latin typeface="Calibri" pitchFamily="34" charset="0"/>
                <a:ea typeface="Calibri" pitchFamily="34" charset="-122"/>
                <a:cs typeface="Calibri" pitchFamily="34" charset="-120"/>
              </a:rPr>
              <a:t>2</a:t>
            </a:r>
            <a:r>
              <a:rPr lang="en-US" sz="1600" i="1" dirty="0">
                <a:solidFill>
                  <a:srgbClr val="5B6576"/>
                </a:solidFill>
                <a:latin typeface="Calibri" pitchFamily="34" charset="0"/>
                <a:ea typeface="Calibri" pitchFamily="34" charset="-122"/>
                <a:cs typeface="Calibri" pitchFamily="34" charset="-120"/>
              </a:rPr>
              <a:t> = 0.5</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a:tblGrid>
                <a:gridCol w="1188720"/>
                <a:gridCol w="1645920"/>
                <a:gridCol w="1645920"/>
                <a:gridCol w="1645920"/>
                <a:gridCol w="1645920"/>
                <a:gridCol w="1645920"/>
                <a:gridCol w="1645920"/>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ε = 0.5</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ε = 1</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ε = 2</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ε = 4</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ε = 8</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OLS floor</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502920">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0.231 (9.9×)</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0.213 (9.1×)</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0.181 (7.7×)</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0.138 (5.9×)</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0.078 (3.3×)</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0.023</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502920">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0.092 (12×)</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0.044 (5.8×)</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0.025 (3.4×)</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0.014 (1.9×)</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0.010 (1.3×)</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0.0075</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502920">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100,000</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0.0087 (3.4×)</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0.0051 (2.0×)</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0.0034 (1.4×)</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0.0029 (1.2×)</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0.0026 (1.0×)</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0.0025</a:t>
                      </a:r>
                      <a:endParaRPr lang="en-US" sz="14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5" name="Text 2"/>
          <p:cNvSpPr txBox="1"/>
          <p:nvPr/>
        </p:nvSpPr>
        <p:spPr>
          <a:xfrm>
            <a:off x="548640" y="3931920"/>
            <a:ext cx="7315200" cy="41148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n at which VFL comes within 2× of the OLS floor</a:t>
            </a:r>
            <a:endParaRPr lang="en-US" sz="180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548640" y="4434840"/>
          <a:ext cx="9144000" cy="914400"/>
        </p:xfrm>
        <a:graphic>
          <a:graphicData uri="http://schemas.openxmlformats.org/drawingml/2006/table">
            <a:tbl>
              <a:tblPr/>
              <a:tblGrid>
                <a:gridCol w="1188720"/>
                <a:gridCol w="1645920"/>
                <a:gridCol w="1645920"/>
                <a:gridCol w="1645920"/>
                <a:gridCol w="1645920"/>
                <a:gridCol w="1645920"/>
              </a:tblGrid>
              <a:tr h="38404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a:t>
                      </a:r>
                      <a:r>
                        <a:rPr lang="en-US" sz="1350" b="1" baseline="30000" dirty="0">
                          <a:solidFill>
                            <a:srgbClr val="FFFFFF"/>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ε = 0.5</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ε = 1</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ε = 2</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ε = 4</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ε = 8</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384048">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0.3</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≈240k*</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75k</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21k</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7.1k</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1.9k</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84048">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0.5</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≈380k*</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≈105k*</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34k</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9.4k</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3.2k</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84048">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0.9</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&gt;100k</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&gt;100k</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66k</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30k</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13k</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7" name="Text 3"/>
          <p:cNvSpPr txBox="1"/>
          <p:nvPr/>
        </p:nvSpPr>
        <p:spPr>
          <a:xfrm>
            <a:off x="548640" y="6080760"/>
            <a:ext cx="5486400" cy="320040"/>
          </a:xfrm>
          <a:prstGeom prst="rect">
            <a:avLst/>
          </a:prstGeom>
          <a:noFill/>
          <a:ln/>
        </p:spPr>
        <p:txBody>
          <a:bodyPr wrap="square" lIns="0" tIns="0" rIns="0" bIns="0" rtlCol="0" anchor="t"/>
          <a:lstStyle/>
          <a:p>
            <a:pPr indent="0" marL="0">
              <a:buNone/>
            </a:pPr>
            <a:r>
              <a:rPr lang="en-US" sz="1200" i="1" dirty="0">
                <a:solidFill>
                  <a:srgbClr val="5B6576"/>
                </a:solidFill>
                <a:latin typeface="Calibri" pitchFamily="34" charset="0"/>
                <a:ea typeface="Calibri" pitchFamily="34" charset="-122"/>
                <a:cs typeface="Calibri" pitchFamily="34" charset="-120"/>
              </a:rPr>
              <a:t>* extrapolated beyond n = 100k</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Comparing coefficients on different scales</a:t>
            </a:r>
            <a:endParaRPr lang="en-US" sz="3200" dirty="0"/>
          </a:p>
        </p:txBody>
      </p:sp>
      <p:pic>
        <p:nvPicPr>
          <p:cNvPr id="3" name="Image 0" descr="/home/user/VerticalFederatedRegression/reports/coef_accuracy/figB1_efficiency_ratio_r2_0.5.png">    </p:cNvPr>
          <p:cNvPicPr>
            <a:picLocks noChangeAspect="1"/>
          </p:cNvPicPr>
          <p:nvPr/>
        </p:nvPicPr>
        <p:blipFill>
          <a:blip r:embed="rId1"/>
          <a:stretch>
            <a:fillRect/>
          </a:stretch>
        </p:blipFill>
        <p:spPr>
          <a:xfrm>
            <a:off x="1703579" y="1143000"/>
            <a:ext cx="8754362" cy="3749040"/>
          </a:xfrm>
          <a:prstGeom prst="rect">
            <a:avLst/>
          </a:prstGeom>
        </p:spPr>
      </p:pic>
      <p:sp>
        <p:nvSpPr>
          <p:cNvPr id="4" name="Text 1"/>
          <p:cNvSpPr txBox="1"/>
          <p:nvPr/>
        </p:nvSpPr>
        <p:spPr>
          <a:xfrm>
            <a:off x="548640" y="5029200"/>
            <a:ext cx="356616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Raw scale</a:t>
            </a:r>
            <a:endParaRPr lang="en-US" sz="1500" dirty="0"/>
          </a:p>
        </p:txBody>
      </p:sp>
      <p:sp>
        <p:nvSpPr>
          <p:cNvPr id="5" name="Text 2"/>
          <p:cNvSpPr txBox="1"/>
          <p:nvPr/>
        </p:nvSpPr>
        <p:spPr>
          <a:xfrm>
            <a:off x="548640" y="5394960"/>
            <a:ext cx="3566160" cy="118872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Coefficients span 5.6 orders of magnitude (≈$0.2 per $ income vs ≈$10k per binary). A pooled raw RMSE is 87% driven by two binary coefficients.</a:t>
            </a:r>
            <a:endParaRPr lang="en-US" sz="1300" dirty="0"/>
          </a:p>
        </p:txBody>
      </p:sp>
      <p:sp>
        <p:nvSpPr>
          <p:cNvPr id="6" name="Text 3"/>
          <p:cNvSpPr txBox="1"/>
          <p:nvPr/>
        </p:nvSpPr>
        <p:spPr>
          <a:xfrm>
            <a:off x="4343400" y="5029200"/>
            <a:ext cx="3566160" cy="365760"/>
          </a:xfrm>
          <a:prstGeom prst="rect">
            <a:avLst/>
          </a:prstGeom>
          <a:noFill/>
          <a:ln/>
        </p:spPr>
        <p:txBody>
          <a:bodyPr wrap="square" lIns="0" tIns="0" rIns="0" bIns="0" rtlCol="0" anchor="t"/>
          <a:lstStyle/>
          <a:p>
            <a:pPr indent="0" marL="0">
              <a:buNone/>
            </a:pPr>
            <a:r>
              <a:rPr lang="en-US" sz="1500" b="1" dirty="0">
                <a:solidFill>
                  <a:srgbClr val="C45A0C"/>
                </a:solidFill>
                <a:latin typeface="Calibri" pitchFamily="34" charset="0"/>
                <a:ea typeface="Calibri" pitchFamily="34" charset="-122"/>
                <a:cs typeface="Calibri" pitchFamily="34" charset="-120"/>
              </a:rPr>
              <a:t>Efficiency ratio</a:t>
            </a:r>
            <a:endParaRPr lang="en-US" sz="1500" dirty="0"/>
          </a:p>
        </p:txBody>
      </p:sp>
      <p:sp>
        <p:nvSpPr>
          <p:cNvPr id="7" name="Text 4"/>
          <p:cNvSpPr txBox="1"/>
          <p:nvPr/>
        </p:nvSpPr>
        <p:spPr>
          <a:xfrm>
            <a:off x="4343400" y="5394960"/>
            <a:ext cx="3566160" cy="118872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RMSE</a:t>
            </a:r>
            <a:r>
              <a:rPr lang="en-US" sz="1300" baseline="-25000" dirty="0">
                <a:solidFill>
                  <a:srgbClr val="5B6576"/>
                </a:solidFill>
                <a:latin typeface="Calibri" pitchFamily="34" charset="0"/>
                <a:ea typeface="Calibri" pitchFamily="34" charset="-122"/>
                <a:cs typeface="Calibri" pitchFamily="34" charset="-120"/>
              </a:rPr>
              <a:t>DP,j</a:t>
            </a:r>
            <a:r>
              <a:rPr lang="en-US" sz="1300" dirty="0">
                <a:solidFill>
                  <a:srgbClr val="5B6576"/>
                </a:solidFill>
                <a:latin typeface="Calibri" pitchFamily="34" charset="0"/>
                <a:ea typeface="Calibri" pitchFamily="34" charset="-122"/>
                <a:cs typeface="Calibri" pitchFamily="34" charset="-120"/>
              </a:rPr>
              <a:t> / SE</a:t>
            </a:r>
            <a:r>
              <a:rPr lang="en-US" sz="1300" baseline="-25000" dirty="0">
                <a:solidFill>
                  <a:srgbClr val="5B6576"/>
                </a:solidFill>
                <a:latin typeface="Calibri" pitchFamily="34" charset="0"/>
                <a:ea typeface="Calibri" pitchFamily="34" charset="-122"/>
                <a:cs typeface="Calibri" pitchFamily="34" charset="-120"/>
              </a:rPr>
              <a:t>OLS,j</a:t>
            </a:r>
            <a:r>
              <a:rPr lang="en-US" sz="1300" dirty="0">
                <a:solidFill>
                  <a:srgbClr val="5B6576"/>
                </a:solidFill>
                <a:latin typeface="Calibri" pitchFamily="34" charset="0"/>
                <a:ea typeface="Calibri" pitchFamily="34" charset="-122"/>
                <a:cs typeface="Calibri" pitchFamily="34" charset="-120"/>
              </a:rPr>
              <a:t>: unit-free. A ratio r means the release is about as accurate as OLS on n/r</a:t>
            </a:r>
            <a:r>
              <a:rPr lang="en-US" sz="1300" baseline="30000" dirty="0">
                <a:solidFill>
                  <a:srgbClr val="5B6576"/>
                </a:solidFill>
                <a:latin typeface="Calibri" pitchFamily="34" charset="0"/>
                <a:ea typeface="Calibri" pitchFamily="34" charset="-122"/>
                <a:cs typeface="Calibri" pitchFamily="34" charset="-120"/>
              </a:rPr>
              <a:t>2</a:t>
            </a:r>
            <a:r>
              <a:rPr lang="en-US" sz="1300" dirty="0">
                <a:solidFill>
                  <a:srgbClr val="5B6576"/>
                </a:solidFill>
                <a:latin typeface="Calibri" pitchFamily="34" charset="0"/>
                <a:ea typeface="Calibri" pitchFamily="34" charset="-122"/>
                <a:cs typeface="Calibri" pitchFamily="34" charset="-120"/>
              </a:rPr>
              <a:t> records.</a:t>
            </a:r>
            <a:endParaRPr lang="en-US" sz="1300" dirty="0"/>
          </a:p>
        </p:txBody>
      </p:sp>
      <p:sp>
        <p:nvSpPr>
          <p:cNvPr id="8" name="Text 5"/>
          <p:cNvSpPr txBox="1"/>
          <p:nvPr/>
        </p:nvSpPr>
        <p:spPr>
          <a:xfrm>
            <a:off x="8138160" y="5029200"/>
            <a:ext cx="356616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Result</a:t>
            </a:r>
            <a:endParaRPr lang="en-US" sz="1500" dirty="0"/>
          </a:p>
        </p:txBody>
      </p:sp>
      <p:sp>
        <p:nvSpPr>
          <p:cNvPr id="9" name="Text 6"/>
          <p:cNvSpPr txBox="1"/>
          <p:nvPr/>
        </p:nvSpPr>
        <p:spPr>
          <a:xfrm>
            <a:off x="8138160" y="5394960"/>
            <a:ext cx="3566160" cy="118872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Once the ridge is off, DP costs about the same for every coefficient (±15%); O-side coefficients run ~10% higher.</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Does the bias correction matter?</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Barely: it acts mostly as extra shrinkage, so v3.1 makes it optional and off by default</a:t>
            </a:r>
            <a:endParaRPr lang="en-US" sz="1600" dirty="0"/>
          </a:p>
        </p:txBody>
      </p:sp>
      <p:pic>
        <p:nvPicPr>
          <p:cNvPr id="4" name="Image 0" descr="/home/user/VerticalFederatedRegression/reports/bias_correction/fig1_mse_ratio.png">    </p:cNvPr>
          <p:cNvPicPr>
            <a:picLocks noChangeAspect="1"/>
          </p:cNvPicPr>
          <p:nvPr/>
        </p:nvPicPr>
        <p:blipFill>
          <a:blip r:embed="rId1"/>
          <a:stretch>
            <a:fillRect/>
          </a:stretch>
        </p:blipFill>
        <p:spPr>
          <a:xfrm>
            <a:off x="1029251" y="1508760"/>
            <a:ext cx="10103018" cy="3108960"/>
          </a:xfrm>
          <a:prstGeom prst="rect">
            <a:avLst/>
          </a:prstGeom>
        </p:spPr>
      </p:pic>
      <p:sp>
        <p:nvSpPr>
          <p:cNvPr id="5" name="Text 2"/>
          <p:cNvSpPr txBox="1"/>
          <p:nvPr/>
        </p:nvSpPr>
        <p:spPr>
          <a:xfrm>
            <a:off x="548640" y="4709160"/>
            <a:ext cx="3566160" cy="640080"/>
          </a:xfrm>
          <a:prstGeom prst="rect">
            <a:avLst/>
          </a:prstGeom>
          <a:noFill/>
          <a:ln/>
        </p:spPr>
        <p:txBody>
          <a:bodyPr wrap="square" lIns="0" tIns="0" rIns="0" bIns="0" rtlCol="0" anchor="t"/>
          <a:lstStyle/>
          <a:p>
            <a:pPr indent="0" marL="0">
              <a:buNone/>
            </a:pPr>
            <a:r>
              <a:rPr lang="en-US" sz="3000" b="1" dirty="0">
                <a:solidFill>
                  <a:srgbClr val="C45A0C"/>
                </a:solidFill>
                <a:latin typeface="Cambria" pitchFamily="34" charset="0"/>
                <a:ea typeface="Cambria" pitchFamily="34" charset="-122"/>
                <a:cs typeface="Cambria" pitchFamily="34" charset="-120"/>
              </a:rPr>
              <a:t>−7 to −12%</a:t>
            </a:r>
            <a:endParaRPr lang="en-US" sz="3000" dirty="0"/>
          </a:p>
        </p:txBody>
      </p:sp>
      <p:sp>
        <p:nvSpPr>
          <p:cNvPr id="6" name="Text 3"/>
          <p:cNvSpPr txBox="1"/>
          <p:nvPr/>
        </p:nvSpPr>
        <p:spPr>
          <a:xfrm>
            <a:off x="548640" y="5349240"/>
            <a:ext cx="3566160" cy="123444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MSE vs the protocol target when the ridge is on. The correction also shrinks noise; it never raised this MSE (90 settings).</a:t>
            </a:r>
            <a:endParaRPr lang="en-US" sz="1300" dirty="0"/>
          </a:p>
        </p:txBody>
      </p:sp>
      <p:sp>
        <p:nvSpPr>
          <p:cNvPr id="7" name="Text 4"/>
          <p:cNvSpPr txBox="1"/>
          <p:nvPr/>
        </p:nvSpPr>
        <p:spPr>
          <a:xfrm>
            <a:off x="4343400" y="4709160"/>
            <a:ext cx="3566160" cy="640080"/>
          </a:xfrm>
          <a:prstGeom prst="rect">
            <a:avLst/>
          </a:prstGeom>
          <a:noFill/>
          <a:ln/>
        </p:spPr>
        <p:txBody>
          <a:bodyPr wrap="square" lIns="0" tIns="0" rIns="0" bIns="0" rtlCol="0" anchor="t"/>
          <a:lstStyle/>
          <a:p>
            <a:pPr indent="0" marL="0">
              <a:buNone/>
            </a:pPr>
            <a:r>
              <a:rPr lang="en-US" sz="3000" b="1" dirty="0">
                <a:solidFill>
                  <a:srgbClr val="14213D"/>
                </a:solidFill>
                <a:latin typeface="Cambria" pitchFamily="34" charset="0"/>
                <a:ea typeface="Cambria" pitchFamily="34" charset="-122"/>
                <a:cs typeface="Cambria" pitchFamily="34" charset="-120"/>
              </a:rPr>
              <a:t>+0.3 to +4.3%</a:t>
            </a:r>
            <a:endParaRPr lang="en-US" sz="3000" dirty="0"/>
          </a:p>
        </p:txBody>
      </p:sp>
      <p:sp>
        <p:nvSpPr>
          <p:cNvPr id="8" name="Text 5"/>
          <p:cNvSpPr txBox="1"/>
          <p:nvPr/>
        </p:nvSpPr>
        <p:spPr>
          <a:xfrm>
            <a:off x="4343400" y="5349240"/>
            <a:ext cx="3566160" cy="123444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MSE vs OLS under a moderate ridge: the correction restores shrinkage that noise had offset.</a:t>
            </a:r>
            <a:endParaRPr lang="en-US" sz="1300" dirty="0"/>
          </a:p>
        </p:txBody>
      </p:sp>
      <p:sp>
        <p:nvSpPr>
          <p:cNvPr id="9" name="Text 6"/>
          <p:cNvSpPr txBox="1"/>
          <p:nvPr/>
        </p:nvSpPr>
        <p:spPr>
          <a:xfrm>
            <a:off x="8138160" y="4709160"/>
            <a:ext cx="3566160" cy="640080"/>
          </a:xfrm>
          <a:prstGeom prst="rect">
            <a:avLst/>
          </a:prstGeom>
          <a:noFill/>
          <a:ln/>
        </p:spPr>
        <p:txBody>
          <a:bodyPr wrap="square" lIns="0" tIns="0" rIns="0" bIns="0" rtlCol="0" anchor="t"/>
          <a:lstStyle/>
          <a:p>
            <a:pPr indent="0" marL="0">
              <a:buNone/>
            </a:pPr>
            <a:r>
              <a:rPr lang="en-US" sz="3000" b="1" dirty="0">
                <a:solidFill>
                  <a:srgbClr val="14213D"/>
                </a:solidFill>
                <a:latin typeface="Cambria" pitchFamily="34" charset="0"/>
                <a:ea typeface="Cambria" pitchFamily="34" charset="-122"/>
                <a:cs typeface="Cambria" pitchFamily="34" charset="-120"/>
              </a:rPr>
              <a:t>≥ 130</a:t>
            </a:r>
            <a:endParaRPr lang="en-US" sz="3000" dirty="0"/>
          </a:p>
        </p:txBody>
      </p:sp>
      <p:sp>
        <p:nvSpPr>
          <p:cNvPr id="10" name="Text 7"/>
          <p:cNvSpPr txBox="1"/>
          <p:nvPr/>
        </p:nvSpPr>
        <p:spPr>
          <a:xfrm>
            <a:off x="8138160" y="5349240"/>
            <a:ext cx="3566160" cy="123444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averaged releases before the bias alone would matter; one release: at most 0.75% of MSE.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Where the error comes from when σ is large</a:t>
            </a:r>
            <a:endParaRPr lang="en-US" sz="3200" dirty="0"/>
          </a:p>
        </p:txBody>
      </p:sp>
      <p:pic>
        <p:nvPicPr>
          <p:cNvPr id="3" name="Image 0" descr="/home/user/VerticalFederatedRegression/reports/bias_correction/fig2_decomposition.png">    </p:cNvPr>
          <p:cNvPicPr>
            <a:picLocks noChangeAspect="1"/>
          </p:cNvPicPr>
          <p:nvPr/>
        </p:nvPicPr>
        <p:blipFill>
          <a:blip r:embed="rId1"/>
          <a:stretch>
            <a:fillRect/>
          </a:stretch>
        </p:blipFill>
        <p:spPr>
          <a:xfrm>
            <a:off x="365760" y="1143000"/>
            <a:ext cx="11430000" cy="2872890"/>
          </a:xfrm>
          <a:prstGeom prst="rect">
            <a:avLst/>
          </a:prstGeom>
        </p:spPr>
      </p:pic>
      <p:sp>
        <p:nvSpPr>
          <p:cNvPr id="4" name="Shape 1"/>
          <p:cNvSpPr/>
          <p:nvPr/>
        </p:nvSpPr>
        <p:spPr>
          <a:xfrm>
            <a:off x="548640" y="4160520"/>
            <a:ext cx="5440680" cy="2057400"/>
          </a:xfrm>
          <a:prstGeom prst="roundRect">
            <a:avLst>
              <a:gd name="adj" fmla="val 3556"/>
            </a:avLst>
          </a:prstGeom>
          <a:solidFill>
            <a:srgbClr val="EEF2F7"/>
          </a:solidFill>
          <a:ln w="12700">
            <a:solidFill>
              <a:srgbClr val="EEF2F7"/>
            </a:solidFill>
            <a:prstDash val="solid"/>
          </a:ln>
        </p:spPr>
      </p:sp>
      <p:sp>
        <p:nvSpPr>
          <p:cNvPr id="5" name="Text 2"/>
          <p:cNvSpPr txBox="1"/>
          <p:nvPr/>
        </p:nvSpPr>
        <p:spPr>
          <a:xfrm>
            <a:off x="777240" y="4279392"/>
            <a:ext cx="5029200" cy="365760"/>
          </a:xfrm>
          <a:prstGeom prst="rect">
            <a:avLst/>
          </a:prstGeom>
          <a:noFill/>
          <a:ln/>
        </p:spPr>
        <p:txBody>
          <a:bodyPr wrap="square" lIns="0" tIns="0" rIns="0" bIns="0" rtlCol="0" anchor="t"/>
          <a:lstStyle/>
          <a:p>
            <a:pPr indent="0" marL="0">
              <a:buNone/>
            </a:pPr>
            <a:r>
              <a:rPr lang="en-US" sz="1600" b="1" dirty="0">
                <a:solidFill>
                  <a:srgbClr val="14213D"/>
                </a:solidFill>
                <a:latin typeface="Calibri" pitchFamily="34" charset="0"/>
                <a:ea typeface="Calibri" pitchFamily="34" charset="-122"/>
                <a:cs typeface="Calibri" pitchFamily="34" charset="-120"/>
              </a:rPr>
              <a:t>Error anatomy</a:t>
            </a:r>
            <a:endParaRPr lang="en-US" sz="1600" dirty="0"/>
          </a:p>
        </p:txBody>
      </p:sp>
      <p:sp>
        <p:nvSpPr>
          <p:cNvPr id="6" name="Text 3"/>
          <p:cNvSpPr txBox="1"/>
          <p:nvPr/>
        </p:nvSpPr>
        <p:spPr>
          <a:xfrm>
            <a:off x="777240" y="4681728"/>
            <a:ext cx="5029200" cy="14630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Heavy ridge: 72–90% of the error is shrinkage, 11–31% noise variance</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Mechanism bias</a:t>
            </a:r>
            <a:r>
              <a:rPr lang="en-US" sz="1350" baseline="30000" dirty="0">
                <a:solidFill>
                  <a:srgbClr val="1F2937"/>
                </a:solidFill>
                <a:latin typeface="Calibri" pitchFamily="34" charset="0"/>
                <a:ea typeface="Calibri" pitchFamily="34" charset="-122"/>
                <a:cs typeface="Calibri" pitchFamily="34" charset="-120"/>
              </a:rPr>
              <a:t>2</a:t>
            </a:r>
            <a:r>
              <a:rPr lang="en-US" sz="1350" dirty="0">
                <a:solidFill>
                  <a:srgbClr val="1F2937"/>
                </a:solidFill>
                <a:latin typeface="Calibri" pitchFamily="34" charset="0"/>
                <a:ea typeface="Calibri" pitchFamily="34" charset="-122"/>
                <a:cs typeface="Calibri" pitchFamily="34" charset="-120"/>
              </a:rPr>
              <a:t>: at most 0.75% anywhere</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At large n, clipping shifts the target (every DP method pays this)</a:t>
            </a:r>
            <a:endParaRPr lang="en-US" sz="1350" dirty="0"/>
          </a:p>
        </p:txBody>
      </p:sp>
      <p:sp>
        <p:nvSpPr>
          <p:cNvPr id="7" name="Shape 4"/>
          <p:cNvSpPr/>
          <p:nvPr/>
        </p:nvSpPr>
        <p:spPr>
          <a:xfrm>
            <a:off x="6172200" y="4160520"/>
            <a:ext cx="5440680" cy="2057400"/>
          </a:xfrm>
          <a:prstGeom prst="roundRect">
            <a:avLst>
              <a:gd name="adj" fmla="val 3556"/>
            </a:avLst>
          </a:prstGeom>
          <a:solidFill>
            <a:srgbClr val="F6E3D6"/>
          </a:solidFill>
          <a:ln w="12700">
            <a:solidFill>
              <a:srgbClr val="F6E3D6"/>
            </a:solidFill>
            <a:prstDash val="solid"/>
          </a:ln>
        </p:spPr>
      </p:sp>
      <p:sp>
        <p:nvSpPr>
          <p:cNvPr id="8" name="Text 5"/>
          <p:cNvSpPr txBox="1"/>
          <p:nvPr/>
        </p:nvSpPr>
        <p:spPr>
          <a:xfrm>
            <a:off x="6400800" y="4279392"/>
            <a:ext cx="5029200" cy="365760"/>
          </a:xfrm>
          <a:prstGeom prst="rect">
            <a:avLst/>
          </a:prstGeom>
          <a:noFill/>
          <a:ln/>
        </p:spPr>
        <p:txBody>
          <a:bodyPr wrap="square" lIns="0" tIns="0" rIns="0" bIns="0" rtlCol="0" anchor="t"/>
          <a:lstStyle/>
          <a:p>
            <a:pPr indent="0" marL="0">
              <a:buNone/>
            </a:pPr>
            <a:r>
              <a:rPr lang="en-US" sz="1600" b="1" dirty="0">
                <a:solidFill>
                  <a:srgbClr val="C45A0C"/>
                </a:solidFill>
                <a:latin typeface="Calibri" pitchFamily="34" charset="0"/>
                <a:ea typeface="Calibri" pitchFamily="34" charset="-122"/>
                <a:cs typeface="Calibri" pitchFamily="34" charset="-120"/>
              </a:rPr>
              <a:t>Inference</a:t>
            </a:r>
            <a:endParaRPr lang="en-US" sz="1600" dirty="0"/>
          </a:p>
        </p:txBody>
      </p:sp>
      <p:sp>
        <p:nvSpPr>
          <p:cNvPr id="9" name="Text 6"/>
          <p:cNvSpPr txBox="1"/>
          <p:nvPr/>
        </p:nvSpPr>
        <p:spPr>
          <a:xfrm>
            <a:off x="6400800" y="4681728"/>
            <a:ext cx="5029200" cy="14630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v2, λ = 0: 95% intervals cover 0.94–0.96</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v2, ridge on: coverage collapses (42–81% at ℓ = 0)</a:t>
            </a:r>
            <a:endParaRPr lang="en-US" sz="1350" dirty="0"/>
          </a:p>
          <a:p>
            <a:pPr marL="342900" indent="-342900">
              <a:spcAft>
                <a:spcPts val="600"/>
              </a:spcAft>
              <a:buSzPct val="100000"/>
              <a:buChar char="•"/>
            </a:pPr>
            <a:r>
              <a:rPr lang="en-US" sz="1350" b="1" dirty="0">
                <a:solidFill>
                  <a:srgbClr val="1F2937"/>
                </a:solidFill>
                <a:latin typeface="Calibri" pitchFamily="34" charset="0"/>
                <a:ea typeface="Calibri" pitchFamily="34" charset="-122"/>
                <a:cs typeface="Calibri" pitchFamily="34" charset="-120"/>
              </a:rPr>
              <a:t>v3.1: Wald intervals for the ridge target cover 0.944–0.962 (target 0.955) with the ridge on; the β intervals over-cover</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Benchmark against AdaSSP (Wang 2018)</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Test MSE at ε = 1, δ = 10</a:t>
            </a:r>
            <a:r>
              <a:rPr lang="en-US" sz="1600" i="1" baseline="30000" dirty="0">
                <a:solidFill>
                  <a:srgbClr val="5B6576"/>
                </a:solidFill>
                <a:latin typeface="Calibri" pitchFamily="34" charset="0"/>
                <a:ea typeface="Calibri" pitchFamily="34" charset="-122"/>
                <a:cs typeface="Calibri" pitchFamily="34" charset="-120"/>
              </a:rPr>
              <a:t>−6</a:t>
            </a:r>
            <a:r>
              <a:rPr lang="en-US" sz="1600" i="1" dirty="0">
                <a:solidFill>
                  <a:srgbClr val="5B6576"/>
                </a:solidFill>
                <a:latin typeface="Calibri" pitchFamily="34" charset="0"/>
                <a:ea typeface="Calibri" pitchFamily="34" charset="-122"/>
                <a:cs typeface="Calibri" pitchFamily="34" charset="-120"/>
              </a:rPr>
              <a:t>, 10-fold CV. Ratio to non-private in brackets; bold = best private method</a:t>
            </a:r>
            <a:endParaRPr lang="en-US" sz="1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9144000" cy="914400"/>
        </p:xfrm>
        <a:graphic>
          <a:graphicData uri="http://schemas.openxmlformats.org/drawingml/2006/table">
            <a:tbl>
              <a:tblPr/>
              <a:tblGrid>
                <a:gridCol w="1280160"/>
                <a:gridCol w="914400"/>
                <a:gridCol w="548640"/>
                <a:gridCol w="1280160"/>
                <a:gridCol w="1828800"/>
                <a:gridCol w="1783080"/>
                <a:gridCol w="1645920"/>
                <a:gridCol w="178308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Dataset</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Non-private</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AdaSSP (published)</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AdaSSP (matched)</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VFL, ours</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45A0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VFL, uncorrected</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housing</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506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0.0396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0.0713 (1.80×)</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0.0819 (2.07×)</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0.0779 (1.97×)</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0.0773 (1.95×)</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wine</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1,599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0.0201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0.0338 (1.68×)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0.0391 (1.95×)</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0.0370 (1.84×)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0.0368 (1.83×)</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airfoil</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1,503</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0.0533</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0.0579 (1.09×)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0.0625 (1.17×)</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0.0617 (1.16×)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0.0616 (1.16×)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concrete</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1,030</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0.0444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0.0657 (1.48×)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0.0774 (1.74×)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0.0751 (1.69×)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0.0745 (1.68×)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bike</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17,379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0.0279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0.0288 (1.03×)</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0.0299 (1.07×)</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0.0295 (1.06×)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0.0295 (1.06×)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elevators</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16,599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0.00868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0.0131 (1.51×)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0.0154 (1.78×)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0.0149 (1.71×)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0.0147 (1.70×)</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pol</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15,000</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0.135</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0.140 (1.04×)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0.146 (1.08×)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0.144 (1.06×)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0.143 (1.06×)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kin40k</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40,000</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0.0632</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0.0633 (1.00×)</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0.0633 (1.00×)</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0.0633 (1.00×)</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0.0633 (1.00×)</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protein</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45,730</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0.119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0.120 (1.01×)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0.120 (1.01×)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0.120 (1.01×)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0.120 (1.01×)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5" name="Text 2"/>
          <p:cNvSpPr txBox="1"/>
          <p:nvPr/>
        </p:nvSpPr>
        <p:spPr>
          <a:xfrm>
            <a:off x="548640" y="5349240"/>
            <a:ext cx="11064240" cy="1005840"/>
          </a:xfrm>
          <a:prstGeom prst="rect">
            <a:avLst/>
          </a:prstGeom>
          <a:noFill/>
          <a:ln/>
        </p:spPr>
        <p:txBody>
          <a:bodyPr wrap="square" lIns="0" tIns="0" rIns="0" bIns="0" rtlCol="0" anchor="t"/>
          <a:lstStyle/>
          <a:p>
            <a:pPr indent="0" marL="0">
              <a:buNone/>
            </a:pPr>
            <a:r>
              <a:rPr lang="en-US" sz="1250" i="1" dirty="0">
                <a:solidFill>
                  <a:srgbClr val="5B6576"/>
                </a:solidFill>
                <a:latin typeface="Calibri" pitchFamily="34" charset="0"/>
                <a:ea typeface="Calibri" pitchFamily="34" charset="-122"/>
                <a:cs typeface="Calibri" pitchFamily="34" charset="-120"/>
              </a:rPr>
              <a:t>Published AdaSSP is more private than our release, not less: at nominal ε = 1 it is μ = 0.198 Gaussian DP (ε ≈ 0.82) under whole-record adjacency, against our μ = 0.237 (ε = 1.00) under the weaker O-side adjacency. Its noise is lower because of Wang's composition and the joint row bound (Δ</a:t>
            </a:r>
            <a:r>
              <a:rPr lang="en-US" sz="1250" i="1" baseline="30000" dirty="0">
                <a:solidFill>
                  <a:srgbClr val="5B6576"/>
                </a:solidFill>
                <a:latin typeface="Calibri" pitchFamily="34" charset="0"/>
                <a:ea typeface="Calibri" pitchFamily="34" charset="-122"/>
                <a:cs typeface="Calibri" pitchFamily="34" charset="-120"/>
              </a:rPr>
              <a:t>2</a:t>
            </a:r>
            <a:r>
              <a:rPr lang="en-US" sz="1250" i="1" dirty="0">
                <a:solidFill>
                  <a:srgbClr val="5B6576"/>
                </a:solidFill>
                <a:latin typeface="Calibri" pitchFamily="34" charset="0"/>
                <a:ea typeface="Calibri" pitchFamily="34" charset="-122"/>
                <a:cs typeface="Calibri" pitchFamily="34" charset="-120"/>
              </a:rPr>
              <a:t> = 4.5, ours 10). Matched = AdaSSP's adaptive λ under our guarantee; idealized, since its λ</a:t>
            </a:r>
            <a:r>
              <a:rPr lang="en-US" sz="1250" i="1" baseline="-25000" dirty="0">
                <a:solidFill>
                  <a:srgbClr val="5B6576"/>
                </a:solidFill>
                <a:latin typeface="Calibri" pitchFamily="34" charset="0"/>
                <a:ea typeface="Calibri" pitchFamily="34" charset="-122"/>
                <a:cs typeface="Calibri" pitchFamily="34" charset="-120"/>
              </a:rPr>
              <a:t>min</a:t>
            </a:r>
            <a:r>
              <a:rPr lang="en-US" sz="1250" i="1" dirty="0">
                <a:solidFill>
                  <a:srgbClr val="5B6576"/>
                </a:solidFill>
                <a:latin typeface="Calibri" pitchFamily="34" charset="0"/>
                <a:ea typeface="Calibri" pitchFamily="34" charset="-122"/>
                <a:cs typeface="Calibri" pitchFamily="34" charset="-120"/>
              </a:rPr>
              <a:t> step needs X</a:t>
            </a:r>
            <a:r>
              <a:rPr lang="en-US" sz="1250" i="1" baseline="30000" dirty="0">
                <a:solidFill>
                  <a:srgbClr val="5B6576"/>
                </a:solidFill>
                <a:latin typeface="Calibri" pitchFamily="34" charset="0"/>
                <a:ea typeface="Calibri" pitchFamily="34" charset="-122"/>
                <a:cs typeface="Calibri" pitchFamily="34" charset="-120"/>
              </a:rPr>
              <a:t>T</a:t>
            </a:r>
            <a:r>
              <a:rPr lang="en-US" sz="1250" i="1" dirty="0">
                <a:solidFill>
                  <a:srgbClr val="5B6576"/>
                </a:solidFill>
                <a:latin typeface="Calibri" pitchFamily="34" charset="0"/>
                <a:ea typeface="Calibri" pitchFamily="34" charset="-122"/>
                <a:cs typeface="Calibri" pitchFamily="34" charset="-120"/>
              </a:rPr>
              <a:t>X in the clear.</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Across privacy levels</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Test MSE ÷ non-private, three datasets of increasing size; bars: 95% CI of the mean over the 10 folds</a:t>
            </a:r>
            <a:endParaRPr lang="en-US" sz="1600" dirty="0"/>
          </a:p>
        </p:txBody>
      </p:sp>
      <p:graphicFrame>
        <p:nvGraphicFramePr>
          <p:cNvPr id="4" name="Chart 0" descr=""/>
          <p:cNvGraphicFramePr/>
          <p:nvPr/>
        </p:nvGraphicFramePr>
        <p:xfrm>
          <a:off x="548640" y="1463040"/>
          <a:ext cx="361188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297680" y="1463040"/>
          <a:ext cx="3611880" cy="301752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hart 2" descr=""/>
          <p:cNvGraphicFramePr/>
          <p:nvPr/>
        </p:nvGraphicFramePr>
        <p:xfrm>
          <a:off x="8046720" y="1463040"/>
          <a:ext cx="3611880" cy="3017520"/>
        </p:xfrm>
        <a:graphic xmlns:a="http://schemas.openxmlformats.org/drawingml/2006/main">
          <a:graphicData uri="http://schemas.openxmlformats.org/drawingml/2006/chart">
            <c:chart xmlns:c="http://schemas.openxmlformats.org/drawingml/2006/chart" r:id="rId3"/>
          </a:graphicData>
        </a:graphic>
      </p:graphicFrame>
      <p:sp>
        <p:nvSpPr>
          <p:cNvPr id="7" name="Shape 2"/>
          <p:cNvSpPr/>
          <p:nvPr/>
        </p:nvSpPr>
        <p:spPr>
          <a:xfrm>
            <a:off x="2377440" y="4681728"/>
            <a:ext cx="365760" cy="0"/>
          </a:xfrm>
          <a:prstGeom prst="line">
            <a:avLst/>
          </a:prstGeom>
          <a:noFill/>
          <a:ln w="31750">
            <a:solidFill>
              <a:srgbClr val="B8BEC8"/>
            </a:solidFill>
            <a:prstDash val="solid"/>
          </a:ln>
        </p:spPr>
      </p:sp>
      <p:sp>
        <p:nvSpPr>
          <p:cNvPr id="8" name="Text 3"/>
          <p:cNvSpPr txBox="1"/>
          <p:nvPr/>
        </p:nvSpPr>
        <p:spPr>
          <a:xfrm>
            <a:off x="2834640" y="4553712"/>
            <a:ext cx="1645920" cy="2743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Trivial (θ = 0)</a:t>
            </a:r>
            <a:endParaRPr lang="en-US" sz="1200" dirty="0"/>
          </a:p>
        </p:txBody>
      </p:sp>
      <p:sp>
        <p:nvSpPr>
          <p:cNvPr id="9" name="Shape 4"/>
          <p:cNvSpPr/>
          <p:nvPr/>
        </p:nvSpPr>
        <p:spPr>
          <a:xfrm>
            <a:off x="4526280" y="4681728"/>
            <a:ext cx="365760" cy="0"/>
          </a:xfrm>
          <a:prstGeom prst="line">
            <a:avLst/>
          </a:prstGeom>
          <a:noFill/>
          <a:ln w="31750">
            <a:solidFill>
              <a:srgbClr val="1BAF7A"/>
            </a:solidFill>
            <a:prstDash val="solid"/>
          </a:ln>
        </p:spPr>
      </p:sp>
      <p:sp>
        <p:nvSpPr>
          <p:cNvPr id="10" name="Text 5"/>
          <p:cNvSpPr txBox="1"/>
          <p:nvPr/>
        </p:nvSpPr>
        <p:spPr>
          <a:xfrm>
            <a:off x="4983480" y="4553712"/>
            <a:ext cx="1645920" cy="2743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AdaSSP (published)</a:t>
            </a:r>
            <a:endParaRPr lang="en-US" sz="1200" dirty="0"/>
          </a:p>
        </p:txBody>
      </p:sp>
      <p:sp>
        <p:nvSpPr>
          <p:cNvPr id="11" name="Shape 6"/>
          <p:cNvSpPr/>
          <p:nvPr/>
        </p:nvSpPr>
        <p:spPr>
          <a:xfrm>
            <a:off x="6675120" y="4681728"/>
            <a:ext cx="365760" cy="0"/>
          </a:xfrm>
          <a:prstGeom prst="line">
            <a:avLst/>
          </a:prstGeom>
          <a:noFill/>
          <a:ln w="31750">
            <a:solidFill>
              <a:srgbClr val="EDA100"/>
            </a:solidFill>
            <a:prstDash val="solid"/>
          </a:ln>
        </p:spPr>
      </p:sp>
      <p:sp>
        <p:nvSpPr>
          <p:cNvPr id="12" name="Text 7"/>
          <p:cNvSpPr txBox="1"/>
          <p:nvPr/>
        </p:nvSpPr>
        <p:spPr>
          <a:xfrm>
            <a:off x="7132320" y="4553712"/>
            <a:ext cx="1645920" cy="2743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AdaSSP (matched)</a:t>
            </a:r>
            <a:endParaRPr lang="en-US" sz="1200" dirty="0"/>
          </a:p>
        </p:txBody>
      </p:sp>
      <p:sp>
        <p:nvSpPr>
          <p:cNvPr id="13" name="Shape 8"/>
          <p:cNvSpPr/>
          <p:nvPr/>
        </p:nvSpPr>
        <p:spPr>
          <a:xfrm>
            <a:off x="8823960" y="4681728"/>
            <a:ext cx="365760" cy="0"/>
          </a:xfrm>
          <a:prstGeom prst="line">
            <a:avLst/>
          </a:prstGeom>
          <a:noFill/>
          <a:ln w="31750">
            <a:solidFill>
              <a:srgbClr val="2A78D6"/>
            </a:solidFill>
            <a:prstDash val="solid"/>
          </a:ln>
        </p:spPr>
      </p:sp>
      <p:sp>
        <p:nvSpPr>
          <p:cNvPr id="14" name="Text 9"/>
          <p:cNvSpPr txBox="1"/>
          <p:nvPr/>
        </p:nvSpPr>
        <p:spPr>
          <a:xfrm>
            <a:off x="9281160" y="4553712"/>
            <a:ext cx="1645920" cy="2743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VFL, ours</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4937760"/>
          <a:ext cx="9144000" cy="914400"/>
        </p:xfrm>
        <a:graphic>
          <a:graphicData uri="http://schemas.openxmlformats.org/drawingml/2006/table">
            <a:tbl>
              <a:tblPr/>
              <a:tblGrid>
                <a:gridCol w="2743200"/>
                <a:gridCol w="960120"/>
                <a:gridCol w="960120"/>
                <a:gridCol w="960120"/>
              </a:tblGrid>
              <a:tr h="3200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Ours better / worse (of 29)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ε = 0.1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ε = 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ε = 10</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32004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vs AdaSSP (published)</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14 / 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6 / 19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 / 21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2004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vs AdaSSP (matched)</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27 / 0</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27 / 0</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21 / 3</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2004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Bias-corrected vs uncorrected</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14 / 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6 / 19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 / 19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16" name="Text 10"/>
          <p:cNvSpPr txBox="1"/>
          <p:nvPr/>
        </p:nvSpPr>
        <p:spPr>
          <a:xfrm>
            <a:off x="548640" y="6327648"/>
            <a:ext cx="5669280" cy="274320"/>
          </a:xfrm>
          <a:prstGeom prst="rect">
            <a:avLst/>
          </a:prstGeom>
          <a:noFill/>
          <a:ln/>
        </p:spPr>
        <p:txBody>
          <a:bodyPr wrap="square" lIns="0" tIns="0" rIns="0" bIns="0" rtlCol="0" anchor="t"/>
          <a:lstStyle/>
          <a:p>
            <a:pPr indent="0" marL="0">
              <a:buNone/>
            </a:pPr>
            <a:r>
              <a:rPr lang="en-US" sz="1100" i="1" dirty="0">
                <a:solidFill>
                  <a:srgbClr val="5B6576"/>
                </a:solidFill>
                <a:latin typeface="Calibri" pitchFamily="34" charset="0"/>
                <a:ea typeface="Calibri" pitchFamily="34" charset="-122"/>
                <a:cs typeface="Calibri" pitchFamily="34" charset="-120"/>
              </a:rPr>
              <a:t>Paired over folds, 95% CI; the rest show no significant difference.</a:t>
            </a:r>
            <a:endParaRPr lang="en-US" sz="1100" dirty="0"/>
          </a:p>
        </p:txBody>
      </p:sp>
      <p:sp>
        <p:nvSpPr>
          <p:cNvPr id="17" name="Shape 11"/>
          <p:cNvSpPr/>
          <p:nvPr/>
        </p:nvSpPr>
        <p:spPr>
          <a:xfrm>
            <a:off x="6583680" y="4892040"/>
            <a:ext cx="5029200" cy="1691640"/>
          </a:xfrm>
          <a:prstGeom prst="roundRect">
            <a:avLst>
              <a:gd name="adj" fmla="val 4324"/>
            </a:avLst>
          </a:prstGeom>
          <a:solidFill>
            <a:srgbClr val="F6E3D6"/>
          </a:solidFill>
          <a:ln w="12700">
            <a:solidFill>
              <a:srgbClr val="F6E3D6"/>
            </a:solidFill>
            <a:prstDash val="solid"/>
          </a:ln>
        </p:spPr>
      </p:sp>
      <p:sp>
        <p:nvSpPr>
          <p:cNvPr id="18" name="Text 12"/>
          <p:cNvSpPr txBox="1"/>
          <p:nvPr/>
        </p:nvSpPr>
        <p:spPr>
          <a:xfrm>
            <a:off x="6766560" y="4983480"/>
            <a:ext cx="4709160" cy="1554480"/>
          </a:xfrm>
          <a:prstGeom prst="rect">
            <a:avLst/>
          </a:prstGeom>
          <a:noFill/>
          <a:ln/>
        </p:spPr>
        <p:txBody>
          <a:bodyPr wrap="square" lIns="0" tIns="0" rIns="0" bIns="0" rtlCol="0" anchor="ctr"/>
          <a:lstStyle/>
          <a:p>
            <a:pPr indent="0" marL="0">
              <a:spcAft>
                <a:spcPts val="200"/>
              </a:spcAft>
              <a:buNone/>
            </a:pPr>
            <a:r>
              <a:rPr lang="en-US" sz="1250" dirty="0">
                <a:solidFill>
                  <a:srgbClr val="14213D"/>
                </a:solidFill>
                <a:latin typeface="Calibri" pitchFamily="34" charset="0"/>
                <a:ea typeface="Calibri" pitchFamily="34" charset="-122"/>
                <a:cs typeface="Calibri" pitchFamily="34" charset="-120"/>
              </a:rPr>
              <a:t>From ε ≈ 0.5 published AdaSSP wins (median 4% lower MSE at ε = 1); the gap shrinks as n grows. Read the wins with care:</a:t>
            </a:r>
            <a:endParaRPr lang="en-US" sz="1250" dirty="0"/>
          </a:p>
          <a:p>
            <a:pPr marL="342900" indent="-342900">
              <a:spcAft>
                <a:spcPts val="200"/>
              </a:spcAft>
              <a:buSzPct val="100000"/>
              <a:buChar char="•"/>
            </a:pPr>
            <a:r>
              <a:rPr lang="en-US" sz="1250" dirty="0">
                <a:solidFill>
                  <a:srgbClr val="14213D"/>
                </a:solidFill>
                <a:latin typeface="Calibri" pitchFamily="34" charset="0"/>
                <a:ea typeface="Calibri" pitchFamily="34" charset="-122"/>
                <a:cs typeface="Calibri" pitchFamily="34" charset="-120"/>
              </a:rPr>
              <a:t>at ε = 0.1 both often lose to θ = 0 (ours on 13 of 29, AdaSSP on 15)</a:t>
            </a:r>
            <a:endParaRPr lang="en-US" sz="1250" dirty="0"/>
          </a:p>
          <a:p>
            <a:pPr marL="342900" indent="-342900">
              <a:spcAft>
                <a:spcPts val="200"/>
              </a:spcAft>
              <a:buSzPct val="100000"/>
              <a:buChar char="•"/>
            </a:pPr>
            <a:r>
              <a:rPr lang="en-US" sz="1250" dirty="0">
                <a:solidFill>
                  <a:srgbClr val="14213D"/>
                </a:solidFill>
                <a:latin typeface="Calibri" pitchFamily="34" charset="0"/>
                <a:ea typeface="Calibri" pitchFamily="34" charset="-122"/>
                <a:cs typeface="Calibri" pitchFamily="34" charset="-120"/>
              </a:rPr>
              <a:t>the matched baseline uses only ¾ of its μ budget, so 27 / 0 overstates the fixed ridge</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Intersection size on real data</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Test MSE ÷ non-private at the same n; nested subsets of the training folds; bars: 95% CI over folds</a:t>
            </a:r>
            <a:endParaRPr lang="en-US" sz="1600" dirty="0"/>
          </a:p>
        </p:txBody>
      </p:sp>
      <p:pic>
        <p:nvPicPr>
          <p:cNvPr id="4" name="Image 0" descr="/home/user/VerticalFederatedRegression/reports/adassp/sweep/fig_sweep_n_deck.png">    </p:cNvPr>
          <p:cNvPicPr>
            <a:picLocks noChangeAspect="1"/>
          </p:cNvPicPr>
          <p:nvPr/>
        </p:nvPicPr>
        <p:blipFill>
          <a:blip r:embed="rId1"/>
          <a:stretch>
            <a:fillRect/>
          </a:stretch>
        </p:blipFill>
        <p:spPr>
          <a:xfrm>
            <a:off x="594360" y="1463040"/>
            <a:ext cx="6309360" cy="5257800"/>
          </a:xfrm>
          <a:prstGeom prst="rect">
            <a:avLst/>
          </a:prstGeom>
        </p:spPr>
      </p:pic>
      <p:sp>
        <p:nvSpPr>
          <p:cNvPr id="5" name="Text 2"/>
          <p:cNvSpPr txBox="1"/>
          <p:nvPr/>
        </p:nvSpPr>
        <p:spPr>
          <a:xfrm>
            <a:off x="7360920" y="1508760"/>
            <a:ext cx="4297680" cy="640080"/>
          </a:xfrm>
          <a:prstGeom prst="rect">
            <a:avLst/>
          </a:prstGeom>
          <a:noFill/>
          <a:ln/>
        </p:spPr>
        <p:txBody>
          <a:bodyPr wrap="square" lIns="0" tIns="0" rIns="0" bIns="0" rtlCol="0" anchor="t"/>
          <a:lstStyle/>
          <a:p>
            <a:pPr indent="0" marL="0">
              <a:buNone/>
            </a:pPr>
            <a:r>
              <a:rPr lang="en-US" sz="1600" b="1" dirty="0">
                <a:solidFill>
                  <a:srgbClr val="14213D"/>
                </a:solidFill>
                <a:latin typeface="Cambria" pitchFamily="34" charset="0"/>
                <a:ea typeface="Cambria" pitchFamily="34" charset="-122"/>
                <a:cs typeface="Cambria" pitchFamily="34" charset="-120"/>
              </a:rPr>
              <a:t>Matched records to come within 10% of non-private</a:t>
            </a:r>
            <a:endParaRPr lang="en-US" sz="1600" dirty="0"/>
          </a:p>
        </p:txBody>
      </p:sp>
      <p:sp>
        <p:nvSpPr>
          <p:cNvPr id="6" name="Text 3"/>
          <p:cNvSpPr txBox="1"/>
          <p:nvPr/>
        </p:nvSpPr>
        <p:spPr>
          <a:xfrm>
            <a:off x="7360920" y="2148840"/>
            <a:ext cx="4297680" cy="274320"/>
          </a:xfrm>
          <a:prstGeom prst="rect">
            <a:avLst/>
          </a:prstGeom>
          <a:noFill/>
          <a:ln/>
        </p:spPr>
        <p:txBody>
          <a:bodyPr wrap="square" lIns="0" tIns="0" rIns="0" bIns="0" rtlCol="0" anchor="t"/>
          <a:lstStyle/>
          <a:p>
            <a:pPr indent="0" marL="0">
              <a:buNone/>
            </a:pPr>
            <a:r>
              <a:rPr lang="en-US" sz="1200" i="1" dirty="0">
                <a:solidFill>
                  <a:srgbClr val="5B6576"/>
                </a:solidFill>
                <a:latin typeface="Calibri" pitchFamily="34" charset="0"/>
                <a:ea typeface="Calibri" pitchFamily="34" charset="-122"/>
                <a:cs typeface="Calibri" pitchFamily="34" charset="-120"/>
              </a:rPr>
              <a:t>Ours (AdaSSP published)</a:t>
            </a:r>
            <a:endParaRPr lang="en-US" sz="1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7360920" y="2468880"/>
          <a:ext cx="9144000" cy="914400"/>
        </p:xfrm>
        <a:graphic>
          <a:graphicData uri="http://schemas.openxmlformats.org/drawingml/2006/table">
            <a:tbl>
              <a:tblPr/>
              <a:tblGrid>
                <a:gridCol w="1005840"/>
                <a:gridCol w="822960"/>
                <a:gridCol w="822960"/>
                <a:gridCol w="822960"/>
                <a:gridCol w="822960"/>
              </a:tblGrid>
              <a:tr h="329184">
                <a:tc>
                  <a:txBody>
                    <a:bodyPr/>
                    <a:lstStyle/>
                    <a:p>
                      <a:pPr algn="ctr" indent="0" marL="0">
                        <a:buNone/>
                      </a:pP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ε = 0.5</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ε = 1</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ε = 2</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ε = 4</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512064">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bike</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b="1" dirty="0">
                          <a:solidFill>
                            <a:srgbClr val="1F2937"/>
                          </a:solidFill>
                          <a:latin typeface="Calibri" pitchFamily="34" charset="0"/>
                          <a:ea typeface="Calibri" pitchFamily="34" charset="-122"/>
                          <a:cs typeface="Calibri" pitchFamily="34" charset="-120"/>
                        </a:rPr>
                        <a:t>&gt;15k</a:t>
                      </a:r>
                      <a:endParaRPr lang="en-US" sz="1250" dirty="0">
                        <a:latin typeface="Calibri" charset="0"/>
                        <a:ea typeface="Calibri" charset="0"/>
                        <a:cs typeface="Calibri" charset="0"/>
                      </a:endParaRPr>
                    </a:p>
                    <a:p>
                      <a:pPr algn="ctr" indent="0" marL="0">
                        <a:buNone/>
                      </a:pPr>
                      <a:r>
                        <a:rPr lang="en-US" sz="1100" dirty="0">
                          <a:solidFill>
                            <a:srgbClr val="5B6576"/>
                          </a:solidFill>
                          <a:latin typeface="Calibri" pitchFamily="34" charset="0"/>
                          <a:ea typeface="Calibri" pitchFamily="34" charset="-122"/>
                          <a:cs typeface="Calibri" pitchFamily="34" charset="-120"/>
                        </a:rPr>
                        <a:t>(15k)</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b="1" dirty="0">
                          <a:solidFill>
                            <a:srgbClr val="1F2937"/>
                          </a:solidFill>
                          <a:latin typeface="Calibri" pitchFamily="34" charset="0"/>
                          <a:ea typeface="Calibri" pitchFamily="34" charset="-122"/>
                          <a:cs typeface="Calibri" pitchFamily="34" charset="-120"/>
                        </a:rPr>
                        <a:t>11k</a:t>
                      </a:r>
                      <a:endParaRPr lang="en-US" sz="1250" dirty="0">
                        <a:latin typeface="Calibri" charset="0"/>
                        <a:ea typeface="Calibri" charset="0"/>
                        <a:cs typeface="Calibri" charset="0"/>
                      </a:endParaRPr>
                    </a:p>
                    <a:p>
                      <a:pPr algn="ctr" indent="0" marL="0">
                        <a:buNone/>
                      </a:pPr>
                      <a:r>
                        <a:rPr lang="en-US" sz="1100" dirty="0">
                          <a:solidFill>
                            <a:srgbClr val="5B6576"/>
                          </a:solidFill>
                          <a:latin typeface="Calibri" pitchFamily="34" charset="0"/>
                          <a:ea typeface="Calibri" pitchFamily="34" charset="-122"/>
                          <a:cs typeface="Calibri" pitchFamily="34" charset="-120"/>
                        </a:rPr>
                        <a:t>(7.5k)</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b="1" dirty="0">
                          <a:solidFill>
                            <a:srgbClr val="1F2937"/>
                          </a:solidFill>
                          <a:latin typeface="Calibri" pitchFamily="34" charset="0"/>
                          <a:ea typeface="Calibri" pitchFamily="34" charset="-122"/>
                          <a:cs typeface="Calibri" pitchFamily="34" charset="-120"/>
                        </a:rPr>
                        <a:t>5.9k</a:t>
                      </a:r>
                      <a:endParaRPr lang="en-US" sz="1250" dirty="0">
                        <a:latin typeface="Calibri" charset="0"/>
                        <a:ea typeface="Calibri" charset="0"/>
                        <a:cs typeface="Calibri" charset="0"/>
                      </a:endParaRPr>
                    </a:p>
                    <a:p>
                      <a:pPr algn="ctr" indent="0" marL="0">
                        <a:buNone/>
                      </a:pPr>
                      <a:r>
                        <a:rPr lang="en-US" sz="1100" dirty="0">
                          <a:solidFill>
                            <a:srgbClr val="5B6576"/>
                          </a:solidFill>
                          <a:latin typeface="Calibri" pitchFamily="34" charset="0"/>
                          <a:ea typeface="Calibri" pitchFamily="34" charset="-122"/>
                          <a:cs typeface="Calibri" pitchFamily="34" charset="-120"/>
                        </a:rPr>
                        <a:t>(3.8k)</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b="1" dirty="0">
                          <a:solidFill>
                            <a:srgbClr val="1F2937"/>
                          </a:solidFill>
                          <a:latin typeface="Calibri" pitchFamily="34" charset="0"/>
                          <a:ea typeface="Calibri" pitchFamily="34" charset="-122"/>
                          <a:cs typeface="Calibri" pitchFamily="34" charset="-120"/>
                        </a:rPr>
                        <a:t>3.1k</a:t>
                      </a:r>
                      <a:endParaRPr lang="en-US" sz="1250" dirty="0">
                        <a:latin typeface="Calibri" charset="0"/>
                        <a:ea typeface="Calibri" charset="0"/>
                        <a:cs typeface="Calibri" charset="0"/>
                      </a:endParaRPr>
                    </a:p>
                    <a:p>
                      <a:pPr algn="ctr" indent="0" marL="0">
                        <a:buNone/>
                      </a:pPr>
                      <a:r>
                        <a:rPr lang="en-US" sz="1100" dirty="0">
                          <a:solidFill>
                            <a:srgbClr val="5B6576"/>
                          </a:solidFill>
                          <a:latin typeface="Calibri" pitchFamily="34" charset="0"/>
                          <a:ea typeface="Calibri" pitchFamily="34" charset="-122"/>
                          <a:cs typeface="Calibri" pitchFamily="34" charset="-120"/>
                        </a:rPr>
                        <a:t>(1.8k)</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512064">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elevators</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b="1" dirty="0">
                          <a:solidFill>
                            <a:srgbClr val="1F2937"/>
                          </a:solidFill>
                          <a:latin typeface="Calibri" pitchFamily="34" charset="0"/>
                          <a:ea typeface="Calibri" pitchFamily="34" charset="-122"/>
                          <a:cs typeface="Calibri" pitchFamily="34" charset="-120"/>
                        </a:rPr>
                        <a:t>&gt;14k</a:t>
                      </a:r>
                      <a:endParaRPr lang="en-US" sz="1250" dirty="0">
                        <a:latin typeface="Calibri" charset="0"/>
                        <a:ea typeface="Calibri" charset="0"/>
                        <a:cs typeface="Calibri" charset="0"/>
                      </a:endParaRPr>
                    </a:p>
                    <a:p>
                      <a:pPr algn="ctr" indent="0" marL="0">
                        <a:buNone/>
                      </a:pPr>
                      <a:r>
                        <a:rPr lang="en-US" sz="1100" dirty="0">
                          <a:solidFill>
                            <a:srgbClr val="5B6576"/>
                          </a:solidFill>
                          <a:latin typeface="Calibri" pitchFamily="34" charset="0"/>
                          <a:ea typeface="Calibri" pitchFamily="34" charset="-122"/>
                          <a:cs typeface="Calibri" pitchFamily="34" charset="-120"/>
                        </a:rPr>
                        <a:t>(&gt;14k)</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b="1" dirty="0">
                          <a:solidFill>
                            <a:srgbClr val="1F2937"/>
                          </a:solidFill>
                          <a:latin typeface="Calibri" pitchFamily="34" charset="0"/>
                          <a:ea typeface="Calibri" pitchFamily="34" charset="-122"/>
                          <a:cs typeface="Calibri" pitchFamily="34" charset="-120"/>
                        </a:rPr>
                        <a:t>&gt;14k</a:t>
                      </a:r>
                      <a:endParaRPr lang="en-US" sz="1250" dirty="0">
                        <a:latin typeface="Calibri" charset="0"/>
                        <a:ea typeface="Calibri" charset="0"/>
                        <a:cs typeface="Calibri" charset="0"/>
                      </a:endParaRPr>
                    </a:p>
                    <a:p>
                      <a:pPr algn="ctr" indent="0" marL="0">
                        <a:buNone/>
                      </a:pPr>
                      <a:r>
                        <a:rPr lang="en-US" sz="1100" dirty="0">
                          <a:solidFill>
                            <a:srgbClr val="5B6576"/>
                          </a:solidFill>
                          <a:latin typeface="Calibri" pitchFamily="34" charset="0"/>
                          <a:ea typeface="Calibri" pitchFamily="34" charset="-122"/>
                          <a:cs typeface="Calibri" pitchFamily="34" charset="-120"/>
                        </a:rPr>
                        <a:t>(&gt;14k)</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b="1" dirty="0">
                          <a:solidFill>
                            <a:srgbClr val="1F2937"/>
                          </a:solidFill>
                          <a:latin typeface="Calibri" pitchFamily="34" charset="0"/>
                          <a:ea typeface="Calibri" pitchFamily="34" charset="-122"/>
                          <a:cs typeface="Calibri" pitchFamily="34" charset="-120"/>
                        </a:rPr>
                        <a:t>&gt;14k</a:t>
                      </a:r>
                      <a:endParaRPr lang="en-US" sz="1250" dirty="0">
                        <a:latin typeface="Calibri" charset="0"/>
                        <a:ea typeface="Calibri" charset="0"/>
                        <a:cs typeface="Calibri" charset="0"/>
                      </a:endParaRPr>
                    </a:p>
                    <a:p>
                      <a:pPr algn="ctr" indent="0" marL="0">
                        <a:buNone/>
                      </a:pPr>
                      <a:r>
                        <a:rPr lang="en-US" sz="1100" dirty="0">
                          <a:solidFill>
                            <a:srgbClr val="5B6576"/>
                          </a:solidFill>
                          <a:latin typeface="Calibri" pitchFamily="34" charset="0"/>
                          <a:ea typeface="Calibri" pitchFamily="34" charset="-122"/>
                          <a:cs typeface="Calibri" pitchFamily="34" charset="-120"/>
                        </a:rPr>
                        <a:t>(&gt;14k)</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b="1" dirty="0">
                          <a:solidFill>
                            <a:srgbClr val="1F2937"/>
                          </a:solidFill>
                          <a:latin typeface="Calibri" pitchFamily="34" charset="0"/>
                          <a:ea typeface="Calibri" pitchFamily="34" charset="-122"/>
                          <a:cs typeface="Calibri" pitchFamily="34" charset="-120"/>
                        </a:rPr>
                        <a:t>&gt;14k</a:t>
                      </a:r>
                      <a:endParaRPr lang="en-US" sz="1250" dirty="0">
                        <a:latin typeface="Calibri" charset="0"/>
                        <a:ea typeface="Calibri" charset="0"/>
                        <a:cs typeface="Calibri" charset="0"/>
                      </a:endParaRPr>
                    </a:p>
                    <a:p>
                      <a:pPr algn="ctr" indent="0" marL="0">
                        <a:buNone/>
                      </a:pPr>
                      <a:r>
                        <a:rPr lang="en-US" sz="1100" dirty="0">
                          <a:solidFill>
                            <a:srgbClr val="5B6576"/>
                          </a:solidFill>
                          <a:latin typeface="Calibri" pitchFamily="34" charset="0"/>
                          <a:ea typeface="Calibri" pitchFamily="34" charset="-122"/>
                          <a:cs typeface="Calibri" pitchFamily="34" charset="-120"/>
                        </a:rPr>
                        <a:t>(14k)</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512064">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pol</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b="1" dirty="0">
                          <a:solidFill>
                            <a:srgbClr val="1F2937"/>
                          </a:solidFill>
                          <a:latin typeface="Calibri" pitchFamily="34" charset="0"/>
                          <a:ea typeface="Calibri" pitchFamily="34" charset="-122"/>
                          <a:cs typeface="Calibri" pitchFamily="34" charset="-120"/>
                        </a:rPr>
                        <a:t>&gt;13k</a:t>
                      </a:r>
                      <a:endParaRPr lang="en-US" sz="1250" dirty="0">
                        <a:latin typeface="Calibri" charset="0"/>
                        <a:ea typeface="Calibri" charset="0"/>
                        <a:cs typeface="Calibri" charset="0"/>
                      </a:endParaRPr>
                    </a:p>
                    <a:p>
                      <a:pPr algn="ctr" indent="0" marL="0">
                        <a:buNone/>
                      </a:pPr>
                      <a:r>
                        <a:rPr lang="en-US" sz="1100" dirty="0">
                          <a:solidFill>
                            <a:srgbClr val="5B6576"/>
                          </a:solidFill>
                          <a:latin typeface="Calibri" pitchFamily="34" charset="0"/>
                          <a:ea typeface="Calibri" pitchFamily="34" charset="-122"/>
                          <a:cs typeface="Calibri" pitchFamily="34" charset="-120"/>
                        </a:rPr>
                        <a:t>(&gt;13k)</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b="1" dirty="0">
                          <a:solidFill>
                            <a:srgbClr val="1F2937"/>
                          </a:solidFill>
                          <a:latin typeface="Calibri" pitchFamily="34" charset="0"/>
                          <a:ea typeface="Calibri" pitchFamily="34" charset="-122"/>
                          <a:cs typeface="Calibri" pitchFamily="34" charset="-120"/>
                        </a:rPr>
                        <a:t>10k</a:t>
                      </a:r>
                      <a:endParaRPr lang="en-US" sz="1250" dirty="0">
                        <a:latin typeface="Calibri" charset="0"/>
                        <a:ea typeface="Calibri" charset="0"/>
                        <a:cs typeface="Calibri" charset="0"/>
                      </a:endParaRPr>
                    </a:p>
                    <a:p>
                      <a:pPr algn="ctr" indent="0" marL="0">
                        <a:buNone/>
                      </a:pPr>
                      <a:r>
                        <a:rPr lang="en-US" sz="1100" dirty="0">
                          <a:solidFill>
                            <a:srgbClr val="5B6576"/>
                          </a:solidFill>
                          <a:latin typeface="Calibri" pitchFamily="34" charset="0"/>
                          <a:ea typeface="Calibri" pitchFamily="34" charset="-122"/>
                          <a:cs typeface="Calibri" pitchFamily="34" charset="-120"/>
                        </a:rPr>
                        <a:t>(7.0k)</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b="1" dirty="0">
                          <a:solidFill>
                            <a:srgbClr val="1F2937"/>
                          </a:solidFill>
                          <a:latin typeface="Calibri" pitchFamily="34" charset="0"/>
                          <a:ea typeface="Calibri" pitchFamily="34" charset="-122"/>
                          <a:cs typeface="Calibri" pitchFamily="34" charset="-120"/>
                        </a:rPr>
                        <a:t>5.3k</a:t>
                      </a:r>
                      <a:endParaRPr lang="en-US" sz="1250" dirty="0">
                        <a:latin typeface="Calibri" charset="0"/>
                        <a:ea typeface="Calibri" charset="0"/>
                        <a:cs typeface="Calibri" charset="0"/>
                      </a:endParaRPr>
                    </a:p>
                    <a:p>
                      <a:pPr algn="ctr" indent="0" marL="0">
                        <a:buNone/>
                      </a:pPr>
                      <a:r>
                        <a:rPr lang="en-US" sz="1100" dirty="0">
                          <a:solidFill>
                            <a:srgbClr val="5B6576"/>
                          </a:solidFill>
                          <a:latin typeface="Calibri" pitchFamily="34" charset="0"/>
                          <a:ea typeface="Calibri" pitchFamily="34" charset="-122"/>
                          <a:cs typeface="Calibri" pitchFamily="34" charset="-120"/>
                        </a:rPr>
                        <a:t>(3.5k)</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b="1" dirty="0">
                          <a:solidFill>
                            <a:srgbClr val="1F2937"/>
                          </a:solidFill>
                          <a:latin typeface="Calibri" pitchFamily="34" charset="0"/>
                          <a:ea typeface="Calibri" pitchFamily="34" charset="-122"/>
                          <a:cs typeface="Calibri" pitchFamily="34" charset="-120"/>
                        </a:rPr>
                        <a:t>2.8k</a:t>
                      </a:r>
                      <a:endParaRPr lang="en-US" sz="1250" dirty="0">
                        <a:latin typeface="Calibri" charset="0"/>
                        <a:ea typeface="Calibri" charset="0"/>
                        <a:cs typeface="Calibri" charset="0"/>
                      </a:endParaRPr>
                    </a:p>
                    <a:p>
                      <a:pPr algn="ctr" indent="0" marL="0">
                        <a:buNone/>
                      </a:pPr>
                      <a:r>
                        <a:rPr lang="en-US" sz="1100" dirty="0">
                          <a:solidFill>
                            <a:srgbClr val="5B6576"/>
                          </a:solidFill>
                          <a:latin typeface="Calibri" pitchFamily="34" charset="0"/>
                          <a:ea typeface="Calibri" pitchFamily="34" charset="-122"/>
                          <a:cs typeface="Calibri" pitchFamily="34" charset="-120"/>
                        </a:rPr>
                        <a:t>(1.7k)</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512064">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protein</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b="1" dirty="0">
                          <a:solidFill>
                            <a:srgbClr val="1F2937"/>
                          </a:solidFill>
                          <a:latin typeface="Calibri" pitchFamily="34" charset="0"/>
                          <a:ea typeface="Calibri" pitchFamily="34" charset="-122"/>
                          <a:cs typeface="Calibri" pitchFamily="34" charset="-120"/>
                        </a:rPr>
                        <a:t>5.4k</a:t>
                      </a:r>
                      <a:endParaRPr lang="en-US" sz="1250" dirty="0">
                        <a:latin typeface="Calibri" charset="0"/>
                        <a:ea typeface="Calibri" charset="0"/>
                        <a:cs typeface="Calibri" charset="0"/>
                      </a:endParaRPr>
                    </a:p>
                    <a:p>
                      <a:pPr algn="ctr" indent="0" marL="0">
                        <a:buNone/>
                      </a:pPr>
                      <a:r>
                        <a:rPr lang="en-US" sz="1100" dirty="0">
                          <a:solidFill>
                            <a:srgbClr val="5B6576"/>
                          </a:solidFill>
                          <a:latin typeface="Calibri" pitchFamily="34" charset="0"/>
                          <a:ea typeface="Calibri" pitchFamily="34" charset="-122"/>
                          <a:cs typeface="Calibri" pitchFamily="34" charset="-120"/>
                        </a:rPr>
                        <a:t>(3.7k)</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b="1" dirty="0">
                          <a:solidFill>
                            <a:srgbClr val="1F2937"/>
                          </a:solidFill>
                          <a:latin typeface="Calibri" pitchFamily="34" charset="0"/>
                          <a:ea typeface="Calibri" pitchFamily="34" charset="-122"/>
                          <a:cs typeface="Calibri" pitchFamily="34" charset="-120"/>
                        </a:rPr>
                        <a:t>2.8k</a:t>
                      </a:r>
                      <a:endParaRPr lang="en-US" sz="1250" dirty="0">
                        <a:latin typeface="Calibri" charset="0"/>
                        <a:ea typeface="Calibri" charset="0"/>
                        <a:cs typeface="Calibri" charset="0"/>
                      </a:endParaRPr>
                    </a:p>
                    <a:p>
                      <a:pPr algn="ctr" indent="0" marL="0">
                        <a:buNone/>
                      </a:pPr>
                      <a:r>
                        <a:rPr lang="en-US" sz="1100" dirty="0">
                          <a:solidFill>
                            <a:srgbClr val="5B6576"/>
                          </a:solidFill>
                          <a:latin typeface="Calibri" pitchFamily="34" charset="0"/>
                          <a:ea typeface="Calibri" pitchFamily="34" charset="-122"/>
                          <a:cs typeface="Calibri" pitchFamily="34" charset="-120"/>
                        </a:rPr>
                        <a:t>(1.7k)</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b="1" dirty="0">
                          <a:solidFill>
                            <a:srgbClr val="1F2937"/>
                          </a:solidFill>
                          <a:latin typeface="Calibri" pitchFamily="34" charset="0"/>
                          <a:ea typeface="Calibri" pitchFamily="34" charset="-122"/>
                          <a:cs typeface="Calibri" pitchFamily="34" charset="-120"/>
                        </a:rPr>
                        <a:t>1.4k</a:t>
                      </a:r>
                      <a:endParaRPr lang="en-US" sz="1250" dirty="0">
                        <a:latin typeface="Calibri" charset="0"/>
                        <a:ea typeface="Calibri" charset="0"/>
                        <a:cs typeface="Calibri" charset="0"/>
                      </a:endParaRPr>
                    </a:p>
                    <a:p>
                      <a:pPr algn="ctr" indent="0" marL="0">
                        <a:buNone/>
                      </a:pPr>
                      <a:r>
                        <a:rPr lang="en-US" sz="1100" dirty="0">
                          <a:solidFill>
                            <a:srgbClr val="5B6576"/>
                          </a:solidFill>
                          <a:latin typeface="Calibri" pitchFamily="34" charset="0"/>
                          <a:ea typeface="Calibri" pitchFamily="34" charset="-122"/>
                          <a:cs typeface="Calibri" pitchFamily="34" charset="-120"/>
                        </a:rPr>
                        <a:t>(784)</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b="1" dirty="0">
                          <a:solidFill>
                            <a:srgbClr val="1F2937"/>
                          </a:solidFill>
                          <a:latin typeface="Calibri" pitchFamily="34" charset="0"/>
                          <a:ea typeface="Calibri" pitchFamily="34" charset="-122"/>
                          <a:cs typeface="Calibri" pitchFamily="34" charset="-120"/>
                        </a:rPr>
                        <a:t>619</a:t>
                      </a:r>
                      <a:endParaRPr lang="en-US" sz="1250" dirty="0">
                        <a:latin typeface="Calibri" charset="0"/>
                        <a:ea typeface="Calibri" charset="0"/>
                        <a:cs typeface="Calibri" charset="0"/>
                      </a:endParaRPr>
                    </a:p>
                    <a:p>
                      <a:pPr algn="ctr" indent="0" marL="0">
                        <a:buNone/>
                      </a:pPr>
                      <a:r>
                        <a:rPr lang="en-US" sz="1100" dirty="0">
                          <a:solidFill>
                            <a:srgbClr val="5B6576"/>
                          </a:solidFill>
                          <a:latin typeface="Calibri" pitchFamily="34" charset="0"/>
                          <a:ea typeface="Calibri" pitchFamily="34" charset="-122"/>
                          <a:cs typeface="Calibri" pitchFamily="34" charset="-120"/>
                        </a:rPr>
                        <a:t>(295)</a:t>
                      </a:r>
                      <a:endParaRPr lang="en-US" sz="1250" dirty="0">
                        <a:latin typeface="Calibri" charset="0"/>
                        <a:ea typeface="Calibri" charset="0"/>
                        <a:cs typeface="Calibri" charset="0"/>
                      </a:endParaRPr>
                    </a:p>
                  </a:txBody>
                  <a:tcPr marL="38100" marR="38100" marT="25400" marB="254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8" name="Text 4"/>
          <p:cNvSpPr txBox="1"/>
          <p:nvPr/>
        </p:nvSpPr>
        <p:spPr>
          <a:xfrm>
            <a:off x="7360920" y="5029200"/>
            <a:ext cx="4297680" cy="13716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Doubling ε roughly halves the records needed</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Ours needs about 1.5–2× the records AdaSSP needs for the same cost</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elevators stays above 10% at every size available (up to 14.9k)</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Calibration in practice: from ε to σ and λ</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Every input is public and committed before any data are seen</a:t>
            </a:r>
            <a:endParaRPr lang="en-US" sz="1600" dirty="0"/>
          </a:p>
        </p:txBody>
      </p:sp>
      <p:sp>
        <p:nvSpPr>
          <p:cNvPr id="4" name="Shape 2"/>
          <p:cNvSpPr/>
          <p:nvPr/>
        </p:nvSpPr>
        <p:spPr>
          <a:xfrm>
            <a:off x="868680" y="1783080"/>
            <a:ext cx="8961120" cy="0"/>
          </a:xfrm>
          <a:prstGeom prst="line">
            <a:avLst/>
          </a:prstGeom>
          <a:noFill/>
          <a:ln w="25400">
            <a:solidFill>
              <a:srgbClr val="C9D3E0"/>
            </a:solidFill>
            <a:prstDash val="solid"/>
          </a:ln>
        </p:spPr>
      </p:sp>
      <p:sp>
        <p:nvSpPr>
          <p:cNvPr id="5" name="Shape 3"/>
          <p:cNvSpPr/>
          <p:nvPr/>
        </p:nvSpPr>
        <p:spPr>
          <a:xfrm>
            <a:off x="548640" y="1463040"/>
            <a:ext cx="640080" cy="640080"/>
          </a:xfrm>
          <a:prstGeom prst="ellipse">
            <a:avLst/>
          </a:prstGeom>
          <a:solidFill>
            <a:srgbClr val="14213D"/>
          </a:solidFill>
          <a:ln w="12700">
            <a:solidFill>
              <a:srgbClr val="14213D"/>
            </a:solidFill>
            <a:prstDash val="solid"/>
          </a:ln>
        </p:spPr>
      </p:sp>
      <p:sp>
        <p:nvSpPr>
          <p:cNvPr id="6" name="Text 4"/>
          <p:cNvSpPr txBox="1"/>
          <p:nvPr/>
        </p:nvSpPr>
        <p:spPr>
          <a:xfrm>
            <a:off x="548640" y="146304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298448" y="1572768"/>
            <a:ext cx="1371600" cy="41148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δ</a:t>
            </a:r>
            <a:endParaRPr lang="en-US" sz="1800" dirty="0"/>
          </a:p>
        </p:txBody>
      </p:sp>
      <p:sp>
        <p:nvSpPr>
          <p:cNvPr id="8" name="Shape 6"/>
          <p:cNvSpPr/>
          <p:nvPr/>
        </p:nvSpPr>
        <p:spPr>
          <a:xfrm>
            <a:off x="548640" y="2286000"/>
            <a:ext cx="2103120" cy="1965960"/>
          </a:xfrm>
          <a:prstGeom prst="roundRect">
            <a:avLst>
              <a:gd name="adj" fmla="val 3721"/>
            </a:avLst>
          </a:prstGeom>
          <a:solidFill>
            <a:srgbClr val="EEF2F7"/>
          </a:solidFill>
          <a:ln w="12700">
            <a:solidFill>
              <a:srgbClr val="EEF2F7"/>
            </a:solidFill>
            <a:prstDash val="solid"/>
          </a:ln>
        </p:spPr>
      </p:sp>
      <p:pic>
        <p:nvPicPr>
          <p:cNvPr id="9" name="Image 0" descr="/home/user/VerticalFederatedRegression/slides/assets/eq/cal_delta.png">    </p:cNvPr>
          <p:cNvPicPr>
            <a:picLocks noChangeAspect="1"/>
          </p:cNvPicPr>
          <p:nvPr/>
        </p:nvPicPr>
        <p:blipFill>
          <a:blip r:embed="rId1"/>
          <a:stretch>
            <a:fillRect/>
          </a:stretch>
        </p:blipFill>
        <p:spPr>
          <a:xfrm>
            <a:off x="685800" y="2423160"/>
            <a:ext cx="1082916" cy="227743"/>
          </a:xfrm>
          <a:prstGeom prst="rect">
            <a:avLst/>
          </a:prstGeom>
        </p:spPr>
      </p:pic>
      <p:sp>
        <p:nvSpPr>
          <p:cNvPr id="10" name="Text 7"/>
          <p:cNvSpPr txBox="1"/>
          <p:nvPr/>
        </p:nvSpPr>
        <p:spPr>
          <a:xfrm>
            <a:off x="685800" y="3291840"/>
            <a:ext cx="1828800" cy="914400"/>
          </a:xfrm>
          <a:prstGeom prst="rect">
            <a:avLst/>
          </a:prstGeom>
          <a:noFill/>
          <a:ln/>
        </p:spPr>
        <p:txBody>
          <a:bodyPr wrap="square" lIns="0" tIns="0" rIns="0" bIns="0" rtlCol="0" anchor="t"/>
          <a:lstStyle/>
          <a:p>
            <a:pPr indent="0" marL="0">
              <a:buNone/>
            </a:pPr>
            <a:r>
              <a:rPr lang="en-US" sz="1100" dirty="0">
                <a:solidFill>
                  <a:srgbClr val="5B6576"/>
                </a:solidFill>
                <a:latin typeface="Calibri" pitchFamily="34" charset="0"/>
                <a:ea typeface="Calibri" pitchFamily="34" charset="-122"/>
                <a:cs typeface="Calibri" pitchFamily="34" charset="-120"/>
              </a:rPr>
              <a:t>N = people O protects. 10</a:t>
            </a:r>
            <a:r>
              <a:rPr lang="en-US" sz="1100" baseline="30000" dirty="0">
                <a:solidFill>
                  <a:srgbClr val="5B6576"/>
                </a:solidFill>
                <a:latin typeface="Calibri" pitchFamily="34" charset="0"/>
                <a:ea typeface="Calibri" pitchFamily="34" charset="-122"/>
                <a:cs typeface="Calibri" pitchFamily="34" charset="-120"/>
              </a:rPr>
              <a:t>−5</a:t>
            </a:r>
            <a:r>
              <a:rPr lang="en-US" sz="1100" dirty="0">
                <a:solidFill>
                  <a:srgbClr val="5B6576"/>
                </a:solidFill>
                <a:latin typeface="Calibri" pitchFamily="34" charset="0"/>
                <a:ea typeface="Calibri" pitchFamily="34" charset="-122"/>
                <a:cs typeface="Calibri" pitchFamily="34" charset="-120"/>
              </a:rPr>
              <a:t> → 10</a:t>
            </a:r>
            <a:r>
              <a:rPr lang="en-US" sz="1100" baseline="30000" dirty="0">
                <a:solidFill>
                  <a:srgbClr val="5B6576"/>
                </a:solidFill>
                <a:latin typeface="Calibri" pitchFamily="34" charset="0"/>
                <a:ea typeface="Calibri" pitchFamily="34" charset="-122"/>
                <a:cs typeface="Calibri" pitchFamily="34" charset="-120"/>
              </a:rPr>
              <a:t>−8</a:t>
            </a:r>
            <a:r>
              <a:rPr lang="en-US" sz="1100" dirty="0">
                <a:solidFill>
                  <a:srgbClr val="5B6576"/>
                </a:solidFill>
                <a:latin typeface="Calibri" pitchFamily="34" charset="0"/>
                <a:ea typeface="Calibri" pitchFamily="34" charset="-122"/>
                <a:cs typeface="Calibri" pitchFamily="34" charset="-120"/>
              </a:rPr>
              <a:t> raises σ by only 25–50%</a:t>
            </a:r>
            <a:endParaRPr lang="en-US" sz="1100" dirty="0"/>
          </a:p>
        </p:txBody>
      </p:sp>
      <p:sp>
        <p:nvSpPr>
          <p:cNvPr id="11" name="Shape 8"/>
          <p:cNvSpPr/>
          <p:nvPr/>
        </p:nvSpPr>
        <p:spPr>
          <a:xfrm>
            <a:off x="2788920" y="1463040"/>
            <a:ext cx="640080" cy="640080"/>
          </a:xfrm>
          <a:prstGeom prst="ellipse">
            <a:avLst/>
          </a:prstGeom>
          <a:solidFill>
            <a:srgbClr val="14213D"/>
          </a:solidFill>
          <a:ln w="12700">
            <a:solidFill>
              <a:srgbClr val="14213D"/>
            </a:solidFill>
            <a:prstDash val="solid"/>
          </a:ln>
        </p:spPr>
      </p:sp>
      <p:sp>
        <p:nvSpPr>
          <p:cNvPr id="12" name="Text 9"/>
          <p:cNvSpPr txBox="1"/>
          <p:nvPr/>
        </p:nvSpPr>
        <p:spPr>
          <a:xfrm>
            <a:off x="2788920" y="146304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0"/>
          <p:cNvSpPr txBox="1"/>
          <p:nvPr/>
        </p:nvSpPr>
        <p:spPr>
          <a:xfrm>
            <a:off x="3538728" y="1572768"/>
            <a:ext cx="1371600" cy="41148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Budget</a:t>
            </a:r>
            <a:endParaRPr lang="en-US" sz="1800" dirty="0"/>
          </a:p>
        </p:txBody>
      </p:sp>
      <p:sp>
        <p:nvSpPr>
          <p:cNvPr id="14" name="Shape 11"/>
          <p:cNvSpPr/>
          <p:nvPr/>
        </p:nvSpPr>
        <p:spPr>
          <a:xfrm>
            <a:off x="2788920" y="2286000"/>
            <a:ext cx="2103120" cy="1965960"/>
          </a:xfrm>
          <a:prstGeom prst="roundRect">
            <a:avLst>
              <a:gd name="adj" fmla="val 3721"/>
            </a:avLst>
          </a:prstGeom>
          <a:solidFill>
            <a:srgbClr val="EEF2F7"/>
          </a:solidFill>
          <a:ln w="12700">
            <a:solidFill>
              <a:srgbClr val="EEF2F7"/>
            </a:solidFill>
            <a:prstDash val="solid"/>
          </a:ln>
        </p:spPr>
      </p:sp>
      <p:pic>
        <p:nvPicPr>
          <p:cNvPr id="15" name="Image 1" descr="/home/user/VerticalFederatedRegression/slides/assets/eq/cal_budget.png">    </p:cNvPr>
          <p:cNvPicPr>
            <a:picLocks noChangeAspect="1"/>
          </p:cNvPicPr>
          <p:nvPr/>
        </p:nvPicPr>
        <p:blipFill>
          <a:blip r:embed="rId2"/>
          <a:stretch>
            <a:fillRect/>
          </a:stretch>
        </p:blipFill>
        <p:spPr>
          <a:xfrm>
            <a:off x="2926080" y="2423160"/>
            <a:ext cx="1828800" cy="758128"/>
          </a:xfrm>
          <a:prstGeom prst="rect">
            <a:avLst/>
          </a:prstGeom>
        </p:spPr>
      </p:pic>
      <p:sp>
        <p:nvSpPr>
          <p:cNvPr id="16" name="Text 12"/>
          <p:cNvSpPr txBox="1"/>
          <p:nvPr/>
        </p:nvSpPr>
        <p:spPr>
          <a:xfrm>
            <a:off x="2926080" y="3291840"/>
            <a:ext cx="1828800" cy="914400"/>
          </a:xfrm>
          <a:prstGeom prst="rect">
            <a:avLst/>
          </a:prstGeom>
          <a:noFill/>
          <a:ln/>
        </p:spPr>
        <p:txBody>
          <a:bodyPr wrap="square" lIns="0" tIns="0" rIns="0" bIns="0" rtlCol="0" anchor="t"/>
          <a:lstStyle/>
          <a:p>
            <a:pPr indent="0" marL="0">
              <a:buNone/>
            </a:pPr>
            <a:r>
              <a:rPr lang="en-US" sz="1100" dirty="0">
                <a:solidFill>
                  <a:srgbClr val="5B6576"/>
                </a:solidFill>
                <a:latin typeface="Calibri" pitchFamily="34" charset="0"/>
                <a:ea typeface="Calibri" pitchFamily="34" charset="-122"/>
                <a:cs typeface="Calibri" pitchFamily="34" charset="-120"/>
              </a:rPr>
              <a:t>L = ln(1/δ); zCDP adds up across releases</a:t>
            </a:r>
            <a:endParaRPr lang="en-US" sz="1100" dirty="0"/>
          </a:p>
        </p:txBody>
      </p:sp>
      <p:sp>
        <p:nvSpPr>
          <p:cNvPr id="17" name="Shape 13"/>
          <p:cNvSpPr/>
          <p:nvPr/>
        </p:nvSpPr>
        <p:spPr>
          <a:xfrm>
            <a:off x="5029200" y="1463040"/>
            <a:ext cx="640080" cy="640080"/>
          </a:xfrm>
          <a:prstGeom prst="ellipse">
            <a:avLst/>
          </a:prstGeom>
          <a:solidFill>
            <a:srgbClr val="14213D"/>
          </a:solidFill>
          <a:ln w="12700">
            <a:solidFill>
              <a:srgbClr val="14213D"/>
            </a:solidFill>
            <a:prstDash val="solid"/>
          </a:ln>
        </p:spPr>
      </p:sp>
      <p:sp>
        <p:nvSpPr>
          <p:cNvPr id="18" name="Text 14"/>
          <p:cNvSpPr txBox="1"/>
          <p:nvPr/>
        </p:nvSpPr>
        <p:spPr>
          <a:xfrm>
            <a:off x="5029200" y="146304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5"/>
          <p:cNvSpPr txBox="1"/>
          <p:nvPr/>
        </p:nvSpPr>
        <p:spPr>
          <a:xfrm>
            <a:off x="5779008" y="1572768"/>
            <a:ext cx="1371600" cy="41148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Δ</a:t>
            </a:r>
            <a:endParaRPr lang="en-US" sz="1800" dirty="0"/>
          </a:p>
        </p:txBody>
      </p:sp>
      <p:sp>
        <p:nvSpPr>
          <p:cNvPr id="20" name="Shape 16"/>
          <p:cNvSpPr/>
          <p:nvPr/>
        </p:nvSpPr>
        <p:spPr>
          <a:xfrm>
            <a:off x="5029200" y="2286000"/>
            <a:ext cx="2103120" cy="1965960"/>
          </a:xfrm>
          <a:prstGeom prst="roundRect">
            <a:avLst>
              <a:gd name="adj" fmla="val 3721"/>
            </a:avLst>
          </a:prstGeom>
          <a:solidFill>
            <a:srgbClr val="EEF2F7"/>
          </a:solidFill>
          <a:ln w="12700">
            <a:solidFill>
              <a:srgbClr val="EEF2F7"/>
            </a:solidFill>
            <a:prstDash val="solid"/>
          </a:ln>
        </p:spPr>
      </p:sp>
      <p:pic>
        <p:nvPicPr>
          <p:cNvPr id="21" name="Image 2" descr="/home/user/VerticalFederatedRegression/slides/assets/eq/cal_Delta.png">    </p:cNvPr>
          <p:cNvPicPr>
            <a:picLocks noChangeAspect="1"/>
          </p:cNvPicPr>
          <p:nvPr/>
        </p:nvPicPr>
        <p:blipFill>
          <a:blip r:embed="rId3"/>
          <a:stretch>
            <a:fillRect/>
          </a:stretch>
        </p:blipFill>
        <p:spPr>
          <a:xfrm>
            <a:off x="5166360" y="2423160"/>
            <a:ext cx="1828800" cy="535549"/>
          </a:xfrm>
          <a:prstGeom prst="rect">
            <a:avLst/>
          </a:prstGeom>
        </p:spPr>
      </p:pic>
      <p:sp>
        <p:nvSpPr>
          <p:cNvPr id="22" name="Text 17"/>
          <p:cNvSpPr txBox="1"/>
          <p:nvPr/>
        </p:nvSpPr>
        <p:spPr>
          <a:xfrm>
            <a:off x="5166360" y="3291840"/>
            <a:ext cx="1828800" cy="914400"/>
          </a:xfrm>
          <a:prstGeom prst="rect">
            <a:avLst/>
          </a:prstGeom>
          <a:noFill/>
          <a:ln/>
        </p:spPr>
        <p:txBody>
          <a:bodyPr wrap="square" lIns="0" tIns="0" rIns="0" bIns="0" rtlCol="0" anchor="t"/>
          <a:lstStyle/>
          <a:p>
            <a:pPr indent="0" marL="0">
              <a:buNone/>
            </a:pPr>
            <a:r>
              <a:rPr lang="en-US" sz="1100" dirty="0">
                <a:solidFill>
                  <a:srgbClr val="5B6576"/>
                </a:solidFill>
                <a:latin typeface="Calibri" pitchFamily="34" charset="0"/>
                <a:ea typeface="Calibri" pitchFamily="34" charset="-122"/>
                <a:cs typeface="Calibri" pitchFamily="34" charset="-120"/>
              </a:rPr>
              <a:t>R, O, Y = B</a:t>
            </a:r>
            <a:r>
              <a:rPr lang="en-US" sz="1100" baseline="-25000" dirty="0">
                <a:solidFill>
                  <a:srgbClr val="5B6576"/>
                </a:solidFill>
                <a:latin typeface="Calibri" pitchFamily="34" charset="0"/>
                <a:ea typeface="Calibri" pitchFamily="34" charset="-122"/>
                <a:cs typeface="Calibri" pitchFamily="34" charset="-120"/>
              </a:rPr>
              <a:t>R</a:t>
            </a:r>
            <a:r>
              <a:rPr lang="en-US" sz="1100" baseline="30000" dirty="0">
                <a:solidFill>
                  <a:srgbClr val="5B6576"/>
                </a:solidFill>
                <a:latin typeface="Calibri" pitchFamily="34" charset="0"/>
                <a:ea typeface="Calibri" pitchFamily="34" charset="-122"/>
                <a:cs typeface="Calibri" pitchFamily="34" charset="-120"/>
              </a:rPr>
              <a:t>2</a:t>
            </a:r>
            <a:r>
              <a:rPr lang="en-US" sz="1100" dirty="0">
                <a:solidFill>
                  <a:srgbClr val="5B6576"/>
                </a:solidFill>
                <a:latin typeface="Calibri" pitchFamily="34" charset="0"/>
                <a:ea typeface="Calibri" pitchFamily="34" charset="-122"/>
                <a:cs typeface="Calibri" pitchFamily="34" charset="-120"/>
              </a:rPr>
              <a:t>, B</a:t>
            </a:r>
            <a:r>
              <a:rPr lang="en-US" sz="1100" baseline="-25000" dirty="0">
                <a:solidFill>
                  <a:srgbClr val="5B6576"/>
                </a:solidFill>
                <a:latin typeface="Calibri" pitchFamily="34" charset="0"/>
                <a:ea typeface="Calibri" pitchFamily="34" charset="-122"/>
                <a:cs typeface="Calibri" pitchFamily="34" charset="-120"/>
              </a:rPr>
              <a:t>O</a:t>
            </a:r>
            <a:r>
              <a:rPr lang="en-US" sz="1100" baseline="30000" dirty="0">
                <a:solidFill>
                  <a:srgbClr val="5B6576"/>
                </a:solidFill>
                <a:latin typeface="Calibri" pitchFamily="34" charset="0"/>
                <a:ea typeface="Calibri" pitchFamily="34" charset="-122"/>
                <a:cs typeface="Calibri" pitchFamily="34" charset="-120"/>
              </a:rPr>
              <a:t>2</a:t>
            </a:r>
            <a:r>
              <a:rPr lang="en-US" sz="1100" dirty="0">
                <a:solidFill>
                  <a:srgbClr val="5B6576"/>
                </a:solidFill>
                <a:latin typeface="Calibri" pitchFamily="34" charset="0"/>
                <a:ea typeface="Calibri" pitchFamily="34" charset="-122"/>
                <a:cs typeface="Calibri" pitchFamily="34" charset="-120"/>
              </a:rPr>
              <a:t>, B</a:t>
            </a:r>
            <a:r>
              <a:rPr lang="en-US" sz="1100" baseline="-25000" dirty="0">
                <a:solidFill>
                  <a:srgbClr val="5B6576"/>
                </a:solidFill>
                <a:latin typeface="Calibri" pitchFamily="34" charset="0"/>
                <a:ea typeface="Calibri" pitchFamily="34" charset="-122"/>
                <a:cs typeface="Calibri" pitchFamily="34" charset="-120"/>
              </a:rPr>
              <a:t>y</a:t>
            </a:r>
            <a:r>
              <a:rPr lang="en-US" sz="1100" baseline="30000" dirty="0">
                <a:solidFill>
                  <a:srgbClr val="5B6576"/>
                </a:solidFill>
                <a:latin typeface="Calibri" pitchFamily="34" charset="0"/>
                <a:ea typeface="Calibri" pitchFamily="34" charset="-122"/>
                <a:cs typeface="Calibri" pitchFamily="34" charset="-120"/>
              </a:rPr>
              <a:t>2</a:t>
            </a:r>
            <a:r>
              <a:rPr lang="en-US" sz="1100" dirty="0">
                <a:solidFill>
                  <a:srgbClr val="5B6576"/>
                </a:solidFill>
                <a:latin typeface="Calibri" pitchFamily="34" charset="0"/>
                <a:ea typeface="Calibri" pitchFamily="34" charset="-122"/>
                <a:cs typeface="Calibri" pitchFamily="34" charset="-120"/>
              </a:rPr>
              <a:t> (usual case, exact). y</a:t>
            </a:r>
            <a:r>
              <a:rPr lang="en-US" sz="1100" baseline="30000" dirty="0">
                <a:solidFill>
                  <a:srgbClr val="5B6576"/>
                </a:solidFill>
                <a:latin typeface="Calibri" pitchFamily="34" charset="0"/>
                <a:ea typeface="Calibri" pitchFamily="34" charset="-122"/>
                <a:cs typeface="Calibri" pitchFamily="34" charset="-120"/>
              </a:rPr>
              <a:t>T</a:t>
            </a:r>
            <a:r>
              <a:rPr lang="en-US" sz="1100" dirty="0">
                <a:solidFill>
                  <a:srgbClr val="5B6576"/>
                </a:solidFill>
                <a:latin typeface="Calibri" pitchFamily="34" charset="0"/>
                <a:ea typeface="Calibri" pitchFamily="34" charset="-122"/>
                <a:cs typeface="Calibri" pitchFamily="34" charset="-120"/>
              </a:rPr>
              <a:t>y is free if Y ≤ 2(R + O)</a:t>
            </a:r>
            <a:endParaRPr lang="en-US" sz="1100" dirty="0"/>
          </a:p>
        </p:txBody>
      </p:sp>
      <p:sp>
        <p:nvSpPr>
          <p:cNvPr id="23" name="Shape 18"/>
          <p:cNvSpPr/>
          <p:nvPr/>
        </p:nvSpPr>
        <p:spPr>
          <a:xfrm>
            <a:off x="7269480" y="1463040"/>
            <a:ext cx="640080" cy="640080"/>
          </a:xfrm>
          <a:prstGeom prst="ellipse">
            <a:avLst/>
          </a:prstGeom>
          <a:solidFill>
            <a:srgbClr val="C45A0C"/>
          </a:solidFill>
          <a:ln w="12700">
            <a:solidFill>
              <a:srgbClr val="C45A0C"/>
            </a:solidFill>
            <a:prstDash val="solid"/>
          </a:ln>
        </p:spPr>
      </p:sp>
      <p:sp>
        <p:nvSpPr>
          <p:cNvPr id="24" name="Text 19"/>
          <p:cNvSpPr txBox="1"/>
          <p:nvPr/>
        </p:nvSpPr>
        <p:spPr>
          <a:xfrm>
            <a:off x="7269480" y="146304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5" name="Text 20"/>
          <p:cNvSpPr txBox="1"/>
          <p:nvPr/>
        </p:nvSpPr>
        <p:spPr>
          <a:xfrm>
            <a:off x="8019288" y="1572768"/>
            <a:ext cx="1371600" cy="41148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σ</a:t>
            </a:r>
            <a:endParaRPr lang="en-US" sz="1800" dirty="0"/>
          </a:p>
        </p:txBody>
      </p:sp>
      <p:sp>
        <p:nvSpPr>
          <p:cNvPr id="26" name="Shape 21"/>
          <p:cNvSpPr/>
          <p:nvPr/>
        </p:nvSpPr>
        <p:spPr>
          <a:xfrm>
            <a:off x="7269480" y="2286000"/>
            <a:ext cx="2103120" cy="1965960"/>
          </a:xfrm>
          <a:prstGeom prst="roundRect">
            <a:avLst>
              <a:gd name="adj" fmla="val 3721"/>
            </a:avLst>
          </a:prstGeom>
          <a:solidFill>
            <a:srgbClr val="EEF2F7"/>
          </a:solidFill>
          <a:ln w="12700">
            <a:solidFill>
              <a:srgbClr val="EEF2F7"/>
            </a:solidFill>
            <a:prstDash val="solid"/>
          </a:ln>
        </p:spPr>
      </p:sp>
      <p:pic>
        <p:nvPicPr>
          <p:cNvPr id="27" name="Image 3" descr="/home/user/VerticalFederatedRegression/slides/assets/eq/cal_sigma.png">    </p:cNvPr>
          <p:cNvPicPr>
            <a:picLocks noChangeAspect="1"/>
          </p:cNvPicPr>
          <p:nvPr/>
        </p:nvPicPr>
        <p:blipFill>
          <a:blip r:embed="rId4"/>
          <a:stretch>
            <a:fillRect/>
          </a:stretch>
        </p:blipFill>
        <p:spPr>
          <a:xfrm>
            <a:off x="7406640" y="2423160"/>
            <a:ext cx="1828800" cy="480819"/>
          </a:xfrm>
          <a:prstGeom prst="rect">
            <a:avLst/>
          </a:prstGeom>
        </p:spPr>
      </p:pic>
      <p:sp>
        <p:nvSpPr>
          <p:cNvPr id="28" name="Text 22"/>
          <p:cNvSpPr txBox="1"/>
          <p:nvPr/>
        </p:nvSpPr>
        <p:spPr>
          <a:xfrm>
            <a:off x="7406640" y="3291840"/>
            <a:ext cx="1828800" cy="914400"/>
          </a:xfrm>
          <a:prstGeom prst="rect">
            <a:avLst/>
          </a:prstGeom>
          <a:noFill/>
          <a:ln/>
        </p:spPr>
        <p:txBody>
          <a:bodyPr wrap="square" lIns="0" tIns="0" rIns="0" bIns="0" rtlCol="0" anchor="t"/>
          <a:lstStyle/>
          <a:p>
            <a:pPr indent="0" marL="0">
              <a:buNone/>
            </a:pPr>
            <a:r>
              <a:rPr lang="en-US" sz="1100" dirty="0">
                <a:solidFill>
                  <a:srgbClr val="5B6576"/>
                </a:solidFill>
                <a:latin typeface="Calibri" pitchFamily="34" charset="0"/>
                <a:ea typeface="Calibri" pitchFamily="34" charset="-122"/>
                <a:cs typeface="Calibri" pitchFamily="34" charset="-120"/>
              </a:rPr>
              <a:t>s: analytic-Gaussian multiplier (table below)</a:t>
            </a:r>
            <a:endParaRPr lang="en-US" sz="1100" dirty="0"/>
          </a:p>
        </p:txBody>
      </p:sp>
      <p:sp>
        <p:nvSpPr>
          <p:cNvPr id="29" name="Shape 23"/>
          <p:cNvSpPr/>
          <p:nvPr/>
        </p:nvSpPr>
        <p:spPr>
          <a:xfrm>
            <a:off x="9509760" y="1463040"/>
            <a:ext cx="640080" cy="640080"/>
          </a:xfrm>
          <a:prstGeom prst="ellipse">
            <a:avLst/>
          </a:prstGeom>
          <a:solidFill>
            <a:srgbClr val="14213D"/>
          </a:solidFill>
          <a:ln w="12700">
            <a:solidFill>
              <a:srgbClr val="14213D"/>
            </a:solidFill>
            <a:prstDash val="solid"/>
          </a:ln>
        </p:spPr>
      </p:sp>
      <p:sp>
        <p:nvSpPr>
          <p:cNvPr id="30" name="Text 24"/>
          <p:cNvSpPr txBox="1"/>
          <p:nvPr/>
        </p:nvSpPr>
        <p:spPr>
          <a:xfrm>
            <a:off x="9509760" y="146304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1" name="Text 25"/>
          <p:cNvSpPr txBox="1"/>
          <p:nvPr/>
        </p:nvSpPr>
        <p:spPr>
          <a:xfrm>
            <a:off x="10259568" y="1572768"/>
            <a:ext cx="1371600" cy="41148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λ</a:t>
            </a:r>
            <a:endParaRPr lang="en-US" sz="1800" dirty="0"/>
          </a:p>
        </p:txBody>
      </p:sp>
      <p:sp>
        <p:nvSpPr>
          <p:cNvPr id="32" name="Shape 26"/>
          <p:cNvSpPr/>
          <p:nvPr/>
        </p:nvSpPr>
        <p:spPr>
          <a:xfrm>
            <a:off x="9509760" y="2286000"/>
            <a:ext cx="2103120" cy="1965960"/>
          </a:xfrm>
          <a:prstGeom prst="roundRect">
            <a:avLst>
              <a:gd name="adj" fmla="val 3721"/>
            </a:avLst>
          </a:prstGeom>
          <a:solidFill>
            <a:srgbClr val="EEF2F7"/>
          </a:solidFill>
          <a:ln w="12700">
            <a:solidFill>
              <a:srgbClr val="EEF2F7"/>
            </a:solidFill>
            <a:prstDash val="solid"/>
          </a:ln>
        </p:spPr>
      </p:sp>
      <p:pic>
        <p:nvPicPr>
          <p:cNvPr id="33" name="Image 4" descr="/home/user/VerticalFederatedRegression/slides/assets/eq/cal_lambda.png">    </p:cNvPr>
          <p:cNvPicPr>
            <a:picLocks noChangeAspect="1"/>
          </p:cNvPicPr>
          <p:nvPr/>
        </p:nvPicPr>
        <p:blipFill>
          <a:blip r:embed="rId5"/>
          <a:stretch>
            <a:fillRect/>
          </a:stretch>
        </p:blipFill>
        <p:spPr>
          <a:xfrm>
            <a:off x="9646920" y="2423160"/>
            <a:ext cx="1828800" cy="498582"/>
          </a:xfrm>
          <a:prstGeom prst="rect">
            <a:avLst/>
          </a:prstGeom>
        </p:spPr>
      </p:pic>
      <p:sp>
        <p:nvSpPr>
          <p:cNvPr id="34" name="Text 27"/>
          <p:cNvSpPr txBox="1"/>
          <p:nvPr/>
        </p:nvSpPr>
        <p:spPr>
          <a:xfrm>
            <a:off x="9646920" y="3291840"/>
            <a:ext cx="1828800" cy="914400"/>
          </a:xfrm>
          <a:prstGeom prst="rect">
            <a:avLst/>
          </a:prstGeom>
          <a:noFill/>
          <a:ln/>
        </p:spPr>
        <p:txBody>
          <a:bodyPr wrap="square" lIns="0" tIns="0" rIns="0" bIns="0" rtlCol="0" anchor="t"/>
          <a:lstStyle/>
          <a:p>
            <a:pPr indent="0" marL="0">
              <a:buNone/>
            </a:pPr>
            <a:r>
              <a:rPr lang="en-US" sz="1100" dirty="0">
                <a:solidFill>
                  <a:srgbClr val="5B6576"/>
                </a:solidFill>
                <a:latin typeface="Calibri" pitchFamily="34" charset="0"/>
                <a:ea typeface="Calibri" pitchFamily="34" charset="-122"/>
                <a:cs typeface="Calibri" pitchFamily="34" charset="-120"/>
              </a:rPr>
              <a:t>ρ</a:t>
            </a:r>
            <a:r>
              <a:rPr lang="en-US" sz="1100" baseline="30000" dirty="0">
                <a:solidFill>
                  <a:srgbClr val="5B6576"/>
                </a:solidFill>
                <a:latin typeface="Calibri" pitchFamily="34" charset="0"/>
                <a:ea typeface="Calibri" pitchFamily="34" charset="-122"/>
                <a:cs typeface="Calibri" pitchFamily="34" charset="-120"/>
              </a:rPr>
              <a:t>*</a:t>
            </a:r>
            <a:r>
              <a:rPr lang="en-US" sz="1100" dirty="0">
                <a:solidFill>
                  <a:srgbClr val="5B6576"/>
                </a:solidFill>
                <a:latin typeface="Calibri" pitchFamily="34" charset="0"/>
                <a:ea typeface="Calibri" pitchFamily="34" charset="-122"/>
                <a:cs typeface="Calibri" pitchFamily="34" charset="-120"/>
              </a:rPr>
              <a:t> = 2.5; ℓ public, else 0; ridge off from n = 2ρ</a:t>
            </a:r>
            <a:r>
              <a:rPr lang="en-US" sz="1100" baseline="30000" dirty="0">
                <a:solidFill>
                  <a:srgbClr val="5B6576"/>
                </a:solidFill>
                <a:latin typeface="Calibri" pitchFamily="34" charset="0"/>
                <a:ea typeface="Calibri" pitchFamily="34" charset="-122"/>
                <a:cs typeface="Calibri" pitchFamily="34" charset="-120"/>
              </a:rPr>
              <a:t>*</a:t>
            </a:r>
            <a:r>
              <a:rPr lang="en-US" sz="1100" dirty="0">
                <a:solidFill>
                  <a:srgbClr val="5B6576"/>
                </a:solidFill>
                <a:latin typeface="Calibri" pitchFamily="34" charset="0"/>
                <a:ea typeface="Calibri" pitchFamily="34" charset="-122"/>
                <a:cs typeface="Calibri" pitchFamily="34" charset="-120"/>
              </a:rPr>
              <a:t>σ√p / ℓ. v3.1: λ from stage 1</a:t>
            </a:r>
            <a:endParaRPr lang="en-US" sz="1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4572000"/>
          <a:ext cx="9144000" cy="914400"/>
        </p:xfrm>
        <a:graphic>
          <a:graphicData uri="http://schemas.openxmlformats.org/drawingml/2006/table">
            <a:tbl>
              <a:tblPr/>
              <a:tblGrid>
                <a:gridCol w="960120"/>
                <a:gridCol w="786384"/>
                <a:gridCol w="786384"/>
                <a:gridCol w="786384"/>
                <a:gridCol w="786384"/>
                <a:gridCol w="786384"/>
                <a:gridCol w="786384"/>
                <a:gridCol w="786384"/>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σ/Δ  δ \ ε</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0.25</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329184">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δ = 10</a:t>
                      </a:r>
                      <a:r>
                        <a:rPr lang="en-US" sz="1200" baseline="30000" dirty="0">
                          <a:solidFill>
                            <a:srgbClr val="1F2937"/>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30.7</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13.3</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7.03</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3.73</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1.99</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1.08</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0.6</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29184">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δ = 10</a:t>
                      </a:r>
                      <a:r>
                        <a:rPr lang="en-US" sz="1200" baseline="30000" dirty="0">
                          <a:solidFill>
                            <a:srgbClr val="1F2937"/>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36.3</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15.4</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8.06</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4.22</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2.23</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1.19</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0.653</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29184">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δ = 10</a:t>
                      </a:r>
                      <a:r>
                        <a:rPr lang="en-US" sz="1200" baseline="30000" dirty="0">
                          <a:solidFill>
                            <a:srgbClr val="1F2937"/>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45.9</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19.1</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9.86</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5.1</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2.65</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0.748</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36" name="Shape 28"/>
          <p:cNvSpPr/>
          <p:nvPr/>
        </p:nvSpPr>
        <p:spPr>
          <a:xfrm>
            <a:off x="7223760" y="4526280"/>
            <a:ext cx="4389120" cy="1600200"/>
          </a:xfrm>
          <a:prstGeom prst="roundRect">
            <a:avLst>
              <a:gd name="adj" fmla="val 4571"/>
            </a:avLst>
          </a:prstGeom>
          <a:solidFill>
            <a:srgbClr val="F6E3D6"/>
          </a:solidFill>
          <a:ln w="12700">
            <a:solidFill>
              <a:srgbClr val="F6E3D6"/>
            </a:solidFill>
            <a:prstDash val="solid"/>
          </a:ln>
        </p:spPr>
      </p:sp>
      <p:sp>
        <p:nvSpPr>
          <p:cNvPr id="37" name="Text 29"/>
          <p:cNvSpPr txBox="1"/>
          <p:nvPr/>
        </p:nvSpPr>
        <p:spPr>
          <a:xfrm>
            <a:off x="7452360" y="4617720"/>
            <a:ext cx="4023360" cy="320040"/>
          </a:xfrm>
          <a:prstGeom prst="rect">
            <a:avLst/>
          </a:prstGeom>
          <a:noFill/>
          <a:ln/>
        </p:spPr>
        <p:txBody>
          <a:bodyPr wrap="square" lIns="0" tIns="0" rIns="0" bIns="0" rtlCol="0" anchor="t"/>
          <a:lstStyle/>
          <a:p>
            <a:pPr indent="0" marL="0">
              <a:buNone/>
            </a:pPr>
            <a:r>
              <a:rPr lang="en-US" sz="1400" b="1" dirty="0">
                <a:solidFill>
                  <a:srgbClr val="C45A0C"/>
                </a:solidFill>
                <a:latin typeface="Calibri" pitchFamily="34" charset="0"/>
                <a:ea typeface="Calibri" pitchFamily="34" charset="-122"/>
                <a:cs typeface="Calibri" pitchFamily="34" charset="-120"/>
              </a:rPr>
              <a:t>Planning formula</a:t>
            </a:r>
            <a:endParaRPr lang="en-US" sz="1400" dirty="0"/>
          </a:p>
        </p:txBody>
      </p:sp>
      <p:pic>
        <p:nvPicPr>
          <p:cNvPr id="38" name="Image 5" descr="/home/user/VerticalFederatedRegression/slides/assets/eq/planning.png">    </p:cNvPr>
          <p:cNvPicPr>
            <a:picLocks noChangeAspect="1"/>
          </p:cNvPicPr>
          <p:nvPr/>
        </p:nvPicPr>
        <p:blipFill>
          <a:blip r:embed="rId6"/>
          <a:stretch>
            <a:fillRect/>
          </a:stretch>
        </p:blipFill>
        <p:spPr>
          <a:xfrm>
            <a:off x="7452360" y="4983480"/>
            <a:ext cx="3202727" cy="368731"/>
          </a:xfrm>
          <a:prstGeom prst="rect">
            <a:avLst/>
          </a:prstGeom>
        </p:spPr>
      </p:pic>
      <p:sp>
        <p:nvSpPr>
          <p:cNvPr id="39" name="Text 30"/>
          <p:cNvSpPr txBox="1"/>
          <p:nvPr/>
        </p:nvSpPr>
        <p:spPr>
          <a:xfrm>
            <a:off x="7452360" y="5413248"/>
            <a:ext cx="4023360" cy="685800"/>
          </a:xfrm>
          <a:prstGeom prst="rect">
            <a:avLst/>
          </a:prstGeom>
          <a:noFill/>
          <a:ln/>
        </p:spPr>
        <p:txBody>
          <a:bodyPr wrap="square" lIns="0" tIns="0" rIns="0" bIns="0" rtlCol="0" anchor="t"/>
          <a:lstStyle/>
          <a:p>
            <a:pPr indent="0" marL="0">
              <a:buNone/>
            </a:pPr>
            <a:r>
              <a:rPr lang="en-US" sz="1150" dirty="0">
                <a:solidFill>
                  <a:srgbClr val="5B6576"/>
                </a:solidFill>
                <a:latin typeface="Calibri" pitchFamily="34" charset="0"/>
                <a:ea typeface="Calibri" pitchFamily="34" charset="-122"/>
                <a:cs typeface="Calibri" pitchFamily="34" charset="-120"/>
              </a:rPr>
              <a:t>Within −8% to +3% of exact for ε ∈ [0.1, 8], δ ∈ [10</a:t>
            </a:r>
            <a:r>
              <a:rPr lang="en-US" sz="1150" baseline="30000" dirty="0">
                <a:solidFill>
                  <a:srgbClr val="5B6576"/>
                </a:solidFill>
                <a:latin typeface="Calibri" pitchFamily="34" charset="0"/>
                <a:ea typeface="Calibri" pitchFamily="34" charset="-122"/>
                <a:cs typeface="Calibri" pitchFamily="34" charset="-120"/>
              </a:rPr>
              <a:t>−8</a:t>
            </a:r>
            <a:r>
              <a:rPr lang="en-US" sz="1150" dirty="0">
                <a:solidFill>
                  <a:srgbClr val="5B6576"/>
                </a:solidFill>
                <a:latin typeface="Calibri" pitchFamily="34" charset="0"/>
                <a:ea typeface="Calibri" pitchFamily="34" charset="-122"/>
                <a:cs typeface="Calibri" pitchFamily="34" charset="-120"/>
              </a:rPr>
              <a:t>, 10</a:t>
            </a:r>
            <a:r>
              <a:rPr lang="en-US" sz="1150" baseline="30000" dirty="0">
                <a:solidFill>
                  <a:srgbClr val="5B6576"/>
                </a:solidFill>
                <a:latin typeface="Calibri" pitchFamily="34" charset="0"/>
                <a:ea typeface="Calibri" pitchFamily="34" charset="-122"/>
                <a:cs typeface="Calibri" pitchFamily="34" charset="-120"/>
              </a:rPr>
              <a:t>−5</a:t>
            </a:r>
            <a:r>
              <a:rPr lang="en-US" sz="1150" dirty="0">
                <a:solidFill>
                  <a:srgbClr val="5B6576"/>
                </a:solidFill>
                <a:latin typeface="Calibri" pitchFamily="34" charset="0"/>
                <a:ea typeface="Calibri" pitchFamily="34" charset="-122"/>
                <a:cs typeface="Calibri" pitchFamily="34" charset="-120"/>
              </a:rPr>
              <a:t>]. For planning only: O computes the exact σ for each release.</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From σ to the matched records you need</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Two scaling laws, exact at first order; one pilot figure carries over to any ε</a:t>
            </a:r>
            <a:endParaRPr lang="en-US" sz="1600" dirty="0"/>
          </a:p>
        </p:txBody>
      </p:sp>
      <p:sp>
        <p:nvSpPr>
          <p:cNvPr id="4" name="Shape 2"/>
          <p:cNvSpPr/>
          <p:nvPr/>
        </p:nvSpPr>
        <p:spPr>
          <a:xfrm>
            <a:off x="548640" y="1417320"/>
            <a:ext cx="5440680" cy="1874520"/>
          </a:xfrm>
          <a:prstGeom prst="roundRect">
            <a:avLst>
              <a:gd name="adj" fmla="val 3902"/>
            </a:avLst>
          </a:prstGeom>
          <a:solidFill>
            <a:srgbClr val="EEF2F7"/>
          </a:solidFill>
          <a:ln w="12700">
            <a:solidFill>
              <a:srgbClr val="EEF2F7"/>
            </a:solidFill>
            <a:prstDash val="solid"/>
          </a:ln>
        </p:spPr>
      </p:sp>
      <p:sp>
        <p:nvSpPr>
          <p:cNvPr id="5" name="Text 3"/>
          <p:cNvSpPr txBox="1"/>
          <p:nvPr/>
        </p:nvSpPr>
        <p:spPr>
          <a:xfrm>
            <a:off x="822960" y="1554480"/>
            <a:ext cx="2377440" cy="36576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Prediction</a:t>
            </a:r>
            <a:endParaRPr lang="en-US" sz="1800" dirty="0"/>
          </a:p>
        </p:txBody>
      </p:sp>
      <p:pic>
        <p:nvPicPr>
          <p:cNvPr id="6" name="Image 0" descr="/home/user/VerticalFederatedRegression/slides/assets/eq/law_pred.png">    </p:cNvPr>
          <p:cNvPicPr>
            <a:picLocks noChangeAspect="1"/>
          </p:cNvPicPr>
          <p:nvPr/>
        </p:nvPicPr>
        <p:blipFill>
          <a:blip r:embed="rId1"/>
          <a:stretch>
            <a:fillRect/>
          </a:stretch>
        </p:blipFill>
        <p:spPr>
          <a:xfrm>
            <a:off x="3969860" y="1591056"/>
            <a:ext cx="1836580" cy="334023"/>
          </a:xfrm>
          <a:prstGeom prst="rect">
            <a:avLst/>
          </a:prstGeom>
        </p:spPr>
      </p:pic>
      <p:sp>
        <p:nvSpPr>
          <p:cNvPr id="7" name="Text 4"/>
          <p:cNvSpPr txBox="1"/>
          <p:nvPr/>
        </p:nvSpPr>
        <p:spPr>
          <a:xfrm>
            <a:off x="822960" y="2103120"/>
            <a:ext cx="4937760" cy="109728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With ℓ = 0 the ridge is proportional to σ, so the excess test error depends on n only through n / σ. Doubling ε roughly halves the records.</a:t>
            </a:r>
            <a:endParaRPr lang="en-US" sz="1350" dirty="0"/>
          </a:p>
        </p:txBody>
      </p:sp>
      <p:sp>
        <p:nvSpPr>
          <p:cNvPr id="8" name="Shape 5"/>
          <p:cNvSpPr/>
          <p:nvPr/>
        </p:nvSpPr>
        <p:spPr>
          <a:xfrm>
            <a:off x="6172200" y="1417320"/>
            <a:ext cx="5440680" cy="1874520"/>
          </a:xfrm>
          <a:prstGeom prst="roundRect">
            <a:avLst>
              <a:gd name="adj" fmla="val 3902"/>
            </a:avLst>
          </a:prstGeom>
          <a:solidFill>
            <a:srgbClr val="F6E3D6"/>
          </a:solidFill>
          <a:ln w="12700">
            <a:solidFill>
              <a:srgbClr val="F6E3D6"/>
            </a:solidFill>
            <a:prstDash val="solid"/>
          </a:ln>
        </p:spPr>
      </p:sp>
      <p:sp>
        <p:nvSpPr>
          <p:cNvPr id="9" name="Text 6"/>
          <p:cNvSpPr txBox="1"/>
          <p:nvPr/>
        </p:nvSpPr>
        <p:spPr>
          <a:xfrm>
            <a:off x="6446520" y="1554480"/>
            <a:ext cx="2377440" cy="36576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Coefficients</a:t>
            </a:r>
            <a:endParaRPr lang="en-US" sz="1800" dirty="0"/>
          </a:p>
        </p:txBody>
      </p:sp>
      <p:pic>
        <p:nvPicPr>
          <p:cNvPr id="10" name="Image 1" descr="/home/user/VerticalFederatedRegression/slides/assets/eq/law_coef.png">    </p:cNvPr>
          <p:cNvPicPr>
            <a:picLocks noChangeAspect="1"/>
          </p:cNvPicPr>
          <p:nvPr/>
        </p:nvPicPr>
        <p:blipFill>
          <a:blip r:embed="rId2"/>
          <a:stretch>
            <a:fillRect/>
          </a:stretch>
        </p:blipFill>
        <p:spPr>
          <a:xfrm>
            <a:off x="9064376" y="1591056"/>
            <a:ext cx="2365624" cy="365763"/>
          </a:xfrm>
          <a:prstGeom prst="rect">
            <a:avLst/>
          </a:prstGeom>
        </p:spPr>
      </p:pic>
      <p:sp>
        <p:nvSpPr>
          <p:cNvPr id="11" name="Text 7"/>
          <p:cNvSpPr txBox="1"/>
          <p:nvPr/>
        </p:nvSpPr>
        <p:spPr>
          <a:xfrm>
            <a:off x="6446520" y="2103120"/>
            <a:ext cx="4937760" cy="109728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Once the ridge is off, DP error / sampling error ≈ σ</a:t>
            </a:r>
            <a:r>
              <a:rPr lang="en-US" sz="1350" baseline="30000" dirty="0">
                <a:solidFill>
                  <a:srgbClr val="1F2937"/>
                </a:solidFill>
                <a:latin typeface="Calibri" pitchFamily="34" charset="0"/>
                <a:ea typeface="Calibri" pitchFamily="34" charset="-122"/>
                <a:cs typeface="Calibri" pitchFamily="34" charset="-120"/>
              </a:rPr>
              <a:t>2</a:t>
            </a:r>
            <a:r>
              <a:rPr lang="en-US" sz="1350" dirty="0">
                <a:solidFill>
                  <a:srgbClr val="1F2937"/>
                </a:solidFill>
                <a:latin typeface="Calibri" pitchFamily="34" charset="0"/>
                <a:ea typeface="Calibri" pitchFamily="34" charset="-122"/>
                <a:cs typeface="Calibri" pitchFamily="34" charset="-120"/>
              </a:rPr>
              <a:t>(1+‖β‖</a:t>
            </a:r>
            <a:r>
              <a:rPr lang="en-US" sz="1350" baseline="30000" dirty="0">
                <a:solidFill>
                  <a:srgbClr val="1F2937"/>
                </a:solidFill>
                <a:latin typeface="Calibri" pitchFamily="34" charset="0"/>
                <a:ea typeface="Calibri" pitchFamily="34" charset="-122"/>
                <a:cs typeface="Calibri" pitchFamily="34" charset="-120"/>
              </a:rPr>
              <a:t>2</a:t>
            </a:r>
            <a:r>
              <a:rPr lang="en-US" sz="1350" dirty="0">
                <a:solidFill>
                  <a:srgbClr val="1F2937"/>
                </a:solidFill>
                <a:latin typeface="Calibri" pitchFamily="34" charset="0"/>
                <a:ea typeface="Calibri" pitchFamily="34" charset="-122"/>
                <a:cs typeface="Calibri" pitchFamily="34" charset="-120"/>
              </a:rPr>
              <a:t>) tr(Σ</a:t>
            </a:r>
            <a:r>
              <a:rPr lang="en-US" sz="1350" baseline="30000" dirty="0">
                <a:solidFill>
                  <a:srgbClr val="1F2937"/>
                </a:solidFill>
                <a:latin typeface="Calibri" pitchFamily="34" charset="0"/>
                <a:ea typeface="Calibri" pitchFamily="34" charset="-122"/>
                <a:cs typeface="Calibri" pitchFamily="34" charset="-120"/>
              </a:rPr>
              <a:t>−2</a:t>
            </a:r>
            <a:r>
              <a:rPr lang="en-US" sz="1350" dirty="0">
                <a:solidFill>
                  <a:srgbClr val="1F2937"/>
                </a:solidFill>
                <a:latin typeface="Calibri" pitchFamily="34" charset="0"/>
                <a:ea typeface="Calibri" pitchFamily="34" charset="-122"/>
                <a:cs typeface="Calibri" pitchFamily="34" charset="-120"/>
              </a:rPr>
              <a:t>) / (n s</a:t>
            </a:r>
            <a:r>
              <a:rPr lang="en-US" sz="1350" baseline="30000" dirty="0">
                <a:solidFill>
                  <a:srgbClr val="1F2937"/>
                </a:solidFill>
                <a:latin typeface="Calibri" pitchFamily="34" charset="0"/>
                <a:ea typeface="Calibri" pitchFamily="34" charset="-122"/>
                <a:cs typeface="Calibri" pitchFamily="34" charset="-120"/>
              </a:rPr>
              <a:t>2</a:t>
            </a:r>
            <a:r>
              <a:rPr lang="en-US" sz="1350" dirty="0">
                <a:solidFill>
                  <a:srgbClr val="1F2937"/>
                </a:solidFill>
                <a:latin typeface="Calibri" pitchFamily="34" charset="0"/>
                <a:ea typeface="Calibri" pitchFamily="34" charset="-122"/>
                <a:cs typeface="Calibri" pitchFamily="34" charset="-120"/>
              </a:rPr>
              <a:t> tr(Σ</a:t>
            </a:r>
            <a:r>
              <a:rPr lang="en-US" sz="1350" baseline="30000" dirty="0">
                <a:solidFill>
                  <a:srgbClr val="1F2937"/>
                </a:solidFill>
                <a:latin typeface="Calibri" pitchFamily="34" charset="0"/>
                <a:ea typeface="Calibri" pitchFamily="34" charset="-122"/>
                <a:cs typeface="Calibri" pitchFamily="34" charset="-120"/>
              </a:rPr>
              <a:t>−1</a:t>
            </a:r>
            <a:r>
              <a:rPr lang="en-US" sz="1350" dirty="0">
                <a:solidFill>
                  <a:srgbClr val="1F2937"/>
                </a:solidFill>
                <a:latin typeface="Calibri" pitchFamily="34" charset="0"/>
                <a:ea typeface="Calibri" pitchFamily="34" charset="-122"/>
                <a:cs typeface="Calibri" pitchFamily="34" charset="-120"/>
              </a:rPr>
              <a:t>)). Doubling ε cuts the records by about 3.5×.</a:t>
            </a:r>
            <a:endParaRPr lang="en-US" sz="13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3520440"/>
          <a:ext cx="9144000" cy="914400"/>
        </p:xfrm>
        <a:graphic>
          <a:graphicData uri="http://schemas.openxmlformats.org/drawingml/2006/table">
            <a:tbl>
              <a:tblPr/>
              <a:tblGrid>
                <a:gridCol w="2514600"/>
                <a:gridCol w="3200400"/>
                <a:gridCol w="1828800"/>
                <a:gridCol w="2057400"/>
                <a:gridCol w="146304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Target</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Setting</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First-order calculator</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Transfer (× σ or × σ</a:t>
                      </a:r>
                      <a:r>
                        <a:rPr lang="en-US" sz="1250" b="1" baseline="30000" dirty="0">
                          <a:solidFill>
                            <a:srgbClr val="FFFFFF"/>
                          </a:solidFill>
                          <a:latin typeface="Calibri" pitchFamily="34" charset="0"/>
                          <a:ea typeface="Calibri" pitchFamily="34" charset="-122"/>
                          <a:cs typeface="Calibri" pitchFamily="34" charset="-120"/>
                        </a:rPr>
                        <a:t>2</a:t>
                      </a:r>
                      <a:r>
                        <a:rPr lang="en-US" sz="1250" b="1" dirty="0">
                          <a:solidFill>
                            <a:srgbClr val="FFFFF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Observed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310896">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Prediction within 10%</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bike, ε = 2 (from ε = 1)</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5.7k</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5.8k</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5.9k</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10896">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Prediction within 10%</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pol, ε = 4 (from ε = 1)</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2.8k</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2.9k</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2.8k</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10896">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Prediction within 10%</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protein, ε = 4 (from ε = 1)</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747</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794</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619</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10896">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Coefficients within 2× OLS</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R</a:t>
                      </a:r>
                      <a:r>
                        <a:rPr lang="en-US" sz="1250" baseline="30000" dirty="0">
                          <a:solidFill>
                            <a:srgbClr val="1F2937"/>
                          </a:solidFill>
                          <a:latin typeface="Calibri" pitchFamily="34" charset="0"/>
                          <a:ea typeface="Calibri" pitchFamily="34" charset="-122"/>
                          <a:cs typeface="Calibri" pitchFamily="34" charset="-120"/>
                        </a:rPr>
                        <a:t>2</a:t>
                      </a:r>
                      <a:r>
                        <a:rPr lang="en-US" sz="1250" dirty="0">
                          <a:solidFill>
                            <a:srgbClr val="1F2937"/>
                          </a:solidFill>
                          <a:latin typeface="Calibri" pitchFamily="34" charset="0"/>
                          <a:ea typeface="Calibri" pitchFamily="34" charset="-122"/>
                          <a:cs typeface="Calibri" pitchFamily="34" charset="-120"/>
                        </a:rPr>
                        <a:t> = 0.5, ε = 4 (from ε = 2)</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11k</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10.0k</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9.4k</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10896">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Coefficients within 2× OLS</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R</a:t>
                      </a:r>
                      <a:r>
                        <a:rPr lang="en-US" sz="1250" baseline="30000" dirty="0">
                          <a:solidFill>
                            <a:srgbClr val="1F2937"/>
                          </a:solidFill>
                          <a:latin typeface="Calibri" pitchFamily="34" charset="0"/>
                          <a:ea typeface="Calibri" pitchFamily="34" charset="-122"/>
                          <a:cs typeface="Calibri" pitchFamily="34" charset="-120"/>
                        </a:rPr>
                        <a:t>2</a:t>
                      </a:r>
                      <a:r>
                        <a:rPr lang="en-US" sz="1250" dirty="0">
                          <a:solidFill>
                            <a:srgbClr val="1F2937"/>
                          </a:solidFill>
                          <a:latin typeface="Calibri" pitchFamily="34" charset="0"/>
                          <a:ea typeface="Calibri" pitchFamily="34" charset="-122"/>
                          <a:cs typeface="Calibri" pitchFamily="34" charset="-120"/>
                        </a:rPr>
                        <a:t> = 0.5, ε = 8 (from ε = 2)</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3.3k</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3.1k</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3.2k</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10896">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Coefficients within 2× OLS</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R</a:t>
                      </a:r>
                      <a:r>
                        <a:rPr lang="en-US" sz="1250" baseline="30000" dirty="0">
                          <a:solidFill>
                            <a:srgbClr val="1F2937"/>
                          </a:solidFill>
                          <a:latin typeface="Calibri" pitchFamily="34" charset="0"/>
                          <a:ea typeface="Calibri" pitchFamily="34" charset="-122"/>
                          <a:cs typeface="Calibri" pitchFamily="34" charset="-120"/>
                        </a:rPr>
                        <a:t>2</a:t>
                      </a:r>
                      <a:r>
                        <a:rPr lang="en-US" sz="1250" dirty="0">
                          <a:solidFill>
                            <a:srgbClr val="1F2937"/>
                          </a:solidFill>
                          <a:latin typeface="Calibri" pitchFamily="34" charset="0"/>
                          <a:ea typeface="Calibri" pitchFamily="34" charset="-122"/>
                          <a:cs typeface="Calibri" pitchFamily="34" charset="-120"/>
                        </a:rPr>
                        <a:t> = 0.3, ε = 1 (from ε = 2)</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78k</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74k</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1F2937"/>
                          </a:solidFill>
                          <a:latin typeface="Calibri" pitchFamily="34" charset="0"/>
                          <a:ea typeface="Calibri" pitchFamily="34" charset="-122"/>
                          <a:cs typeface="Calibri" pitchFamily="34" charset="-120"/>
                        </a:rPr>
                        <a:t>75k</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13" name="Text 8"/>
          <p:cNvSpPr txBox="1"/>
          <p:nvPr/>
        </p:nvSpPr>
        <p:spPr>
          <a:xfrm>
            <a:off x="548640" y="6035040"/>
            <a:ext cx="11064240" cy="548640"/>
          </a:xfrm>
          <a:prstGeom prst="rect">
            <a:avLst/>
          </a:prstGeom>
          <a:noFill/>
          <a:ln/>
        </p:spPr>
        <p:txBody>
          <a:bodyPr wrap="square" lIns="0" tIns="0" rIns="0" bIns="0" rtlCol="0" anchor="t"/>
          <a:lstStyle/>
          <a:p>
            <a:pPr indent="0" marL="0">
              <a:buNone/>
            </a:pPr>
            <a:r>
              <a:rPr lang="en-US" sz="1150" i="1" dirty="0">
                <a:solidFill>
                  <a:srgbClr val="5B6576"/>
                </a:solidFill>
                <a:latin typeface="Calibri" pitchFamily="34" charset="0"/>
                <a:ea typeface="Calibri" pitchFamily="34" charset="-122"/>
                <a:cs typeface="Calibri" pitchFamily="34" charset="-120"/>
              </a:rPr>
              <a:t>Prediction: real-data sweep; coefficients: simulation. Breaks down for ill-conditioned designs (use the calculator's eigen-sums), at high R</a:t>
            </a:r>
            <a:r>
              <a:rPr lang="en-US" sz="1150" i="1" baseline="30000" dirty="0">
                <a:solidFill>
                  <a:srgbClr val="5B6576"/>
                </a:solidFill>
                <a:latin typeface="Calibri" pitchFamily="34" charset="0"/>
                <a:ea typeface="Calibri" pitchFamily="34" charset="-122"/>
                <a:cs typeface="Calibri" pitchFamily="34" charset="-120"/>
              </a:rPr>
              <a:t>2</a:t>
            </a:r>
            <a:r>
              <a:rPr lang="en-US" sz="1150" i="1" dirty="0">
                <a:solidFill>
                  <a:srgbClr val="5B6576"/>
                </a:solidFill>
                <a:latin typeface="Calibri" pitchFamily="34" charset="0"/>
                <a:ea typeface="Calibri" pitchFamily="34" charset="-122"/>
                <a:cs typeface="Calibri" pitchFamily="34" charset="-120"/>
              </a:rPr>
              <a:t> where clipping bias dominates, and at small n. Flooding noise and the discrete Gaussian are not modelled.</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What each choice costs</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Defaults: δ = 10</a:t>
            </a:r>
            <a:r>
              <a:rPr lang="en-US" sz="1600" i="1" baseline="30000" dirty="0">
                <a:solidFill>
                  <a:srgbClr val="5B6576"/>
                </a:solidFill>
                <a:latin typeface="Calibri" pitchFamily="34" charset="0"/>
                <a:ea typeface="Calibri" pitchFamily="34" charset="-122"/>
                <a:cs typeface="Calibri" pitchFamily="34" charset="-120"/>
              </a:rPr>
              <a:t>−6</a:t>
            </a:r>
            <a:r>
              <a:rPr lang="en-US" sz="1600" i="1" dirty="0">
                <a:solidFill>
                  <a:srgbClr val="5B6576"/>
                </a:solidFill>
                <a:latin typeface="Calibri" pitchFamily="34" charset="0"/>
                <a:ea typeface="Calibri" pitchFamily="34" charset="-122"/>
                <a:cs typeface="Calibri" pitchFamily="34" charset="-120"/>
              </a:rPr>
              <a:t>, ρ</a:t>
            </a:r>
            <a:r>
              <a:rPr lang="en-US" sz="1600" i="1" baseline="30000" dirty="0">
                <a:solidFill>
                  <a:srgbClr val="5B6576"/>
                </a:solidFill>
                <a:latin typeface="Calibri" pitchFamily="34" charset="0"/>
                <a:ea typeface="Calibri" pitchFamily="34" charset="-122"/>
                <a:cs typeface="Calibri" pitchFamily="34" charset="-120"/>
              </a:rPr>
              <a:t>*</a:t>
            </a:r>
            <a:r>
              <a:rPr lang="en-US" sz="1600" i="1" dirty="0">
                <a:solidFill>
                  <a:srgbClr val="5B6576"/>
                </a:solidFill>
                <a:latin typeface="Calibri" pitchFamily="34" charset="0"/>
                <a:ea typeface="Calibri" pitchFamily="34" charset="-122"/>
                <a:cs typeface="Calibri" pitchFamily="34" charset="-120"/>
              </a:rPr>
              <a:t> = 2.5, ℓ from public data, tight bounds, k fixed in advance</a:t>
            </a:r>
            <a:endParaRPr lang="en-US" sz="16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9144000" cy="914400"/>
        </p:xfrm>
        <a:graphic>
          <a:graphicData uri="http://schemas.openxmlformats.org/drawingml/2006/table">
            <a:tbl>
              <a:tblPr/>
              <a:tblGrid>
                <a:gridCol w="5669280"/>
                <a:gridCol w="1463040"/>
                <a:gridCol w="1965960"/>
                <a:gridCol w="196596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Change</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σ</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Records for prediction</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Records for coefficients</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365760">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Bounds 2× closer to the data (no extra clipping)</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 1/4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 1/4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 1/16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Double ε</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 0.52–0.55</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 0.52–0.55</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 0.27–0.30</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δ from 10</a:t>
                      </a:r>
                      <a:r>
                        <a:rPr lang="en-US" sz="1300" b="1" baseline="30000" dirty="0">
                          <a:solidFill>
                            <a:srgbClr val="1F2937"/>
                          </a:solidFill>
                          <a:latin typeface="Calibri" pitchFamily="34" charset="0"/>
                          <a:ea typeface="Calibri" pitchFamily="34" charset="-122"/>
                          <a:cs typeface="Calibri" pitchFamily="34" charset="-120"/>
                        </a:rPr>
                        <a:t>−6</a:t>
                      </a:r>
                      <a:r>
                        <a:rPr lang="en-US" sz="1300" b="1" dirty="0">
                          <a:solidFill>
                            <a:srgbClr val="1F2937"/>
                          </a:solidFill>
                          <a:latin typeface="Calibri" pitchFamily="34" charset="0"/>
                          <a:ea typeface="Calibri" pitchFamily="34" charset="-122"/>
                          <a:cs typeface="Calibri" pitchFamily="34" charset="-120"/>
                        </a:rPr>
                        <a:t> to 10</a:t>
                      </a:r>
                      <a:r>
                        <a:rPr lang="en-US" sz="1300" b="1" baseline="30000" dirty="0">
                          <a:solidFill>
                            <a:srgbClr val="1F2937"/>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 1.15–1.26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 1.15–1.26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 1.3–1.6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Same budget over k = 5 releases instead of 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 2.6–2.9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 2.6–2.9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 6.5–8.7</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Split a unit row bound, B</a:t>
                      </a:r>
                      <a:r>
                        <a:rPr lang="en-US" sz="1300" b="1" baseline="-25000" dirty="0">
                          <a:solidFill>
                            <a:srgbClr val="1F2937"/>
                          </a:solidFill>
                          <a:latin typeface="Calibri" pitchFamily="34" charset="0"/>
                          <a:ea typeface="Calibri" pitchFamily="34" charset="-122"/>
                          <a:cs typeface="Calibri" pitchFamily="34" charset="-120"/>
                        </a:rPr>
                        <a:t>R</a:t>
                      </a:r>
                      <a:r>
                        <a:rPr lang="en-US" sz="1300" b="1" baseline="30000" dirty="0">
                          <a:solidFill>
                            <a:srgbClr val="1F2937"/>
                          </a:solidFill>
                          <a:latin typeface="Calibri" pitchFamily="34" charset="0"/>
                          <a:ea typeface="Calibri" pitchFamily="34" charset="-122"/>
                          <a:cs typeface="Calibri" pitchFamily="34" charset="-120"/>
                        </a:rPr>
                        <a:t>2</a:t>
                      </a:r>
                      <a:r>
                        <a:rPr lang="en-US" sz="1300" b="1" dirty="0">
                          <a:solidFill>
                            <a:srgbClr val="1F2937"/>
                          </a:solidFill>
                          <a:latin typeface="Calibri" pitchFamily="34" charset="0"/>
                          <a:ea typeface="Calibri" pitchFamily="34" charset="-122"/>
                          <a:cs typeface="Calibri" pitchFamily="34" charset="-120"/>
                        </a:rPr>
                        <a:t> = B</a:t>
                      </a:r>
                      <a:r>
                        <a:rPr lang="en-US" sz="1300" b="1" baseline="-25000" dirty="0">
                          <a:solidFill>
                            <a:srgbClr val="1F2937"/>
                          </a:solidFill>
                          <a:latin typeface="Calibri" pitchFamily="34" charset="0"/>
                          <a:ea typeface="Calibri" pitchFamily="34" charset="-122"/>
                          <a:cs typeface="Calibri" pitchFamily="34" charset="-120"/>
                        </a:rPr>
                        <a:t>O</a:t>
                      </a:r>
                      <a:r>
                        <a:rPr lang="en-US" sz="1300" b="1" baseline="30000" dirty="0">
                          <a:solidFill>
                            <a:srgbClr val="1F2937"/>
                          </a:solidFill>
                          <a:latin typeface="Calibri" pitchFamily="34" charset="0"/>
                          <a:ea typeface="Calibri" pitchFamily="34" charset="-122"/>
                          <a:cs typeface="Calibri" pitchFamily="34" charset="-120"/>
                        </a:rPr>
                        <a:t>2</a:t>
                      </a:r>
                      <a:r>
                        <a:rPr lang="en-US" sz="1300" b="1" dirty="0">
                          <a:solidFill>
                            <a:srgbClr val="1F2937"/>
                          </a:solidFill>
                          <a:latin typeface="Calibri" pitchFamily="34" charset="0"/>
                          <a:ea typeface="Calibri" pitchFamily="34" charset="-122"/>
                          <a:cs typeface="Calibri" pitchFamily="34" charset="-120"/>
                        </a:rPr>
                        <a:t> = ½ (if little extra clipping)</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 0.64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 0.64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 0.41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5" name="Text 2"/>
          <p:cNvSpPr txBox="1"/>
          <p:nvPr/>
        </p:nvSpPr>
        <p:spPr>
          <a:xfrm>
            <a:off x="548640" y="4069080"/>
            <a:ext cx="11064240" cy="36576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Worked example: the simulation population at n = 10,000, δ = 10</a:t>
            </a:r>
            <a:r>
              <a:rPr lang="en-US" sz="1500" b="1" baseline="30000" dirty="0">
                <a:solidFill>
                  <a:srgbClr val="14213D"/>
                </a:solidFill>
                <a:latin typeface="Cambria" pitchFamily="34" charset="0"/>
                <a:ea typeface="Cambria" pitchFamily="34" charset="-122"/>
                <a:cs typeface="Cambria" pitchFamily="34" charset="-120"/>
              </a:rPr>
              <a:t>−6</a:t>
            </a:r>
            <a:endParaRPr lang="en-US" sz="1500" dirty="0"/>
          </a:p>
        </p:txBody>
      </p:sp>
      <p:sp>
        <p:nvSpPr>
          <p:cNvPr id="6" name="Text 3"/>
          <p:cNvSpPr txBox="1"/>
          <p:nvPr/>
        </p:nvSpPr>
        <p:spPr>
          <a:xfrm>
            <a:off x="548640" y="4416552"/>
            <a:ext cx="11064240" cy="274320"/>
          </a:xfrm>
          <a:prstGeom prst="rect">
            <a:avLst/>
          </a:prstGeom>
          <a:noFill/>
          <a:ln/>
        </p:spPr>
        <p:txBody>
          <a:bodyPr wrap="square" lIns="0" tIns="0" rIns="0" bIns="0" rtlCol="0" anchor="t"/>
          <a:lstStyle/>
          <a:p>
            <a:pPr indent="0" marL="0">
              <a:buNone/>
            </a:pPr>
            <a:r>
              <a:rPr lang="en-US" sz="1200" i="1" dirty="0">
                <a:solidFill>
                  <a:srgbClr val="5B6576"/>
                </a:solidFill>
                <a:latin typeface="Calibri" pitchFamily="34" charset="0"/>
                <a:ea typeface="Calibri" pitchFamily="34" charset="-122"/>
                <a:cs typeface="Calibri" pitchFamily="34" charset="-120"/>
              </a:rPr>
              <a:t>B</a:t>
            </a:r>
            <a:r>
              <a:rPr lang="en-US" sz="1200" i="1" baseline="-25000" dirty="0">
                <a:solidFill>
                  <a:srgbClr val="5B6576"/>
                </a:solidFill>
                <a:latin typeface="Calibri" pitchFamily="34" charset="0"/>
                <a:ea typeface="Calibri" pitchFamily="34" charset="-122"/>
                <a:cs typeface="Calibri" pitchFamily="34" charset="-120"/>
              </a:rPr>
              <a:t>R</a:t>
            </a:r>
            <a:r>
              <a:rPr lang="en-US" sz="1200" i="1" dirty="0">
                <a:solidFill>
                  <a:srgbClr val="5B6576"/>
                </a:solidFill>
                <a:latin typeface="Calibri" pitchFamily="34" charset="0"/>
                <a:ea typeface="Calibri" pitchFamily="34" charset="-122"/>
                <a:cs typeface="Calibri" pitchFamily="34" charset="-120"/>
              </a:rPr>
              <a:t> = 5.59, B</a:t>
            </a:r>
            <a:r>
              <a:rPr lang="en-US" sz="1200" i="1" baseline="-25000" dirty="0">
                <a:solidFill>
                  <a:srgbClr val="5B6576"/>
                </a:solidFill>
                <a:latin typeface="Calibri" pitchFamily="34" charset="0"/>
                <a:ea typeface="Calibri" pitchFamily="34" charset="-122"/>
                <a:cs typeface="Calibri" pitchFamily="34" charset="-120"/>
              </a:rPr>
              <a:t>O</a:t>
            </a:r>
            <a:r>
              <a:rPr lang="en-US" sz="1200" i="1" dirty="0">
                <a:solidFill>
                  <a:srgbClr val="5B6576"/>
                </a:solidFill>
                <a:latin typeface="Calibri" pitchFamily="34" charset="0"/>
                <a:ea typeface="Calibri" pitchFamily="34" charset="-122"/>
                <a:cs typeface="Calibri" pitchFamily="34" charset="-120"/>
              </a:rPr>
              <a:t> = 6.24, B</a:t>
            </a:r>
            <a:r>
              <a:rPr lang="en-US" sz="1200" i="1" baseline="-25000" dirty="0">
                <a:solidFill>
                  <a:srgbClr val="5B6576"/>
                </a:solidFill>
                <a:latin typeface="Calibri" pitchFamily="34" charset="0"/>
                <a:ea typeface="Calibri" pitchFamily="34" charset="-122"/>
                <a:cs typeface="Calibri" pitchFamily="34" charset="-120"/>
              </a:rPr>
              <a:t>y</a:t>
            </a:r>
            <a:r>
              <a:rPr lang="en-US" sz="1200" i="1" dirty="0">
                <a:solidFill>
                  <a:srgbClr val="5B6576"/>
                </a:solidFill>
                <a:latin typeface="Calibri" pitchFamily="34" charset="0"/>
                <a:ea typeface="Calibri" pitchFamily="34" charset="-122"/>
                <a:cs typeface="Calibri" pitchFamily="34" charset="-120"/>
              </a:rPr>
              <a:t> = 2.89, p = 11, ℓ = 0.494, ρ</a:t>
            </a:r>
            <a:r>
              <a:rPr lang="en-US" sz="1200" i="1" baseline="30000" dirty="0">
                <a:solidFill>
                  <a:srgbClr val="5B6576"/>
                </a:solidFill>
                <a:latin typeface="Calibri" pitchFamily="34" charset="0"/>
                <a:ea typeface="Calibri" pitchFamily="34" charset="-122"/>
                <a:cs typeface="Calibri" pitchFamily="34" charset="-120"/>
              </a:rPr>
              <a:t>*</a:t>
            </a:r>
            <a:r>
              <a:rPr lang="en-US" sz="1200" i="1" dirty="0">
                <a:solidFill>
                  <a:srgbClr val="5B6576"/>
                </a:solidFill>
                <a:latin typeface="Calibri" pitchFamily="34" charset="0"/>
                <a:ea typeface="Calibri" pitchFamily="34" charset="-122"/>
                <a:cs typeface="Calibri" pitchFamily="34" charset="-120"/>
              </a:rPr>
              <a:t> = 2.5</a:t>
            </a:r>
            <a:endParaRPr lang="en-US" sz="1200" dirty="0"/>
          </a:p>
        </p:txBody>
      </p:sp>
      <p:graphicFrame>
        <p:nvGraphicFramePr>
          <p:cNvPr id="65" name="Table 1"/>
          <p:cNvGraphicFramePr>
            <a:graphicFrameLocks noGrp="1"/>
          </p:cNvGraphicFramePr>
          <p:nvPr>
            <p:extLst>
              <p:ext uri="{D42A27DB-BD31-4B8C-83A1-F6EECF244321}">
                <p14:modId xmlns:p14="http://schemas.microsoft.com/office/powerpoint/2010/main" val="1579011935"/>
              </p:ext>
            </p:extLst>
          </p:nvPr>
        </p:nvGraphicFramePr>
        <p:xfrm>
          <a:off x="548640" y="4727448"/>
          <a:ext cx="9144000" cy="914400"/>
        </p:xfrm>
        <a:graphic>
          <a:graphicData uri="http://schemas.openxmlformats.org/drawingml/2006/table">
            <a:tbl>
              <a:tblPr/>
              <a:tblGrid>
                <a:gridCol w="914400"/>
                <a:gridCol w="1188720"/>
                <a:gridCol w="1737360"/>
                <a:gridCol w="1554480"/>
                <a:gridCol w="1645920"/>
                <a:gridCol w="1920240"/>
                <a:gridCol w="2103120"/>
              </a:tblGrid>
              <a:tr h="27432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ε</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Δ</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σ, one release</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zCDP cost ρ</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λ at n = 10k</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Ridge off from n</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σ, each of 5 releases</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27432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0.5</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86.2</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694</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0.0077</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6577</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23k</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2044</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27432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86.2</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364</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0.0280</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1099</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12k</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1031</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27432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86.2</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192</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0.1005</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6.5k</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524</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27432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86.2</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103</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0.3510</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3.5k</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270</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27432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86.2</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56</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1.1728</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1.9k</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143</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822960" y="2331720"/>
            <a:ext cx="1188720" cy="1188720"/>
          </a:xfrm>
          <a:prstGeom prst="ellipse">
            <a:avLst/>
          </a:prstGeom>
          <a:solidFill>
            <a:srgbClr val="C45A0C"/>
          </a:solidFill>
          <a:ln w="12700">
            <a:solidFill>
              <a:srgbClr val="C45A0C"/>
            </a:solidFill>
            <a:prstDash val="solid"/>
          </a:ln>
        </p:spPr>
      </p:sp>
      <p:sp>
        <p:nvSpPr>
          <p:cNvPr id="3" name="Text 1"/>
          <p:cNvSpPr txBox="1"/>
          <p:nvPr/>
        </p:nvSpPr>
        <p:spPr>
          <a:xfrm>
            <a:off x="822960" y="2331720"/>
            <a:ext cx="1188720" cy="118872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5</a:t>
            </a:r>
            <a:endParaRPr lang="en-US" sz="3600" dirty="0"/>
          </a:p>
        </p:txBody>
      </p:sp>
      <p:sp>
        <p:nvSpPr>
          <p:cNvPr id="4" name="Text 2"/>
          <p:cNvSpPr txBox="1"/>
          <p:nvPr/>
        </p:nvSpPr>
        <p:spPr>
          <a:xfrm>
            <a:off x="2377440" y="2240280"/>
            <a:ext cx="86868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Second revision: protocol v3.1</a:t>
            </a:r>
            <a:endParaRPr lang="en-US" sz="4000" dirty="0"/>
          </a:p>
        </p:txBody>
      </p:sp>
      <p:sp>
        <p:nvSpPr>
          <p:cNvPr id="5" name="Text 3"/>
          <p:cNvSpPr txBox="1"/>
          <p:nvPr/>
        </p:nvSpPr>
        <p:spPr>
          <a:xfrm>
            <a:off x="2377440" y="3063240"/>
            <a:ext cx="8686800" cy="548640"/>
          </a:xfrm>
          <a:prstGeom prst="rect">
            <a:avLst/>
          </a:prstGeom>
          <a:noFill/>
          <a:ln/>
        </p:spPr>
        <p:txBody>
          <a:bodyPr wrap="square" lIns="0" tIns="0" rIns="0" bIns="0" rtlCol="0" anchor="ctr"/>
          <a:lstStyle/>
          <a:p>
            <a:pPr indent="0" marL="0">
              <a:buNone/>
            </a:pPr>
            <a:r>
              <a:rPr lang="en-US" sz="1800" dirty="0">
                <a:solidFill>
                  <a:srgbClr val="CAD5E6"/>
                </a:solidFill>
                <a:latin typeface="Calibri" pitchFamily="34" charset="0"/>
                <a:ea typeface="Calibri" pitchFamily="34" charset="-122"/>
                <a:cs typeface="Calibri" pitchFamily="34" charset="-120"/>
              </a:rPr>
              <a:t>A referee review, a redesign for honest-but-curious parties, and proofs</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Referee review: findings and answers</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Recommendation: reject and resubmit. Every major comment accepted; the numerical claims re-checked</a:t>
            </a:r>
            <a:endParaRPr lang="en-US" sz="16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9144000" cy="914400"/>
        </p:xfrm>
        <a:graphic>
          <a:graphicData uri="http://schemas.openxmlformats.org/drawingml/2006/table">
            <a:tbl>
              <a:tblPr/>
              <a:tblGrid>
                <a:gridCol w="4754880"/>
                <a:gridCol w="1097280"/>
                <a:gridCol w="5212080"/>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Major comment</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Verdict</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In v3.1</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45720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Privacy theorem unproven: S</a:t>
                      </a:r>
                      <a:r>
                        <a:rPr lang="en-US" sz="1250" baseline="-25000" dirty="0">
                          <a:solidFill>
                            <a:srgbClr val="1F2937"/>
                          </a:solidFill>
                          <a:latin typeface="Calibri" pitchFamily="34" charset="0"/>
                          <a:ea typeface="Calibri" pitchFamily="34" charset="-122"/>
                          <a:cs typeface="Calibri" pitchFamily="34" charset="-120"/>
                        </a:rPr>
                        <a:t>err</a:t>
                      </a:r>
                      <a:r>
                        <a:rPr lang="en-US" sz="1250" dirty="0">
                          <a:solidFill>
                            <a:srgbClr val="1F2937"/>
                          </a:solidFill>
                          <a:latin typeface="Calibri" pitchFamily="34" charset="0"/>
                          <a:ea typeface="Calibri" pitchFamily="34" charset="-122"/>
                          <a:cs typeface="Calibri" pitchFamily="34" charset="-120"/>
                        </a:rPr>
                        <a:t> unbounded; a hint to the key holder; no computational DP notion; error cost charged once; finite precision undefined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14213D"/>
                          </a:solidFill>
                          <a:latin typeface="Calibri" pitchFamily="34" charset="0"/>
                          <a:ea typeface="Calibri" pitchFamily="34" charset="-122"/>
                          <a:cs typeface="Calibri" pitchFamily="34" charset="-120"/>
                        </a:rPr>
                        <a:t>Accepted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Split key; full error flooded inside O's share; SIM-CDP; (ρ, δ) ledger; lattice quantization. Proven</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5720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The semi-honest R is also the party DP protects against</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14213D"/>
                          </a:solidFill>
                          <a:latin typeface="Calibri" pitchFamily="34" charset="0"/>
                          <a:ea typeface="Calibri" pitchFamily="34" charset="-122"/>
                          <a:cs typeface="Calibri" pitchFamily="34" charset="-120"/>
                        </a:rPr>
                        <a:t>Accepted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Stated: honest-but-curious only. Malicious R needs ZK input proofs (extension)</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5720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Revised protocol neither implemented nor costed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14213D"/>
                          </a:solidFill>
                          <a:latin typeface="Calibri" pitchFamily="34" charset="0"/>
                          <a:ea typeface="Calibri" pitchFamily="34" charset="-122"/>
                          <a:cs typeface="Calibri" pitchFamily="34" charset="-120"/>
                        </a:rPr>
                        <a:t>Accepted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C45A0C"/>
                          </a:solidFill>
                          <a:latin typeface="Calibri" pitchFamily="34" charset="0"/>
                          <a:ea typeface="Calibri" pitchFamily="34" charset="-122"/>
                          <a:cs typeface="Calibri" pitchFamily="34" charset="-120"/>
                        </a:rPr>
                        <a:t>Open: OpenFHE implementation is next</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5720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Privacy levels ignore the error channel</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14213D"/>
                          </a:solidFill>
                          <a:latin typeface="Calibri" pitchFamily="34" charset="0"/>
                          <a:ea typeface="Calibri" pitchFamily="34" charset="-122"/>
                          <a:cs typeface="Calibri" pitchFamily="34" charset="-120"/>
                        </a:rPr>
                        <a:t>Accepted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End-to-end (ρ, δ) accounting, tight zCDP conversion</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5720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AdaSSP comparison mischaracterized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1B8A7A"/>
                          </a:solidFill>
                          <a:latin typeface="Calibri" pitchFamily="34" charset="0"/>
                          <a:ea typeface="Calibri" pitchFamily="34" charset="-122"/>
                          <a:cs typeface="Calibri" pitchFamily="34" charset="-120"/>
                        </a:rPr>
                        <a:t>Verified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Published AdaSSP is more private (ε ≈ 0.82 vs 1.00); caveat replaced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5720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No valid inference under ℓ = 0 (coverage 42–81%)</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1B8A7A"/>
                          </a:solidFill>
                          <a:latin typeface="Calibri" pitchFamily="34" charset="0"/>
                          <a:ea typeface="Calibri" pitchFamily="34" charset="-122"/>
                          <a:cs typeface="Calibri" pitchFamily="34" charset="-120"/>
                        </a:rPr>
                        <a:t>Verified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Two-stage ridge; Wald interval for θ</a:t>
                      </a:r>
                      <a:r>
                        <a:rPr lang="en-US" sz="1250" baseline="-25000" dirty="0">
                          <a:solidFill>
                            <a:srgbClr val="1F2937"/>
                          </a:solidFill>
                          <a:latin typeface="Calibri" pitchFamily="34" charset="0"/>
                          <a:ea typeface="Calibri" pitchFamily="34" charset="-122"/>
                          <a:cs typeface="Calibri" pitchFamily="34" charset="-120"/>
                        </a:rPr>
                        <a:t>λ</a:t>
                      </a:r>
                      <a:r>
                        <a:rPr lang="en-US" sz="1250" dirty="0">
                          <a:solidFill>
                            <a:srgbClr val="1F2937"/>
                          </a:solidFill>
                          <a:latin typeface="Calibri" pitchFamily="34" charset="0"/>
                          <a:ea typeface="Calibri" pitchFamily="34" charset="-122"/>
                          <a:cs typeface="Calibri" pitchFamily="34" charset="-120"/>
                        </a:rPr>
                        <a:t>, bias-aware interval for β</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5720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Bias theory correct but of modest value</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B7791F"/>
                          </a:solidFill>
                          <a:latin typeface="Calibri" pitchFamily="34" charset="0"/>
                          <a:ea typeface="Calibri" pitchFamily="34" charset="-122"/>
                          <a:cs typeface="Calibri" pitchFamily="34" charset="-120"/>
                        </a:rPr>
                        <a:t>Partly</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Correction optional, off by default</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57200">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y</a:t>
                      </a:r>
                      <a:r>
                        <a:rPr lang="en-US" sz="1250" baseline="30000" dirty="0">
                          <a:solidFill>
                            <a:srgbClr val="1F2937"/>
                          </a:solidFill>
                          <a:latin typeface="Calibri" pitchFamily="34" charset="0"/>
                          <a:ea typeface="Calibri" pitchFamily="34" charset="-122"/>
                          <a:cs typeface="Calibri" pitchFamily="34" charset="-120"/>
                        </a:rPr>
                        <a:t>T</a:t>
                      </a:r>
                      <a:r>
                        <a:rPr lang="en-US" sz="1250" dirty="0">
                          <a:solidFill>
                            <a:srgbClr val="1F2937"/>
                          </a:solidFill>
                          <a:latin typeface="Calibri" pitchFamily="34" charset="0"/>
                          <a:ea typeface="Calibri" pitchFamily="34" charset="-122"/>
                          <a:cs typeface="Calibri" pitchFamily="34" charset="-120"/>
                        </a:rPr>
                        <a:t>y is not always free</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b="1" dirty="0">
                          <a:solidFill>
                            <a:srgbClr val="1B8A7A"/>
                          </a:solidFill>
                          <a:latin typeface="Calibri" pitchFamily="34" charset="0"/>
                          <a:ea typeface="Calibri" pitchFamily="34" charset="-122"/>
                          <a:cs typeface="Calibri" pitchFamily="34" charset="-120"/>
                        </a:rPr>
                        <a:t>Verified</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Released only where free; exact criterion proven</a:t>
                      </a:r>
                      <a:endParaRPr lang="en-US" sz="12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Protocol v3.1 at a glance</a:t>
            </a:r>
            <a:endParaRPr lang="en-US" sz="3200" dirty="0"/>
          </a:p>
        </p:txBody>
      </p:sp>
      <p:sp>
        <p:nvSpPr>
          <p:cNvPr id="3" name="Shape 1"/>
          <p:cNvSpPr/>
          <p:nvPr/>
        </p:nvSpPr>
        <p:spPr>
          <a:xfrm>
            <a:off x="548640" y="1325880"/>
            <a:ext cx="566928" cy="566928"/>
          </a:xfrm>
          <a:prstGeom prst="ellipse">
            <a:avLst/>
          </a:prstGeom>
          <a:solidFill>
            <a:srgbClr val="14213D"/>
          </a:solidFill>
          <a:ln w="12700">
            <a:solidFill>
              <a:srgbClr val="14213D"/>
            </a:solidFill>
            <a:prstDash val="solid"/>
          </a:ln>
        </p:spPr>
      </p:sp>
      <p:pic>
        <p:nvPicPr>
          <p:cNvPr id="4" name="Image 0" descr="preencoded.png">    </p:cNvPr>
          <p:cNvPicPr>
            <a:picLocks noChangeAspect="1"/>
          </p:cNvPicPr>
          <p:nvPr/>
        </p:nvPicPr>
        <p:blipFill>
          <a:blip r:embed="rId1"/>
          <a:stretch>
            <a:fillRect/>
          </a:stretch>
        </p:blipFill>
        <p:spPr>
          <a:xfrm>
            <a:off x="684703" y="1461943"/>
            <a:ext cx="294803" cy="294803"/>
          </a:xfrm>
          <a:prstGeom prst="rect">
            <a:avLst/>
          </a:prstGeom>
        </p:spPr>
      </p:pic>
      <p:sp>
        <p:nvSpPr>
          <p:cNvPr id="5" name="Text 2"/>
          <p:cNvSpPr txBox="1"/>
          <p:nvPr/>
        </p:nvSpPr>
        <p:spPr>
          <a:xfrm>
            <a:off x="1280160" y="1307592"/>
            <a:ext cx="4114800" cy="36576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Split decryption key</a:t>
            </a:r>
            <a:endParaRPr lang="en-US" sz="1700" dirty="0"/>
          </a:p>
        </p:txBody>
      </p:sp>
      <p:sp>
        <p:nvSpPr>
          <p:cNvPr id="6" name="Text 3"/>
          <p:cNvSpPr txBox="1"/>
          <p:nvPr/>
        </p:nvSpPr>
        <p:spPr>
          <a:xfrm>
            <a:off x="1280160" y="1673352"/>
            <a:ext cx="4114800" cy="640080"/>
          </a:xfrm>
          <a:prstGeom prst="rect">
            <a:avLst/>
          </a:prstGeom>
          <a:noFill/>
          <a:ln/>
        </p:spPr>
        <p:txBody>
          <a:bodyPr wrap="square" lIns="0" tIns="0" rIns="0" bIns="0" rtlCol="0" anchor="t"/>
          <a:lstStyle/>
          <a:p>
            <a:pPr indent="0" marL="0">
              <a:buNone/>
            </a:pPr>
            <a:r>
              <a:rPr lang="en-US" sz="1250" dirty="0">
                <a:solidFill>
                  <a:srgbClr val="5B6576"/>
                </a:solidFill>
                <a:latin typeface="Calibri" pitchFamily="34" charset="0"/>
                <a:ea typeface="Calibri" pitchFamily="34" charset="-122"/>
                <a:cs typeface="Calibri" pitchFamily="34" charset="-120"/>
              </a:rPr>
              <a:t>s = s</a:t>
            </a:r>
            <a:r>
              <a:rPr lang="en-US" sz="1250" baseline="-25000" dirty="0">
                <a:solidFill>
                  <a:srgbClr val="5B6576"/>
                </a:solidFill>
                <a:latin typeface="Calibri" pitchFamily="34" charset="0"/>
                <a:ea typeface="Calibri" pitchFamily="34" charset="-122"/>
                <a:cs typeface="Calibri" pitchFamily="34" charset="-120"/>
              </a:rPr>
              <a:t>R</a:t>
            </a:r>
            <a:r>
              <a:rPr lang="en-US" sz="1250" dirty="0">
                <a:solidFill>
                  <a:srgbClr val="5B6576"/>
                </a:solidFill>
                <a:latin typeface="Calibri" pitchFamily="34" charset="0"/>
                <a:ea typeface="Calibri" pitchFamily="34" charset="-122"/>
                <a:cs typeface="Calibri" pitchFamily="34" charset="-120"/>
              </a:rPr>
              <a:t> + s</a:t>
            </a:r>
            <a:r>
              <a:rPr lang="en-US" sz="1250" baseline="-25000" dirty="0">
                <a:solidFill>
                  <a:srgbClr val="5B6576"/>
                </a:solidFill>
                <a:latin typeface="Calibri" pitchFamily="34" charset="0"/>
                <a:ea typeface="Calibri" pitchFamily="34" charset="-122"/>
                <a:cs typeface="Calibri" pitchFamily="34" charset="-120"/>
              </a:rPr>
              <a:t>O</a:t>
            </a:r>
            <a:r>
              <a:rPr lang="en-US" sz="1250" dirty="0">
                <a:solidFill>
                  <a:srgbClr val="5B6576"/>
                </a:solidFill>
                <a:latin typeface="Calibri" pitchFamily="34" charset="0"/>
                <a:ea typeface="Calibri" pitchFamily="34" charset="-122"/>
                <a:cs typeface="Calibri" pitchFamily="34" charset="-120"/>
              </a:rPr>
              <a:t>. Neither party can decrypt alone; R uploads under s</a:t>
            </a:r>
            <a:r>
              <a:rPr lang="en-US" sz="1250" baseline="-25000" dirty="0">
                <a:solidFill>
                  <a:srgbClr val="5B6576"/>
                </a:solidFill>
                <a:latin typeface="Calibri" pitchFamily="34" charset="0"/>
                <a:ea typeface="Calibri" pitchFamily="34" charset="-122"/>
                <a:cs typeface="Calibri" pitchFamily="34" charset="-120"/>
              </a:rPr>
              <a:t>R</a:t>
            </a:r>
            <a:r>
              <a:rPr lang="en-US" sz="1250" dirty="0">
                <a:solidFill>
                  <a:srgbClr val="5B6576"/>
                </a:solidFill>
                <a:latin typeface="Calibri" pitchFamily="34" charset="0"/>
                <a:ea typeface="Calibri" pitchFamily="34" charset="-122"/>
                <a:cs typeface="Calibri" pitchFamily="34" charset="-120"/>
              </a:rPr>
              <a:t> and O converts</a:t>
            </a:r>
            <a:endParaRPr lang="en-US" sz="1250" dirty="0"/>
          </a:p>
        </p:txBody>
      </p:sp>
      <p:sp>
        <p:nvSpPr>
          <p:cNvPr id="7" name="Shape 4"/>
          <p:cNvSpPr/>
          <p:nvPr/>
        </p:nvSpPr>
        <p:spPr>
          <a:xfrm>
            <a:off x="548640" y="2350008"/>
            <a:ext cx="566928" cy="566928"/>
          </a:xfrm>
          <a:prstGeom prst="ellipse">
            <a:avLst/>
          </a:prstGeom>
          <a:solidFill>
            <a:srgbClr val="C45A0C"/>
          </a:solidFill>
          <a:ln w="12700">
            <a:solidFill>
              <a:srgbClr val="C45A0C"/>
            </a:solidFill>
            <a:prstDash val="solid"/>
          </a:ln>
        </p:spPr>
      </p:sp>
      <p:pic>
        <p:nvPicPr>
          <p:cNvPr id="8" name="Image 1" descr="preencoded.png">    </p:cNvPr>
          <p:cNvPicPr>
            <a:picLocks noChangeAspect="1"/>
          </p:cNvPicPr>
          <p:nvPr/>
        </p:nvPicPr>
        <p:blipFill>
          <a:blip r:embed="rId2"/>
          <a:stretch>
            <a:fillRect/>
          </a:stretch>
        </p:blipFill>
        <p:spPr>
          <a:xfrm>
            <a:off x="684703" y="2486071"/>
            <a:ext cx="294803" cy="294803"/>
          </a:xfrm>
          <a:prstGeom prst="rect">
            <a:avLst/>
          </a:prstGeom>
        </p:spPr>
      </p:pic>
      <p:sp>
        <p:nvSpPr>
          <p:cNvPr id="9" name="Text 5"/>
          <p:cNvSpPr txBox="1"/>
          <p:nvPr/>
        </p:nvSpPr>
        <p:spPr>
          <a:xfrm>
            <a:off x="1280160" y="2331720"/>
            <a:ext cx="4114800" cy="36576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Noise in O's decryption share</a:t>
            </a:r>
            <a:endParaRPr lang="en-US" sz="1700" dirty="0"/>
          </a:p>
        </p:txBody>
      </p:sp>
      <p:sp>
        <p:nvSpPr>
          <p:cNvPr id="10" name="Text 6"/>
          <p:cNvSpPr txBox="1"/>
          <p:nvPr/>
        </p:nvSpPr>
        <p:spPr>
          <a:xfrm>
            <a:off x="1280160" y="2697480"/>
            <a:ext cx="4114800" cy="640080"/>
          </a:xfrm>
          <a:prstGeom prst="rect">
            <a:avLst/>
          </a:prstGeom>
          <a:noFill/>
          <a:ln/>
        </p:spPr>
        <p:txBody>
          <a:bodyPr wrap="square" lIns="0" tIns="0" rIns="0" bIns="0" rtlCol="0" anchor="t"/>
          <a:lstStyle/>
          <a:p>
            <a:pPr indent="0" marL="0">
              <a:buNone/>
            </a:pPr>
            <a:r>
              <a:rPr lang="en-US" sz="1250" dirty="0">
                <a:solidFill>
                  <a:srgbClr val="5B6576"/>
                </a:solidFill>
                <a:latin typeface="Calibri" pitchFamily="34" charset="0"/>
                <a:ea typeface="Calibri" pitchFamily="34" charset="-122"/>
                <a:cs typeface="Calibri" pitchFamily="34" charset="-120"/>
              </a:rPr>
              <a:t>O sends (c</a:t>
            </a:r>
            <a:r>
              <a:rPr lang="en-US" sz="1250" baseline="-25000" dirty="0">
                <a:solidFill>
                  <a:srgbClr val="5B6576"/>
                </a:solidFill>
                <a:latin typeface="Calibri" pitchFamily="34" charset="0"/>
                <a:ea typeface="Calibri" pitchFamily="34" charset="-122"/>
                <a:cs typeface="Calibri" pitchFamily="34" charset="-120"/>
              </a:rPr>
              <a:t>1</a:t>
            </a:r>
            <a:r>
              <a:rPr lang="en-US" sz="1250" dirty="0">
                <a:solidFill>
                  <a:srgbClr val="5B6576"/>
                </a:solidFill>
                <a:latin typeface="Calibri" pitchFamily="34" charset="0"/>
                <a:ea typeface="Calibri" pitchFamily="34" charset="-122"/>
                <a:cs typeface="Calibri" pitchFamily="34" charset="-120"/>
              </a:rPr>
              <a:t>′, h</a:t>
            </a:r>
            <a:r>
              <a:rPr lang="en-US" sz="1250" baseline="-25000" dirty="0">
                <a:solidFill>
                  <a:srgbClr val="5B6576"/>
                </a:solidFill>
                <a:latin typeface="Calibri" pitchFamily="34" charset="0"/>
                <a:ea typeface="Calibri" pitchFamily="34" charset="-122"/>
                <a:cs typeface="Calibri" pitchFamily="34" charset="-120"/>
              </a:rPr>
              <a:t>O</a:t>
            </a:r>
            <a:r>
              <a:rPr lang="en-US" sz="1250" dirty="0">
                <a:solidFill>
                  <a:srgbClr val="5B6576"/>
                </a:solidFill>
                <a:latin typeface="Calibri" pitchFamily="34" charset="0"/>
                <a:ea typeface="Calibri" pitchFamily="34" charset="-122"/>
                <a:cs typeface="Calibri" pitchFamily="34" charset="-120"/>
              </a:rPr>
              <a:t> = c</a:t>
            </a:r>
            <a:r>
              <a:rPr lang="en-US" sz="1250" baseline="-25000" dirty="0">
                <a:solidFill>
                  <a:srgbClr val="5B6576"/>
                </a:solidFill>
                <a:latin typeface="Calibri" pitchFamily="34" charset="0"/>
                <a:ea typeface="Calibri" pitchFamily="34" charset="-122"/>
                <a:cs typeface="Calibri" pitchFamily="34" charset="-120"/>
              </a:rPr>
              <a:t>0</a:t>
            </a:r>
            <a:r>
              <a:rPr lang="en-US" sz="1250" dirty="0">
                <a:solidFill>
                  <a:srgbClr val="5B6576"/>
                </a:solidFill>
                <a:latin typeface="Calibri" pitchFamily="34" charset="0"/>
                <a:ea typeface="Calibri" pitchFamily="34" charset="-122"/>
                <a:cs typeface="Calibri" pitchFamily="34" charset="-120"/>
              </a:rPr>
              <a:t>′ + c</a:t>
            </a:r>
            <a:r>
              <a:rPr lang="en-US" sz="1250" baseline="-25000" dirty="0">
                <a:solidFill>
                  <a:srgbClr val="5B6576"/>
                </a:solidFill>
                <a:latin typeface="Calibri" pitchFamily="34" charset="0"/>
                <a:ea typeface="Calibri" pitchFamily="34" charset="-122"/>
                <a:cs typeface="Calibri" pitchFamily="34" charset="-120"/>
              </a:rPr>
              <a:t>1</a:t>
            </a:r>
            <a:r>
              <a:rPr lang="en-US" sz="1250" dirty="0">
                <a:solidFill>
                  <a:srgbClr val="5B6576"/>
                </a:solidFill>
                <a:latin typeface="Calibri" pitchFamily="34" charset="0"/>
                <a:ea typeface="Calibri" pitchFamily="34" charset="-122"/>
                <a:cs typeface="Calibri" pitchFamily="34" charset="-120"/>
              </a:rPr>
              <a:t>′s</a:t>
            </a:r>
            <a:r>
              <a:rPr lang="en-US" sz="1250" baseline="-25000" dirty="0">
                <a:solidFill>
                  <a:srgbClr val="5B6576"/>
                </a:solidFill>
                <a:latin typeface="Calibri" pitchFamily="34" charset="0"/>
                <a:ea typeface="Calibri" pitchFamily="34" charset="-122"/>
                <a:cs typeface="Calibri" pitchFamily="34" charset="-120"/>
              </a:rPr>
              <a:t>O</a:t>
            </a:r>
            <a:r>
              <a:rPr lang="en-US" sz="1250" dirty="0">
                <a:solidFill>
                  <a:srgbClr val="5B6576"/>
                </a:solidFill>
                <a:latin typeface="Calibri" pitchFamily="34" charset="0"/>
                <a:ea typeface="Calibri" pitchFamily="34" charset="-122"/>
                <a:cs typeface="Calibri" pitchFamily="34" charset="-120"/>
              </a:rPr>
              <a:t> + η) and never c</a:t>
            </a:r>
            <a:r>
              <a:rPr lang="en-US" sz="1250" baseline="-25000" dirty="0">
                <a:solidFill>
                  <a:srgbClr val="5B6576"/>
                </a:solidFill>
                <a:latin typeface="Calibri" pitchFamily="34" charset="0"/>
                <a:ea typeface="Calibri" pitchFamily="34" charset="-122"/>
                <a:cs typeface="Calibri" pitchFamily="34" charset="-120"/>
              </a:rPr>
              <a:t>0</a:t>
            </a:r>
            <a:r>
              <a:rPr lang="en-US" sz="1250" dirty="0">
                <a:solidFill>
                  <a:srgbClr val="5B6576"/>
                </a:solidFill>
                <a:latin typeface="Calibri" pitchFamily="34" charset="0"/>
                <a:ea typeface="Calibri" pitchFamily="34" charset="-122"/>
                <a:cs typeface="Calibri" pitchFamily="34" charset="-120"/>
              </a:rPr>
              <a:t>′. η floods the whole ciphertext error</a:t>
            </a:r>
            <a:endParaRPr lang="en-US" sz="1250" dirty="0"/>
          </a:p>
        </p:txBody>
      </p:sp>
      <p:sp>
        <p:nvSpPr>
          <p:cNvPr id="11" name="Shape 7"/>
          <p:cNvSpPr/>
          <p:nvPr/>
        </p:nvSpPr>
        <p:spPr>
          <a:xfrm>
            <a:off x="548640" y="3374136"/>
            <a:ext cx="566928" cy="566928"/>
          </a:xfrm>
          <a:prstGeom prst="ellipse">
            <a:avLst/>
          </a:prstGeom>
          <a:solidFill>
            <a:srgbClr val="14213D"/>
          </a:solidFill>
          <a:ln w="12700">
            <a:solidFill>
              <a:srgbClr val="14213D"/>
            </a:solidFill>
            <a:prstDash val="solid"/>
          </a:ln>
        </p:spPr>
      </p:sp>
      <p:pic>
        <p:nvPicPr>
          <p:cNvPr id="12" name="Image 2" descr="preencoded.png">    </p:cNvPr>
          <p:cNvPicPr>
            <a:picLocks noChangeAspect="1"/>
          </p:cNvPicPr>
          <p:nvPr/>
        </p:nvPicPr>
        <p:blipFill>
          <a:blip r:embed="rId3"/>
          <a:stretch>
            <a:fillRect/>
          </a:stretch>
        </p:blipFill>
        <p:spPr>
          <a:xfrm>
            <a:off x="684703" y="3510199"/>
            <a:ext cx="294803" cy="294803"/>
          </a:xfrm>
          <a:prstGeom prst="rect">
            <a:avLst/>
          </a:prstGeom>
        </p:spPr>
      </p:pic>
      <p:sp>
        <p:nvSpPr>
          <p:cNvPr id="13" name="Text 8"/>
          <p:cNvSpPr txBox="1"/>
          <p:nvPr/>
        </p:nvSpPr>
        <p:spPr>
          <a:xfrm>
            <a:off x="1280160" y="3355848"/>
            <a:ext cx="4114800" cy="36576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Two-stage ridge</a:t>
            </a:r>
            <a:endParaRPr lang="en-US" sz="1700" dirty="0"/>
          </a:p>
        </p:txBody>
      </p:sp>
      <p:sp>
        <p:nvSpPr>
          <p:cNvPr id="14" name="Text 9"/>
          <p:cNvSpPr txBox="1"/>
          <p:nvPr/>
        </p:nvSpPr>
        <p:spPr>
          <a:xfrm>
            <a:off x="1280160" y="3721608"/>
            <a:ext cx="4114800" cy="640080"/>
          </a:xfrm>
          <a:prstGeom prst="rect">
            <a:avLst/>
          </a:prstGeom>
          <a:noFill/>
          <a:ln/>
        </p:spPr>
        <p:txBody>
          <a:bodyPr wrap="square" lIns="0" tIns="0" rIns="0" bIns="0" rtlCol="0" anchor="t"/>
          <a:lstStyle/>
          <a:p>
            <a:pPr indent="0" marL="0">
              <a:buNone/>
            </a:pPr>
            <a:r>
              <a:rPr lang="en-US" sz="1250" dirty="0">
                <a:solidFill>
                  <a:srgbClr val="5B6576"/>
                </a:solidFill>
                <a:latin typeface="Calibri" pitchFamily="34" charset="0"/>
                <a:ea typeface="Calibri" pitchFamily="34" charset="-122"/>
                <a:cs typeface="Calibri" pitchFamily="34" charset="-120"/>
              </a:rPr>
              <a:t>(λ, Ψ) from a small stage-1 release and A only, so it is independent of the stage-2 noise</a:t>
            </a:r>
            <a:endParaRPr lang="en-US" sz="1250" dirty="0"/>
          </a:p>
        </p:txBody>
      </p:sp>
      <p:sp>
        <p:nvSpPr>
          <p:cNvPr id="15" name="Shape 10"/>
          <p:cNvSpPr/>
          <p:nvPr/>
        </p:nvSpPr>
        <p:spPr>
          <a:xfrm>
            <a:off x="548640" y="4398264"/>
            <a:ext cx="566928" cy="566928"/>
          </a:xfrm>
          <a:prstGeom prst="ellipse">
            <a:avLst/>
          </a:prstGeom>
          <a:solidFill>
            <a:srgbClr val="14213D"/>
          </a:solidFill>
          <a:ln w="12700">
            <a:solidFill>
              <a:srgbClr val="14213D"/>
            </a:solidFill>
            <a:prstDash val="solid"/>
          </a:ln>
        </p:spPr>
      </p:sp>
      <p:pic>
        <p:nvPicPr>
          <p:cNvPr id="16" name="Image 3" descr="preencoded.png">    </p:cNvPr>
          <p:cNvPicPr>
            <a:picLocks noChangeAspect="1"/>
          </p:cNvPicPr>
          <p:nvPr/>
        </p:nvPicPr>
        <p:blipFill>
          <a:blip r:embed="rId4"/>
          <a:stretch>
            <a:fillRect/>
          </a:stretch>
        </p:blipFill>
        <p:spPr>
          <a:xfrm>
            <a:off x="684703" y="4534327"/>
            <a:ext cx="294803" cy="294803"/>
          </a:xfrm>
          <a:prstGeom prst="rect">
            <a:avLst/>
          </a:prstGeom>
        </p:spPr>
      </p:pic>
      <p:sp>
        <p:nvSpPr>
          <p:cNvPr id="17" name="Text 11"/>
          <p:cNvSpPr txBox="1"/>
          <p:nvPr/>
        </p:nvSpPr>
        <p:spPr>
          <a:xfrm>
            <a:off x="1280160" y="4379976"/>
            <a:ext cx="4114800" cy="36576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Valid intervals</a:t>
            </a:r>
            <a:endParaRPr lang="en-US" sz="1700" dirty="0"/>
          </a:p>
        </p:txBody>
      </p:sp>
      <p:sp>
        <p:nvSpPr>
          <p:cNvPr id="18" name="Text 12"/>
          <p:cNvSpPr txBox="1"/>
          <p:nvPr/>
        </p:nvSpPr>
        <p:spPr>
          <a:xfrm>
            <a:off x="1280160" y="4745736"/>
            <a:ext cx="4114800" cy="640080"/>
          </a:xfrm>
          <a:prstGeom prst="rect">
            <a:avLst/>
          </a:prstGeom>
          <a:noFill/>
          <a:ln/>
        </p:spPr>
        <p:txBody>
          <a:bodyPr wrap="square" lIns="0" tIns="0" rIns="0" bIns="0" rtlCol="0" anchor="t"/>
          <a:lstStyle/>
          <a:p>
            <a:pPr indent="0" marL="0">
              <a:buNone/>
            </a:pPr>
            <a:r>
              <a:rPr lang="en-US" sz="1250" dirty="0">
                <a:solidFill>
                  <a:srgbClr val="5B6576"/>
                </a:solidFill>
                <a:latin typeface="Calibri" pitchFamily="34" charset="0"/>
                <a:ea typeface="Calibri" pitchFamily="34" charset="-122"/>
                <a:cs typeface="Calibri" pitchFamily="34" charset="-120"/>
              </a:rPr>
              <a:t>Parametric bootstrap; Wald interval for the ridge target θ</a:t>
            </a:r>
            <a:r>
              <a:rPr lang="en-US" sz="1250" baseline="-25000" dirty="0">
                <a:solidFill>
                  <a:srgbClr val="5B6576"/>
                </a:solidFill>
                <a:latin typeface="Calibri" pitchFamily="34" charset="0"/>
                <a:ea typeface="Calibri" pitchFamily="34" charset="-122"/>
                <a:cs typeface="Calibri" pitchFamily="34" charset="-120"/>
              </a:rPr>
              <a:t>λ</a:t>
            </a:r>
            <a:r>
              <a:rPr lang="en-US" sz="1250" dirty="0">
                <a:solidFill>
                  <a:srgbClr val="5B6576"/>
                </a:solidFill>
                <a:latin typeface="Calibri" pitchFamily="34" charset="0"/>
                <a:ea typeface="Calibri" pitchFamily="34" charset="-122"/>
                <a:cs typeface="Calibri" pitchFamily="34" charset="-120"/>
              </a:rPr>
              <a:t>, bias-aware interval for β</a:t>
            </a:r>
            <a:endParaRPr lang="en-US" sz="1250" dirty="0"/>
          </a:p>
        </p:txBody>
      </p:sp>
      <p:sp>
        <p:nvSpPr>
          <p:cNvPr id="19" name="Shape 13"/>
          <p:cNvSpPr/>
          <p:nvPr/>
        </p:nvSpPr>
        <p:spPr>
          <a:xfrm>
            <a:off x="548640" y="5422392"/>
            <a:ext cx="566928" cy="566928"/>
          </a:xfrm>
          <a:prstGeom prst="ellipse">
            <a:avLst/>
          </a:prstGeom>
          <a:solidFill>
            <a:srgbClr val="14213D"/>
          </a:solidFill>
          <a:ln w="12700">
            <a:solidFill>
              <a:srgbClr val="14213D"/>
            </a:solidFill>
            <a:prstDash val="solid"/>
          </a:ln>
        </p:spPr>
      </p:sp>
      <p:pic>
        <p:nvPicPr>
          <p:cNvPr id="20" name="Image 4" descr="preencoded.png">    </p:cNvPr>
          <p:cNvPicPr>
            <a:picLocks noChangeAspect="1"/>
          </p:cNvPicPr>
          <p:nvPr/>
        </p:nvPicPr>
        <p:blipFill>
          <a:blip r:embed="rId5"/>
          <a:stretch>
            <a:fillRect/>
          </a:stretch>
        </p:blipFill>
        <p:spPr>
          <a:xfrm>
            <a:off x="684703" y="5558455"/>
            <a:ext cx="294803" cy="294803"/>
          </a:xfrm>
          <a:prstGeom prst="rect">
            <a:avLst/>
          </a:prstGeom>
        </p:spPr>
      </p:pic>
      <p:sp>
        <p:nvSpPr>
          <p:cNvPr id="21" name="Text 14"/>
          <p:cNvSpPr txBox="1"/>
          <p:nvPr/>
        </p:nvSpPr>
        <p:spPr>
          <a:xfrm>
            <a:off x="1280160" y="5404104"/>
            <a:ext cx="4114800" cy="36576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Capped, padded linkage</a:t>
            </a:r>
            <a:endParaRPr lang="en-US" sz="1700" dirty="0"/>
          </a:p>
        </p:txBody>
      </p:sp>
      <p:sp>
        <p:nvSpPr>
          <p:cNvPr id="22" name="Text 15"/>
          <p:cNvSpPr txBox="1"/>
          <p:nvPr/>
        </p:nvSpPr>
        <p:spPr>
          <a:xfrm>
            <a:off x="1280160" y="5769864"/>
            <a:ext cx="4114800" cy="640080"/>
          </a:xfrm>
          <a:prstGeom prst="rect">
            <a:avLst/>
          </a:prstGeom>
          <a:noFill/>
          <a:ln/>
        </p:spPr>
        <p:txBody>
          <a:bodyPr wrap="square" lIns="0" tIns="0" rIns="0" bIns="0" rtlCol="0" anchor="t"/>
          <a:lstStyle/>
          <a:p>
            <a:pPr indent="0" marL="0">
              <a:buNone/>
            </a:pPr>
            <a:r>
              <a:rPr lang="en-US" sz="1250" dirty="0">
                <a:solidFill>
                  <a:srgbClr val="5B6576"/>
                </a:solidFill>
                <a:latin typeface="Calibri" pitchFamily="34" charset="0"/>
                <a:ea typeface="Calibri" pitchFamily="34" charset="-122"/>
                <a:cs typeface="Calibri" pitchFamily="34" charset="-120"/>
              </a:rPr>
              <a:t>OPRF-based labeled PSI; R's cohort padded to n</a:t>
            </a:r>
            <a:r>
              <a:rPr lang="en-US" sz="1250" baseline="-25000" dirty="0">
                <a:solidFill>
                  <a:srgbClr val="5B6576"/>
                </a:solidFill>
                <a:latin typeface="Calibri" pitchFamily="34" charset="0"/>
                <a:ea typeface="Calibri" pitchFamily="34" charset="-122"/>
                <a:cs typeface="Calibri" pitchFamily="34" charset="-120"/>
              </a:rPr>
              <a:t>R</a:t>
            </a:r>
            <a:r>
              <a:rPr lang="en-US" sz="1250" baseline="30000" dirty="0">
                <a:solidFill>
                  <a:srgbClr val="5B6576"/>
                </a:solidFill>
                <a:latin typeface="Calibri" pitchFamily="34" charset="0"/>
                <a:ea typeface="Calibri" pitchFamily="34" charset="-122"/>
                <a:cs typeface="Calibri" pitchFamily="34" charset="-120"/>
              </a:rPr>
              <a:t>max</a:t>
            </a:r>
            <a:r>
              <a:rPr lang="en-US" sz="1250" dirty="0">
                <a:solidFill>
                  <a:srgbClr val="5B6576"/>
                </a:solidFill>
                <a:latin typeface="Calibri" pitchFamily="34" charset="0"/>
                <a:ea typeface="Calibri" pitchFamily="34" charset="-122"/>
                <a:cs typeface="Calibri" pitchFamily="34" charset="-120"/>
              </a:rPr>
              <a:t>, O's register to n̄</a:t>
            </a:r>
            <a:r>
              <a:rPr lang="en-US" sz="1250" baseline="-25000" dirty="0">
                <a:solidFill>
                  <a:srgbClr val="5B6576"/>
                </a:solidFill>
                <a:latin typeface="Calibri" pitchFamily="34" charset="0"/>
                <a:ea typeface="Calibri" pitchFamily="34" charset="-122"/>
                <a:cs typeface="Calibri" pitchFamily="34" charset="-120"/>
              </a:rPr>
              <a:t>O</a:t>
            </a:r>
            <a:endParaRPr lang="en-US" sz="1250" dirty="0"/>
          </a:p>
        </p:txBody>
      </p:sp>
      <p:pic>
        <p:nvPicPr>
          <p:cNvPr id="23" name="Image 5" descr="/home/user/VerticalFederatedRegression/slides/assets/protocol_v31.png">    </p:cNvPr>
          <p:cNvPicPr>
            <a:picLocks noChangeAspect="1"/>
          </p:cNvPicPr>
          <p:nvPr/>
        </p:nvPicPr>
        <p:blipFill>
          <a:blip r:embed="rId6"/>
          <a:stretch>
            <a:fillRect/>
          </a:stretch>
        </p:blipFill>
        <p:spPr>
          <a:xfrm>
            <a:off x="6172200" y="1097280"/>
            <a:ext cx="5669280" cy="539202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What the proofs establish</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Proofs appendix: Part A, cryptography and DP (25 pp.); Part B, sensitivity and statistics (20 pp.)</a:t>
            </a:r>
            <a:endParaRPr lang="en-US" sz="1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9144000" cy="914400"/>
        </p:xfrm>
        <a:graphic>
          <a:graphicData uri="http://schemas.openxmlformats.org/drawingml/2006/table">
            <a:tbl>
              <a:tblPr/>
              <a:tblGrid>
                <a:gridCol w="4206240"/>
                <a:gridCol w="118872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Part A: cryptography and DP</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47548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Encoding sensitivity √(2/N)</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1B8A7A"/>
                          </a:solidFill>
                          <a:latin typeface="Calibri" pitchFamily="34" charset="0"/>
                          <a:ea typeface="Calibri" pitchFamily="34" charset="-122"/>
                          <a:cs typeface="Calibri" pitchFamily="34" charset="-120"/>
                        </a:rPr>
                        <a:t>Proven</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7548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Smudging lemma, explicit constants</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1B8A7A"/>
                          </a:solidFill>
                          <a:latin typeface="Calibri" pitchFamily="34" charset="0"/>
                          <a:ea typeface="Calibri" pitchFamily="34" charset="-122"/>
                          <a:cs typeface="Calibri" pitchFamily="34" charset="-120"/>
                        </a:rPr>
                        <a:t>Proven</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7548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Worst-case error bound B</a:t>
                      </a:r>
                      <a:r>
                        <a:rPr lang="en-US" sz="1200" baseline="-25000" dirty="0">
                          <a:solidFill>
                            <a:srgbClr val="1F2937"/>
                          </a:solidFill>
                          <a:latin typeface="Calibri" pitchFamily="34" charset="0"/>
                          <a:ea typeface="Calibri" pitchFamily="34" charset="-122"/>
                          <a:cs typeface="Calibri" pitchFamily="34" charset="-120"/>
                        </a:rPr>
                        <a:t>tot</a:t>
                      </a:r>
                      <a:r>
                        <a:rPr lang="en-US" sz="1200" dirty="0">
                          <a:solidFill>
                            <a:srgbClr val="1F2937"/>
                          </a:solidFill>
                          <a:latin typeface="Calibri" pitchFamily="34" charset="0"/>
                          <a:ea typeface="Calibri" pitchFamily="34" charset="-122"/>
                          <a:cs typeface="Calibri" pitchFamily="34" charset="-120"/>
                        </a:rPr>
                        <a:t> ≈ 2</a:t>
                      </a:r>
                      <a:r>
                        <a:rPr lang="en-US" sz="1200" baseline="30000" dirty="0">
                          <a:solidFill>
                            <a:srgbClr val="1F2937"/>
                          </a:solidFill>
                          <a:latin typeface="Calibri" pitchFamily="34" charset="0"/>
                          <a:ea typeface="Calibri" pitchFamily="34" charset="-122"/>
                          <a:cs typeface="Calibri" pitchFamily="34" charset="-120"/>
                        </a:rPr>
                        <a:t>25.3</a:t>
                      </a:r>
                      <a:r>
                        <a:rPr lang="en-US" sz="1200" dirty="0">
                          <a:solidFill>
                            <a:srgbClr val="1F2937"/>
                          </a:solidFill>
                          <a:latin typeface="Calibri" pitchFamily="34" charset="0"/>
                          <a:ea typeface="Calibri" pitchFamily="34" charset="-122"/>
                          <a:cs typeface="Calibri" pitchFamily="34" charset="-120"/>
                        </a:rPr>
                        <a:t>; OpenFHE measures 6–8 bits below it</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1B8A7A"/>
                          </a:solidFill>
                          <a:latin typeface="Calibri" pitchFamily="34" charset="0"/>
                          <a:ea typeface="Calibri" pitchFamily="34" charset="-122"/>
                          <a:cs typeface="Calibri" pitchFamily="34" charset="-120"/>
                        </a:rPr>
                        <a:t>Proven</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7548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zCDP of the ideal mechanism; ρ</a:t>
                      </a:r>
                      <a:r>
                        <a:rPr lang="en-US" sz="1200" baseline="-25000" dirty="0">
                          <a:solidFill>
                            <a:srgbClr val="1F2937"/>
                          </a:solidFill>
                          <a:latin typeface="Calibri" pitchFamily="34" charset="0"/>
                          <a:ea typeface="Calibri" pitchFamily="34" charset="-122"/>
                          <a:cs typeface="Calibri" pitchFamily="34" charset="-120"/>
                        </a:rPr>
                        <a:t>run</a:t>
                      </a:r>
                      <a:r>
                        <a:rPr lang="en-US" sz="1200" dirty="0">
                          <a:solidFill>
                            <a:srgbClr val="1F2937"/>
                          </a:solidFill>
                          <a:latin typeface="Calibri" pitchFamily="34" charset="0"/>
                          <a:ea typeface="Calibri" pitchFamily="34" charset="-122"/>
                          <a:cs typeface="Calibri" pitchFamily="34" charset="-120"/>
                        </a:rPr>
                        <a:t> = 0.01496 at ε = 1, δ = 10</a:t>
                      </a:r>
                      <a:r>
                        <a:rPr lang="en-US" sz="1200" baseline="30000" dirty="0">
                          <a:solidFill>
                            <a:srgbClr val="1F2937"/>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1B8A7A"/>
                          </a:solidFill>
                          <a:latin typeface="Calibri" pitchFamily="34" charset="0"/>
                          <a:ea typeface="Calibri" pitchFamily="34" charset="-122"/>
                          <a:cs typeface="Calibri" pitchFamily="34" charset="-120"/>
                        </a:rPr>
                        <a:t>Proven</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7548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Output privacy (SIM-CDP) by hybrids, under RLWE and circular security</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1B8A7A"/>
                          </a:solidFill>
                          <a:latin typeface="Calibri" pitchFamily="34" charset="0"/>
                          <a:ea typeface="Calibri" pitchFamily="34" charset="-122"/>
                          <a:cs typeface="Calibri" pitchFamily="34" charset="-120"/>
                        </a:rPr>
                        <a:t>Proven</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7548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Input and cohort privacy; correctness without wraparound</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1B8A7A"/>
                          </a:solidFill>
                          <a:latin typeface="Calibri" pitchFamily="34" charset="0"/>
                          <a:ea typeface="Calibri" pitchFamily="34" charset="-122"/>
                          <a:cs typeface="Calibri" pitchFamily="34" charset="-120"/>
                        </a:rPr>
                        <a:t>Proven</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graphicFrame>
        <p:nvGraphicFramePr>
          <p:cNvPr id="73" name="Table 1"/>
          <p:cNvGraphicFramePr>
            <a:graphicFrameLocks noGrp="1"/>
          </p:cNvGraphicFramePr>
          <p:nvPr>
            <p:extLst>
              <p:ext uri="{D42A27DB-BD31-4B8C-83A1-F6EECF244321}">
                <p14:modId xmlns:p14="http://schemas.microsoft.com/office/powerpoint/2010/main" val="1579011935"/>
              </p:ext>
            </p:extLst>
          </p:nvPr>
        </p:nvGraphicFramePr>
        <p:xfrm>
          <a:off x="6217920" y="1600200"/>
          <a:ext cx="9144000" cy="914400"/>
        </p:xfrm>
        <a:graphic>
          <a:graphicData uri="http://schemas.openxmlformats.org/drawingml/2006/table">
            <a:tbl>
              <a:tblPr/>
              <a:tblGrid>
                <a:gridCol w="4206240"/>
                <a:gridCol w="118872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Part B: sensitivity and statistics</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47548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Replace-one sensitivity, exact for d</a:t>
                      </a:r>
                      <a:r>
                        <a:rPr lang="en-US" sz="1200" baseline="-25000" dirty="0">
                          <a:solidFill>
                            <a:srgbClr val="1F2937"/>
                          </a:solidFill>
                          <a:latin typeface="Calibri" pitchFamily="34" charset="0"/>
                          <a:ea typeface="Calibri" pitchFamily="34" charset="-122"/>
                          <a:cs typeface="Calibri" pitchFamily="34" charset="-120"/>
                        </a:rPr>
                        <a:t>O</a:t>
                      </a:r>
                      <a:r>
                        <a:rPr lang="en-US" sz="1200" dirty="0">
                          <a:solidFill>
                            <a:srgbClr val="1F2937"/>
                          </a:solidFill>
                          <a:latin typeface="Calibri" pitchFamily="34" charset="0"/>
                          <a:ea typeface="Calibri" pitchFamily="34" charset="-122"/>
                          <a:cs typeface="Calibri" pitchFamily="34" charset="-120"/>
                        </a:rPr>
                        <a:t> ≥ 2</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1B8A7A"/>
                          </a:solidFill>
                          <a:latin typeface="Calibri" pitchFamily="34" charset="0"/>
                          <a:ea typeface="Calibri" pitchFamily="34" charset="-122"/>
                          <a:cs typeface="Calibri" pitchFamily="34" charset="-120"/>
                        </a:rPr>
                        <a:t>Proven</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7548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y</a:t>
                      </a:r>
                      <a:r>
                        <a:rPr lang="en-US" sz="1200" baseline="30000" dirty="0">
                          <a:solidFill>
                            <a:srgbClr val="1F2937"/>
                          </a:solidFill>
                          <a:latin typeface="Calibri" pitchFamily="34" charset="0"/>
                          <a:ea typeface="Calibri" pitchFamily="34" charset="-122"/>
                          <a:cs typeface="Calibri" pitchFamily="34" charset="-120"/>
                        </a:rPr>
                        <a:t>T</a:t>
                      </a:r>
                      <a:r>
                        <a:rPr lang="en-US" sz="1200" dirty="0">
                          <a:solidFill>
                            <a:srgbClr val="1F2937"/>
                          </a:solidFill>
                          <a:latin typeface="Calibri" pitchFamily="34" charset="0"/>
                          <a:ea typeface="Calibri" pitchFamily="34" charset="-122"/>
                          <a:cs typeface="Calibri" pitchFamily="34" charset="-120"/>
                        </a:rPr>
                        <a:t>y free if B</a:t>
                      </a:r>
                      <a:r>
                        <a:rPr lang="en-US" sz="1200" baseline="-25000" dirty="0">
                          <a:solidFill>
                            <a:srgbClr val="1F2937"/>
                          </a:solidFill>
                          <a:latin typeface="Calibri" pitchFamily="34" charset="0"/>
                          <a:ea typeface="Calibri" pitchFamily="34" charset="-122"/>
                          <a:cs typeface="Calibri" pitchFamily="34" charset="-120"/>
                        </a:rPr>
                        <a:t>y</a:t>
                      </a:r>
                      <a:r>
                        <a:rPr lang="en-US" sz="1200" baseline="30000" dirty="0">
                          <a:solidFill>
                            <a:srgbClr val="1F2937"/>
                          </a:solidFill>
                          <a:latin typeface="Calibri" pitchFamily="34" charset="0"/>
                          <a:ea typeface="Calibri" pitchFamily="34" charset="-122"/>
                          <a:cs typeface="Calibri" pitchFamily="34" charset="-120"/>
                        </a:rPr>
                        <a:t>2</a:t>
                      </a:r>
                      <a:r>
                        <a:rPr lang="en-US" sz="1200" dirty="0">
                          <a:solidFill>
                            <a:srgbClr val="1F2937"/>
                          </a:solidFill>
                          <a:latin typeface="Calibri" pitchFamily="34" charset="0"/>
                          <a:ea typeface="Calibri" pitchFamily="34" charset="-122"/>
                          <a:cs typeface="Calibri" pitchFamily="34" charset="-120"/>
                        </a:rPr>
                        <a:t> ≤ 2(B</a:t>
                      </a:r>
                      <a:r>
                        <a:rPr lang="en-US" sz="1200" baseline="-25000" dirty="0">
                          <a:solidFill>
                            <a:srgbClr val="1F2937"/>
                          </a:solidFill>
                          <a:latin typeface="Calibri" pitchFamily="34" charset="0"/>
                          <a:ea typeface="Calibri" pitchFamily="34" charset="-122"/>
                          <a:cs typeface="Calibri" pitchFamily="34" charset="-120"/>
                        </a:rPr>
                        <a:t>R</a:t>
                      </a:r>
                      <a:r>
                        <a:rPr lang="en-US" sz="1200" baseline="30000" dirty="0">
                          <a:solidFill>
                            <a:srgbClr val="1F2937"/>
                          </a:solidFill>
                          <a:latin typeface="Calibri" pitchFamily="34" charset="0"/>
                          <a:ea typeface="Calibri" pitchFamily="34" charset="-122"/>
                          <a:cs typeface="Calibri" pitchFamily="34" charset="-120"/>
                        </a:rPr>
                        <a:t>2</a:t>
                      </a:r>
                      <a:r>
                        <a:rPr lang="en-US" sz="1200" dirty="0">
                          <a:solidFill>
                            <a:srgbClr val="1F2937"/>
                          </a:solidFill>
                          <a:latin typeface="Calibri" pitchFamily="34" charset="0"/>
                          <a:ea typeface="Calibri" pitchFamily="34" charset="-122"/>
                          <a:cs typeface="Calibri" pitchFamily="34" charset="-120"/>
                        </a:rPr>
                        <a:t> + B</a:t>
                      </a:r>
                      <a:r>
                        <a:rPr lang="en-US" sz="1200" baseline="-25000" dirty="0">
                          <a:solidFill>
                            <a:srgbClr val="1F2937"/>
                          </a:solidFill>
                          <a:latin typeface="Calibri" pitchFamily="34" charset="0"/>
                          <a:ea typeface="Calibri" pitchFamily="34" charset="-122"/>
                          <a:cs typeface="Calibri" pitchFamily="34" charset="-120"/>
                        </a:rPr>
                        <a:t>O</a:t>
                      </a:r>
                      <a:r>
                        <a:rPr lang="en-US" sz="1200" baseline="30000" dirty="0">
                          <a:solidFill>
                            <a:srgbClr val="1F2937"/>
                          </a:solidFill>
                          <a:latin typeface="Calibri" pitchFamily="34" charset="0"/>
                          <a:ea typeface="Calibri" pitchFamily="34" charset="-122"/>
                          <a:cs typeface="Calibri" pitchFamily="34" charset="-120"/>
                        </a:rPr>
                        <a:t>2</a:t>
                      </a:r>
                      <a:r>
                        <a:rPr lang="en-US" sz="1200" dirty="0">
                          <a:solidFill>
                            <a:srgbClr val="1F2937"/>
                          </a:solidFill>
                          <a:latin typeface="Calibri" pitchFamily="34" charset="0"/>
                          <a:ea typeface="Calibri" pitchFamily="34" charset="-122"/>
                          <a:cs typeface="Calibri" pitchFamily="34" charset="-120"/>
                        </a:rPr>
                        <a:t>), costly if &gt; 3(B</a:t>
                      </a:r>
                      <a:r>
                        <a:rPr lang="en-US" sz="1200" baseline="-25000" dirty="0">
                          <a:solidFill>
                            <a:srgbClr val="1F2937"/>
                          </a:solidFill>
                          <a:latin typeface="Calibri" pitchFamily="34" charset="0"/>
                          <a:ea typeface="Calibri" pitchFamily="34" charset="-122"/>
                          <a:cs typeface="Calibri" pitchFamily="34" charset="-120"/>
                        </a:rPr>
                        <a:t>R</a:t>
                      </a:r>
                      <a:r>
                        <a:rPr lang="en-US" sz="1200" baseline="30000" dirty="0">
                          <a:solidFill>
                            <a:srgbClr val="1F2937"/>
                          </a:solidFill>
                          <a:latin typeface="Calibri" pitchFamily="34" charset="0"/>
                          <a:ea typeface="Calibri" pitchFamily="34" charset="-122"/>
                          <a:cs typeface="Calibri" pitchFamily="34" charset="-120"/>
                        </a:rPr>
                        <a:t>2</a:t>
                      </a:r>
                      <a:r>
                        <a:rPr lang="en-US" sz="1200" dirty="0">
                          <a:solidFill>
                            <a:srgbClr val="1F2937"/>
                          </a:solidFill>
                          <a:latin typeface="Calibri" pitchFamily="34" charset="0"/>
                          <a:ea typeface="Calibri" pitchFamily="34" charset="-122"/>
                          <a:cs typeface="Calibri" pitchFamily="34" charset="-120"/>
                        </a:rPr>
                        <a:t> + B</a:t>
                      </a:r>
                      <a:r>
                        <a:rPr lang="en-US" sz="1200" baseline="-25000" dirty="0">
                          <a:solidFill>
                            <a:srgbClr val="1F2937"/>
                          </a:solidFill>
                          <a:latin typeface="Calibri" pitchFamily="34" charset="0"/>
                          <a:ea typeface="Calibri" pitchFamily="34" charset="-122"/>
                          <a:cs typeface="Calibri" pitchFamily="34" charset="-120"/>
                        </a:rPr>
                        <a:t>O</a:t>
                      </a:r>
                      <a:r>
                        <a:rPr lang="en-US" sz="1200" baseline="30000" dirty="0">
                          <a:solidFill>
                            <a:srgbClr val="1F2937"/>
                          </a:solidFill>
                          <a:latin typeface="Calibri" pitchFamily="34" charset="0"/>
                          <a:ea typeface="Calibri" pitchFamily="34" charset="-122"/>
                          <a:cs typeface="Calibri" pitchFamily="34" charset="-120"/>
                        </a:rPr>
                        <a:t>2</a:t>
                      </a:r>
                      <a:r>
                        <a:rPr lang="en-US" sz="1200" dirty="0">
                          <a:solidFill>
                            <a:srgbClr val="1F29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1B8A7A"/>
                          </a:solidFill>
                          <a:latin typeface="Calibri" pitchFamily="34" charset="0"/>
                          <a:ea typeface="Calibri" pitchFamily="34" charset="-122"/>
                          <a:cs typeface="Calibri" pitchFamily="34" charset="-120"/>
                        </a:rPr>
                        <a:t>Proven</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7548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Stage-1 ridge choice independent of the stage-2 noise</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1B8A7A"/>
                          </a:solidFill>
                          <a:latin typeface="Calibri" pitchFamily="34" charset="0"/>
                          <a:ea typeface="Calibri" pitchFamily="34" charset="-122"/>
                          <a:cs typeface="Calibri" pitchFamily="34" charset="-120"/>
                        </a:rPr>
                        <a:t>Proven</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7548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Operator-norm radius r</a:t>
                      </a:r>
                      <a:r>
                        <a:rPr lang="en-US" sz="1200" baseline="-25000" dirty="0">
                          <a:solidFill>
                            <a:srgbClr val="1F2937"/>
                          </a:solidFill>
                          <a:latin typeface="Calibri" pitchFamily="34" charset="0"/>
                          <a:ea typeface="Calibri" pitchFamily="34" charset="-122"/>
                          <a:cs typeface="Calibri" pitchFamily="34" charset="-120"/>
                        </a:rPr>
                        <a:t>1</a:t>
                      </a:r>
                      <a:r>
                        <a:rPr lang="en-US" sz="1200" dirty="0">
                          <a:solidFill>
                            <a:srgbClr val="1F2937"/>
                          </a:solidFill>
                          <a:latin typeface="Calibri" pitchFamily="34" charset="0"/>
                          <a:ea typeface="Calibri" pitchFamily="34" charset="-122"/>
                          <a:cs typeface="Calibri" pitchFamily="34" charset="-120"/>
                        </a:rPr>
                        <a:t> (one-sided; ~1.55× conservative)</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1B8A7A"/>
                          </a:solidFill>
                          <a:latin typeface="Calibri" pitchFamily="34" charset="0"/>
                          <a:ea typeface="Calibri" pitchFamily="34" charset="-122"/>
                          <a:cs typeface="Calibri" pitchFamily="34" charset="-120"/>
                        </a:rPr>
                        <a:t>Proven</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7548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Coverage: Wald remainder exact; plug-in variance; simulated 0.944–0.962</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B7791F"/>
                          </a:solidFill>
                          <a:latin typeface="Calibri" pitchFamily="34" charset="0"/>
                          <a:ea typeface="Calibri" pitchFamily="34" charset="-122"/>
                          <a:cs typeface="Calibri" pitchFamily="34" charset="-120"/>
                        </a:rPr>
                        <a:t>First order</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47548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Bootstrap RSS correction; removes 87–100% of the bias</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B7791F"/>
                          </a:solidFill>
                          <a:latin typeface="Calibri" pitchFamily="34" charset="0"/>
                          <a:ea typeface="Calibri" pitchFamily="34" charset="-122"/>
                          <a:cs typeface="Calibri" pitchFamily="34" charset="-120"/>
                        </a:rPr>
                        <a:t>First order</a:t>
                      </a:r>
                      <a:endParaRPr lang="en-US" sz="12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6" name="Shape 2"/>
          <p:cNvSpPr/>
          <p:nvPr/>
        </p:nvSpPr>
        <p:spPr>
          <a:xfrm>
            <a:off x="548640" y="5349240"/>
            <a:ext cx="11064240" cy="868680"/>
          </a:xfrm>
          <a:prstGeom prst="roundRect">
            <a:avLst>
              <a:gd name="adj" fmla="val 8421"/>
            </a:avLst>
          </a:prstGeom>
          <a:solidFill>
            <a:srgbClr val="F7F9FC"/>
          </a:solidFill>
          <a:ln w="12700">
            <a:solidFill>
              <a:srgbClr val="F7F9FC"/>
            </a:solidFill>
            <a:prstDash val="solid"/>
          </a:ln>
        </p:spPr>
      </p:sp>
      <p:sp>
        <p:nvSpPr>
          <p:cNvPr id="7" name="Text 3"/>
          <p:cNvSpPr txBox="1"/>
          <p:nvPr/>
        </p:nvSpPr>
        <p:spPr>
          <a:xfrm>
            <a:off x="777240" y="5440680"/>
            <a:ext cx="10607040" cy="685800"/>
          </a:xfrm>
          <a:prstGeom prst="rect">
            <a:avLst/>
          </a:prstGeom>
          <a:noFill/>
          <a:ln/>
        </p:spPr>
        <p:txBody>
          <a:bodyPr wrap="square" lIns="0" tIns="0" rIns="0" bIns="0" rtlCol="0" anchor="ctr"/>
          <a:lstStyle/>
          <a:p>
            <a:pPr indent="0" marL="0">
              <a:buNone/>
            </a:pPr>
            <a:r>
              <a:rPr lang="en-US" sz="1300" b="1" dirty="0">
                <a:solidFill>
                  <a:srgbClr val="C45A0C"/>
                </a:solidFill>
                <a:latin typeface="Calibri" pitchFamily="34" charset="0"/>
                <a:ea typeface="Calibri" pitchFamily="34" charset="-122"/>
                <a:cs typeface="Calibri" pitchFamily="34" charset="-120"/>
              </a:rPr>
              <a:t>Still open:  </a:t>
            </a:r>
            <a:r>
              <a:rPr lang="en-US" sz="1300" dirty="0">
                <a:solidFill>
                  <a:srgbClr val="1F2937"/>
                </a:solidFill>
                <a:latin typeface="Calibri" pitchFamily="34" charset="0"/>
                <a:ea typeface="Calibri" pitchFamily="34" charset="-122"/>
                <a:cs typeface="Calibri" pitchFamily="34" charset="-120"/>
              </a:rPr>
              <a:t>proofs for the improved circuits; composition across adaptive runs; a constant-time exact sampler; modulus-chain sizes; the exact free-set boundary for y</a:t>
            </a:r>
            <a:r>
              <a:rPr lang="en-US" sz="1300" baseline="30000" dirty="0">
                <a:solidFill>
                  <a:srgbClr val="1F2937"/>
                </a:solidFill>
                <a:latin typeface="Calibri" pitchFamily="34" charset="0"/>
                <a:ea typeface="Calibri" pitchFamily="34" charset="-122"/>
                <a:cs typeface="Calibri" pitchFamily="34" charset="-120"/>
              </a:rPr>
              <a:t>T</a:t>
            </a:r>
            <a:r>
              <a:rPr lang="en-US" sz="1300" dirty="0">
                <a:solidFill>
                  <a:srgbClr val="1F2937"/>
                </a:solidFill>
                <a:latin typeface="Calibri" pitchFamily="34" charset="0"/>
                <a:ea typeface="Calibri" pitchFamily="34" charset="-122"/>
                <a:cs typeface="Calibri" pitchFamily="34" charset="-120"/>
              </a:rPr>
              <a:t>y; heteroskedasticity when clipping binds; 16 citation details to check.</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What the proofs changed</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The CKKS scale was undersized, and several statistical steps need tightening</a:t>
            </a:r>
            <a:endParaRPr lang="en-US" sz="1600" dirty="0"/>
          </a:p>
        </p:txBody>
      </p:sp>
      <p:sp>
        <p:nvSpPr>
          <p:cNvPr id="4" name="Shape 2"/>
          <p:cNvSpPr/>
          <p:nvPr/>
        </p:nvSpPr>
        <p:spPr>
          <a:xfrm>
            <a:off x="548640" y="1600200"/>
            <a:ext cx="5120640" cy="4526280"/>
          </a:xfrm>
          <a:prstGeom prst="roundRect">
            <a:avLst>
              <a:gd name="adj" fmla="val 1616"/>
            </a:avLst>
          </a:prstGeom>
          <a:solidFill>
            <a:srgbClr val="F6E3D6"/>
          </a:solidFill>
          <a:ln w="12700">
            <a:solidFill>
              <a:srgbClr val="F6E3D6"/>
            </a:solidFill>
            <a:prstDash val="solid"/>
          </a:ln>
        </p:spPr>
      </p:sp>
      <p:sp>
        <p:nvSpPr>
          <p:cNvPr id="5" name="Text 3"/>
          <p:cNvSpPr txBox="1"/>
          <p:nvPr/>
        </p:nvSpPr>
        <p:spPr>
          <a:xfrm>
            <a:off x="822960" y="1737360"/>
            <a:ext cx="4572000" cy="914400"/>
          </a:xfrm>
          <a:prstGeom prst="rect">
            <a:avLst/>
          </a:prstGeom>
          <a:noFill/>
          <a:ln/>
        </p:spPr>
        <p:txBody>
          <a:bodyPr wrap="square" lIns="0" tIns="0" rIns="0" bIns="0" rtlCol="0" anchor="t"/>
          <a:lstStyle/>
          <a:p>
            <a:pPr indent="0" marL="0">
              <a:buNone/>
            </a:pPr>
            <a:r>
              <a:rPr lang="en-US" sz="5400" b="1" dirty="0">
                <a:solidFill>
                  <a:srgbClr val="C45A0C"/>
                </a:solidFill>
                <a:latin typeface="Cambria" pitchFamily="34" charset="0"/>
                <a:ea typeface="Cambria" pitchFamily="34" charset="-122"/>
                <a:cs typeface="Cambria" pitchFamily="34" charset="-120"/>
              </a:rPr>
              <a:t>61.5 bits</a:t>
            </a:r>
            <a:endParaRPr lang="en-US" sz="5400" dirty="0"/>
          </a:p>
        </p:txBody>
      </p:sp>
      <p:sp>
        <p:nvSpPr>
          <p:cNvPr id="6" name="Text 4"/>
          <p:cNvSpPr txBox="1"/>
          <p:nvPr/>
        </p:nvSpPr>
        <p:spPr>
          <a:xfrm>
            <a:off x="822960" y="2697480"/>
            <a:ext cx="4617720" cy="1005840"/>
          </a:xfrm>
          <a:prstGeom prst="rect">
            <a:avLst/>
          </a:prstGeom>
          <a:noFill/>
          <a:ln/>
        </p:spPr>
        <p:txBody>
          <a:bodyPr wrap="square" lIns="0" tIns="0" rIns="0" bIns="0" rtlCol="0" anchor="t"/>
          <a:lstStyle/>
          <a:p>
            <a:pPr indent="0" marL="0">
              <a:buNone/>
            </a:pPr>
            <a:r>
              <a:rPr lang="en-US" sz="1350" dirty="0">
                <a:solidFill>
                  <a:srgbClr val="14213D"/>
                </a:solidFill>
                <a:latin typeface="Calibri" pitchFamily="34" charset="0"/>
                <a:ea typeface="Calibri" pitchFamily="34" charset="-122"/>
                <a:cs typeface="Calibri" pitchFamily="34" charset="-120"/>
              </a:rPr>
              <a:t>CKKS scale needed to flood the worst-case error for the circuit as specified. The v3.1 spec assumed 52.5, which floods only the fresh-encryption error, at its mean.</a:t>
            </a:r>
            <a:endParaRPr lang="en-US" sz="13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822960" y="3840480"/>
          <a:ext cx="9144000" cy="914400"/>
        </p:xfrm>
        <a:graphic>
          <a:graphicData uri="http://schemas.openxmlformats.org/drawingml/2006/table">
            <a:tbl>
              <a:tblPr/>
              <a:tblGrid>
                <a:gridCol w="2926080"/>
                <a:gridCol w="868680"/>
                <a:gridCol w="77724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Circuit</a:t>
                      </a:r>
                      <a:endParaRPr lang="en-US" sz="1200" dirty="0">
                        <a:latin typeface="Calibri" charset="0"/>
                        <a:ea typeface="Calibri" charset="0"/>
                        <a:cs typeface="Calibri" charset="0"/>
                      </a:endParaRPr>
                    </a:p>
                  </a:txBody>
                  <a:tcPr marL="63500" marR="635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t>
                      </a:r>
                      <a:r>
                        <a:rPr lang="en-US" sz="1200" b="1" baseline="-25000" dirty="0">
                          <a:solidFill>
                            <a:srgbClr val="FFFFFF"/>
                          </a:solidFill>
                          <a:latin typeface="Calibri" pitchFamily="34" charset="0"/>
                          <a:ea typeface="Calibri" pitchFamily="34" charset="-122"/>
                          <a:cs typeface="Calibri" pitchFamily="34" charset="-120"/>
                        </a:rPr>
                        <a:t>tot</a:t>
                      </a:r>
                      <a:endParaRPr lang="en-US" sz="1200" dirty="0">
                        <a:latin typeface="Calibri" charset="0"/>
                        <a:ea typeface="Calibri" charset="0"/>
                        <a:cs typeface="Calibri" charset="0"/>
                      </a:endParaRPr>
                    </a:p>
                  </a:txBody>
                  <a:tcPr marL="63500" marR="635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log</a:t>
                      </a:r>
                      <a:r>
                        <a:rPr lang="en-US" sz="1200" b="1" baseline="-25000" dirty="0">
                          <a:solidFill>
                            <a:srgbClr val="FFFFFF"/>
                          </a:solidFill>
                          <a:latin typeface="Calibri" pitchFamily="34" charset="0"/>
                          <a:ea typeface="Calibri" pitchFamily="34" charset="-122"/>
                          <a:cs typeface="Calibri" pitchFamily="34" charset="-120"/>
                        </a:rPr>
                        <a:t>2</a:t>
                      </a:r>
                      <a:r>
                        <a:rPr lang="en-US" sz="1200" b="1" dirty="0">
                          <a:solidFill>
                            <a:srgbClr val="FFFFFF"/>
                          </a:solidFill>
                          <a:latin typeface="Calibri" pitchFamily="34" charset="0"/>
                          <a:ea typeface="Calibri" pitchFamily="34" charset="-122"/>
                          <a:cs typeface="Calibri" pitchFamily="34" charset="-120"/>
                        </a:rPr>
                        <a:t> Ω</a:t>
                      </a:r>
                      <a:endParaRPr lang="en-US" sz="1200" dirty="0">
                        <a:latin typeface="Calibri" charset="0"/>
                        <a:ea typeface="Calibri" charset="0"/>
                        <a:cs typeface="Calibri" charset="0"/>
                      </a:endParaRPr>
                    </a:p>
                  </a:txBody>
                  <a:tcPr marL="63500" marR="635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38404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As specified</a:t>
                      </a:r>
                      <a:endParaRPr lang="en-US" sz="1200" dirty="0">
                        <a:latin typeface="Calibri" charset="0"/>
                        <a:ea typeface="Calibri" charset="0"/>
                        <a:cs typeface="Calibri" charset="0"/>
                      </a:endParaRPr>
                    </a:p>
                  </a:txBody>
                  <a:tcPr marL="63500" marR="635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a:t>
                      </a:r>
                      <a:r>
                        <a:rPr lang="en-US" sz="1200" baseline="30000" dirty="0">
                          <a:solidFill>
                            <a:srgbClr val="1F2937"/>
                          </a:solidFill>
                          <a:latin typeface="Calibri" pitchFamily="34" charset="0"/>
                          <a:ea typeface="Calibri" pitchFamily="34" charset="-122"/>
                          <a:cs typeface="Calibri" pitchFamily="34" charset="-120"/>
                        </a:rPr>
                        <a:t>25.3</a:t>
                      </a:r>
                      <a:endParaRPr lang="en-US" sz="1200" dirty="0">
                        <a:latin typeface="Calibri" charset="0"/>
                        <a:ea typeface="Calibri" charset="0"/>
                        <a:cs typeface="Calibri" charset="0"/>
                      </a:endParaRPr>
                    </a:p>
                  </a:txBody>
                  <a:tcPr marL="63500" marR="635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61.5</a:t>
                      </a:r>
                      <a:endParaRPr lang="en-US" sz="1200" dirty="0">
                        <a:latin typeface="Calibri" charset="0"/>
                        <a:ea typeface="Calibri" charset="0"/>
                        <a:cs typeface="Calibri" charset="0"/>
                      </a:endParaRPr>
                    </a:p>
                  </a:txBody>
                  <a:tcPr marL="63500" marR="635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EvalSum before the first rescale, stochastic rounding, one final rescale</a:t>
                      </a:r>
                      <a:endParaRPr lang="en-US" sz="1200" dirty="0">
                        <a:latin typeface="Calibri" charset="0"/>
                        <a:ea typeface="Calibri" charset="0"/>
                        <a:cs typeface="Calibri" charset="0"/>
                      </a:endParaRPr>
                    </a:p>
                  </a:txBody>
                  <a:tcPr marL="63500" marR="635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a:t>
                      </a:r>
                      <a:r>
                        <a:rPr lang="en-US" sz="1200" baseline="30000" dirty="0">
                          <a:solidFill>
                            <a:srgbClr val="1F2937"/>
                          </a:solidFill>
                          <a:latin typeface="Calibri" pitchFamily="34" charset="0"/>
                          <a:ea typeface="Calibri" pitchFamily="34" charset="-122"/>
                          <a:cs typeface="Calibri" pitchFamily="34" charset="-120"/>
                        </a:rPr>
                        <a:t>21.1</a:t>
                      </a:r>
                      <a:endParaRPr lang="en-US" sz="1200" dirty="0">
                        <a:latin typeface="Calibri" charset="0"/>
                        <a:ea typeface="Calibri" charset="0"/>
                        <a:cs typeface="Calibri" charset="0"/>
                      </a:endParaRPr>
                    </a:p>
                  </a:txBody>
                  <a:tcPr marL="63500" marR="635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57.2</a:t>
                      </a:r>
                      <a:endParaRPr lang="en-US" sz="1200" dirty="0">
                        <a:latin typeface="Calibri" charset="0"/>
                        <a:ea typeface="Calibri" charset="0"/>
                        <a:cs typeface="Calibri" charset="0"/>
                      </a:endParaRPr>
                    </a:p>
                  </a:txBody>
                  <a:tcPr marL="63500" marR="635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Same, with R encoding at scale 2</a:t>
                      </a:r>
                      <a:r>
                        <a:rPr lang="en-US" sz="1200" baseline="30000" dirty="0">
                          <a:solidFill>
                            <a:srgbClr val="1F2937"/>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marL="63500" marR="635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2</a:t>
                      </a:r>
                      <a:r>
                        <a:rPr lang="en-US" sz="1200" baseline="30000" dirty="0">
                          <a:solidFill>
                            <a:srgbClr val="1F2937"/>
                          </a:solidFill>
                          <a:latin typeface="Calibri" pitchFamily="34" charset="0"/>
                          <a:ea typeface="Calibri" pitchFamily="34" charset="-122"/>
                          <a:cs typeface="Calibri" pitchFamily="34" charset="-120"/>
                        </a:rPr>
                        <a:t>17.6</a:t>
                      </a:r>
                      <a:endParaRPr lang="en-US" sz="1200" dirty="0">
                        <a:latin typeface="Calibri" charset="0"/>
                        <a:ea typeface="Calibri" charset="0"/>
                        <a:cs typeface="Calibri" charset="0"/>
                      </a:endParaRPr>
                    </a:p>
                  </a:txBody>
                  <a:tcPr marL="63500" marR="635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53.7</a:t>
                      </a:r>
                      <a:endParaRPr lang="en-US" sz="1200" dirty="0">
                        <a:latin typeface="Calibri" charset="0"/>
                        <a:ea typeface="Calibri" charset="0"/>
                        <a:cs typeface="Calibri" charset="0"/>
                      </a:endParaRPr>
                    </a:p>
                  </a:txBody>
                  <a:tcPr marL="63500" marR="635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6035040" y="1600200"/>
            <a:ext cx="5577840" cy="41148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Corrections to the specification</a:t>
            </a:r>
            <a:endParaRPr lang="en-US" sz="1800" dirty="0"/>
          </a:p>
        </p:txBody>
      </p:sp>
      <p:sp>
        <p:nvSpPr>
          <p:cNvPr id="9" name="Text 6"/>
          <p:cNvSpPr txBox="1"/>
          <p:nvPr/>
        </p:nvSpPr>
        <p:spPr>
          <a:xfrm>
            <a:off x="6035040" y="2103120"/>
            <a:ext cx="5577840" cy="40233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Centre the mechanism at the noiseless circuit output; centring at the encoded input would need 67–71 bits</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Calibrate from the data-independent worst-case bound, never from OpenFHE's noise estimate</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The δ slack enters a single (ε, δ) statement with a factor (1 + e</a:t>
            </a:r>
            <a:r>
              <a:rPr lang="en-US" sz="1350" baseline="30000" dirty="0">
                <a:solidFill>
                  <a:srgbClr val="1F2937"/>
                </a:solidFill>
                <a:latin typeface="Calibri" pitchFamily="34" charset="0"/>
                <a:ea typeface="Calibri" pitchFamily="34" charset="-122"/>
                <a:cs typeface="Calibri" pitchFamily="34" charset="-120"/>
              </a:rPr>
              <a:t>ε</a:t>
            </a:r>
            <a:r>
              <a:rPr lang="en-US" sz="1350" dirty="0">
                <a:solidFill>
                  <a:srgbClr val="1F2937"/>
                </a:solidFill>
                <a:latin typeface="Calibri" pitchFamily="34" charset="0"/>
                <a:ea typeface="Calibri" pitchFamily="34" charset="-122"/>
                <a:cs typeface="Calibri" pitchFamily="34" charset="-120"/>
              </a:rPr>
              <a:t>)</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Define β as the coefficient on the clipped data; clipping breaks the homoskedastic variance</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Truncate the bootstrap (its moments do not exist otherwise); spend α</a:t>
            </a:r>
            <a:r>
              <a:rPr lang="en-US" sz="1350" baseline="-25000" dirty="0">
                <a:solidFill>
                  <a:srgbClr val="1F2937"/>
                </a:solidFill>
                <a:latin typeface="Calibri" pitchFamily="34" charset="0"/>
                <a:ea typeface="Calibri" pitchFamily="34" charset="-122"/>
                <a:cs typeface="Calibri" pitchFamily="34" charset="-120"/>
              </a:rPr>
              <a:t>U</a:t>
            </a:r>
            <a:r>
              <a:rPr lang="en-US" sz="1350" dirty="0">
                <a:solidFill>
                  <a:srgbClr val="1F2937"/>
                </a:solidFill>
                <a:latin typeface="Calibri" pitchFamily="34" charset="0"/>
                <a:ea typeface="Calibri" pitchFamily="34" charset="-122"/>
                <a:cs typeface="Calibri" pitchFamily="34" charset="-120"/>
              </a:rPr>
              <a:t> once in U</a:t>
            </a:r>
            <a:r>
              <a:rPr lang="en-US" sz="1350" baseline="-25000" dirty="0">
                <a:solidFill>
                  <a:srgbClr val="1F2937"/>
                </a:solidFill>
                <a:latin typeface="Calibri" pitchFamily="34" charset="0"/>
                <a:ea typeface="Calibri" pitchFamily="34" charset="-122"/>
                <a:cs typeface="Calibri" pitchFamily="34" charset="-120"/>
              </a:rPr>
              <a:t>yy</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The private bound on ‖β‖ is usually infinite while the ridge is on: the β interval then needs a public bound</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Takeaways and next steps</a:t>
            </a:r>
            <a:endParaRPr lang="en-US" sz="3400" dirty="0"/>
          </a:p>
        </p:txBody>
      </p:sp>
      <p:sp>
        <p:nvSpPr>
          <p:cNvPr id="3" name="Shape 1"/>
          <p:cNvSpPr/>
          <p:nvPr/>
        </p:nvSpPr>
        <p:spPr>
          <a:xfrm>
            <a:off x="548640" y="1463040"/>
            <a:ext cx="548640" cy="548640"/>
          </a:xfrm>
          <a:prstGeom prst="ellipse">
            <a:avLst/>
          </a:prstGeom>
          <a:solidFill>
            <a:srgbClr val="C45A0C"/>
          </a:solidFill>
          <a:ln w="12700">
            <a:solidFill>
              <a:srgbClr val="C45A0C"/>
            </a:solidFill>
            <a:prstDash val="solid"/>
          </a:ln>
        </p:spPr>
      </p:sp>
      <p:sp>
        <p:nvSpPr>
          <p:cNvPr id="4" name="Text 2"/>
          <p:cNvSpPr txBox="1"/>
          <p:nvPr/>
        </p:nvSpPr>
        <p:spPr>
          <a:xfrm>
            <a:off x="548640" y="146304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5" name="Text 3"/>
          <p:cNvSpPr txBox="1"/>
          <p:nvPr/>
        </p:nvSpPr>
        <p:spPr>
          <a:xfrm>
            <a:off x="1325880" y="1463040"/>
            <a:ext cx="4937760" cy="1005840"/>
          </a:xfrm>
          <a:prstGeom prst="rect">
            <a:avLst/>
          </a:prstGeom>
          <a:noFill/>
          <a:ln/>
        </p:spPr>
        <p:txBody>
          <a:bodyPr wrap="square" lIns="0" tIns="0" rIns="0" bIns="0" rtlCol="0" anchor="t"/>
          <a:lstStyle/>
          <a:p>
            <a:pPr indent="0" marL="0">
              <a:buNone/>
            </a:pPr>
            <a:r>
              <a:rPr lang="en-US" sz="1550" dirty="0">
                <a:solidFill>
                  <a:srgbClr val="FFFFFF"/>
                </a:solidFill>
                <a:latin typeface="Calibri" pitchFamily="34" charset="0"/>
                <a:ea typeface="Calibri" pitchFamily="34" charset="-122"/>
                <a:cs typeface="Calibri" pitchFamily="34" charset="-120"/>
              </a:rPr>
              <a:t>v3.1 closes the critical gaps for honest-but-curious parties, with proofs; its CKKS scale must rise to about 2</a:t>
            </a:r>
            <a:r>
              <a:rPr lang="en-US" sz="1550" baseline="30000" dirty="0">
                <a:solidFill>
                  <a:srgbClr val="FFFFFF"/>
                </a:solidFill>
                <a:latin typeface="Calibri" pitchFamily="34" charset="0"/>
                <a:ea typeface="Calibri" pitchFamily="34" charset="-122"/>
                <a:cs typeface="Calibri" pitchFamily="34" charset="-120"/>
              </a:rPr>
              <a:t>61.5</a:t>
            </a:r>
            <a:r>
              <a:rPr lang="en-US" sz="1550" dirty="0">
                <a:solidFill>
                  <a:srgbClr val="FFFFFF"/>
                </a:solidFill>
                <a:latin typeface="Calibri" pitchFamily="34" charset="0"/>
                <a:ea typeface="Calibri" pitchFamily="34" charset="-122"/>
                <a:cs typeface="Calibri" pitchFamily="34" charset="-120"/>
              </a:rPr>
              <a:t> (2</a:t>
            </a:r>
            <a:r>
              <a:rPr lang="en-US" sz="1550" baseline="30000" dirty="0">
                <a:solidFill>
                  <a:srgbClr val="FFFFFF"/>
                </a:solidFill>
                <a:latin typeface="Calibri" pitchFamily="34" charset="0"/>
                <a:ea typeface="Calibri" pitchFamily="34" charset="-122"/>
                <a:cs typeface="Calibri" pitchFamily="34" charset="-120"/>
              </a:rPr>
              <a:t>53.7</a:t>
            </a:r>
            <a:r>
              <a:rPr lang="en-US" sz="1550" dirty="0">
                <a:solidFill>
                  <a:srgbClr val="FFFFFF"/>
                </a:solidFill>
                <a:latin typeface="Calibri" pitchFamily="34" charset="0"/>
                <a:ea typeface="Calibri" pitchFamily="34" charset="-122"/>
                <a:cs typeface="Calibri" pitchFamily="34" charset="-120"/>
              </a:rPr>
              <a:t> with circuit changes)</a:t>
            </a:r>
            <a:endParaRPr lang="en-US" sz="1550" dirty="0"/>
          </a:p>
        </p:txBody>
      </p:sp>
      <p:sp>
        <p:nvSpPr>
          <p:cNvPr id="6" name="Shape 4"/>
          <p:cNvSpPr/>
          <p:nvPr/>
        </p:nvSpPr>
        <p:spPr>
          <a:xfrm>
            <a:off x="548640" y="2606040"/>
            <a:ext cx="548640" cy="548640"/>
          </a:xfrm>
          <a:prstGeom prst="ellipse">
            <a:avLst/>
          </a:prstGeom>
          <a:solidFill>
            <a:srgbClr val="C45A0C"/>
          </a:solidFill>
          <a:ln w="12700">
            <a:solidFill>
              <a:srgbClr val="C45A0C"/>
            </a:solidFill>
            <a:prstDash val="solid"/>
          </a:ln>
        </p:spPr>
      </p:sp>
      <p:sp>
        <p:nvSpPr>
          <p:cNvPr id="7" name="Text 5"/>
          <p:cNvSpPr txBox="1"/>
          <p:nvPr/>
        </p:nvSpPr>
        <p:spPr>
          <a:xfrm>
            <a:off x="548640" y="260604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8" name="Text 6"/>
          <p:cNvSpPr txBox="1"/>
          <p:nvPr/>
        </p:nvSpPr>
        <p:spPr>
          <a:xfrm>
            <a:off x="1325880" y="2606040"/>
            <a:ext cx="4937760" cy="1005840"/>
          </a:xfrm>
          <a:prstGeom prst="rect">
            <a:avLst/>
          </a:prstGeom>
          <a:noFill/>
          <a:ln/>
        </p:spPr>
        <p:txBody>
          <a:bodyPr wrap="square" lIns="0" tIns="0" rIns="0" bIns="0" rtlCol="0" anchor="t"/>
          <a:lstStyle/>
          <a:p>
            <a:pPr indent="0" marL="0">
              <a:buNone/>
            </a:pPr>
            <a:r>
              <a:rPr lang="en-US" sz="1550" dirty="0">
                <a:solidFill>
                  <a:srgbClr val="FFFFFF"/>
                </a:solidFill>
                <a:latin typeface="Calibri" pitchFamily="34" charset="0"/>
                <a:ea typeface="Calibri" pitchFamily="34" charset="-122"/>
                <a:cs typeface="Calibri" pitchFamily="34" charset="-120"/>
              </a:rPr>
              <a:t>Within 2× of non-private OLS at n ≈ 3k–100k (simulation); within 10% at 1.4k–11k records for ε = 1–2 (real data)</a:t>
            </a:r>
            <a:endParaRPr lang="en-US" sz="1550" dirty="0"/>
          </a:p>
        </p:txBody>
      </p:sp>
      <p:sp>
        <p:nvSpPr>
          <p:cNvPr id="9" name="Shape 7"/>
          <p:cNvSpPr/>
          <p:nvPr/>
        </p:nvSpPr>
        <p:spPr>
          <a:xfrm>
            <a:off x="548640" y="3749040"/>
            <a:ext cx="548640" cy="548640"/>
          </a:xfrm>
          <a:prstGeom prst="ellipse">
            <a:avLst/>
          </a:prstGeom>
          <a:solidFill>
            <a:srgbClr val="C45A0C"/>
          </a:solidFill>
          <a:ln w="12700">
            <a:solidFill>
              <a:srgbClr val="C45A0C"/>
            </a:solidFill>
            <a:prstDash val="solid"/>
          </a:ln>
        </p:spPr>
      </p:sp>
      <p:sp>
        <p:nvSpPr>
          <p:cNvPr id="10" name="Text 8"/>
          <p:cNvSpPr txBox="1"/>
          <p:nvPr/>
        </p:nvSpPr>
        <p:spPr>
          <a:xfrm>
            <a:off x="548640" y="374904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1" name="Text 9"/>
          <p:cNvSpPr txBox="1"/>
          <p:nvPr/>
        </p:nvSpPr>
        <p:spPr>
          <a:xfrm>
            <a:off x="1325880" y="3749040"/>
            <a:ext cx="4937760" cy="1005840"/>
          </a:xfrm>
          <a:prstGeom prst="rect">
            <a:avLst/>
          </a:prstGeom>
          <a:noFill/>
          <a:ln/>
        </p:spPr>
        <p:txBody>
          <a:bodyPr wrap="square" lIns="0" tIns="0" rIns="0" bIns="0" rtlCol="0" anchor="t"/>
          <a:lstStyle/>
          <a:p>
            <a:pPr indent="0" marL="0">
              <a:buNone/>
            </a:pPr>
            <a:r>
              <a:rPr lang="en-US" sz="1550" dirty="0">
                <a:solidFill>
                  <a:srgbClr val="FFFFFF"/>
                </a:solidFill>
                <a:latin typeface="Calibri" pitchFamily="34" charset="0"/>
                <a:ea typeface="Calibri" pitchFamily="34" charset="-122"/>
                <a:cs typeface="Calibri" pitchFamily="34" charset="-120"/>
              </a:rPr>
              <a:t>Published AdaSSP is more private than our release and still wins from ε ≈ 0.5; we need about 1.5–2× its records</a:t>
            </a:r>
            <a:endParaRPr lang="en-US" sz="1550" dirty="0"/>
          </a:p>
        </p:txBody>
      </p:sp>
      <p:sp>
        <p:nvSpPr>
          <p:cNvPr id="12" name="Shape 10"/>
          <p:cNvSpPr/>
          <p:nvPr/>
        </p:nvSpPr>
        <p:spPr>
          <a:xfrm>
            <a:off x="548640" y="4892040"/>
            <a:ext cx="548640" cy="548640"/>
          </a:xfrm>
          <a:prstGeom prst="ellipse">
            <a:avLst/>
          </a:prstGeom>
          <a:solidFill>
            <a:srgbClr val="C45A0C"/>
          </a:solidFill>
          <a:ln w="12700">
            <a:solidFill>
              <a:srgbClr val="C45A0C"/>
            </a:solidFill>
            <a:prstDash val="solid"/>
          </a:ln>
        </p:spPr>
      </p:sp>
      <p:sp>
        <p:nvSpPr>
          <p:cNvPr id="13" name="Text 11"/>
          <p:cNvSpPr txBox="1"/>
          <p:nvPr/>
        </p:nvSpPr>
        <p:spPr>
          <a:xfrm>
            <a:off x="548640" y="489204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4" name="Text 12"/>
          <p:cNvSpPr txBox="1"/>
          <p:nvPr/>
        </p:nvSpPr>
        <p:spPr>
          <a:xfrm>
            <a:off x="1325880" y="4892040"/>
            <a:ext cx="4937760" cy="1005840"/>
          </a:xfrm>
          <a:prstGeom prst="rect">
            <a:avLst/>
          </a:prstGeom>
          <a:noFill/>
          <a:ln/>
        </p:spPr>
        <p:txBody>
          <a:bodyPr wrap="square" lIns="0" tIns="0" rIns="0" bIns="0" rtlCol="0" anchor="t"/>
          <a:lstStyle/>
          <a:p>
            <a:pPr indent="0" marL="0">
              <a:buNone/>
            </a:pPr>
            <a:r>
              <a:rPr lang="en-US" sz="1550" dirty="0">
                <a:solidFill>
                  <a:srgbClr val="FFFFFF"/>
                </a:solidFill>
                <a:latin typeface="Calibri" pitchFamily="34" charset="0"/>
                <a:ea typeface="Calibri" pitchFamily="34" charset="-122"/>
                <a:cs typeface="Calibri" pitchFamily="34" charset="-120"/>
              </a:rPr>
              <a:t>The bias correction is a small effect, now optional; ridge shrinkage dominates when σ is large</a:t>
            </a:r>
            <a:endParaRPr lang="en-US" sz="1550" dirty="0"/>
          </a:p>
        </p:txBody>
      </p:sp>
      <p:sp>
        <p:nvSpPr>
          <p:cNvPr id="15" name="Shape 13"/>
          <p:cNvSpPr/>
          <p:nvPr/>
        </p:nvSpPr>
        <p:spPr>
          <a:xfrm>
            <a:off x="6583680" y="1371600"/>
            <a:ext cx="5029200" cy="4754880"/>
          </a:xfrm>
          <a:prstGeom prst="roundRect">
            <a:avLst>
              <a:gd name="adj" fmla="val 1538"/>
            </a:avLst>
          </a:prstGeom>
          <a:solidFill>
            <a:srgbClr val="1F3050"/>
          </a:solidFill>
          <a:ln w="12700">
            <a:solidFill>
              <a:srgbClr val="1F3050"/>
            </a:solidFill>
            <a:prstDash val="solid"/>
          </a:ln>
        </p:spPr>
      </p:sp>
      <p:sp>
        <p:nvSpPr>
          <p:cNvPr id="16" name="Text 14"/>
          <p:cNvSpPr txBox="1"/>
          <p:nvPr/>
        </p:nvSpPr>
        <p:spPr>
          <a:xfrm>
            <a:off x="6858000" y="1554480"/>
            <a:ext cx="4572000" cy="457200"/>
          </a:xfrm>
          <a:prstGeom prst="rect">
            <a:avLst/>
          </a:prstGeom>
          <a:noFill/>
          <a:ln/>
        </p:spPr>
        <p:txBody>
          <a:bodyPr wrap="square" lIns="0" tIns="0" rIns="0" bIns="0" rtlCol="0" anchor="ctr"/>
          <a:lstStyle/>
          <a:p>
            <a:pPr indent="0" marL="0">
              <a:buNone/>
            </a:pPr>
            <a:r>
              <a:rPr lang="en-US" sz="2200" b="1" dirty="0">
                <a:solidFill>
                  <a:srgbClr val="E7A77C"/>
                </a:solidFill>
                <a:latin typeface="Cambria" pitchFamily="34" charset="0"/>
                <a:ea typeface="Cambria" pitchFamily="34" charset="-122"/>
                <a:cs typeface="Cambria" pitchFamily="34" charset="-120"/>
              </a:rPr>
              <a:t>Next</a:t>
            </a:r>
            <a:endParaRPr lang="en-US" sz="2200" dirty="0"/>
          </a:p>
        </p:txBody>
      </p:sp>
      <p:sp>
        <p:nvSpPr>
          <p:cNvPr id="17" name="Text 15"/>
          <p:cNvSpPr txBox="1"/>
          <p:nvPr/>
        </p:nvSpPr>
        <p:spPr>
          <a:xfrm>
            <a:off x="6858000" y="2148840"/>
            <a:ext cx="4526280" cy="38404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Implement v3.1 in OpenFHE with the improved circuit, and measure its cost</a:t>
            </a:r>
            <a:endParaRPr lang="en-US" sz="1500" dirty="0"/>
          </a:p>
          <a:p>
            <a:pPr marL="342900" indent="-3429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Rerun the evaluation under v3.1: two-stage ridge, intervals, split bounds</a:t>
            </a:r>
            <a:endParaRPr lang="en-US" sz="1500" dirty="0"/>
          </a:p>
          <a:p>
            <a:pPr marL="342900" indent="-3429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Fairer AdaSSP comparison: equal μ, a Gaussian-DP budget split, preprocessing that VFL can do</a:t>
            </a:r>
            <a:endParaRPr lang="en-US" sz="1500" dirty="0"/>
          </a:p>
          <a:p>
            <a:pPr marL="342900" indent="-3429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Close the open proof items; fold the corrections into a v3.2 specification</a:t>
            </a:r>
            <a:endParaRPr lang="en-US" sz="1500" dirty="0"/>
          </a:p>
          <a:p>
            <a:pPr marL="342900" indent="-3429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Membership-private variant for sensitive registers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Privacy-Preserving Vertical Federated Linear Regression</dc:title>
  <dc:subject>PptxGenJS Presentation</dc:subject>
  <dc:creator>VFL Scenario B project</dc:creator>
  <cp:lastModifiedBy>VFL Scenario B project</cp:lastModifiedBy>
  <cp:revision>1</cp:revision>
  <dcterms:created xsi:type="dcterms:W3CDTF">2026-10-20T17:45:59Z</dcterms:created>
  <dcterms:modified xsi:type="dcterms:W3CDTF">2026-10-20T17:45:59Z</dcterms:modified>
</cp:coreProperties>
</file>