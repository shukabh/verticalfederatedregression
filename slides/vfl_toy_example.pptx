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companion to the introduction deck. We run the protocol by hand on a toy dataset: a researcher R with three cohort records and two features, and an organization O with five register records, two features and the outcome. Every number on these slides is produced by experiments/toy_example.py, so the example can be rerun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keep in mind. The steps are the real protocol steps, applied to tiny tables. We show values that the protocol keeps encrypted, so that each step can be checked against the answer computed in the clear; each party only ever sees what its own boxes on the slides say. And the example is deliberately too small to be useful: with two matched people and five coefficients, least squares has no unique solution, and at epsilon = 1 the privacy noise is about 30 times the size of the statistics. That is the honest situation with two people, and it shows how the protocol degrades: it shrinks the estimate towards zero instead of leaking. The last slides run the same steps on 20,000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researcher holds three records with education and a health score; the organization holds five register records with age, a benefits indicator and income, the outcome. All values are already scaled to [-1, 1], which will also serve as the public clipping bounds. The regression has five coefficients: an intercept and R's two features (R's columns), plus O's two features. Identifiers 104 and 221 are in both tables; 317 is only in R's cohort. Neither party knows this yet: finding it out privately is phase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pooling would give, and what the protocol must approximate without pooling. Two people match, so Z has two rows and five columns, and G = ZT Z is a 5 by 5 matrix of rank 2. Least squares has no unique solution, so a ridge is unavoidable here; in real use n is in the thousands. The colours are those of the introduction deck: R's own block in blue, O's matched-row block in light orange, and the cross-party blocks, which depend on how R's rows pair with O's rows, in dark orange. We will see each of these numbers again, computed by the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0. The parties fix the caps, the clipping bounds and the budget before touching data. With every value in [-1, 1], R's row including the intercept has norm at most sqrt(3), O's at most sqrt(2), and |y| at most 1. In the notation of the introduction, R = 3, O = 2 and Y = 1, so Delta^2 = 38 and Delta = 6.16. yT y is free here because Y = 1 is at most 2(R + O) = 10. The tight conversion of (1, 1e-9) gives rho = 0.0150; 10% goes to stage 1, 90% to stage 2, giving sigma_1 = 90.5 and sigma_2 = 37.5. Compare that with statistics of size about 1: with two people, the released numbers will be almost pure noise, as they must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R pads its three identifiers with a dummy to the public cap of four. Through the OPRF it obtains O's keyed hash of each identifier without revealing it. O pads its register with a dummy row to six rows and shuffles them with a secret permutation tau, fresh for this run. Labeled PSI then tells R which of its hashed identifiers appear in O's register and, for each, a label: the row's position after the shuffle. So R learns that 104 sits at position 6 and 221 at position 3, which defines the bijection pi, and that 317 is not in the register. O learns only the padded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OPRF with toy numbers. The group is the squares modulo the safe prime 1019, which has prime order 509; O's key for this run is k = 433. For each of its four padded identifiers, R hashes the identifier into the group, h = H1(id), picks a random exponent r and sends alpha = h^r. O raises alpha to its key and returns beta. R raises beta to the inverse of r modulo the group order, which strips off r and leaves h^k. From h^k two hashes give the item F_k(id), used for matching, and the label key K(id), used to open labels; both are numbers modulo t = 65537. O only ever sees the alphas, which are uniformly random group elements. As a check, O, which knows k, computes h^k for its own row 104 directly and gets the same 516 that R unblinded, so the items agree and 104 will match. Real runs use an elliptic-curve group of about 2^256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prepares its side. It knows k, so it computes h^k, the item and the label key for each of its six padded rows directly, in the order of its secret shuffle. Each row's label is its position plus its label key, modulo t: a one-time pad that only a holder of the label key can remove, and only someone who ran the OPRF on that identifier has it. O then builds two polynomials: P, the product of (X minus item) over its six items, which vanishes exactly at its items; and L, of degree five, which passes through each item paired with its padded label. In real runs items are spread over thousands of bins by hashing, and each bin gets its own low-degree polynomials; here everything is one bin. O does not know which of its rows R will match; the highlight is only for the reader.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 queries and O's answers. For each of its four items, R sends encryptions of q, q squared and q to the fourth, under its own BFV key; O cannot read them. From these O gets every power up to six with one more multiplication, evaluates its two polynomials with its plaintext coefficients, and multiplies the membership value by a fresh random rho, so that a non-match returns a uniformly random nonzero number rather than P(q), which would carry information about O's items. R decrypts. For 104 and 221 the membership value is zero, so they match, and subtracting the label key from L(q) gives positions 6 and 3. For 317 and the dummy the value is nonzero: no match, and L(q) is meaningless. The grey column is shown only for the reader: P(q) itself never leaves O's encrypted computation.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now knows which of its people matched, so it computes its own block A directly from its two matched rows, each with a leading 1 for the intercept. A is exact, never encrypted, never noised and never sent. With two people and three columns, A has rank 2: its smallest eigenvalue is zero. Keep that in mind for the ridge choice in stage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R builds vectors as long as O's padded register, in O's shuffled order. The selection vector b has a 1 at positions 3 and 6, the matched rows. The feature vectors hold R's values at those positions: 221's values at position 3, 104's at position 6, and zeros elsewhere. The intercept vector equals b. R encrypts each vector under its own key share, with a seed for the random part, and sends it; O subtracts a times its own share to obtain an encryption under the joint key. O sees four ciphertexts that look random, so it learns nothing about which positions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O has its own columns in the shuffled order, including the dummy row of zeros. Each needed sum is an inner product between one of R's encrypted vectors and one of O's plaintext columns. Positions where R wrote zeros contribute nothing, so only positions 3 and 6, the matched rows, survive. Two examples are worked out. C_11 pairs R's education with O's age row by row, so it depends on the bijection pi. B_11 needs only O's matched rows. The full list matches the pooled answer exactly; the only error in practice is CKKS's tiny approximation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moves every result into its own slot of a packed ciphertext. M1 carries only the nine entries of B (upper triangle) and C, for the first release, which is used to choose the ridge. M2 carries all fifteen O-dependent numbers, including c_R, c_O and yT y, for the main release. Keeping them separate means stage 1 cannot depend on anything but B and C. A real ciphertext has 8,192 slots; the rest are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release algebra on a single number, with toy values so the arithmetic can be followed; real ciphertexts are polynomials of degree 16,384 with much larger moduli. The aggregated ciphertext (c0, c1) encrypts C_11 = -0.62 at scale 1000 under the joint key s = 3 + 5. O re-randomizes it with fresh u, e0, e1, adds its share c1' s_O plus noise eta, and sends only c1' and h_O. R adds its own share and gets Ecd(z) plus a small encryption error plus eta. Decoding gives -0.62 plus noise of about -64: the noise eta / Omega is drawn with standard deviation sigma_2 = 37.5. R cannot remove eta, because that would need c0', which O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spends 10% of the budget on a release of B and C only, with sigma_1 = 90.5. The released numbers bear no resemblance to the true ones: B_11 is 1.00 but released as -0.5. R adds its exact block A and computes the smallest eigenvalue of the noisy matrix, which is negative. The rule then asks for a ridge large enough that, even after the stage-1 noise (radius r_1) and with margin for the stage-2 noise (target g*), the matrix stays safely invertible. A ridge on O's block alone cannot work here, because R's own block A has rank 2 and smallest eigenvalue 0. So the ridge goes on everything, with lambda of about 1,487.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releases all fifteen O-dependent numbers from M2, with the remaining 90% of the budget, so sigma_2 = 37.5. Again the released numbers are dominated by noise: yT y is 0.65 but released as 77.6. The gate checks that the ridged matrix is safely invertible; with lambda around 1,500 it is, so R may report an estimate. Note what R now holds: its exact block A and fifteen noisy numbers. That is all it ever learns about O's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estimate is the ridge solution on the second release. Because lambda is so large compared with the entries of G, the true ridge target theta_lambda is essentially zero, and the protocol's estimate is the noisy c vector divided by lambda: small numbers of size about 0.03 that carry no information. The bootstrap captures exactly this: the Wald intervals have half-width about 0.05 and cover the target. The least-squares coefficient beta is not defined with two people, and the bias-aware interval for beta would be unbounded without a public bound on its norm. This is the protocol failing safe: when the data are too few for the budget, it returns a heavily shrunk estimate with honest intervals rather than leaking.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recap of the two views. O handled R's queries and ciphertexts but never decrypted anything and never received a decryption share from R, so it learned only the padded sizes. R learned its match status, as the protocol discloses by design, computed its own block exactly, and received two heavily noised releases. It never saw O's rows, O's key share, or the part of the ciphertext that would let it strip off the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protocol, the same bounds and the same budget, so exactly the same noise per released number. The only change is the number of matched people: 20,000 instead of 2. Now the statistics are in the thousands, the stage-1 eigenvalue comfortably exceeds the threshold, the rule picks no ridge at all, and the gate passes easily. The protocol's estimate is within 0.01 of pooled, non-private least squares on every coefficient, with intervals of about plus or minus 0.01 to 0.02. Differential privacy hides individuals, and with enough people the aggregate signal comes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to take away. Linkage defines the bijection between R's matched rows and O's rows without telling O anything. R's zero-padded vectors in O's order make the encrypted sums select exactly the matched rows. The noise sits in O's decryption share, so R only ever sees noisy statistics. With too few people the protocol fails safe. And with enough people the same steps, with the same noise, give essentially the least-squares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371600"/>
            <a:ext cx="6858000" cy="146304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A worked example of the protocol</a:t>
            </a:r>
            <a:endParaRPr lang="en-US" sz="3800" dirty="0"/>
          </a:p>
        </p:txBody>
      </p:sp>
      <p:sp>
        <p:nvSpPr>
          <p:cNvPr id="3" name="Text 1"/>
          <p:cNvSpPr txBox="1"/>
          <p:nvPr/>
        </p:nvSpPr>
        <p:spPr>
          <a:xfrm>
            <a:off x="731520" y="2926080"/>
            <a:ext cx="6583680" cy="822960"/>
          </a:xfrm>
          <a:prstGeom prst="rect">
            <a:avLst/>
          </a:prstGeom>
          <a:noFill/>
          <a:ln/>
        </p:spPr>
        <p:txBody>
          <a:bodyPr wrap="square" lIns="0" tIns="0" rIns="0" bIns="0" rtlCol="0" anchor="t"/>
          <a:lstStyle/>
          <a:p>
            <a:pPr indent="0" marL="0">
              <a:buNone/>
            </a:pPr>
            <a:r>
              <a:rPr lang="en-US" sz="1800" dirty="0">
                <a:solidFill>
                  <a:srgbClr val="CAD5E6"/>
                </a:solidFill>
                <a:latin typeface="Calibri" pitchFamily="34" charset="0"/>
                <a:ea typeface="Calibri" pitchFamily="34" charset="-122"/>
                <a:cs typeface="Calibri" pitchFamily="34" charset="-120"/>
              </a:rPr>
              <a:t>Three cohort records, five register records: every step of the protocol with its numbers</a:t>
            </a:r>
            <a:endParaRPr lang="en-US" sz="1800" dirty="0"/>
          </a:p>
        </p:txBody>
      </p:sp>
      <p:sp>
        <p:nvSpPr>
          <p:cNvPr id="4" name="Text 2"/>
          <p:cNvSpPr txBox="1"/>
          <p:nvPr/>
        </p:nvSpPr>
        <p:spPr>
          <a:xfrm>
            <a:off x="731520" y="5760720"/>
            <a:ext cx="6400800" cy="365760"/>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Companion to the introduction deck  ·  October 2026</a:t>
            </a:r>
            <a:endParaRPr lang="en-US" sz="1300" dirty="0"/>
          </a:p>
        </p:txBody>
      </p:sp>
      <p:sp>
        <p:nvSpPr>
          <p:cNvPr id="5" name="Shape 3"/>
          <p:cNvSpPr/>
          <p:nvPr/>
        </p:nvSpPr>
        <p:spPr>
          <a:xfrm>
            <a:off x="8138160" y="2103120"/>
            <a:ext cx="1097280" cy="411480"/>
          </a:xfrm>
          <a:prstGeom prst="rect">
            <a:avLst/>
          </a:prstGeom>
          <a:solidFill>
            <a:srgbClr val="2A78D6"/>
          </a:solidFill>
          <a:ln w="12700">
            <a:solidFill>
              <a:srgbClr val="14213D"/>
            </a:solidFill>
            <a:prstDash val="solid"/>
          </a:ln>
        </p:spPr>
      </p:sp>
      <p:sp>
        <p:nvSpPr>
          <p:cNvPr id="6" name="Shape 4"/>
          <p:cNvSpPr/>
          <p:nvPr/>
        </p:nvSpPr>
        <p:spPr>
          <a:xfrm>
            <a:off x="8138160" y="2606040"/>
            <a:ext cx="1097280" cy="411480"/>
          </a:xfrm>
          <a:prstGeom prst="rect">
            <a:avLst/>
          </a:prstGeom>
          <a:solidFill>
            <a:srgbClr val="2A78D6"/>
          </a:solidFill>
          <a:ln w="12700">
            <a:solidFill>
              <a:srgbClr val="14213D"/>
            </a:solidFill>
            <a:prstDash val="solid"/>
          </a:ln>
        </p:spPr>
      </p:sp>
      <p:sp>
        <p:nvSpPr>
          <p:cNvPr id="7" name="Shape 5"/>
          <p:cNvSpPr/>
          <p:nvPr/>
        </p:nvSpPr>
        <p:spPr>
          <a:xfrm>
            <a:off x="8138160" y="3108960"/>
            <a:ext cx="1097280" cy="411480"/>
          </a:xfrm>
          <a:prstGeom prst="rect">
            <a:avLst/>
          </a:prstGeom>
          <a:solidFill>
            <a:srgbClr val="3D5A80"/>
          </a:solidFill>
          <a:ln w="12700">
            <a:solidFill>
              <a:srgbClr val="14213D"/>
            </a:solidFill>
            <a:prstDash val="solid"/>
          </a:ln>
        </p:spPr>
      </p:sp>
      <p:sp>
        <p:nvSpPr>
          <p:cNvPr id="8" name="Shape 6"/>
          <p:cNvSpPr/>
          <p:nvPr/>
        </p:nvSpPr>
        <p:spPr>
          <a:xfrm>
            <a:off x="10058400" y="1600200"/>
            <a:ext cx="1371600" cy="411480"/>
          </a:xfrm>
          <a:prstGeom prst="rect">
            <a:avLst/>
          </a:prstGeom>
          <a:solidFill>
            <a:srgbClr val="7A4A2C"/>
          </a:solidFill>
          <a:ln w="12700">
            <a:solidFill>
              <a:srgbClr val="14213D"/>
            </a:solidFill>
            <a:prstDash val="solid"/>
          </a:ln>
        </p:spPr>
      </p:sp>
      <p:sp>
        <p:nvSpPr>
          <p:cNvPr id="9" name="Shape 7"/>
          <p:cNvSpPr/>
          <p:nvPr/>
        </p:nvSpPr>
        <p:spPr>
          <a:xfrm>
            <a:off x="10058400" y="2103120"/>
            <a:ext cx="1371600" cy="411480"/>
          </a:xfrm>
          <a:prstGeom prst="rect">
            <a:avLst/>
          </a:prstGeom>
          <a:solidFill>
            <a:srgbClr val="C45A0C"/>
          </a:solidFill>
          <a:ln w="12700">
            <a:solidFill>
              <a:srgbClr val="14213D"/>
            </a:solidFill>
            <a:prstDash val="solid"/>
          </a:ln>
        </p:spPr>
      </p:sp>
      <p:sp>
        <p:nvSpPr>
          <p:cNvPr id="10" name="Shape 8"/>
          <p:cNvSpPr/>
          <p:nvPr/>
        </p:nvSpPr>
        <p:spPr>
          <a:xfrm>
            <a:off x="10058400" y="2606040"/>
            <a:ext cx="1371600" cy="411480"/>
          </a:xfrm>
          <a:prstGeom prst="rect">
            <a:avLst/>
          </a:prstGeom>
          <a:solidFill>
            <a:srgbClr val="7A4A2C"/>
          </a:solidFill>
          <a:ln w="12700">
            <a:solidFill>
              <a:srgbClr val="14213D"/>
            </a:solidFill>
            <a:prstDash val="solid"/>
          </a:ln>
        </p:spPr>
      </p:sp>
      <p:sp>
        <p:nvSpPr>
          <p:cNvPr id="11" name="Shape 9"/>
          <p:cNvSpPr/>
          <p:nvPr/>
        </p:nvSpPr>
        <p:spPr>
          <a:xfrm>
            <a:off x="10058400" y="3108960"/>
            <a:ext cx="1371600" cy="411480"/>
          </a:xfrm>
          <a:prstGeom prst="rect">
            <a:avLst/>
          </a:prstGeom>
          <a:solidFill>
            <a:srgbClr val="C45A0C"/>
          </a:solidFill>
          <a:ln w="12700">
            <a:solidFill>
              <a:srgbClr val="14213D"/>
            </a:solidFill>
            <a:prstDash val="solid"/>
          </a:ln>
        </p:spPr>
      </p:sp>
      <p:sp>
        <p:nvSpPr>
          <p:cNvPr id="12" name="Shape 10"/>
          <p:cNvSpPr/>
          <p:nvPr/>
        </p:nvSpPr>
        <p:spPr>
          <a:xfrm>
            <a:off x="10058400" y="3611880"/>
            <a:ext cx="1371600" cy="411480"/>
          </a:xfrm>
          <a:prstGeom prst="rect">
            <a:avLst/>
          </a:prstGeom>
          <a:solidFill>
            <a:srgbClr val="7A4A2C"/>
          </a:solidFill>
          <a:ln w="12700">
            <a:solidFill>
              <a:srgbClr val="14213D"/>
            </a:solidFill>
            <a:prstDash val="solid"/>
          </a:ln>
        </p:spPr>
      </p:sp>
      <p:sp>
        <p:nvSpPr>
          <p:cNvPr id="13" name="Shape 11"/>
          <p:cNvSpPr/>
          <p:nvPr/>
        </p:nvSpPr>
        <p:spPr>
          <a:xfrm>
            <a:off x="9235440" y="2304288"/>
            <a:ext cx="822960" cy="0"/>
          </a:xfrm>
          <a:prstGeom prst="line">
            <a:avLst/>
          </a:prstGeom>
          <a:noFill/>
          <a:ln w="19050">
            <a:solidFill>
              <a:srgbClr val="E7A77C"/>
            </a:solidFill>
            <a:prstDash val="dash"/>
          </a:ln>
        </p:spPr>
      </p:sp>
      <p:sp>
        <p:nvSpPr>
          <p:cNvPr id="14" name="Shape 12"/>
          <p:cNvSpPr/>
          <p:nvPr/>
        </p:nvSpPr>
        <p:spPr>
          <a:xfrm>
            <a:off x="9235440" y="2807208"/>
            <a:ext cx="822960" cy="502920"/>
          </a:xfrm>
          <a:prstGeom prst="line">
            <a:avLst/>
          </a:prstGeom>
          <a:noFill/>
          <a:ln w="19050">
            <a:solidFill>
              <a:srgbClr val="E7A77C"/>
            </a:solidFill>
            <a:prstDash val="dash"/>
          </a:ln>
        </p:spPr>
      </p:sp>
      <p:sp>
        <p:nvSpPr>
          <p:cNvPr id="15" name="Text 13"/>
          <p:cNvSpPr txBox="1"/>
          <p:nvPr/>
        </p:nvSpPr>
        <p:spPr>
          <a:xfrm>
            <a:off x="8138160" y="3703320"/>
            <a:ext cx="109728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R</a:t>
            </a:r>
            <a:endParaRPr lang="en-US" sz="2200" dirty="0"/>
          </a:p>
        </p:txBody>
      </p:sp>
      <p:sp>
        <p:nvSpPr>
          <p:cNvPr id="16" name="Text 14"/>
          <p:cNvSpPr txBox="1"/>
          <p:nvPr/>
        </p:nvSpPr>
        <p:spPr>
          <a:xfrm>
            <a:off x="10058400" y="4160520"/>
            <a:ext cx="1371600" cy="4572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O</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How to read this example</a:t>
            </a:r>
            <a:endParaRPr lang="en-US" sz="3200" dirty="0"/>
          </a:p>
        </p:txBody>
      </p:sp>
      <p:sp>
        <p:nvSpPr>
          <p:cNvPr id="3" name="Shape 1"/>
          <p:cNvSpPr/>
          <p:nvPr/>
        </p:nvSpPr>
        <p:spPr>
          <a:xfrm>
            <a:off x="548640" y="1417320"/>
            <a:ext cx="3566160" cy="3246120"/>
          </a:xfrm>
          <a:prstGeom prst="roundRect">
            <a:avLst>
              <a:gd name="adj" fmla="val 2254"/>
            </a:avLst>
          </a:prstGeom>
          <a:solidFill>
            <a:srgbClr val="EEF2F7"/>
          </a:solidFill>
          <a:ln w="12700">
            <a:solidFill>
              <a:srgbClr val="EEF2F7"/>
            </a:solidFill>
            <a:prstDash val="solid"/>
          </a:ln>
        </p:spPr>
      </p:sp>
      <p:sp>
        <p:nvSpPr>
          <p:cNvPr id="4" name="Shape 2"/>
          <p:cNvSpPr/>
          <p:nvPr/>
        </p:nvSpPr>
        <p:spPr>
          <a:xfrm>
            <a:off x="822960" y="1645920"/>
            <a:ext cx="685800" cy="685800"/>
          </a:xfrm>
          <a:prstGeom prst="ellipse">
            <a:avLst/>
          </a:prstGeom>
          <a:solidFill>
            <a:srgbClr val="3D5A80"/>
          </a:solidFill>
          <a:ln w="12700">
            <a:solidFill>
              <a:srgbClr val="3D5A80"/>
            </a:solidFill>
            <a:prstDash val="solid"/>
          </a:ln>
        </p:spPr>
      </p:sp>
      <p:pic>
        <p:nvPicPr>
          <p:cNvPr id="5" name="Image 0" descr="preencoded.png">    </p:cNvPr>
          <p:cNvPicPr>
            <a:picLocks noChangeAspect="1"/>
          </p:cNvPicPr>
          <p:nvPr/>
        </p:nvPicPr>
        <p:blipFill>
          <a:blip r:embed="rId1"/>
          <a:stretch>
            <a:fillRect/>
          </a:stretch>
        </p:blipFill>
        <p:spPr>
          <a:xfrm>
            <a:off x="987552" y="1810512"/>
            <a:ext cx="356616" cy="356616"/>
          </a:xfrm>
          <a:prstGeom prst="rect">
            <a:avLst/>
          </a:prstGeom>
        </p:spPr>
      </p:pic>
      <p:sp>
        <p:nvSpPr>
          <p:cNvPr id="6" name="Text 3"/>
          <p:cNvSpPr txBox="1"/>
          <p:nvPr/>
        </p:nvSpPr>
        <p:spPr>
          <a:xfrm>
            <a:off x="822960" y="2514600"/>
            <a:ext cx="3063240" cy="45720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Real steps, toy sizes</a:t>
            </a:r>
            <a:endParaRPr lang="en-US" sz="1900" dirty="0"/>
          </a:p>
        </p:txBody>
      </p:sp>
      <p:sp>
        <p:nvSpPr>
          <p:cNvPr id="7" name="Text 4"/>
          <p:cNvSpPr txBox="1"/>
          <p:nvPr/>
        </p:nvSpPr>
        <p:spPr>
          <a:xfrm>
            <a:off x="822960" y="3017520"/>
            <a:ext cx="3063240" cy="1600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phase of the protocol, in order, with the numbers each step produces.</a:t>
            </a:r>
            <a:endParaRPr lang="en-US" sz="1400" dirty="0"/>
          </a:p>
        </p:txBody>
      </p:sp>
      <p:sp>
        <p:nvSpPr>
          <p:cNvPr id="8" name="Shape 5"/>
          <p:cNvSpPr/>
          <p:nvPr/>
        </p:nvSpPr>
        <p:spPr>
          <a:xfrm>
            <a:off x="4343400" y="1417320"/>
            <a:ext cx="3566160" cy="3246120"/>
          </a:xfrm>
          <a:prstGeom prst="roundRect">
            <a:avLst>
              <a:gd name="adj" fmla="val 2254"/>
            </a:avLst>
          </a:prstGeom>
          <a:solidFill>
            <a:srgbClr val="EEF2F7"/>
          </a:solidFill>
          <a:ln w="12700">
            <a:solidFill>
              <a:srgbClr val="EEF2F7"/>
            </a:solidFill>
            <a:prstDash val="solid"/>
          </a:ln>
        </p:spPr>
      </p:sp>
      <p:sp>
        <p:nvSpPr>
          <p:cNvPr id="9" name="Shape 6"/>
          <p:cNvSpPr/>
          <p:nvPr/>
        </p:nvSpPr>
        <p:spPr>
          <a:xfrm>
            <a:off x="4617720" y="1645920"/>
            <a:ext cx="685800" cy="685800"/>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4782312" y="1810512"/>
            <a:ext cx="356616" cy="356616"/>
          </a:xfrm>
          <a:prstGeom prst="rect">
            <a:avLst/>
          </a:prstGeom>
        </p:spPr>
      </p:pic>
      <p:sp>
        <p:nvSpPr>
          <p:cNvPr id="11" name="Text 7"/>
          <p:cNvSpPr txBox="1"/>
          <p:nvPr/>
        </p:nvSpPr>
        <p:spPr>
          <a:xfrm>
            <a:off x="4617720" y="2514600"/>
            <a:ext cx="3063240" cy="45720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Shown in the clear</a:t>
            </a:r>
            <a:endParaRPr lang="en-US" sz="1900" dirty="0"/>
          </a:p>
        </p:txBody>
      </p:sp>
      <p:sp>
        <p:nvSpPr>
          <p:cNvPr id="12" name="Text 8"/>
          <p:cNvSpPr txBox="1"/>
          <p:nvPr/>
        </p:nvSpPr>
        <p:spPr>
          <a:xfrm>
            <a:off x="4617720" y="3017520"/>
            <a:ext cx="3063240" cy="1600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We print values the protocol keeps encrypted, so you can check each step. A party only ever sees what its own boxes say.</a:t>
            </a:r>
            <a:endParaRPr lang="en-US" sz="1400" dirty="0"/>
          </a:p>
        </p:txBody>
      </p:sp>
      <p:sp>
        <p:nvSpPr>
          <p:cNvPr id="13" name="Shape 9"/>
          <p:cNvSpPr/>
          <p:nvPr/>
        </p:nvSpPr>
        <p:spPr>
          <a:xfrm>
            <a:off x="8138160" y="1417320"/>
            <a:ext cx="3566160" cy="3246120"/>
          </a:xfrm>
          <a:prstGeom prst="roundRect">
            <a:avLst>
              <a:gd name="adj" fmla="val 2254"/>
            </a:avLst>
          </a:prstGeom>
          <a:solidFill>
            <a:srgbClr val="EEF2F7"/>
          </a:solidFill>
          <a:ln w="12700">
            <a:solidFill>
              <a:srgbClr val="EEF2F7"/>
            </a:solidFill>
            <a:prstDash val="solid"/>
          </a:ln>
        </p:spPr>
      </p:sp>
      <p:sp>
        <p:nvSpPr>
          <p:cNvPr id="14" name="Shape 10"/>
          <p:cNvSpPr/>
          <p:nvPr/>
        </p:nvSpPr>
        <p:spPr>
          <a:xfrm>
            <a:off x="8412480" y="1645920"/>
            <a:ext cx="685800" cy="685800"/>
          </a:xfrm>
          <a:prstGeom prst="ellipse">
            <a:avLst/>
          </a:prstGeom>
          <a:solidFill>
            <a:srgbClr val="C45A0C"/>
          </a:solidFill>
          <a:ln w="12700">
            <a:solidFill>
              <a:srgbClr val="C45A0C"/>
            </a:solidFill>
            <a:prstDash val="solid"/>
          </a:ln>
        </p:spPr>
      </p:sp>
      <p:pic>
        <p:nvPicPr>
          <p:cNvPr id="15" name="Image 2" descr="preencoded.png">    </p:cNvPr>
          <p:cNvPicPr>
            <a:picLocks noChangeAspect="1"/>
          </p:cNvPicPr>
          <p:nvPr/>
        </p:nvPicPr>
        <p:blipFill>
          <a:blip r:embed="rId3"/>
          <a:stretch>
            <a:fillRect/>
          </a:stretch>
        </p:blipFill>
        <p:spPr>
          <a:xfrm>
            <a:off x="8577072" y="1810512"/>
            <a:ext cx="356616" cy="356616"/>
          </a:xfrm>
          <a:prstGeom prst="rect">
            <a:avLst/>
          </a:prstGeom>
        </p:spPr>
      </p:pic>
      <p:sp>
        <p:nvSpPr>
          <p:cNvPr id="16" name="Text 11"/>
          <p:cNvSpPr txBox="1"/>
          <p:nvPr/>
        </p:nvSpPr>
        <p:spPr>
          <a:xfrm>
            <a:off x="8412480" y="2514600"/>
            <a:ext cx="3063240" cy="457200"/>
          </a:xfrm>
          <a:prstGeom prst="rect">
            <a:avLst/>
          </a:prstGeom>
          <a:noFill/>
          <a:ln/>
        </p:spPr>
        <p:txBody>
          <a:bodyPr wrap="square" lIns="0" tIns="0" rIns="0" bIns="0" rtlCol="0" anchor="t"/>
          <a:lstStyle/>
          <a:p>
            <a:pPr indent="0" marL="0">
              <a:buNone/>
            </a:pPr>
            <a:r>
              <a:rPr lang="en-US" sz="1900" b="1" dirty="0">
                <a:solidFill>
                  <a:srgbClr val="14213D"/>
                </a:solidFill>
                <a:latin typeface="Cambria" pitchFamily="34" charset="0"/>
                <a:ea typeface="Cambria" pitchFamily="34" charset="-122"/>
                <a:cs typeface="Cambria" pitchFamily="34" charset="-120"/>
              </a:rPr>
              <a:t>Too small to be useful</a:t>
            </a:r>
            <a:endParaRPr lang="en-US" sz="1900" dirty="0"/>
          </a:p>
        </p:txBody>
      </p:sp>
      <p:sp>
        <p:nvSpPr>
          <p:cNvPr id="17" name="Text 12"/>
          <p:cNvSpPr txBox="1"/>
          <p:nvPr/>
        </p:nvSpPr>
        <p:spPr>
          <a:xfrm>
            <a:off x="8412480" y="3017520"/>
            <a:ext cx="3063240" cy="16002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Two people match and the model has five coefficients: least squares has no unique answer, and the privacy noise dwarfs the data. Watch how the protocol fails safe; the last slides repeat the steps with 20,000 people.</a:t>
            </a:r>
            <a:endParaRPr lang="en-US" sz="1400" dirty="0"/>
          </a:p>
        </p:txBody>
      </p:sp>
      <p:sp>
        <p:nvSpPr>
          <p:cNvPr id="18" name="Shape 13"/>
          <p:cNvSpPr/>
          <p:nvPr/>
        </p:nvSpPr>
        <p:spPr>
          <a:xfrm>
            <a:off x="548640" y="4937760"/>
            <a:ext cx="11064240" cy="1234440"/>
          </a:xfrm>
          <a:prstGeom prst="roundRect">
            <a:avLst>
              <a:gd name="adj" fmla="val 5926"/>
            </a:avLst>
          </a:prstGeom>
          <a:solidFill>
            <a:srgbClr val="F7F9FC"/>
          </a:solidFill>
          <a:ln w="12700">
            <a:solidFill>
              <a:srgbClr val="F7F9FC"/>
            </a:solidFill>
            <a:prstDash val="solid"/>
          </a:ln>
        </p:spPr>
      </p:sp>
      <p:sp>
        <p:nvSpPr>
          <p:cNvPr id="19" name="Text 14"/>
          <p:cNvSpPr txBox="1"/>
          <p:nvPr/>
        </p:nvSpPr>
        <p:spPr>
          <a:xfrm>
            <a:off x="777240" y="5029200"/>
            <a:ext cx="2743200" cy="32004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Notation</a:t>
            </a:r>
            <a:endParaRPr lang="en-US" sz="1400" dirty="0"/>
          </a:p>
        </p:txBody>
      </p:sp>
      <p:sp>
        <p:nvSpPr>
          <p:cNvPr id="20" name="Text 15"/>
          <p:cNvSpPr txBox="1"/>
          <p:nvPr/>
        </p:nvSpPr>
        <p:spPr>
          <a:xfrm>
            <a:off x="777240" y="5376672"/>
            <a:ext cx="10607040"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 R's cohort members found in O's register.   π: the bijection sending each i ∈ I to its row in O's register.   τ: O's secret shuffle of its rows.   Budget: ε = 1, δ = 10</a:t>
            </a:r>
            <a:r>
              <a:rPr lang="en-US" sz="1400" baseline="30000" dirty="0">
                <a:solidFill>
                  <a:srgbClr val="1F2937"/>
                </a:solidFill>
                <a:latin typeface="Calibri" pitchFamily="34" charset="0"/>
                <a:ea typeface="Calibri" pitchFamily="34" charset="-122"/>
                <a:cs typeface="Calibri" pitchFamily="34" charset="-120"/>
              </a:rPr>
              <a:t>−9</a:t>
            </a:r>
            <a:r>
              <a:rPr lang="en-US" sz="1400" dirty="0">
                <a:solidFill>
                  <a:srgbClr val="1F2937"/>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data</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Already scaled so that every value lies in [−1, 1]</a:t>
            </a:r>
            <a:endParaRPr lang="en-US" sz="1600" dirty="0"/>
          </a:p>
        </p:txBody>
      </p:sp>
      <p:sp>
        <p:nvSpPr>
          <p:cNvPr id="4" name="Shape 2"/>
          <p:cNvSpPr/>
          <p:nvPr/>
        </p:nvSpPr>
        <p:spPr>
          <a:xfrm>
            <a:off x="548640" y="1600200"/>
            <a:ext cx="4754880" cy="3108960"/>
          </a:xfrm>
          <a:prstGeom prst="roundRect">
            <a:avLst>
              <a:gd name="adj" fmla="val 2353"/>
            </a:avLst>
          </a:prstGeom>
          <a:solidFill>
            <a:srgbClr val="E3EEFB"/>
          </a:solidFill>
          <a:ln w="12700">
            <a:solidFill>
              <a:srgbClr val="E3EEFB"/>
            </a:solidFill>
            <a:prstDash val="solid"/>
          </a:ln>
        </p:spPr>
      </p:sp>
      <p:sp>
        <p:nvSpPr>
          <p:cNvPr id="5" name="Shape 3"/>
          <p:cNvSpPr/>
          <p:nvPr/>
        </p:nvSpPr>
        <p:spPr>
          <a:xfrm>
            <a:off x="777240" y="1783080"/>
            <a:ext cx="548640" cy="548640"/>
          </a:xfrm>
          <a:prstGeom prst="ellipse">
            <a:avLst/>
          </a:prstGeom>
          <a:solidFill>
            <a:srgbClr val="2A78D6"/>
          </a:solidFill>
          <a:ln w="12700">
            <a:solidFill>
              <a:srgbClr val="2A78D6"/>
            </a:solidFill>
            <a:prstDash val="solid"/>
          </a:ln>
        </p:spPr>
      </p:sp>
      <p:pic>
        <p:nvPicPr>
          <p:cNvPr id="6" name="Image 0" descr="preencoded.png">    </p:cNvPr>
          <p:cNvPicPr>
            <a:picLocks noChangeAspect="1"/>
          </p:cNvPicPr>
          <p:nvPr/>
        </p:nvPicPr>
        <p:blipFill>
          <a:blip r:embed="rId1"/>
          <a:stretch>
            <a:fillRect/>
          </a:stretch>
        </p:blipFill>
        <p:spPr>
          <a:xfrm>
            <a:off x="908914" y="1914754"/>
            <a:ext cx="285293" cy="285293"/>
          </a:xfrm>
          <a:prstGeom prst="rect">
            <a:avLst/>
          </a:prstGeom>
        </p:spPr>
      </p:pic>
      <p:sp>
        <p:nvSpPr>
          <p:cNvPr id="7" name="Text 4"/>
          <p:cNvSpPr txBox="1"/>
          <p:nvPr/>
        </p:nvSpPr>
        <p:spPr>
          <a:xfrm>
            <a:off x="1463040" y="1828800"/>
            <a:ext cx="3749040" cy="41148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Researcher R: 3 records × 2 features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77240" y="2514600"/>
          <a:ext cx="9144000" cy="914400"/>
        </p:xfrm>
        <a:graphic>
          <a:graphicData uri="http://schemas.openxmlformats.org/drawingml/2006/table">
            <a:tbl>
              <a:tblPr/>
              <a:tblGrid>
                <a:gridCol w="822960"/>
                <a:gridCol w="1645920"/>
                <a:gridCol w="173736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education x</a:t>
                      </a:r>
                      <a:r>
                        <a:rPr lang="en-US" sz="1400" b="1" baseline="-25000" dirty="0">
                          <a:solidFill>
                            <a:srgbClr val="FFFFFF"/>
                          </a:solidFill>
                          <a:latin typeface="Calibri" pitchFamily="34" charset="0"/>
                          <a:ea typeface="Calibri" pitchFamily="34" charset="-122"/>
                          <a:cs typeface="Calibri" pitchFamily="34" charset="-120"/>
                        </a:rPr>
                        <a:t>R1</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health x</a:t>
                      </a:r>
                      <a:r>
                        <a:rPr lang="en-US" sz="1400" b="1" baseline="-25000" dirty="0">
                          <a:solidFill>
                            <a:srgbClr val="FFFFFF"/>
                          </a:solidFill>
                          <a:latin typeface="Calibri" pitchFamily="34" charset="0"/>
                          <a:ea typeface="Calibri" pitchFamily="34" charset="-122"/>
                          <a:cs typeface="Calibri" pitchFamily="34" charset="-120"/>
                        </a:rPr>
                        <a:t>R2</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104</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0.8</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317</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9" name="Shape 5"/>
          <p:cNvSpPr/>
          <p:nvPr/>
        </p:nvSpPr>
        <p:spPr>
          <a:xfrm>
            <a:off x="5577840" y="1600200"/>
            <a:ext cx="6035040" cy="3108960"/>
          </a:xfrm>
          <a:prstGeom prst="roundRect">
            <a:avLst>
              <a:gd name="adj" fmla="val 2353"/>
            </a:avLst>
          </a:prstGeom>
          <a:solidFill>
            <a:srgbClr val="F6E3D6"/>
          </a:solidFill>
          <a:ln w="12700">
            <a:solidFill>
              <a:srgbClr val="F6E3D6"/>
            </a:solidFill>
            <a:prstDash val="solid"/>
          </a:ln>
        </p:spPr>
      </p:sp>
      <p:sp>
        <p:nvSpPr>
          <p:cNvPr id="10" name="Shape 6"/>
          <p:cNvSpPr/>
          <p:nvPr/>
        </p:nvSpPr>
        <p:spPr>
          <a:xfrm>
            <a:off x="5806440" y="1783080"/>
            <a:ext cx="548640" cy="548640"/>
          </a:xfrm>
          <a:prstGeom prst="ellipse">
            <a:avLst/>
          </a:prstGeom>
          <a:solidFill>
            <a:srgbClr val="C45A0C"/>
          </a:solidFill>
          <a:ln w="12700">
            <a:solidFill>
              <a:srgbClr val="C45A0C"/>
            </a:solidFill>
            <a:prstDash val="solid"/>
          </a:ln>
        </p:spPr>
      </p:sp>
      <p:pic>
        <p:nvPicPr>
          <p:cNvPr id="11" name="Image 1" descr="preencoded.png">    </p:cNvPr>
          <p:cNvPicPr>
            <a:picLocks noChangeAspect="1"/>
          </p:cNvPicPr>
          <p:nvPr/>
        </p:nvPicPr>
        <p:blipFill>
          <a:blip r:embed="rId2"/>
          <a:stretch>
            <a:fillRect/>
          </a:stretch>
        </p:blipFill>
        <p:spPr>
          <a:xfrm>
            <a:off x="5938114" y="1914754"/>
            <a:ext cx="285293" cy="285293"/>
          </a:xfrm>
          <a:prstGeom prst="rect">
            <a:avLst/>
          </a:prstGeom>
        </p:spPr>
      </p:pic>
      <p:sp>
        <p:nvSpPr>
          <p:cNvPr id="12" name="Text 7"/>
          <p:cNvSpPr txBox="1"/>
          <p:nvPr/>
        </p:nvSpPr>
        <p:spPr>
          <a:xfrm>
            <a:off x="6492240" y="1828800"/>
            <a:ext cx="5029200" cy="41148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Organization O: 5 records × 2 features, plus y</a:t>
            </a:r>
            <a:endParaRPr lang="en-US" sz="16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806440" y="2514600"/>
          <a:ext cx="9144000" cy="914400"/>
        </p:xfrm>
        <a:graphic>
          <a:graphicData uri="http://schemas.openxmlformats.org/drawingml/2006/table">
            <a:tbl>
              <a:tblPr/>
              <a:tblGrid>
                <a:gridCol w="822960"/>
                <a:gridCol w="1417320"/>
                <a:gridCol w="1691640"/>
                <a:gridCol w="160020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id</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age x</a:t>
                      </a:r>
                      <a:r>
                        <a:rPr lang="en-US" sz="1400" b="1" baseline="-25000" dirty="0">
                          <a:solidFill>
                            <a:srgbClr val="FFFFFF"/>
                          </a:solidFill>
                          <a:latin typeface="Calibri" pitchFamily="34" charset="0"/>
                          <a:ea typeface="Calibri" pitchFamily="34" charset="-122"/>
                          <a:cs typeface="Calibri" pitchFamily="34" charset="-120"/>
                        </a:rPr>
                        <a:t>O1</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benefits x</a:t>
                      </a:r>
                      <a:r>
                        <a:rPr lang="en-US" sz="1400" b="1" baseline="-25000" dirty="0">
                          <a:solidFill>
                            <a:srgbClr val="FFFFFF"/>
                          </a:solidFill>
                          <a:latin typeface="Calibri" pitchFamily="34" charset="0"/>
                          <a:ea typeface="Calibri" pitchFamily="34" charset="-122"/>
                          <a:cs typeface="Calibri" pitchFamily="34" charset="-120"/>
                        </a:rPr>
                        <a:t>O2</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income y</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088</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0.3</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104</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−0.6</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0.7</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221</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0.8</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0.4</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399</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0.0</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0.9</a:t>
                      </a:r>
                      <a:endParaRPr lang="en-US" sz="14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14" name="Shape 8"/>
          <p:cNvSpPr/>
          <p:nvPr/>
        </p:nvSpPr>
        <p:spPr>
          <a:xfrm>
            <a:off x="548640" y="4983480"/>
            <a:ext cx="11064240" cy="1188720"/>
          </a:xfrm>
          <a:prstGeom prst="roundRect">
            <a:avLst>
              <a:gd name="adj" fmla="val 6154"/>
            </a:avLst>
          </a:prstGeom>
          <a:solidFill>
            <a:srgbClr val="F7F9FC"/>
          </a:solidFill>
          <a:ln w="12700">
            <a:solidFill>
              <a:srgbClr val="F7F9FC"/>
            </a:solidFill>
            <a:prstDash val="solid"/>
          </a:ln>
        </p:spPr>
      </p:sp>
      <p:sp>
        <p:nvSpPr>
          <p:cNvPr id="15" name="Text 9"/>
          <p:cNvSpPr txBox="1"/>
          <p:nvPr/>
        </p:nvSpPr>
        <p:spPr>
          <a:xfrm>
            <a:off x="777240" y="5074920"/>
            <a:ext cx="10607040" cy="100584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Goal: </a:t>
            </a:r>
            <a:r>
              <a:rPr lang="en-US" sz="1500" dirty="0">
                <a:solidFill>
                  <a:srgbClr val="1F2937"/>
                </a:solidFill>
                <a:latin typeface="Calibri" pitchFamily="34" charset="0"/>
                <a:ea typeface="Calibri" pitchFamily="34" charset="-122"/>
                <a:cs typeface="Calibri" pitchFamily="34" charset="-120"/>
              </a:rPr>
              <a:t>regress income on education, health, age and benefits, plus an intercept, over the people in both tables. Neither party knows yet who that is: identifiers 104 and 221 appear in both, 317 only in R's cohort.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answer we are after</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Computed here by pooling the data, only to check the protocol's steps against it</a:t>
            </a:r>
            <a:endParaRPr lang="en-US" sz="1600" dirty="0"/>
          </a:p>
        </p:txBody>
      </p:sp>
      <p:sp>
        <p:nvSpPr>
          <p:cNvPr id="4" name="Text 2"/>
          <p:cNvSpPr txBox="1"/>
          <p:nvPr/>
        </p:nvSpPr>
        <p:spPr>
          <a:xfrm>
            <a:off x="548640" y="1554480"/>
            <a:ext cx="7498080" cy="41148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Matched set I = {104, 221}, so n = 2. Rows of Z = [X</a:t>
            </a:r>
            <a:r>
              <a:rPr lang="en-US" sz="1500" baseline="-25000" dirty="0">
                <a:solidFill>
                  <a:srgbClr val="1F2937"/>
                </a:solidFill>
                <a:latin typeface="Calibri" pitchFamily="34" charset="0"/>
                <a:ea typeface="Calibri" pitchFamily="34" charset="-122"/>
                <a:cs typeface="Calibri" pitchFamily="34" charset="-120"/>
              </a:rPr>
              <a:t>R</a:t>
            </a:r>
            <a:r>
              <a:rPr lang="en-US" sz="1500" baseline="30000" dirty="0">
                <a:solidFill>
                  <a:srgbClr val="1F2937"/>
                </a:solidFill>
                <a:latin typeface="Calibri" pitchFamily="34" charset="0"/>
                <a:ea typeface="Calibri" pitchFamily="34" charset="-122"/>
                <a:cs typeface="Calibri" pitchFamily="34" charset="-120"/>
              </a:rPr>
              <a:t>I</a:t>
            </a:r>
            <a:r>
              <a:rPr lang="en-US" sz="1500" dirty="0">
                <a:solidFill>
                  <a:srgbClr val="1F2937"/>
                </a:solidFill>
                <a:latin typeface="Calibri" pitchFamily="34" charset="0"/>
                <a:ea typeface="Calibri" pitchFamily="34" charset="-122"/>
                <a:cs typeface="Calibri" pitchFamily="34" charset="-120"/>
              </a:rPr>
              <a:t> | X</a:t>
            </a:r>
            <a:r>
              <a:rPr lang="en-US" sz="1500" baseline="-25000" dirty="0">
                <a:solidFill>
                  <a:srgbClr val="1F2937"/>
                </a:solidFill>
                <a:latin typeface="Calibri" pitchFamily="34" charset="0"/>
                <a:ea typeface="Calibri" pitchFamily="34" charset="-122"/>
                <a:cs typeface="Calibri" pitchFamily="34" charset="-120"/>
              </a:rPr>
              <a:t>O</a:t>
            </a:r>
            <a:r>
              <a:rPr lang="en-US" sz="1500" baseline="30000" dirty="0">
                <a:solidFill>
                  <a:srgbClr val="1F2937"/>
                </a:solidFill>
                <a:latin typeface="Calibri" pitchFamily="34" charset="0"/>
                <a:ea typeface="Calibri" pitchFamily="34" charset="-122"/>
                <a:cs typeface="Calibri" pitchFamily="34" charset="-120"/>
              </a:rPr>
              <a:t>I</a:t>
            </a:r>
            <a:r>
              <a:rPr lang="en-US" sz="1500" dirty="0">
                <a:solidFill>
                  <a:srgbClr val="1F2937"/>
                </a:solidFill>
                <a:latin typeface="Calibri" pitchFamily="34" charset="0"/>
                <a:ea typeface="Calibri" pitchFamily="34" charset="-122"/>
                <a:cs typeface="Calibri" pitchFamily="34" charset="-120"/>
              </a:rPr>
              <a:t>] and y</a:t>
            </a:r>
            <a:r>
              <a:rPr lang="en-US" sz="1500" baseline="30000" dirty="0">
                <a:solidFill>
                  <a:srgbClr val="1F2937"/>
                </a:solidFill>
                <a:latin typeface="Calibri" pitchFamily="34" charset="0"/>
                <a:ea typeface="Calibri" pitchFamily="34" charset="-122"/>
                <a:cs typeface="Calibri" pitchFamily="34" charset="-120"/>
              </a:rPr>
              <a:t>I</a:t>
            </a:r>
            <a:r>
              <a:rPr lang="en-US" sz="1500" dirty="0">
                <a:solidFill>
                  <a:srgbClr val="1F2937"/>
                </a:solidFill>
                <a:latin typeface="Calibri" pitchFamily="34" charset="0"/>
                <a:ea typeface="Calibri" pitchFamily="34" charset="-122"/>
                <a:cs typeface="Calibri" pitchFamily="34" charset="-120"/>
              </a:rPr>
              <a:t>:</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9144000" cy="914400"/>
        </p:xfrm>
        <a:graphic>
          <a:graphicData uri="http://schemas.openxmlformats.org/drawingml/2006/table">
            <a:tbl>
              <a:tblPr/>
              <a:tblGrid>
                <a:gridCol w="548640"/>
                <a:gridCol w="987552"/>
                <a:gridCol w="987552"/>
                <a:gridCol w="987552"/>
                <a:gridCol w="987552"/>
                <a:gridCol w="987552"/>
                <a:gridCol w="987552"/>
              </a:tblGrid>
              <a:tr h="292608">
                <a:tc>
                  <a:txBody>
                    <a:bodyPr/>
                    <a:lstStyle/>
                    <a:p>
                      <a:pPr indent="0" marL="0">
                        <a:buNone/>
                      </a:pP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intercept</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education</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health</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age</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benefits</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income</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92608">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104</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−0.2</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r>
              <a:tr h="292608">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221</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−0.4</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0.8</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0.8</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0.4</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r>
            </a:tbl>
          </a:graphicData>
        </a:graphic>
      </p:graphicFrame>
      <p:sp>
        <p:nvSpPr>
          <p:cNvPr id="6" name="Text 3"/>
          <p:cNvSpPr txBox="1"/>
          <p:nvPr/>
        </p:nvSpPr>
        <p:spPr>
          <a:xfrm>
            <a:off x="548640" y="3154680"/>
            <a:ext cx="457200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Gram matrix G</a:t>
            </a:r>
            <a:r>
              <a:rPr lang="en-US" sz="1600" b="1" baseline="30000" dirty="0">
                <a:solidFill>
                  <a:srgbClr val="14213D"/>
                </a:solidFill>
                <a:latin typeface="Cambria" pitchFamily="34" charset="0"/>
                <a:ea typeface="Cambria" pitchFamily="34" charset="-122"/>
                <a:cs typeface="Cambria" pitchFamily="34" charset="-120"/>
              </a:rPr>
              <a:t>I</a:t>
            </a:r>
            <a:r>
              <a:rPr lang="en-US" sz="1600" b="1" dirty="0">
                <a:solidFill>
                  <a:srgbClr val="14213D"/>
                </a:solidFill>
                <a:latin typeface="Cambria" pitchFamily="34" charset="0"/>
                <a:ea typeface="Cambria" pitchFamily="34" charset="-122"/>
                <a:cs typeface="Cambria" pitchFamily="34" charset="-120"/>
              </a:rPr>
              <a:t> = Z</a:t>
            </a:r>
            <a:r>
              <a:rPr lang="en-US" sz="1600" b="1" baseline="30000" dirty="0">
                <a:solidFill>
                  <a:srgbClr val="14213D"/>
                </a:solidFill>
                <a:latin typeface="Cambria" pitchFamily="34" charset="0"/>
                <a:ea typeface="Cambria" pitchFamily="34" charset="-122"/>
                <a:cs typeface="Cambria" pitchFamily="34" charset="-120"/>
              </a:rPr>
              <a:t>T</a:t>
            </a:r>
            <a:r>
              <a:rPr lang="en-US" sz="1600" b="1" dirty="0">
                <a:solidFill>
                  <a:srgbClr val="14213D"/>
                </a:solidFill>
                <a:latin typeface="Cambria" pitchFamily="34" charset="0"/>
                <a:ea typeface="Cambria" pitchFamily="34" charset="-122"/>
                <a:cs typeface="Cambria" pitchFamily="34" charset="-120"/>
              </a:rPr>
              <a:t>Z</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48640" y="3566160"/>
          <a:ext cx="9144000" cy="914400"/>
        </p:xfrm>
        <a:graphic>
          <a:graphicData uri="http://schemas.openxmlformats.org/drawingml/2006/table">
            <a:tbl>
              <a:tblPr/>
              <a:tblGrid>
                <a:gridCol w="960120"/>
                <a:gridCol w="987552"/>
                <a:gridCol w="987552"/>
                <a:gridCol w="987552"/>
                <a:gridCol w="987552"/>
                <a:gridCol w="987552"/>
              </a:tblGrid>
              <a:tr h="292608">
                <a:tc>
                  <a:txBody>
                    <a:bodyPr/>
                    <a:lstStyle/>
                    <a:p>
                      <a:pPr indent="0" marL="0">
                        <a:buNone/>
                      </a:pP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intercept</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education</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health</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benefits</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92608">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intercept</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2.00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r>
              <a:tr h="292608">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education</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0.41</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r>
              <a:tr h="292608">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health</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−0.42</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0.68</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r>
              <a:tr h="292608">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age</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−0.62</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0.76</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r>
              <a:tr h="292608">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benefits</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−0.60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r>
            </a:tbl>
          </a:graphicData>
        </a:graphic>
      </p:graphicFrame>
      <p:sp>
        <p:nvSpPr>
          <p:cNvPr id="8" name="Text 4"/>
          <p:cNvSpPr txBox="1"/>
          <p:nvPr/>
        </p:nvSpPr>
        <p:spPr>
          <a:xfrm>
            <a:off x="6995160" y="3154680"/>
            <a:ext cx="228600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c</a:t>
            </a:r>
            <a:r>
              <a:rPr lang="en-US" sz="1600" b="1" baseline="30000" dirty="0">
                <a:solidFill>
                  <a:srgbClr val="14213D"/>
                </a:solidFill>
                <a:latin typeface="Cambria" pitchFamily="34" charset="0"/>
                <a:ea typeface="Cambria" pitchFamily="34" charset="-122"/>
                <a:cs typeface="Cambria" pitchFamily="34" charset="-120"/>
              </a:rPr>
              <a:t>I</a:t>
            </a:r>
            <a:r>
              <a:rPr lang="en-US" sz="1600" b="1" dirty="0">
                <a:solidFill>
                  <a:srgbClr val="14213D"/>
                </a:solidFill>
                <a:latin typeface="Cambria" pitchFamily="34" charset="0"/>
                <a:ea typeface="Cambria" pitchFamily="34" charset="-122"/>
                <a:cs typeface="Cambria" pitchFamily="34" charset="-120"/>
              </a:rPr>
              <a:t> = Z</a:t>
            </a:r>
            <a:r>
              <a:rPr lang="en-US" sz="1600" b="1" baseline="30000" dirty="0">
                <a:solidFill>
                  <a:srgbClr val="14213D"/>
                </a:solidFill>
                <a:latin typeface="Cambria" pitchFamily="34" charset="0"/>
                <a:ea typeface="Cambria" pitchFamily="34" charset="-122"/>
                <a:cs typeface="Cambria" pitchFamily="34" charset="-120"/>
              </a:rPr>
              <a:t>T</a:t>
            </a:r>
            <a:r>
              <a:rPr lang="en-US" sz="1600" b="1" dirty="0">
                <a:solidFill>
                  <a:srgbClr val="14213D"/>
                </a:solidFill>
                <a:latin typeface="Cambria" pitchFamily="34" charset="0"/>
                <a:ea typeface="Cambria" pitchFamily="34" charset="-122"/>
                <a:cs typeface="Cambria" pitchFamily="34" charset="-120"/>
              </a:rPr>
              <a:t>y</a:t>
            </a:r>
            <a:r>
              <a:rPr lang="en-US" sz="1600" b="1" baseline="30000" dirty="0">
                <a:solidFill>
                  <a:srgbClr val="14213D"/>
                </a:solidFill>
                <a:latin typeface="Cambria" pitchFamily="34" charset="0"/>
                <a:ea typeface="Cambria" pitchFamily="34" charset="-122"/>
                <a:cs typeface="Cambria" pitchFamily="34" charset="-120"/>
              </a:rPr>
              <a:t>I</a:t>
            </a:r>
            <a:endParaRPr lang="en-US" sz="1600" dirty="0"/>
          </a:p>
        </p:txBody>
      </p:sp>
      <p:graphicFrame>
        <p:nvGraphicFramePr>
          <p:cNvPr id="13" name="Table 2"/>
          <p:cNvGraphicFramePr>
            <a:graphicFrameLocks noGrp="1"/>
          </p:cNvGraphicFramePr>
          <p:nvPr>
            <p:extLst>
              <p:ext uri="{D42A27DB-BD31-4B8C-83A1-F6EECF244321}">
                <p14:modId xmlns:p14="http://schemas.microsoft.com/office/powerpoint/2010/main" val="1579011935"/>
              </p:ext>
            </p:extLst>
          </p:nvPr>
        </p:nvGraphicFramePr>
        <p:xfrm>
          <a:off x="6995160" y="3566160"/>
          <a:ext cx="9144000" cy="914400"/>
        </p:xfrm>
        <a:graphic>
          <a:graphicData uri="http://schemas.openxmlformats.org/drawingml/2006/table">
            <a:tbl>
              <a:tblPr/>
              <a:tblGrid>
                <a:gridCol w="822960"/>
              </a:tblGrid>
              <a:tr h="292608">
                <a:tc>
                  <a:txBody>
                    <a:bodyPr/>
                    <a:lstStyle/>
                    <a:p>
                      <a:pPr indent="0" marL="0">
                        <a:buNone/>
                      </a:pPr>
                      <a:r>
                        <a:rPr lang="en-US" sz="1100" b="1" dirty="0">
                          <a:solidFill>
                            <a:srgbClr val="5B6576"/>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92608">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1.10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r>
              <a:tr h="292608">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0.19</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r>
              <a:tr h="292608">
                <a:tc>
                  <a:txBody>
                    <a:bodyPr/>
                    <a:lstStyle/>
                    <a:p>
                      <a:pPr algn="ctr" indent="0" marL="0">
                        <a:buNone/>
                      </a:pPr>
                      <a:r>
                        <a:rPr lang="en-US" sz="1200" dirty="0">
                          <a:solidFill>
                            <a:srgbClr val="FFFFFF"/>
                          </a:solidFill>
                          <a:latin typeface="Calibri" pitchFamily="34" charset="0"/>
                          <a:ea typeface="Calibri" pitchFamily="34" charset="-122"/>
                          <a:cs typeface="Calibri" pitchFamily="34" charset="-120"/>
                        </a:rPr>
                        <a:t>0.18</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45A0C"/>
                    </a:solidFill>
                  </a:tcPr>
                </a:tc>
              </a:tr>
              <a:tr h="292608">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−0.10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r>
              <a:tr h="292608">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0.70</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3D2BC"/>
                    </a:solidFill>
                  </a:tcPr>
                </a:tc>
              </a:tr>
            </a:tbl>
          </a:graphicData>
        </a:graphic>
      </p:graphicFrame>
      <p:sp>
        <p:nvSpPr>
          <p:cNvPr id="10" name="Text 5"/>
          <p:cNvSpPr txBox="1"/>
          <p:nvPr/>
        </p:nvSpPr>
        <p:spPr>
          <a:xfrm>
            <a:off x="6995160" y="5486400"/>
            <a:ext cx="2286000" cy="36576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y</a:t>
            </a:r>
            <a:r>
              <a:rPr lang="en-US" sz="1400" b="1" baseline="30000" dirty="0">
                <a:solidFill>
                  <a:srgbClr val="1F2937"/>
                </a:solidFill>
                <a:latin typeface="Calibri" pitchFamily="34" charset="0"/>
                <a:ea typeface="Calibri" pitchFamily="34" charset="-122"/>
                <a:cs typeface="Calibri" pitchFamily="34" charset="-120"/>
              </a:rPr>
              <a:t>T</a:t>
            </a:r>
            <a:r>
              <a:rPr lang="en-US" sz="1400" b="1" dirty="0">
                <a:solidFill>
                  <a:srgbClr val="1F2937"/>
                </a:solidFill>
                <a:latin typeface="Calibri" pitchFamily="34" charset="0"/>
                <a:ea typeface="Calibri" pitchFamily="34" charset="-122"/>
                <a:cs typeface="Calibri" pitchFamily="34" charset="-120"/>
              </a:rPr>
              <a:t>y = 0.65</a:t>
            </a:r>
            <a:endParaRPr lang="en-US" sz="1400" dirty="0"/>
          </a:p>
        </p:txBody>
      </p:sp>
      <p:sp>
        <p:nvSpPr>
          <p:cNvPr id="11" name="Shape 6"/>
          <p:cNvSpPr/>
          <p:nvPr/>
        </p:nvSpPr>
        <p:spPr>
          <a:xfrm>
            <a:off x="8321040" y="2057400"/>
            <a:ext cx="3291840" cy="4114800"/>
          </a:xfrm>
          <a:prstGeom prst="roundRect">
            <a:avLst>
              <a:gd name="adj" fmla="val 2222"/>
            </a:avLst>
          </a:prstGeom>
          <a:solidFill>
            <a:srgbClr val="F6E3D6"/>
          </a:solidFill>
          <a:ln w="12700">
            <a:solidFill>
              <a:srgbClr val="F6E3D6"/>
            </a:solidFill>
            <a:prstDash val="solid"/>
          </a:ln>
        </p:spPr>
      </p:sp>
      <p:sp>
        <p:nvSpPr>
          <p:cNvPr id="12" name="Text 7"/>
          <p:cNvSpPr txBox="1"/>
          <p:nvPr/>
        </p:nvSpPr>
        <p:spPr>
          <a:xfrm>
            <a:off x="8503920" y="2167128"/>
            <a:ext cx="2926080" cy="548640"/>
          </a:xfrm>
          <a:prstGeom prst="rect">
            <a:avLst/>
          </a:prstGeom>
          <a:noFill/>
          <a:ln/>
        </p:spPr>
        <p:txBody>
          <a:bodyPr wrap="square" lIns="0" tIns="0" rIns="0" bIns="0" rtlCol="0" anchor="t"/>
          <a:lstStyle/>
          <a:p>
            <a:pPr indent="0" marL="0">
              <a:buNone/>
            </a:pPr>
            <a:r>
              <a:rPr lang="en-US" sz="1400" b="1" dirty="0">
                <a:solidFill>
                  <a:srgbClr val="C45A0C"/>
                </a:solidFill>
                <a:latin typeface="Calibri" pitchFamily="34" charset="0"/>
                <a:ea typeface="Calibri" pitchFamily="34" charset="-122"/>
                <a:cs typeface="Calibri" pitchFamily="34" charset="-120"/>
              </a:rPr>
              <a:t>Read the colours as in the introduction</a:t>
            </a:r>
            <a:endParaRPr lang="en-US" sz="1400" dirty="0"/>
          </a:p>
        </p:txBody>
      </p:sp>
      <p:sp>
        <p:nvSpPr>
          <p:cNvPr id="13" name="Text 8"/>
          <p:cNvSpPr txBox="1"/>
          <p:nvPr/>
        </p:nvSpPr>
        <p:spPr>
          <a:xfrm>
            <a:off x="8503920" y="2788920"/>
            <a:ext cx="2971800" cy="329184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Blue A</a:t>
            </a:r>
            <a:r>
              <a:rPr lang="en-US" sz="1350" baseline="30000" dirty="0">
                <a:solidFill>
                  <a:srgbClr val="1F2937"/>
                </a:solidFill>
                <a:latin typeface="Calibri" pitchFamily="34" charset="0"/>
                <a:ea typeface="Calibri" pitchFamily="34" charset="-122"/>
                <a:cs typeface="Calibri" pitchFamily="34" charset="-120"/>
              </a:rPr>
              <a:t>I</a:t>
            </a:r>
            <a:r>
              <a:rPr lang="en-US" sz="1350" dirty="0">
                <a:solidFill>
                  <a:srgbClr val="1F2937"/>
                </a:solidFill>
                <a:latin typeface="Calibri" pitchFamily="34" charset="0"/>
                <a:ea typeface="Calibri" pitchFamily="34" charset="-122"/>
                <a:cs typeface="Calibri" pitchFamily="34" charset="-120"/>
              </a:rPr>
              <a:t>: R's rows only</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Light orange B</a:t>
            </a:r>
            <a:r>
              <a:rPr lang="en-US" sz="1350" baseline="30000" dirty="0">
                <a:solidFill>
                  <a:srgbClr val="1F2937"/>
                </a:solidFill>
                <a:latin typeface="Calibri" pitchFamily="34" charset="0"/>
                <a:ea typeface="Calibri" pitchFamily="34" charset="-122"/>
                <a:cs typeface="Calibri" pitchFamily="34" charset="-120"/>
              </a:rPr>
              <a:t>I</a:t>
            </a:r>
            <a:r>
              <a:rPr lang="en-US" sz="1350" dirty="0">
                <a:solidFill>
                  <a:srgbClr val="1F2937"/>
                </a:solidFill>
                <a:latin typeface="Calibri" pitchFamily="34" charset="0"/>
                <a:ea typeface="Calibri" pitchFamily="34" charset="-122"/>
                <a:cs typeface="Calibri" pitchFamily="34" charset="-120"/>
              </a:rPr>
              <a:t>, c</a:t>
            </a:r>
            <a:r>
              <a:rPr lang="en-US" sz="1350" baseline="-25000" dirty="0">
                <a:solidFill>
                  <a:srgbClr val="1F2937"/>
                </a:solidFill>
                <a:latin typeface="Calibri" pitchFamily="34" charset="0"/>
                <a:ea typeface="Calibri" pitchFamily="34" charset="-122"/>
                <a:cs typeface="Calibri" pitchFamily="34" charset="-120"/>
              </a:rPr>
              <a:t>O</a:t>
            </a:r>
            <a:r>
              <a:rPr lang="en-US" sz="1350" baseline="30000" dirty="0">
                <a:solidFill>
                  <a:srgbClr val="1F2937"/>
                </a:solidFill>
                <a:latin typeface="Calibri" pitchFamily="34" charset="0"/>
                <a:ea typeface="Calibri" pitchFamily="34" charset="-122"/>
                <a:cs typeface="Calibri" pitchFamily="34" charset="-120"/>
              </a:rPr>
              <a:t>I</a:t>
            </a:r>
            <a:r>
              <a:rPr lang="en-US" sz="1350" dirty="0">
                <a:solidFill>
                  <a:srgbClr val="1F2937"/>
                </a:solidFill>
                <a:latin typeface="Calibri" pitchFamily="34" charset="0"/>
                <a:ea typeface="Calibri" pitchFamily="34" charset="-122"/>
                <a:cs typeface="Calibri" pitchFamily="34" charset="-120"/>
              </a:rPr>
              <a:t>: O's matched rows</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Orange C</a:t>
            </a:r>
            <a:r>
              <a:rPr lang="en-US" sz="1350" baseline="30000" dirty="0">
                <a:solidFill>
                  <a:srgbClr val="1F2937"/>
                </a:solidFill>
                <a:latin typeface="Calibri" pitchFamily="34" charset="0"/>
                <a:ea typeface="Calibri" pitchFamily="34" charset="-122"/>
                <a:cs typeface="Calibri" pitchFamily="34" charset="-120"/>
              </a:rPr>
              <a:t>I</a:t>
            </a:r>
            <a:r>
              <a:rPr lang="en-US" sz="1350" dirty="0">
                <a:solidFill>
                  <a:srgbClr val="1F2937"/>
                </a:solidFill>
                <a:latin typeface="Calibri" pitchFamily="34" charset="0"/>
                <a:ea typeface="Calibri" pitchFamily="34" charset="-122"/>
                <a:cs typeface="Calibri" pitchFamily="34" charset="-120"/>
              </a:rPr>
              <a:t>, c</a:t>
            </a:r>
            <a:r>
              <a:rPr lang="en-US" sz="1350" baseline="-25000" dirty="0">
                <a:solidFill>
                  <a:srgbClr val="1F2937"/>
                </a:solidFill>
                <a:latin typeface="Calibri" pitchFamily="34" charset="0"/>
                <a:ea typeface="Calibri" pitchFamily="34" charset="-122"/>
                <a:cs typeface="Calibri" pitchFamily="34" charset="-120"/>
              </a:rPr>
              <a:t>R</a:t>
            </a:r>
            <a:r>
              <a:rPr lang="en-US" sz="1350" baseline="30000" dirty="0">
                <a:solidFill>
                  <a:srgbClr val="1F2937"/>
                </a:solidFill>
                <a:latin typeface="Calibri" pitchFamily="34" charset="0"/>
                <a:ea typeface="Calibri" pitchFamily="34" charset="-122"/>
                <a:cs typeface="Calibri" pitchFamily="34" charset="-120"/>
              </a:rPr>
              <a:t>I</a:t>
            </a:r>
            <a:r>
              <a:rPr lang="en-US" sz="1350" dirty="0">
                <a:solidFill>
                  <a:srgbClr val="1F2937"/>
                </a:solidFill>
                <a:latin typeface="Calibri" pitchFamily="34" charset="0"/>
                <a:ea typeface="Calibri" pitchFamily="34" charset="-122"/>
                <a:cs typeface="Calibri" pitchFamily="34" charset="-120"/>
              </a:rPr>
              <a:t>: pairs R's row i with O's row π(i)</a:t>
            </a:r>
            <a:endParaRPr lang="en-US" sz="1350" dirty="0"/>
          </a:p>
          <a:p>
            <a:pPr marL="342900" indent="-342900">
              <a:spcAft>
                <a:spcPts val="600"/>
              </a:spcAft>
              <a:buSzPct val="100000"/>
              <a:buChar char="•"/>
            </a:pPr>
            <a:r>
              <a:rPr lang="en-US" sz="1350" b="1" dirty="0">
                <a:solidFill>
                  <a:srgbClr val="1F2937"/>
                </a:solidFill>
                <a:latin typeface="Calibri" pitchFamily="34" charset="0"/>
                <a:ea typeface="Calibri" pitchFamily="34" charset="-122"/>
                <a:cs typeface="Calibri" pitchFamily="34" charset="-120"/>
              </a:rPr>
              <a:t>G has rank 2 &lt; 5: with two people, least squares has no unique solution. The ridge will matter.</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0: setup</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Everything that sets the noise is public and fixed before any data are touched</a:t>
            </a:r>
            <a:endParaRPr lang="en-US" sz="1600" dirty="0"/>
          </a:p>
        </p:txBody>
      </p:sp>
      <p:sp>
        <p:nvSpPr>
          <p:cNvPr id="4" name="Shape 2"/>
          <p:cNvSpPr/>
          <p:nvPr/>
        </p:nvSpPr>
        <p:spPr>
          <a:xfrm>
            <a:off x="9784080" y="411480"/>
            <a:ext cx="1828800" cy="292608"/>
          </a:xfrm>
          <a:prstGeom prst="roundRect">
            <a:avLst>
              <a:gd name="adj" fmla="val 25000"/>
            </a:avLst>
          </a:prstGeom>
          <a:solidFill>
            <a:srgbClr val="3D5A80"/>
          </a:solidFill>
          <a:ln w="12700">
            <a:solidFill>
              <a:srgbClr val="3D5A80"/>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0 · R + O</a:t>
            </a:r>
            <a:endParaRPr lang="en-US" sz="1100" dirty="0"/>
          </a:p>
        </p:txBody>
      </p:sp>
      <p:sp>
        <p:nvSpPr>
          <p:cNvPr id="6" name="Shape 4"/>
          <p:cNvSpPr/>
          <p:nvPr/>
        </p:nvSpPr>
        <p:spPr>
          <a:xfrm>
            <a:off x="548640" y="1600200"/>
            <a:ext cx="4572000" cy="4572000"/>
          </a:xfrm>
          <a:prstGeom prst="roundRect">
            <a:avLst>
              <a:gd name="adj" fmla="val 1600"/>
            </a:avLst>
          </a:prstGeom>
          <a:solidFill>
            <a:srgbClr val="EEF2F7"/>
          </a:solidFill>
          <a:ln w="12700">
            <a:solidFill>
              <a:srgbClr val="EEF2F7"/>
            </a:solidFill>
            <a:prstDash val="solid"/>
          </a:ln>
        </p:spPr>
      </p:sp>
      <p:sp>
        <p:nvSpPr>
          <p:cNvPr id="7" name="Text 5"/>
          <p:cNvSpPr txBox="1"/>
          <p:nvPr/>
        </p:nvSpPr>
        <p:spPr>
          <a:xfrm>
            <a:off x="777240" y="1737360"/>
            <a:ext cx="411480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Agreed in public</a:t>
            </a:r>
            <a:endParaRPr lang="en-US" sz="1800" dirty="0"/>
          </a:p>
        </p:txBody>
      </p:sp>
      <p:sp>
        <p:nvSpPr>
          <p:cNvPr id="8" name="Text 6"/>
          <p:cNvSpPr txBox="1"/>
          <p:nvPr/>
        </p:nvSpPr>
        <p:spPr>
          <a:xfrm>
            <a:off x="777240" y="2240280"/>
            <a:ext cx="4160520" cy="38404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Caps: R pads its identifiers to n</a:t>
            </a:r>
            <a:r>
              <a:rPr lang="en-US" sz="1450" baseline="-25000" dirty="0">
                <a:solidFill>
                  <a:srgbClr val="1F2937"/>
                </a:solidFill>
                <a:latin typeface="Calibri" pitchFamily="34" charset="0"/>
                <a:ea typeface="Calibri" pitchFamily="34" charset="-122"/>
                <a:cs typeface="Calibri" pitchFamily="34" charset="-120"/>
              </a:rPr>
              <a:t>R</a:t>
            </a:r>
            <a:r>
              <a:rPr lang="en-US" sz="1450" baseline="30000" dirty="0">
                <a:solidFill>
                  <a:srgbClr val="1F2937"/>
                </a:solidFill>
                <a:latin typeface="Calibri" pitchFamily="34" charset="0"/>
                <a:ea typeface="Calibri" pitchFamily="34" charset="-122"/>
                <a:cs typeface="Calibri" pitchFamily="34" charset="-120"/>
              </a:rPr>
              <a:t>max</a:t>
            </a:r>
            <a:r>
              <a:rPr lang="en-US" sz="1450" dirty="0">
                <a:solidFill>
                  <a:srgbClr val="1F2937"/>
                </a:solidFill>
                <a:latin typeface="Calibri" pitchFamily="34" charset="0"/>
                <a:ea typeface="Calibri" pitchFamily="34" charset="-122"/>
                <a:cs typeface="Calibri" pitchFamily="34" charset="-120"/>
              </a:rPr>
              <a:t> = 4; O pads its register to n̄</a:t>
            </a:r>
            <a:r>
              <a:rPr lang="en-US" sz="1450" baseline="-25000" dirty="0">
                <a:solidFill>
                  <a:srgbClr val="1F2937"/>
                </a:solidFill>
                <a:latin typeface="Calibri" pitchFamily="34" charset="0"/>
                <a:ea typeface="Calibri" pitchFamily="34" charset="-122"/>
                <a:cs typeface="Calibri" pitchFamily="34" charset="-120"/>
              </a:rPr>
              <a:t>O</a:t>
            </a:r>
            <a:r>
              <a:rPr lang="en-US" sz="1450" dirty="0">
                <a:solidFill>
                  <a:srgbClr val="1F2937"/>
                </a:solidFill>
                <a:latin typeface="Calibri" pitchFamily="34" charset="0"/>
                <a:ea typeface="Calibri" pitchFamily="34" charset="-122"/>
                <a:cs typeface="Calibri" pitchFamily="34" charset="-120"/>
              </a:rPr>
              <a:t> = 6</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Bounds: every value in [−1, 1], so B</a:t>
            </a:r>
            <a:r>
              <a:rPr lang="en-US" sz="1450" baseline="-25000" dirty="0">
                <a:solidFill>
                  <a:srgbClr val="1F2937"/>
                </a:solidFill>
                <a:latin typeface="Calibri" pitchFamily="34" charset="0"/>
                <a:ea typeface="Calibri" pitchFamily="34" charset="-122"/>
                <a:cs typeface="Calibri" pitchFamily="34" charset="-120"/>
              </a:rPr>
              <a:t>R</a:t>
            </a:r>
            <a:r>
              <a:rPr lang="en-US" sz="1450" dirty="0">
                <a:solidFill>
                  <a:srgbClr val="1F2937"/>
                </a:solidFill>
                <a:latin typeface="Calibri" pitchFamily="34" charset="0"/>
                <a:ea typeface="Calibri" pitchFamily="34" charset="-122"/>
                <a:cs typeface="Calibri" pitchFamily="34" charset="-120"/>
              </a:rPr>
              <a:t> = √3 (two features and the intercept), B</a:t>
            </a:r>
            <a:r>
              <a:rPr lang="en-US" sz="1450" baseline="-25000" dirty="0">
                <a:solidFill>
                  <a:srgbClr val="1F2937"/>
                </a:solidFill>
                <a:latin typeface="Calibri" pitchFamily="34" charset="0"/>
                <a:ea typeface="Calibri" pitchFamily="34" charset="-122"/>
                <a:cs typeface="Calibri" pitchFamily="34" charset="-120"/>
              </a:rPr>
              <a:t>O</a:t>
            </a:r>
            <a:r>
              <a:rPr lang="en-US" sz="1450" dirty="0">
                <a:solidFill>
                  <a:srgbClr val="1F2937"/>
                </a:solidFill>
                <a:latin typeface="Calibri" pitchFamily="34" charset="0"/>
                <a:ea typeface="Calibri" pitchFamily="34" charset="-122"/>
                <a:cs typeface="Calibri" pitchFamily="34" charset="-120"/>
              </a:rPr>
              <a:t> = √2, B</a:t>
            </a:r>
            <a:r>
              <a:rPr lang="en-US" sz="1450" baseline="-25000" dirty="0">
                <a:solidFill>
                  <a:srgbClr val="1F2937"/>
                </a:solidFill>
                <a:latin typeface="Calibri" pitchFamily="34" charset="0"/>
                <a:ea typeface="Calibri" pitchFamily="34" charset="-122"/>
                <a:cs typeface="Calibri" pitchFamily="34" charset="-120"/>
              </a:rPr>
              <a:t>y</a:t>
            </a:r>
            <a:r>
              <a:rPr lang="en-US" sz="1450" dirty="0">
                <a:solidFill>
                  <a:srgbClr val="1F2937"/>
                </a:solidFill>
                <a:latin typeface="Calibri" pitchFamily="34" charset="0"/>
                <a:ea typeface="Calibri" pitchFamily="34" charset="-122"/>
                <a:cs typeface="Calibri" pitchFamily="34" charset="-120"/>
              </a:rPr>
              <a:t> = 1</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Budget ε = 1, δ = 10</a:t>
            </a:r>
            <a:r>
              <a:rPr lang="en-US" sz="1450" baseline="30000" dirty="0">
                <a:solidFill>
                  <a:srgbClr val="1F2937"/>
                </a:solidFill>
                <a:latin typeface="Calibri" pitchFamily="34" charset="0"/>
                <a:ea typeface="Calibri" pitchFamily="34" charset="-122"/>
                <a:cs typeface="Calibri" pitchFamily="34" charset="-120"/>
              </a:rPr>
              <a:t>−9</a:t>
            </a:r>
            <a:r>
              <a:rPr lang="en-US" sz="1450" dirty="0">
                <a:solidFill>
                  <a:srgbClr val="1F2937"/>
                </a:solidFill>
                <a:latin typeface="Calibri" pitchFamily="34" charset="0"/>
                <a:ea typeface="Calibri" pitchFamily="34" charset="-122"/>
                <a:cs typeface="Calibri" pitchFamily="34" charset="-120"/>
              </a:rPr>
              <a:t>; stage-1 share f</a:t>
            </a:r>
            <a:r>
              <a:rPr lang="en-US" sz="1450" baseline="-25000" dirty="0">
                <a:solidFill>
                  <a:srgbClr val="1F2937"/>
                </a:solidFill>
                <a:latin typeface="Calibri" pitchFamily="34" charset="0"/>
                <a:ea typeface="Calibri" pitchFamily="34" charset="-122"/>
                <a:cs typeface="Calibri" pitchFamily="34" charset="-120"/>
              </a:rPr>
              <a:t>1</a:t>
            </a:r>
            <a:r>
              <a:rPr lang="en-US" sz="1450" dirty="0">
                <a:solidFill>
                  <a:srgbClr val="1F2937"/>
                </a:solidFill>
                <a:latin typeface="Calibri" pitchFamily="34" charset="0"/>
                <a:ea typeface="Calibri" pitchFamily="34" charset="-122"/>
                <a:cs typeface="Calibri" pitchFamily="34" charset="-120"/>
              </a:rPr>
              <a:t> = 0.1; target ϑ</a:t>
            </a:r>
            <a:r>
              <a:rPr lang="en-US" sz="1450" baseline="30000" dirty="0">
                <a:solidFill>
                  <a:srgbClr val="1F2937"/>
                </a:solidFill>
                <a:latin typeface="Calibri" pitchFamily="34" charset="0"/>
                <a:ea typeface="Calibri" pitchFamily="34" charset="-122"/>
                <a:cs typeface="Calibri" pitchFamily="34" charset="-120"/>
              </a:rPr>
              <a:t>*</a:t>
            </a:r>
            <a:r>
              <a:rPr lang="en-US" sz="1450" dirty="0">
                <a:solidFill>
                  <a:srgbClr val="1F2937"/>
                </a:solidFill>
                <a:latin typeface="Calibri" pitchFamily="34" charset="0"/>
                <a:ea typeface="Calibri" pitchFamily="34" charset="-122"/>
                <a:cs typeface="Calibri" pitchFamily="34" charset="-120"/>
              </a:rPr>
              <a:t> = 2.5; α = 0.05</a:t>
            </a:r>
            <a:endParaRPr lang="en-US" sz="1450" dirty="0"/>
          </a:p>
          <a:p>
            <a:pPr marL="342900" indent="-342900">
              <a:spcAft>
                <a:spcPts val="600"/>
              </a:spcAft>
              <a:buSzPct val="100000"/>
              <a:buChar char="•"/>
            </a:pPr>
            <a:r>
              <a:rPr lang="en-US" sz="1450" dirty="0">
                <a:solidFill>
                  <a:srgbClr val="1F2937"/>
                </a:solidFill>
                <a:latin typeface="Calibri" pitchFamily="34" charset="0"/>
                <a:ea typeface="Calibri" pitchFamily="34" charset="-122"/>
                <a:cs typeface="Calibri" pitchFamily="34" charset="-120"/>
              </a:rPr>
              <a:t>Split key: s = s</a:t>
            </a:r>
            <a:r>
              <a:rPr lang="en-US" sz="1450" baseline="-25000" dirty="0">
                <a:solidFill>
                  <a:srgbClr val="1F2937"/>
                </a:solidFill>
                <a:latin typeface="Calibri" pitchFamily="34" charset="0"/>
                <a:ea typeface="Calibri" pitchFamily="34" charset="-122"/>
                <a:cs typeface="Calibri" pitchFamily="34" charset="-120"/>
              </a:rPr>
              <a:t>R</a:t>
            </a:r>
            <a:r>
              <a:rPr lang="en-US" sz="1450" dirty="0">
                <a:solidFill>
                  <a:srgbClr val="1F2937"/>
                </a:solidFill>
                <a:latin typeface="Calibri" pitchFamily="34" charset="0"/>
                <a:ea typeface="Calibri" pitchFamily="34" charset="-122"/>
                <a:cs typeface="Calibri" pitchFamily="34" charset="-120"/>
              </a:rPr>
              <a:t> + s</a:t>
            </a:r>
            <a:r>
              <a:rPr lang="en-US" sz="1450" baseline="-25000" dirty="0">
                <a:solidFill>
                  <a:srgbClr val="1F2937"/>
                </a:solidFill>
                <a:latin typeface="Calibri" pitchFamily="34" charset="0"/>
                <a:ea typeface="Calibri" pitchFamily="34" charset="-122"/>
                <a:cs typeface="Calibri" pitchFamily="34" charset="-120"/>
              </a:rPr>
              <a:t>O</a:t>
            </a:r>
            <a:r>
              <a:rPr lang="en-US" sz="1450" dirty="0">
                <a:solidFill>
                  <a:srgbClr val="1F2937"/>
                </a:solidFill>
                <a:latin typeface="Calibri" pitchFamily="34" charset="0"/>
                <a:ea typeface="Calibri" pitchFamily="34" charset="-122"/>
                <a:cs typeface="Calibri" pitchFamily="34" charset="-120"/>
              </a:rPr>
              <a:t>, neither share known to the other party</a:t>
            </a:r>
            <a:endParaRPr lang="en-US" sz="1450" dirty="0"/>
          </a:p>
        </p:txBody>
      </p:sp>
      <p:sp>
        <p:nvSpPr>
          <p:cNvPr id="9" name="Shape 7"/>
          <p:cNvSpPr/>
          <p:nvPr/>
        </p:nvSpPr>
        <p:spPr>
          <a:xfrm>
            <a:off x="5349240" y="1600200"/>
            <a:ext cx="6263640" cy="3063240"/>
          </a:xfrm>
          <a:prstGeom prst="roundRect">
            <a:avLst>
              <a:gd name="adj" fmla="val 2388"/>
            </a:avLst>
          </a:prstGeom>
          <a:solidFill>
            <a:srgbClr val="F6E3D6"/>
          </a:solidFill>
          <a:ln w="12700">
            <a:solidFill>
              <a:srgbClr val="F6E3D6"/>
            </a:solidFill>
            <a:prstDash val="solid"/>
          </a:ln>
        </p:spPr>
      </p:sp>
      <p:sp>
        <p:nvSpPr>
          <p:cNvPr id="10" name="Text 8"/>
          <p:cNvSpPr txBox="1"/>
          <p:nvPr/>
        </p:nvSpPr>
        <p:spPr>
          <a:xfrm>
            <a:off x="5577840" y="1737360"/>
            <a:ext cx="5760720" cy="411480"/>
          </a:xfrm>
          <a:prstGeom prst="rect">
            <a:avLst/>
          </a:prstGeom>
          <a:noFill/>
          <a:ln/>
        </p:spPr>
        <p:txBody>
          <a:bodyPr wrap="square" lIns="0" tIns="0" rIns="0" bIns="0" rtlCol="0" anchor="t"/>
          <a:lstStyle/>
          <a:p>
            <a:pPr indent="0" marL="0">
              <a:buNone/>
            </a:pPr>
            <a:r>
              <a:rPr lang="en-US" sz="1800" b="1" dirty="0">
                <a:solidFill>
                  <a:srgbClr val="14213D"/>
                </a:solidFill>
                <a:latin typeface="Cambria" pitchFamily="34" charset="0"/>
                <a:ea typeface="Cambria" pitchFamily="34" charset="-122"/>
                <a:cs typeface="Cambria" pitchFamily="34" charset="-120"/>
              </a:rPr>
              <a:t>Derived by O</a:t>
            </a:r>
            <a:endParaRPr lang="en-US" sz="1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577840" y="2240280"/>
          <a:ext cx="9144000" cy="914400"/>
        </p:xfrm>
        <a:graphic>
          <a:graphicData uri="http://schemas.openxmlformats.org/drawingml/2006/table">
            <a:tbl>
              <a:tblPr/>
              <a:tblGrid>
                <a:gridCol w="1508760"/>
                <a:gridCol w="3154680"/>
                <a:gridCol w="1143000"/>
              </a:tblGrid>
              <a:tr h="38404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Sensitivity</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(2·2 + 3 + 1)</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/2 + 2·3·1 = 38</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 = 6.16</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Stage 1 only (B, C)</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a:t>
                      </a:r>
                      <a:r>
                        <a:rPr lang="en-US" sz="1250" baseline="-25000" dirty="0">
                          <a:solidFill>
                            <a:srgbClr val="1F2937"/>
                          </a:solidFill>
                          <a:latin typeface="Calibri" pitchFamily="34" charset="0"/>
                          <a:ea typeface="Calibri" pitchFamily="34" charset="-122"/>
                          <a:cs typeface="Calibri" pitchFamily="34" charset="-120"/>
                        </a:rPr>
                        <a:t>G</a:t>
                      </a:r>
                      <a:r>
                        <a:rPr lang="en-US" sz="1250" dirty="0">
                          <a:solidFill>
                            <a:srgbClr val="1F2937"/>
                          </a:solidFill>
                          <a:latin typeface="Calibri" pitchFamily="34" charset="0"/>
                          <a:ea typeface="Calibri" pitchFamily="34" charset="-122"/>
                          <a:cs typeface="Calibri" pitchFamily="34" charset="-120"/>
                        </a:rPr>
                        <a:t> = (2·2 + 3)/√2</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a:t>
                      </a:r>
                      <a:r>
                        <a:rPr lang="en-US" sz="1250" baseline="-25000" dirty="0">
                          <a:solidFill>
                            <a:srgbClr val="1F2937"/>
                          </a:solidFill>
                          <a:latin typeface="Calibri" pitchFamily="34" charset="0"/>
                          <a:ea typeface="Calibri" pitchFamily="34" charset="-122"/>
                          <a:cs typeface="Calibri" pitchFamily="34" charset="-120"/>
                        </a:rPr>
                        <a:t>G</a:t>
                      </a:r>
                      <a:r>
                        <a:rPr lang="en-US" sz="1250" dirty="0">
                          <a:solidFill>
                            <a:srgbClr val="1F2937"/>
                          </a:solidFill>
                          <a:latin typeface="Calibri" pitchFamily="34" charset="0"/>
                          <a:ea typeface="Calibri" pitchFamily="34" charset="-122"/>
                          <a:cs typeface="Calibri" pitchFamily="34" charset="-120"/>
                        </a:rPr>
                        <a:t> = 4.95</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Budget</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tight zCDP conversion of (1, 10</a:t>
                      </a:r>
                      <a:r>
                        <a:rPr lang="en-US" sz="1250" baseline="30000" dirty="0">
                          <a:solidFill>
                            <a:srgbClr val="1F2937"/>
                          </a:solidFill>
                          <a:latin typeface="Calibri" pitchFamily="34" charset="0"/>
                          <a:ea typeface="Calibri" pitchFamily="34" charset="-122"/>
                          <a:cs typeface="Calibri" pitchFamily="34" charset="-120"/>
                        </a:rPr>
                        <a:t>−9</a:t>
                      </a: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ρ</a:t>
                      </a:r>
                      <a:r>
                        <a:rPr lang="en-US" sz="1250" baseline="-25000" dirty="0">
                          <a:solidFill>
                            <a:srgbClr val="1F2937"/>
                          </a:solidFill>
                          <a:latin typeface="Calibri" pitchFamily="34" charset="0"/>
                          <a:ea typeface="Calibri" pitchFamily="34" charset="-122"/>
                          <a:cs typeface="Calibri" pitchFamily="34" charset="-120"/>
                        </a:rPr>
                        <a:t>run</a:t>
                      </a:r>
                      <a:r>
                        <a:rPr lang="en-US" sz="1250" dirty="0">
                          <a:solidFill>
                            <a:srgbClr val="1F2937"/>
                          </a:solidFill>
                          <a:latin typeface="Calibri" pitchFamily="34" charset="0"/>
                          <a:ea typeface="Calibri" pitchFamily="34" charset="-122"/>
                          <a:cs typeface="Calibri" pitchFamily="34" charset="-120"/>
                        </a:rPr>
                        <a:t> = 0.0150</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Stage-1 noise</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a:t>
                      </a:r>
                      <a:r>
                        <a:rPr lang="en-US" sz="1250" baseline="-25000" dirty="0">
                          <a:solidFill>
                            <a:srgbClr val="1F2937"/>
                          </a:solidFill>
                          <a:latin typeface="Calibri" pitchFamily="34" charset="0"/>
                          <a:ea typeface="Calibri" pitchFamily="34" charset="-122"/>
                          <a:cs typeface="Calibri" pitchFamily="34" charset="-120"/>
                        </a:rPr>
                        <a:t>G</a:t>
                      </a:r>
                      <a:r>
                        <a:rPr lang="en-US" sz="1250" dirty="0">
                          <a:solidFill>
                            <a:srgbClr val="1F2937"/>
                          </a:solidFill>
                          <a:latin typeface="Calibri" pitchFamily="34" charset="0"/>
                          <a:ea typeface="Calibri" pitchFamily="34" charset="-122"/>
                          <a:cs typeface="Calibri" pitchFamily="34" charset="-120"/>
                        </a:rPr>
                        <a:t> / √(2 · 0.1 · ρ</a:t>
                      </a:r>
                      <a:r>
                        <a:rPr lang="en-US" sz="1250" baseline="-25000" dirty="0">
                          <a:solidFill>
                            <a:srgbClr val="1F2937"/>
                          </a:solidFill>
                          <a:latin typeface="Calibri" pitchFamily="34" charset="0"/>
                          <a:ea typeface="Calibri" pitchFamily="34" charset="-122"/>
                          <a:cs typeface="Calibri" pitchFamily="34" charset="-120"/>
                        </a:rPr>
                        <a:t>run</a:t>
                      </a: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σ</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 = 90.5</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Stage-2 noise</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Δ / √(2 · 0.9 · ρ</a:t>
                      </a:r>
                      <a:r>
                        <a:rPr lang="en-US" sz="1250" baseline="-25000" dirty="0">
                          <a:solidFill>
                            <a:srgbClr val="1F2937"/>
                          </a:solidFill>
                          <a:latin typeface="Calibri" pitchFamily="34" charset="0"/>
                          <a:ea typeface="Calibri" pitchFamily="34" charset="-122"/>
                          <a:cs typeface="Calibri" pitchFamily="34" charset="-120"/>
                        </a:rPr>
                        <a:t>run</a:t>
                      </a:r>
                      <a:r>
                        <a:rPr lang="en-US" sz="1250" dirty="0">
                          <a:solidFill>
                            <a:srgbClr val="1F2937"/>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250" dirty="0">
                          <a:solidFill>
                            <a:srgbClr val="1F2937"/>
                          </a:solidFill>
                          <a:latin typeface="Calibri" pitchFamily="34" charset="0"/>
                          <a:ea typeface="Calibri" pitchFamily="34" charset="-122"/>
                          <a:cs typeface="Calibri" pitchFamily="34" charset="-120"/>
                        </a:rPr>
                        <a:t>σ</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 37.5</a:t>
                      </a:r>
                      <a:endParaRPr lang="en-US" sz="12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12" name="Shape 9"/>
          <p:cNvSpPr/>
          <p:nvPr/>
        </p:nvSpPr>
        <p:spPr>
          <a:xfrm>
            <a:off x="5349240" y="4892040"/>
            <a:ext cx="6263640" cy="1280160"/>
          </a:xfrm>
          <a:prstGeom prst="roundRect">
            <a:avLst>
              <a:gd name="adj" fmla="val 5714"/>
            </a:avLst>
          </a:prstGeom>
          <a:solidFill>
            <a:srgbClr val="F7F9FC"/>
          </a:solidFill>
          <a:ln w="12700">
            <a:solidFill>
              <a:srgbClr val="F7F9FC"/>
            </a:solidFill>
            <a:prstDash val="solid"/>
          </a:ln>
        </p:spPr>
      </p:sp>
      <p:sp>
        <p:nvSpPr>
          <p:cNvPr id="13" name="Text 10"/>
          <p:cNvSpPr txBox="1"/>
          <p:nvPr/>
        </p:nvSpPr>
        <p:spPr>
          <a:xfrm>
            <a:off x="5577840" y="4983480"/>
            <a:ext cx="5852160" cy="1097280"/>
          </a:xfrm>
          <a:prstGeom prst="rect">
            <a:avLst/>
          </a:prstGeom>
          <a:noFill/>
          <a:ln/>
        </p:spPr>
        <p:txBody>
          <a:bodyPr wrap="square" lIns="0" tIns="0" rIns="0" bIns="0" rtlCol="0" anchor="ctr"/>
          <a:lstStyle/>
          <a:p>
            <a:pPr indent="0" marL="0">
              <a:buNone/>
            </a:pPr>
            <a:r>
              <a:rPr lang="en-US" sz="1450" b="1" dirty="0">
                <a:solidFill>
                  <a:srgbClr val="C45A0C"/>
                </a:solidFill>
                <a:latin typeface="Calibri" pitchFamily="34" charset="0"/>
                <a:ea typeface="Calibri" pitchFamily="34" charset="-122"/>
                <a:cs typeface="Calibri" pitchFamily="34" charset="-120"/>
              </a:rPr>
              <a:t>Already visible: </a:t>
            </a:r>
            <a:r>
              <a:rPr lang="en-US" sz="1450" dirty="0">
                <a:solidFill>
                  <a:srgbClr val="1F2937"/>
                </a:solidFill>
                <a:latin typeface="Calibri" pitchFamily="34" charset="0"/>
                <a:ea typeface="Calibri" pitchFamily="34" charset="-122"/>
                <a:cs typeface="Calibri" pitchFamily="34" charset="-120"/>
              </a:rPr>
              <a:t>each released number will carry noise of about ±38, while the statistics are about 1. With two people, privacy must win.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1: link</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Labeled PSI: R learns which of its identifiers match, and where those rows sit in O's shuffled register</a:t>
            </a:r>
            <a:endParaRPr lang="en-US" sz="1600" dirty="0"/>
          </a:p>
        </p:txBody>
      </p:sp>
      <p:sp>
        <p:nvSpPr>
          <p:cNvPr id="4" name="Shape 2"/>
          <p:cNvSpPr/>
          <p:nvPr/>
        </p:nvSpPr>
        <p:spPr>
          <a:xfrm>
            <a:off x="9784080" y="411480"/>
            <a:ext cx="1828800" cy="292608"/>
          </a:xfrm>
          <a:prstGeom prst="roundRect">
            <a:avLst>
              <a:gd name="adj" fmla="val 25000"/>
            </a:avLst>
          </a:prstGeom>
          <a:solidFill>
            <a:srgbClr val="3D5A80"/>
          </a:solidFill>
          <a:ln w="12700">
            <a:solidFill>
              <a:srgbClr val="3D5A80"/>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 R + O</a:t>
            </a:r>
            <a:endParaRPr lang="en-US" sz="1100" dirty="0"/>
          </a:p>
        </p:txBody>
      </p:sp>
      <p:sp>
        <p:nvSpPr>
          <p:cNvPr id="6" name="Shape 4"/>
          <p:cNvSpPr/>
          <p:nvPr/>
        </p:nvSpPr>
        <p:spPr>
          <a:xfrm>
            <a:off x="548640" y="1600200"/>
            <a:ext cx="4206240" cy="3337560"/>
          </a:xfrm>
          <a:prstGeom prst="roundRect">
            <a:avLst>
              <a:gd name="adj" fmla="val 2192"/>
            </a:avLst>
          </a:prstGeom>
          <a:solidFill>
            <a:srgbClr val="E3EEFB"/>
          </a:solidFill>
          <a:ln w="12700">
            <a:solidFill>
              <a:srgbClr val="E3EEFB"/>
            </a:solidFill>
            <a:prstDash val="solid"/>
          </a:ln>
        </p:spPr>
      </p:sp>
      <p:sp>
        <p:nvSpPr>
          <p:cNvPr id="7" name="Text 5"/>
          <p:cNvSpPr txBox="1"/>
          <p:nvPr/>
        </p:nvSpPr>
        <p:spPr>
          <a:xfrm>
            <a:off x="777240" y="1719072"/>
            <a:ext cx="3840480" cy="365760"/>
          </a:xfrm>
          <a:prstGeom prst="rect">
            <a:avLst/>
          </a:prstGeom>
          <a:noFill/>
          <a:ln/>
        </p:spPr>
        <p:txBody>
          <a:bodyPr wrap="square" lIns="0" tIns="0" rIns="0" bIns="0" rtlCol="0" anchor="t"/>
          <a:lstStyle/>
          <a:p>
            <a:pPr indent="0" marL="0">
              <a:buNone/>
            </a:pPr>
            <a:r>
              <a:rPr lang="en-US" sz="1500" b="1" dirty="0">
                <a:solidFill>
                  <a:srgbClr val="2A78D6"/>
                </a:solidFill>
                <a:latin typeface="Calibri" pitchFamily="34" charset="0"/>
                <a:ea typeface="Calibri" pitchFamily="34" charset="-122"/>
                <a:cs typeface="Calibri" pitchFamily="34" charset="-120"/>
              </a:rPr>
              <a:t>R's padded identifiers</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2148840"/>
          <a:ext cx="9144000" cy="914400"/>
        </p:xfrm>
        <a:graphic>
          <a:graphicData uri="http://schemas.openxmlformats.org/drawingml/2006/table">
            <a:tbl>
              <a:tblPr/>
              <a:tblGrid>
                <a:gridCol w="1143000"/>
                <a:gridCol w="1005840"/>
                <a:gridCol w="169164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t>
                      </a:r>
                      <a:r>
                        <a:rPr lang="en-US" sz="1300" b="1" baseline="-25000" dirty="0">
                          <a:solidFill>
                            <a:srgbClr val="FFFFFF"/>
                          </a:solidFill>
                          <a:latin typeface="Calibri" pitchFamily="34" charset="0"/>
                          <a:ea typeface="Calibri" pitchFamily="34" charset="-122"/>
                          <a:cs typeface="Calibri" pitchFamily="34" charset="-120"/>
                        </a:rPr>
                        <a:t>k</a:t>
                      </a: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20938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b="1" dirty="0">
                          <a:solidFill>
                            <a:srgbClr val="2A78D6"/>
                          </a:solidFill>
                          <a:latin typeface="Calibri" pitchFamily="34" charset="0"/>
                          <a:ea typeface="Calibri" pitchFamily="34" charset="-122"/>
                          <a:cs typeface="Calibri" pitchFamily="34" charset="-120"/>
                        </a:rPr>
                        <a:t>match → position 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221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39362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b="1" dirty="0">
                          <a:solidFill>
                            <a:srgbClr val="2A78D6"/>
                          </a:solidFill>
                          <a:latin typeface="Calibri" pitchFamily="34" charset="0"/>
                          <a:ea typeface="Calibri" pitchFamily="34" charset="-122"/>
                          <a:cs typeface="Calibri" pitchFamily="34" charset="-120"/>
                        </a:rPr>
                        <a:t>match → position 3</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317</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12628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5B6576"/>
                          </a:solidFill>
                          <a:latin typeface="Calibri" pitchFamily="34" charset="0"/>
                          <a:ea typeface="Calibri" pitchFamily="34" charset="-122"/>
                          <a:cs typeface="Calibri" pitchFamily="34" charset="-120"/>
                        </a:rPr>
                        <a:t>no match</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9d1 (dummy)</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58249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5B6576"/>
                          </a:solidFill>
                          <a:latin typeface="Calibri" pitchFamily="34" charset="0"/>
                          <a:ea typeface="Calibri" pitchFamily="34" charset="-122"/>
                          <a:cs typeface="Calibri" pitchFamily="34" charset="-120"/>
                        </a:rPr>
                        <a:t>no match</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9" name="Shape 6"/>
          <p:cNvSpPr/>
          <p:nvPr/>
        </p:nvSpPr>
        <p:spPr>
          <a:xfrm>
            <a:off x="4983480" y="1600200"/>
            <a:ext cx="6629400" cy="3337560"/>
          </a:xfrm>
          <a:prstGeom prst="roundRect">
            <a:avLst>
              <a:gd name="adj" fmla="val 2192"/>
            </a:avLst>
          </a:prstGeom>
          <a:solidFill>
            <a:srgbClr val="F6E3D6"/>
          </a:solidFill>
          <a:ln w="12700">
            <a:solidFill>
              <a:srgbClr val="F6E3D6"/>
            </a:solidFill>
            <a:prstDash val="solid"/>
          </a:ln>
        </p:spPr>
      </p:sp>
      <p:sp>
        <p:nvSpPr>
          <p:cNvPr id="10" name="Text 7"/>
          <p:cNvSpPr txBox="1"/>
          <p:nvPr/>
        </p:nvSpPr>
        <p:spPr>
          <a:xfrm>
            <a:off x="5212080" y="1719072"/>
            <a:ext cx="621792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O's padded register, after its secret shuffle τ</a:t>
            </a:r>
            <a:endParaRPr lang="en-US" sz="15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212080" y="2148840"/>
          <a:ext cx="9144000" cy="914400"/>
        </p:xfrm>
        <a:graphic>
          <a:graphicData uri="http://schemas.openxmlformats.org/drawingml/2006/table">
            <a:tbl>
              <a:tblPr/>
              <a:tblGrid>
                <a:gridCol w="1280160"/>
                <a:gridCol w="1005840"/>
                <a:gridCol w="1188720"/>
                <a:gridCol w="2651760"/>
              </a:tblGrid>
              <a:tr h="36576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a:t>
                      </a:r>
                      <a:r>
                        <a:rPr lang="en-US" sz="1300" b="1" baseline="-25000" dirty="0">
                          <a:solidFill>
                            <a:srgbClr val="FFFFFF"/>
                          </a:solidFill>
                          <a:latin typeface="Calibri" pitchFamily="34" charset="0"/>
                          <a:ea typeface="Calibri" pitchFamily="34" charset="-122"/>
                          <a:cs typeface="Calibri" pitchFamily="34" charset="-120"/>
                        </a:rPr>
                        <a:t>k</a:t>
                      </a: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position τ</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note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40782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20938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35815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221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39362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399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52946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365760">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7e5 (dummy)</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35081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indent="0" marL="0">
                        <a:buNone/>
                      </a:pPr>
                      <a:r>
                        <a:rPr lang="en-US" sz="1300" dirty="0">
                          <a:solidFill>
                            <a:srgbClr val="5B6576"/>
                          </a:solidFill>
                          <a:latin typeface="Calibri" pitchFamily="34" charset="0"/>
                          <a:ea typeface="Calibri" pitchFamily="34" charset="-122"/>
                          <a:cs typeface="Calibri" pitchFamily="34" charset="-120"/>
                        </a:rPr>
                        <a:t>x</a:t>
                      </a:r>
                      <a:r>
                        <a:rPr lang="en-US" sz="1300" baseline="-25000" dirty="0">
                          <a:solidFill>
                            <a:srgbClr val="5B6576"/>
                          </a:solidFill>
                          <a:latin typeface="Calibri" pitchFamily="34" charset="0"/>
                          <a:ea typeface="Calibri" pitchFamily="34" charset="-122"/>
                          <a:cs typeface="Calibri" pitchFamily="34" charset="-120"/>
                        </a:rPr>
                        <a:t>O</a:t>
                      </a:r>
                      <a:r>
                        <a:rPr lang="en-US" sz="1300" dirty="0">
                          <a:solidFill>
                            <a:srgbClr val="5B6576"/>
                          </a:solidFill>
                          <a:latin typeface="Calibri" pitchFamily="34" charset="0"/>
                          <a:ea typeface="Calibri" pitchFamily="34" charset="-122"/>
                          <a:cs typeface="Calibri" pitchFamily="34" charset="-120"/>
                        </a:rPr>
                        <a:t> = 0, y = 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5166360"/>
            <a:ext cx="5486400" cy="1005840"/>
          </a:xfrm>
          <a:prstGeom prst="roundRect">
            <a:avLst>
              <a:gd name="adj" fmla="val 7273"/>
            </a:avLst>
          </a:prstGeom>
          <a:solidFill>
            <a:srgbClr val="E3EEFB"/>
          </a:solidFill>
          <a:ln w="12700">
            <a:solidFill>
              <a:srgbClr val="E3EEFB"/>
            </a:solidFill>
            <a:prstDash val="solid"/>
          </a:ln>
        </p:spPr>
      </p:sp>
      <p:sp>
        <p:nvSpPr>
          <p:cNvPr id="13" name="Text 9"/>
          <p:cNvSpPr txBox="1"/>
          <p:nvPr/>
        </p:nvSpPr>
        <p:spPr>
          <a:xfrm>
            <a:off x="777240" y="5230368"/>
            <a:ext cx="5120640" cy="868680"/>
          </a:xfrm>
          <a:prstGeom prst="rect">
            <a:avLst/>
          </a:prstGeom>
          <a:noFill/>
          <a:ln/>
        </p:spPr>
        <p:txBody>
          <a:bodyPr wrap="square" lIns="0" tIns="0" rIns="0" bIns="0" rtlCol="0" anchor="ctr"/>
          <a:lstStyle/>
          <a:p>
            <a:pPr indent="0" marL="0">
              <a:buNone/>
            </a:pPr>
            <a:r>
              <a:rPr lang="en-US" sz="1450" b="1" dirty="0">
                <a:solidFill>
                  <a:srgbClr val="2A78D6"/>
                </a:solidFill>
                <a:latin typeface="Calibri" pitchFamily="34" charset="0"/>
                <a:ea typeface="Calibri" pitchFamily="34" charset="-122"/>
                <a:cs typeface="Calibri" pitchFamily="34" charset="-120"/>
              </a:rPr>
              <a:t>R learns: </a:t>
            </a:r>
            <a:r>
              <a:rPr lang="en-US" sz="1450" dirty="0">
                <a:solidFill>
                  <a:srgbClr val="1F2937"/>
                </a:solidFill>
                <a:latin typeface="Calibri" pitchFamily="34" charset="0"/>
                <a:ea typeface="Calibri" pitchFamily="34" charset="-122"/>
                <a:cs typeface="Calibri" pitchFamily="34" charset="-120"/>
              </a:rPr>
              <a:t>π(104) = 6, π(221) = 3; 317 is not in the register.</a:t>
            </a:r>
            <a:endParaRPr lang="en-US" sz="1450" dirty="0"/>
          </a:p>
        </p:txBody>
      </p:sp>
      <p:sp>
        <p:nvSpPr>
          <p:cNvPr id="14" name="Shape 10"/>
          <p:cNvSpPr/>
          <p:nvPr/>
        </p:nvSpPr>
        <p:spPr>
          <a:xfrm>
            <a:off x="6172200" y="5166360"/>
            <a:ext cx="5440680" cy="1005840"/>
          </a:xfrm>
          <a:prstGeom prst="roundRect">
            <a:avLst>
              <a:gd name="adj" fmla="val 7273"/>
            </a:avLst>
          </a:prstGeom>
          <a:solidFill>
            <a:srgbClr val="F6E3D6"/>
          </a:solidFill>
          <a:ln w="12700">
            <a:solidFill>
              <a:srgbClr val="F6E3D6"/>
            </a:solidFill>
            <a:prstDash val="solid"/>
          </a:ln>
        </p:spPr>
      </p:sp>
      <p:sp>
        <p:nvSpPr>
          <p:cNvPr id="15" name="Text 11"/>
          <p:cNvSpPr txBox="1"/>
          <p:nvPr/>
        </p:nvSpPr>
        <p:spPr>
          <a:xfrm>
            <a:off x="6400800" y="5230368"/>
            <a:ext cx="5074920" cy="868680"/>
          </a:xfrm>
          <a:prstGeom prst="rect">
            <a:avLst/>
          </a:prstGeom>
          <a:noFill/>
          <a:ln/>
        </p:spPr>
        <p:txBody>
          <a:bodyPr wrap="square" lIns="0" tIns="0" rIns="0" bIns="0" rtlCol="0" anchor="ctr"/>
          <a:lstStyle/>
          <a:p>
            <a:pPr indent="0" marL="0">
              <a:buNone/>
            </a:pPr>
            <a:r>
              <a:rPr lang="en-US" sz="1450" b="1" dirty="0">
                <a:solidFill>
                  <a:srgbClr val="C45A0C"/>
                </a:solidFill>
                <a:latin typeface="Calibri" pitchFamily="34" charset="0"/>
                <a:ea typeface="Calibri" pitchFamily="34" charset="-122"/>
                <a:cs typeface="Calibri" pitchFamily="34" charset="-120"/>
              </a:rPr>
              <a:t>O learns: </a:t>
            </a:r>
            <a:r>
              <a:rPr lang="en-US" sz="1450" dirty="0">
                <a:solidFill>
                  <a:srgbClr val="1F2937"/>
                </a:solidFill>
                <a:latin typeface="Calibri" pitchFamily="34" charset="0"/>
                <a:ea typeface="Calibri" pitchFamily="34" charset="-122"/>
                <a:cs typeface="Calibri" pitchFamily="34" charset="-120"/>
              </a:rPr>
              <a:t>4 queries and its own 6 rows; not which matched, nor that R has 3 people.</a:t>
            </a:r>
            <a:endParaRPr lang="en-US" sz="1450" dirty="0"/>
          </a:p>
        </p:txBody>
      </p:sp>
      <p:sp>
        <p:nvSpPr>
          <p:cNvPr id="16" name="Text 12"/>
          <p:cNvSpPr txBox="1"/>
          <p:nvPr/>
        </p:nvSpPr>
        <p:spPr>
          <a:xfrm>
            <a:off x="548640" y="6400800"/>
            <a:ext cx="7315200" cy="27432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F</a:t>
            </a:r>
            <a:r>
              <a:rPr lang="en-US" sz="1100" i="1" baseline="-25000" dirty="0">
                <a:solidFill>
                  <a:srgbClr val="5B6576"/>
                </a:solidFill>
                <a:latin typeface="Calibri" pitchFamily="34" charset="0"/>
                <a:ea typeface="Calibri" pitchFamily="34" charset="-122"/>
                <a:cs typeface="Calibri" pitchFamily="34" charset="-120"/>
              </a:rPr>
              <a:t>k</a:t>
            </a:r>
            <a:r>
              <a:rPr lang="en-US" sz="1100" i="1" dirty="0">
                <a:solidFill>
                  <a:srgbClr val="5B6576"/>
                </a:solidFill>
                <a:latin typeface="Calibri" pitchFamily="34" charset="0"/>
                <a:ea typeface="Calibri" pitchFamily="34" charset="-122"/>
                <a:cs typeface="Calibri" pitchFamily="34" charset="-120"/>
              </a:rPr>
              <a:t>(id): O's keyed hash (OPRF), worked out with toy numbers on the next three slides.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1 by hand: the OPRF</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Toy group: squares mod p = 1019, of prime order q = 509; O's key k = 433; no security</a:t>
            </a:r>
            <a:endParaRPr lang="en-US" sz="1600" dirty="0"/>
          </a:p>
        </p:txBody>
      </p:sp>
      <p:sp>
        <p:nvSpPr>
          <p:cNvPr id="4" name="Shape 2"/>
          <p:cNvSpPr/>
          <p:nvPr/>
        </p:nvSpPr>
        <p:spPr>
          <a:xfrm>
            <a:off x="9784080" y="411480"/>
            <a:ext cx="1828800" cy="292608"/>
          </a:xfrm>
          <a:prstGeom prst="roundRect">
            <a:avLst>
              <a:gd name="adj" fmla="val 25000"/>
            </a:avLst>
          </a:prstGeom>
          <a:solidFill>
            <a:srgbClr val="3D5A80"/>
          </a:solidFill>
          <a:ln w="12700">
            <a:solidFill>
              <a:srgbClr val="3D5A80"/>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 R ↔ O</a:t>
            </a:r>
            <a:endParaRPr lang="en-US" sz="1100" dirty="0"/>
          </a:p>
        </p:txBody>
      </p:sp>
      <p:sp>
        <p:nvSpPr>
          <p:cNvPr id="6" name="Shape 4"/>
          <p:cNvSpPr/>
          <p:nvPr/>
        </p:nvSpPr>
        <p:spPr>
          <a:xfrm>
            <a:off x="548640" y="1600200"/>
            <a:ext cx="11064240" cy="685800"/>
          </a:xfrm>
          <a:prstGeom prst="roundRect">
            <a:avLst>
              <a:gd name="adj" fmla="val 10667"/>
            </a:avLst>
          </a:prstGeom>
          <a:solidFill>
            <a:srgbClr val="EEF2F7"/>
          </a:solidFill>
          <a:ln w="12700">
            <a:solidFill>
              <a:srgbClr val="EEF2F7"/>
            </a:solidFill>
            <a:prstDash val="solid"/>
          </a:ln>
        </p:spPr>
      </p:sp>
      <p:sp>
        <p:nvSpPr>
          <p:cNvPr id="7" name="Shape 5"/>
          <p:cNvSpPr/>
          <p:nvPr/>
        </p:nvSpPr>
        <p:spPr>
          <a:xfrm>
            <a:off x="731520" y="1755648"/>
            <a:ext cx="365760" cy="365760"/>
          </a:xfrm>
          <a:prstGeom prst="ellipse">
            <a:avLst/>
          </a:prstGeom>
          <a:solidFill>
            <a:srgbClr val="2A78D6"/>
          </a:solidFill>
          <a:ln w="12700">
            <a:solidFill>
              <a:srgbClr val="2A78D6"/>
            </a:solidFill>
            <a:prstDash val="solid"/>
          </a:ln>
        </p:spPr>
      </p:sp>
      <p:sp>
        <p:nvSpPr>
          <p:cNvPr id="8" name="Text 6"/>
          <p:cNvSpPr txBox="1"/>
          <p:nvPr/>
        </p:nvSpPr>
        <p:spPr>
          <a:xfrm>
            <a:off x="731520" y="17556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188720" y="1645920"/>
            <a:ext cx="3154680" cy="5943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 blinds: α = h</a:t>
            </a:r>
            <a:r>
              <a:rPr lang="en-US" sz="1300" baseline="30000" dirty="0">
                <a:solidFill>
                  <a:srgbClr val="1F2937"/>
                </a:solidFill>
                <a:latin typeface="Calibri" pitchFamily="34" charset="0"/>
                <a:ea typeface="Calibri" pitchFamily="34" charset="-122"/>
                <a:cs typeface="Calibri" pitchFamily="34" charset="-120"/>
              </a:rPr>
              <a:t>r</a:t>
            </a:r>
            <a:r>
              <a:rPr lang="en-US" sz="1300" dirty="0">
                <a:solidFill>
                  <a:srgbClr val="1F2937"/>
                </a:solidFill>
                <a:latin typeface="Calibri" pitchFamily="34" charset="0"/>
                <a:ea typeface="Calibri" pitchFamily="34" charset="-122"/>
                <a:cs typeface="Calibri" pitchFamily="34" charset="-120"/>
              </a:rPr>
              <a:t> mod p, with h = H</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(id), r random</a:t>
            </a:r>
            <a:endParaRPr lang="en-US" sz="1300" dirty="0"/>
          </a:p>
        </p:txBody>
      </p:sp>
      <p:sp>
        <p:nvSpPr>
          <p:cNvPr id="10" name="Shape 8"/>
          <p:cNvSpPr/>
          <p:nvPr/>
        </p:nvSpPr>
        <p:spPr>
          <a:xfrm>
            <a:off x="4389120" y="1755648"/>
            <a:ext cx="365760" cy="365760"/>
          </a:xfrm>
          <a:prstGeom prst="ellipse">
            <a:avLst/>
          </a:prstGeom>
          <a:solidFill>
            <a:srgbClr val="C45A0C"/>
          </a:solidFill>
          <a:ln w="12700">
            <a:solidFill>
              <a:srgbClr val="C45A0C"/>
            </a:solidFill>
            <a:prstDash val="solid"/>
          </a:ln>
        </p:spPr>
      </p:sp>
      <p:sp>
        <p:nvSpPr>
          <p:cNvPr id="11" name="Text 9"/>
          <p:cNvSpPr txBox="1"/>
          <p:nvPr/>
        </p:nvSpPr>
        <p:spPr>
          <a:xfrm>
            <a:off x="4389120" y="17556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846320" y="1645920"/>
            <a:ext cx="3154680" cy="5943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 raises to its key: β = α</a:t>
            </a:r>
            <a:r>
              <a:rPr lang="en-US" sz="1300" baseline="30000" dirty="0">
                <a:solidFill>
                  <a:srgbClr val="1F2937"/>
                </a:solidFill>
                <a:latin typeface="Calibri" pitchFamily="34" charset="0"/>
                <a:ea typeface="Calibri" pitchFamily="34" charset="-122"/>
                <a:cs typeface="Calibri" pitchFamily="34" charset="-120"/>
              </a:rPr>
              <a:t>k</a:t>
            </a:r>
            <a:r>
              <a:rPr lang="en-US" sz="1300" dirty="0">
                <a:solidFill>
                  <a:srgbClr val="1F2937"/>
                </a:solidFill>
                <a:latin typeface="Calibri" pitchFamily="34" charset="0"/>
                <a:ea typeface="Calibri" pitchFamily="34" charset="-122"/>
                <a:cs typeface="Calibri" pitchFamily="34" charset="-120"/>
              </a:rPr>
              <a:t> mod p</a:t>
            </a:r>
            <a:endParaRPr lang="en-US" sz="1300" dirty="0"/>
          </a:p>
        </p:txBody>
      </p:sp>
      <p:sp>
        <p:nvSpPr>
          <p:cNvPr id="13" name="Shape 11"/>
          <p:cNvSpPr/>
          <p:nvPr/>
        </p:nvSpPr>
        <p:spPr>
          <a:xfrm>
            <a:off x="8046720" y="1755648"/>
            <a:ext cx="365760" cy="365760"/>
          </a:xfrm>
          <a:prstGeom prst="ellipse">
            <a:avLst/>
          </a:prstGeom>
          <a:solidFill>
            <a:srgbClr val="2A78D6"/>
          </a:solidFill>
          <a:ln w="12700">
            <a:solidFill>
              <a:srgbClr val="2A78D6"/>
            </a:solidFill>
            <a:prstDash val="solid"/>
          </a:ln>
        </p:spPr>
      </p:sp>
      <p:sp>
        <p:nvSpPr>
          <p:cNvPr id="14" name="Text 12"/>
          <p:cNvSpPr txBox="1"/>
          <p:nvPr/>
        </p:nvSpPr>
        <p:spPr>
          <a:xfrm>
            <a:off x="8046720" y="17556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8503920" y="1645920"/>
            <a:ext cx="3154680" cy="59436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 unblinds: h</a:t>
            </a:r>
            <a:r>
              <a:rPr lang="en-US" sz="1300" baseline="30000" dirty="0">
                <a:solidFill>
                  <a:srgbClr val="1F2937"/>
                </a:solidFill>
                <a:latin typeface="Calibri" pitchFamily="34" charset="0"/>
                <a:ea typeface="Calibri" pitchFamily="34" charset="-122"/>
                <a:cs typeface="Calibri" pitchFamily="34" charset="-120"/>
              </a:rPr>
              <a:t>k</a:t>
            </a:r>
            <a:r>
              <a:rPr lang="en-US" sz="1300" dirty="0">
                <a:solidFill>
                  <a:srgbClr val="1F2937"/>
                </a:solidFill>
                <a:latin typeface="Calibri" pitchFamily="34" charset="0"/>
                <a:ea typeface="Calibri" pitchFamily="34" charset="-122"/>
                <a:cs typeface="Calibri" pitchFamily="34" charset="-120"/>
              </a:rPr>
              <a:t> = β</a:t>
            </a:r>
            <a:r>
              <a:rPr lang="en-US" sz="1300" baseline="30000" dirty="0">
                <a:solidFill>
                  <a:srgbClr val="1F2937"/>
                </a:solidFill>
                <a:latin typeface="Calibri" pitchFamily="34" charset="0"/>
                <a:ea typeface="Calibri" pitchFamily="34" charset="-122"/>
                <a:cs typeface="Calibri" pitchFamily="34" charset="-120"/>
              </a:rPr>
              <a:t>1/r</a:t>
            </a:r>
            <a:r>
              <a:rPr lang="en-US" sz="1300" dirty="0">
                <a:solidFill>
                  <a:srgbClr val="1F2937"/>
                </a:solidFill>
                <a:latin typeface="Calibri" pitchFamily="34" charset="0"/>
                <a:ea typeface="Calibri" pitchFamily="34" charset="-122"/>
                <a:cs typeface="Calibri" pitchFamily="34" charset="-120"/>
              </a:rPr>
              <a:t> mod p, 1/r taken mod q</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9144000" cy="914400"/>
        </p:xfrm>
        <a:graphic>
          <a:graphicData uri="http://schemas.openxmlformats.org/drawingml/2006/table">
            <a:tbl>
              <a:tblPr/>
              <a:tblGrid>
                <a:gridCol w="1234440"/>
                <a:gridCol w="1188720"/>
                <a:gridCol w="731520"/>
                <a:gridCol w="1097280"/>
                <a:gridCol w="1097280"/>
                <a:gridCol w="1097280"/>
                <a:gridCol w="1371600"/>
                <a:gridCol w="1554480"/>
                <a:gridCol w="169164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 = H</a:t>
                      </a:r>
                      <a:r>
                        <a:rPr lang="en-US" sz="1300" b="1" baseline="-25000" dirty="0">
                          <a:solidFill>
                            <a:srgbClr val="FFFFFF"/>
                          </a:solidFill>
                          <a:latin typeface="Calibri" pitchFamily="34" charset="0"/>
                          <a:ea typeface="Calibri" pitchFamily="34" charset="-122"/>
                          <a:cs typeface="Calibri" pitchFamily="34" charset="-120"/>
                        </a:rPr>
                        <a:t>1</a:t>
                      </a: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α = h</a:t>
                      </a:r>
                      <a:r>
                        <a:rPr lang="en-US" sz="1300" b="1" baseline="30000" dirty="0">
                          <a:solidFill>
                            <a:srgbClr val="FFFFFF"/>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β = α</a:t>
                      </a:r>
                      <a:r>
                        <a:rPr lang="en-US" sz="1300" b="1" baseline="30000" dirty="0">
                          <a:solidFill>
                            <a:srgbClr val="FFFFFF"/>
                          </a:solidFill>
                          <a:latin typeface="Calibri" pitchFamily="34" charset="0"/>
                          <a:ea typeface="Calibri" pitchFamily="34" charset="-122"/>
                          <a:cs typeface="Calibri" pitchFamily="34" charset="-120"/>
                        </a:rPr>
                        <a:t>k</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1/r mod q</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h</a:t>
                      </a:r>
                      <a:r>
                        <a:rPr lang="en-US" sz="1300" b="1" baseline="30000" dirty="0">
                          <a:solidFill>
                            <a:srgbClr val="FFFFFF"/>
                          </a:solidFill>
                          <a:latin typeface="Calibri" pitchFamily="34" charset="0"/>
                          <a:ea typeface="Calibri" pitchFamily="34" charset="-122"/>
                          <a:cs typeface="Calibri" pitchFamily="34" charset="-120"/>
                        </a:rPr>
                        <a:t>k</a:t>
                      </a:r>
                      <a:r>
                        <a:rPr lang="en-US" sz="1300" b="1" dirty="0">
                          <a:solidFill>
                            <a:srgbClr val="FFFFFF"/>
                          </a:solidFill>
                          <a:latin typeface="Calibri" pitchFamily="34" charset="0"/>
                          <a:ea typeface="Calibri" pitchFamily="34" charset="-122"/>
                          <a:cs typeface="Calibri" pitchFamily="34" charset="-120"/>
                        </a:rPr>
                        <a:t> = β</a:t>
                      </a:r>
                      <a:r>
                        <a:rPr lang="en-US" sz="1300" b="1" baseline="30000" dirty="0">
                          <a:solidFill>
                            <a:srgbClr val="FFFFFF"/>
                          </a:solidFill>
                          <a:latin typeface="Calibri" pitchFamily="34" charset="0"/>
                          <a:ea typeface="Calibri" pitchFamily="34" charset="-122"/>
                          <a:cs typeface="Calibri" pitchFamily="34" charset="-120"/>
                        </a:rPr>
                        <a:t>1/r</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item F</a:t>
                      </a:r>
                      <a:r>
                        <a:rPr lang="en-US" sz="1300" b="1" baseline="-25000" dirty="0">
                          <a:solidFill>
                            <a:srgbClr val="FFFFFF"/>
                          </a:solidFill>
                          <a:latin typeface="Calibri" pitchFamily="34" charset="0"/>
                          <a:ea typeface="Calibri" pitchFamily="34" charset="-122"/>
                          <a:cs typeface="Calibri" pitchFamily="34" charset="-120"/>
                        </a:rPr>
                        <a:t>k</a:t>
                      </a: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label key K(id)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819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348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286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20938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60918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221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291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1011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154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39362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39074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317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956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326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494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144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991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12628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29997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9d1 (dummy)</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672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187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845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616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58249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42829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17" name="Shape 14"/>
          <p:cNvSpPr/>
          <p:nvPr/>
        </p:nvSpPr>
        <p:spPr>
          <a:xfrm>
            <a:off x="548640" y="4572000"/>
            <a:ext cx="3566160" cy="1691640"/>
          </a:xfrm>
          <a:prstGeom prst="roundRect">
            <a:avLst>
              <a:gd name="adj" fmla="val 4324"/>
            </a:avLst>
          </a:prstGeom>
          <a:solidFill>
            <a:srgbClr val="F6E3D6"/>
          </a:solidFill>
          <a:ln w="12700">
            <a:solidFill>
              <a:srgbClr val="F6E3D6"/>
            </a:solidFill>
            <a:prstDash val="solid"/>
          </a:ln>
        </p:spPr>
      </p:sp>
      <p:sp>
        <p:nvSpPr>
          <p:cNvPr id="18" name="Text 15"/>
          <p:cNvSpPr txBox="1"/>
          <p:nvPr/>
        </p:nvSpPr>
        <p:spPr>
          <a:xfrm>
            <a:off x="777240" y="4663440"/>
            <a:ext cx="3108960" cy="320040"/>
          </a:xfrm>
          <a:prstGeom prst="rect">
            <a:avLst/>
          </a:prstGeom>
          <a:noFill/>
          <a:ln/>
        </p:spPr>
        <p:txBody>
          <a:bodyPr wrap="square" lIns="0" tIns="0" rIns="0" bIns="0" rtlCol="0" anchor="t"/>
          <a:lstStyle/>
          <a:p>
            <a:pPr indent="0" marL="0">
              <a:buNone/>
            </a:pPr>
            <a:r>
              <a:rPr lang="en-US" sz="1450" b="1" dirty="0">
                <a:solidFill>
                  <a:srgbClr val="C45A0C"/>
                </a:solidFill>
                <a:latin typeface="Calibri" pitchFamily="34" charset="0"/>
                <a:ea typeface="Calibri" pitchFamily="34" charset="-122"/>
                <a:cs typeface="Calibri" pitchFamily="34" charset="-120"/>
              </a:rPr>
              <a:t>O never sees the ids</a:t>
            </a:r>
            <a:endParaRPr lang="en-US" sz="1450" dirty="0"/>
          </a:p>
        </p:txBody>
      </p:sp>
      <p:sp>
        <p:nvSpPr>
          <p:cNvPr id="19" name="Text 16"/>
          <p:cNvSpPr txBox="1"/>
          <p:nvPr/>
        </p:nvSpPr>
        <p:spPr>
          <a:xfrm>
            <a:off x="777240" y="5029200"/>
            <a:ext cx="310896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It sees only α = 348, 109, 494, 845. Because r is random, each could be any element of the group. O makes exactly n</a:t>
            </a:r>
            <a:r>
              <a:rPr lang="en-US" sz="1250" baseline="-25000" dirty="0">
                <a:solidFill>
                  <a:srgbClr val="1F2937"/>
                </a:solidFill>
                <a:latin typeface="Calibri" pitchFamily="34" charset="0"/>
                <a:ea typeface="Calibri" pitchFamily="34" charset="-122"/>
                <a:cs typeface="Calibri" pitchFamily="34" charset="-120"/>
              </a:rPr>
              <a:t>R</a:t>
            </a:r>
            <a:r>
              <a:rPr lang="en-US" sz="1250" baseline="30000" dirty="0">
                <a:solidFill>
                  <a:srgbClr val="1F2937"/>
                </a:solidFill>
                <a:latin typeface="Calibri" pitchFamily="34" charset="0"/>
                <a:ea typeface="Calibri" pitchFamily="34" charset="-122"/>
                <a:cs typeface="Calibri" pitchFamily="34" charset="-120"/>
              </a:rPr>
              <a:t>max</a:t>
            </a:r>
            <a:r>
              <a:rPr lang="en-US" sz="1250" dirty="0">
                <a:solidFill>
                  <a:srgbClr val="1F2937"/>
                </a:solidFill>
                <a:latin typeface="Calibri" pitchFamily="34" charset="0"/>
                <a:ea typeface="Calibri" pitchFamily="34" charset="-122"/>
                <a:cs typeface="Calibri" pitchFamily="34" charset="-120"/>
              </a:rPr>
              <a:t> = 4 evaluations.</a:t>
            </a:r>
            <a:endParaRPr lang="en-US" sz="1250" dirty="0"/>
          </a:p>
        </p:txBody>
      </p:sp>
      <p:sp>
        <p:nvSpPr>
          <p:cNvPr id="20" name="Shape 17"/>
          <p:cNvSpPr/>
          <p:nvPr/>
        </p:nvSpPr>
        <p:spPr>
          <a:xfrm>
            <a:off x="4297680" y="4572000"/>
            <a:ext cx="3566160" cy="1691640"/>
          </a:xfrm>
          <a:prstGeom prst="roundRect">
            <a:avLst>
              <a:gd name="adj" fmla="val 4324"/>
            </a:avLst>
          </a:prstGeom>
          <a:solidFill>
            <a:srgbClr val="EEF2F7"/>
          </a:solidFill>
          <a:ln w="12700">
            <a:solidFill>
              <a:srgbClr val="EEF2F7"/>
            </a:solidFill>
            <a:prstDash val="solid"/>
          </a:ln>
        </p:spPr>
      </p:sp>
      <p:sp>
        <p:nvSpPr>
          <p:cNvPr id="21" name="Text 18"/>
          <p:cNvSpPr txBox="1"/>
          <p:nvPr/>
        </p:nvSpPr>
        <p:spPr>
          <a:xfrm>
            <a:off x="4526280" y="4663440"/>
            <a:ext cx="3108960" cy="320040"/>
          </a:xfrm>
          <a:prstGeom prst="rect">
            <a:avLst/>
          </a:prstGeom>
          <a:noFill/>
          <a:ln/>
        </p:spPr>
        <p:txBody>
          <a:bodyPr wrap="square" lIns="0" tIns="0" rIns="0" bIns="0" rtlCol="0" anchor="t"/>
          <a:lstStyle/>
          <a:p>
            <a:pPr indent="0" marL="0">
              <a:buNone/>
            </a:pPr>
            <a:r>
              <a:rPr lang="en-US" sz="1450" b="1" dirty="0">
                <a:solidFill>
                  <a:srgbClr val="3D5A80"/>
                </a:solidFill>
                <a:latin typeface="Calibri" pitchFamily="34" charset="0"/>
                <a:ea typeface="Calibri" pitchFamily="34" charset="-122"/>
                <a:cs typeface="Calibri" pitchFamily="34" charset="-120"/>
              </a:rPr>
              <a:t>Check</a:t>
            </a:r>
            <a:endParaRPr lang="en-US" sz="1450" dirty="0"/>
          </a:p>
        </p:txBody>
      </p:sp>
      <p:sp>
        <p:nvSpPr>
          <p:cNvPr id="22" name="Text 19"/>
          <p:cNvSpPr txBox="1"/>
          <p:nvPr/>
        </p:nvSpPr>
        <p:spPr>
          <a:xfrm>
            <a:off x="4526280" y="5029200"/>
            <a:ext cx="310896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O knows k, so for its own rows it computes h</a:t>
            </a:r>
            <a:r>
              <a:rPr lang="en-US" sz="1250" baseline="30000" dirty="0">
                <a:solidFill>
                  <a:srgbClr val="1F2937"/>
                </a:solidFill>
                <a:latin typeface="Calibri" pitchFamily="34" charset="0"/>
                <a:ea typeface="Calibri" pitchFamily="34" charset="-122"/>
                <a:cs typeface="Calibri" pitchFamily="34" charset="-120"/>
              </a:rPr>
              <a:t>k</a:t>
            </a:r>
            <a:r>
              <a:rPr lang="en-US" sz="1250" dirty="0">
                <a:solidFill>
                  <a:srgbClr val="1F2937"/>
                </a:solidFill>
                <a:latin typeface="Calibri" pitchFamily="34" charset="0"/>
                <a:ea typeface="Calibri" pitchFamily="34" charset="-122"/>
                <a:cs typeface="Calibri" pitchFamily="34" charset="-120"/>
              </a:rPr>
              <a:t> directly: H</a:t>
            </a:r>
            <a:r>
              <a:rPr lang="en-US" sz="1250" baseline="-25000" dirty="0">
                <a:solidFill>
                  <a:srgbClr val="1F2937"/>
                </a:solidFill>
                <a:latin typeface="Calibri" pitchFamily="34" charset="0"/>
                <a:ea typeface="Calibri" pitchFamily="34" charset="-122"/>
                <a:cs typeface="Calibri" pitchFamily="34" charset="-120"/>
              </a:rPr>
              <a:t>1</a:t>
            </a:r>
            <a:r>
              <a:rPr lang="en-US" sz="1250" dirty="0">
                <a:solidFill>
                  <a:srgbClr val="1F2937"/>
                </a:solidFill>
                <a:latin typeface="Calibri" pitchFamily="34" charset="0"/>
                <a:ea typeface="Calibri" pitchFamily="34" charset="-122"/>
                <a:cs typeface="Calibri" pitchFamily="34" charset="-120"/>
              </a:rPr>
              <a:t>(104)</a:t>
            </a:r>
            <a:r>
              <a:rPr lang="en-US" sz="1250" baseline="30000" dirty="0">
                <a:solidFill>
                  <a:srgbClr val="1F2937"/>
                </a:solidFill>
                <a:latin typeface="Calibri" pitchFamily="34" charset="0"/>
                <a:ea typeface="Calibri" pitchFamily="34" charset="-122"/>
                <a:cs typeface="Calibri" pitchFamily="34" charset="-120"/>
              </a:rPr>
              <a:t>433</a:t>
            </a:r>
            <a:r>
              <a:rPr lang="en-US" sz="1250" dirty="0">
                <a:solidFill>
                  <a:srgbClr val="1F2937"/>
                </a:solidFill>
                <a:latin typeface="Calibri" pitchFamily="34" charset="0"/>
                <a:ea typeface="Calibri" pitchFamily="34" charset="-122"/>
                <a:cs typeface="Calibri" pitchFamily="34" charset="-120"/>
              </a:rPr>
              <a:t> mod 1019 = 516, the value R unblinded. Same h</a:t>
            </a:r>
            <a:r>
              <a:rPr lang="en-US" sz="1250" baseline="30000" dirty="0">
                <a:solidFill>
                  <a:srgbClr val="1F2937"/>
                </a:solidFill>
                <a:latin typeface="Calibri" pitchFamily="34" charset="0"/>
                <a:ea typeface="Calibri" pitchFamily="34" charset="-122"/>
                <a:cs typeface="Calibri" pitchFamily="34" charset="-120"/>
              </a:rPr>
              <a:t>k</a:t>
            </a:r>
            <a:r>
              <a:rPr lang="en-US" sz="1250" dirty="0">
                <a:solidFill>
                  <a:srgbClr val="1F2937"/>
                </a:solidFill>
                <a:latin typeface="Calibri" pitchFamily="34" charset="0"/>
                <a:ea typeface="Calibri" pitchFamily="34" charset="-122"/>
                <a:cs typeface="Calibri" pitchFamily="34" charset="-120"/>
              </a:rPr>
              <a:t>, same item: 104 can match.</a:t>
            </a:r>
            <a:endParaRPr lang="en-US" sz="1250" dirty="0"/>
          </a:p>
        </p:txBody>
      </p:sp>
      <p:sp>
        <p:nvSpPr>
          <p:cNvPr id="23" name="Shape 20"/>
          <p:cNvSpPr/>
          <p:nvPr/>
        </p:nvSpPr>
        <p:spPr>
          <a:xfrm>
            <a:off x="8046720" y="4572000"/>
            <a:ext cx="3566160" cy="1691640"/>
          </a:xfrm>
          <a:prstGeom prst="roundRect">
            <a:avLst>
              <a:gd name="adj" fmla="val 4324"/>
            </a:avLst>
          </a:prstGeom>
          <a:solidFill>
            <a:srgbClr val="E3EEFB"/>
          </a:solidFill>
          <a:ln w="12700">
            <a:solidFill>
              <a:srgbClr val="E3EEFB"/>
            </a:solidFill>
            <a:prstDash val="solid"/>
          </a:ln>
        </p:spPr>
      </p:sp>
      <p:sp>
        <p:nvSpPr>
          <p:cNvPr id="24" name="Text 21"/>
          <p:cNvSpPr txBox="1"/>
          <p:nvPr/>
        </p:nvSpPr>
        <p:spPr>
          <a:xfrm>
            <a:off x="8275320" y="4663440"/>
            <a:ext cx="3108960" cy="320040"/>
          </a:xfrm>
          <a:prstGeom prst="rect">
            <a:avLst/>
          </a:prstGeom>
          <a:noFill/>
          <a:ln/>
        </p:spPr>
        <p:txBody>
          <a:bodyPr wrap="square" lIns="0" tIns="0" rIns="0" bIns="0" rtlCol="0" anchor="t"/>
          <a:lstStyle/>
          <a:p>
            <a:pPr indent="0" marL="0">
              <a:buNone/>
            </a:pPr>
            <a:r>
              <a:rPr lang="en-US" sz="1450" b="1" dirty="0">
                <a:solidFill>
                  <a:srgbClr val="2A78D6"/>
                </a:solidFill>
                <a:latin typeface="Calibri" pitchFamily="34" charset="0"/>
                <a:ea typeface="Calibri" pitchFamily="34" charset="-122"/>
                <a:cs typeface="Calibri" pitchFamily="34" charset="-120"/>
              </a:rPr>
              <a:t>Two outputs from h</a:t>
            </a:r>
            <a:r>
              <a:rPr lang="en-US" sz="1450" b="1" baseline="30000" dirty="0">
                <a:solidFill>
                  <a:srgbClr val="2A78D6"/>
                </a:solidFill>
                <a:latin typeface="Calibri" pitchFamily="34" charset="0"/>
                <a:ea typeface="Calibri" pitchFamily="34" charset="-122"/>
                <a:cs typeface="Calibri" pitchFamily="34" charset="-120"/>
              </a:rPr>
              <a:t>k</a:t>
            </a:r>
            <a:endParaRPr lang="en-US" sz="1450" dirty="0"/>
          </a:p>
        </p:txBody>
      </p:sp>
      <p:sp>
        <p:nvSpPr>
          <p:cNvPr id="25" name="Text 22"/>
          <p:cNvSpPr txBox="1"/>
          <p:nvPr/>
        </p:nvSpPr>
        <p:spPr>
          <a:xfrm>
            <a:off x="8275320" y="5029200"/>
            <a:ext cx="310896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The item F</a:t>
            </a:r>
            <a:r>
              <a:rPr lang="en-US" sz="1250" baseline="-25000" dirty="0">
                <a:solidFill>
                  <a:srgbClr val="1F2937"/>
                </a:solidFill>
                <a:latin typeface="Calibri" pitchFamily="34" charset="0"/>
                <a:ea typeface="Calibri" pitchFamily="34" charset="-122"/>
                <a:cs typeface="Calibri" pitchFamily="34" charset="-120"/>
              </a:rPr>
              <a:t>k</a:t>
            </a:r>
            <a:r>
              <a:rPr lang="en-US" sz="1250" dirty="0">
                <a:solidFill>
                  <a:srgbClr val="1F2937"/>
                </a:solidFill>
                <a:latin typeface="Calibri" pitchFamily="34" charset="0"/>
                <a:ea typeface="Calibri" pitchFamily="34" charset="-122"/>
                <a:cs typeface="Calibri" pitchFamily="34" charset="-120"/>
              </a:rPr>
              <a:t>(id) = H</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("item", id, h</a:t>
            </a:r>
            <a:r>
              <a:rPr lang="en-US" sz="1250" baseline="30000" dirty="0">
                <a:solidFill>
                  <a:srgbClr val="1F2937"/>
                </a:solidFill>
                <a:latin typeface="Calibri" pitchFamily="34" charset="0"/>
                <a:ea typeface="Calibri" pitchFamily="34" charset="-122"/>
                <a:cs typeface="Calibri" pitchFamily="34" charset="-120"/>
              </a:rPr>
              <a:t>k</a:t>
            </a:r>
            <a:r>
              <a:rPr lang="en-US" sz="1250" dirty="0">
                <a:solidFill>
                  <a:srgbClr val="1F2937"/>
                </a:solidFill>
                <a:latin typeface="Calibri" pitchFamily="34" charset="0"/>
                <a:ea typeface="Calibri" pitchFamily="34" charset="-122"/>
                <a:cs typeface="Calibri" pitchFamily="34" charset="-120"/>
              </a:rPr>
              <a:t>) mod t, for matching, and the label key K(id) = H</a:t>
            </a:r>
            <a:r>
              <a:rPr lang="en-US" sz="1250" baseline="-25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("label", id, h</a:t>
            </a:r>
            <a:r>
              <a:rPr lang="en-US" sz="1250" baseline="30000" dirty="0">
                <a:solidFill>
                  <a:srgbClr val="1F2937"/>
                </a:solidFill>
                <a:latin typeface="Calibri" pitchFamily="34" charset="0"/>
                <a:ea typeface="Calibri" pitchFamily="34" charset="-122"/>
                <a:cs typeface="Calibri" pitchFamily="34" charset="-120"/>
              </a:rPr>
              <a:t>k</a:t>
            </a:r>
            <a:r>
              <a:rPr lang="en-US" sz="1250" dirty="0">
                <a:solidFill>
                  <a:srgbClr val="1F2937"/>
                </a:solidFill>
                <a:latin typeface="Calibri" pitchFamily="34" charset="0"/>
                <a:ea typeface="Calibri" pitchFamily="34" charset="-122"/>
                <a:cs typeface="Calibri" pitchFamily="34" charset="-120"/>
              </a:rPr>
              <a:t>) mod t, for opening labels. t = 65537.</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1 by hand: O's polynomials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O hashes its rows with k, pads each position with the row's label key, and interpolates mod t = 65537</a:t>
            </a:r>
            <a:endParaRPr lang="en-US" sz="1600" dirty="0"/>
          </a:p>
        </p:txBody>
      </p:sp>
      <p:sp>
        <p:nvSpPr>
          <p:cNvPr id="4" name="Shape 2"/>
          <p:cNvSpPr/>
          <p:nvPr/>
        </p:nvSpPr>
        <p:spPr>
          <a:xfrm>
            <a:off x="9784080" y="411480"/>
            <a:ext cx="1828800" cy="292608"/>
          </a:xfrm>
          <a:prstGeom prst="roundRect">
            <a:avLst>
              <a:gd name="adj" fmla="val 25000"/>
            </a:avLst>
          </a:prstGeom>
          <a:solidFill>
            <a:srgbClr val="C45A0C"/>
          </a:solidFill>
          <a:ln w="12700">
            <a:solidFill>
              <a:srgbClr val="C45A0C"/>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 O</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822960"/>
                <a:gridCol w="1371600"/>
                <a:gridCol w="1280160"/>
                <a:gridCol w="1325880"/>
                <a:gridCol w="1783080"/>
              </a:tblGrid>
              <a:tr h="36576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τ(j)</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item y</a:t>
                      </a:r>
                      <a:r>
                        <a:rPr lang="en-US" sz="1300" b="1" baseline="-25000" dirty="0">
                          <a:solidFill>
                            <a:srgbClr val="FFFFFF"/>
                          </a:solidFill>
                          <a:latin typeface="Calibri" pitchFamily="34" charset="0"/>
                          <a:ea typeface="Calibri" pitchFamily="34" charset="-122"/>
                          <a:cs typeface="Calibri" pitchFamily="34" charset="-120"/>
                        </a:rPr>
                        <a:t>j</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label key K</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label ℓ</a:t>
                      </a:r>
                      <a:r>
                        <a:rPr lang="en-US" sz="1300" b="1" baseline="-25000" dirty="0">
                          <a:solidFill>
                            <a:srgbClr val="FFFFFF"/>
                          </a:solidFill>
                          <a:latin typeface="Calibri" pitchFamily="34" charset="0"/>
                          <a:ea typeface="Calibri" pitchFamily="34" charset="-122"/>
                          <a:cs typeface="Calibri" pitchFamily="34" charset="-120"/>
                        </a:rPr>
                        <a:t>j</a:t>
                      </a:r>
                      <a:r>
                        <a:rPr lang="en-US" sz="1300" b="1" dirty="0">
                          <a:solidFill>
                            <a:srgbClr val="FFFFFF"/>
                          </a:solidFill>
                          <a:latin typeface="Calibri" pitchFamily="34" charset="0"/>
                          <a:ea typeface="Calibri" pitchFamily="34" charset="-122"/>
                          <a:cs typeface="Calibri" pitchFamily="34" charset="-120"/>
                        </a:rPr>
                        <a:t> = τ + K</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150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35815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56830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56831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7e5 (dummy)</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35081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13134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13136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221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39362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39074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39077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088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40782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18573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18577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399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52946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43556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43561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20938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60918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60924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bl>
          </a:graphicData>
        </a:graphic>
      </p:graphicFrame>
      <p:sp>
        <p:nvSpPr>
          <p:cNvPr id="7" name="Text 4"/>
          <p:cNvSpPr txBox="1"/>
          <p:nvPr/>
        </p:nvSpPr>
        <p:spPr>
          <a:xfrm>
            <a:off x="548640" y="4206240"/>
            <a:ext cx="6583680" cy="274320"/>
          </a:xfrm>
          <a:prstGeom prst="rect">
            <a:avLst/>
          </a:prstGeom>
          <a:noFill/>
          <a:ln/>
        </p:spPr>
        <p:txBody>
          <a:bodyPr wrap="square" lIns="0" tIns="0" rIns="0" bIns="0" rtlCol="0" anchor="t"/>
          <a:lstStyle/>
          <a:p>
            <a:pPr indent="0" marL="0">
              <a:buNone/>
            </a:pPr>
            <a:r>
              <a:rPr lang="en-US" sz="1150" i="1" dirty="0">
                <a:solidFill>
                  <a:srgbClr val="5B6576"/>
                </a:solidFill>
                <a:latin typeface="Calibri" pitchFamily="34" charset="0"/>
                <a:ea typeface="Calibri" pitchFamily="34" charset="-122"/>
                <a:cs typeface="Calibri" pitchFamily="34" charset="-120"/>
              </a:rPr>
              <a:t>Highlighted: the rows R's queries will match. O does not know this. y</a:t>
            </a:r>
            <a:r>
              <a:rPr lang="en-US" sz="1150" i="1" baseline="-25000" dirty="0">
                <a:solidFill>
                  <a:srgbClr val="5B6576"/>
                </a:solidFill>
                <a:latin typeface="Calibri" pitchFamily="34" charset="0"/>
                <a:ea typeface="Calibri" pitchFamily="34" charset="-122"/>
                <a:cs typeface="Calibri" pitchFamily="34" charset="-120"/>
              </a:rPr>
              <a:t>j</a:t>
            </a:r>
            <a:r>
              <a:rPr lang="en-US" sz="1150" i="1" dirty="0">
                <a:solidFill>
                  <a:srgbClr val="5B6576"/>
                </a:solidFill>
                <a:latin typeface="Calibri" pitchFamily="34" charset="0"/>
                <a:ea typeface="Calibri" pitchFamily="34" charset="-122"/>
                <a:cs typeface="Calibri" pitchFamily="34" charset="-120"/>
              </a:rPr>
              <a:t> = F</a:t>
            </a:r>
            <a:r>
              <a:rPr lang="en-US" sz="1150" i="1" baseline="-25000" dirty="0">
                <a:solidFill>
                  <a:srgbClr val="5B6576"/>
                </a:solidFill>
                <a:latin typeface="Calibri" pitchFamily="34" charset="0"/>
                <a:ea typeface="Calibri" pitchFamily="34" charset="-122"/>
                <a:cs typeface="Calibri" pitchFamily="34" charset="-120"/>
              </a:rPr>
              <a:t>k</a:t>
            </a:r>
            <a:r>
              <a:rPr lang="en-US" sz="1150" i="1" dirty="0">
                <a:solidFill>
                  <a:srgbClr val="5B6576"/>
                </a:solidFill>
                <a:latin typeface="Calibri" pitchFamily="34" charset="0"/>
                <a:ea typeface="Calibri" pitchFamily="34" charset="-122"/>
                <a:cs typeface="Calibri" pitchFamily="34" charset="-120"/>
              </a:rPr>
              <a:t>(id), all mod t.</a:t>
            </a:r>
            <a:endParaRPr lang="en-US" sz="1150" dirty="0"/>
          </a:p>
        </p:txBody>
      </p:sp>
      <p:sp>
        <p:nvSpPr>
          <p:cNvPr id="8" name="Shape 5"/>
          <p:cNvSpPr/>
          <p:nvPr/>
        </p:nvSpPr>
        <p:spPr>
          <a:xfrm>
            <a:off x="548640" y="4572000"/>
            <a:ext cx="6583680" cy="1691640"/>
          </a:xfrm>
          <a:prstGeom prst="roundRect">
            <a:avLst>
              <a:gd name="adj" fmla="val 4324"/>
            </a:avLst>
          </a:prstGeom>
          <a:solidFill>
            <a:srgbClr val="F7F9FC"/>
          </a:solidFill>
          <a:ln w="12700">
            <a:solidFill>
              <a:srgbClr val="F7F9FC"/>
            </a:solidFill>
            <a:prstDash val="solid"/>
          </a:ln>
        </p:spPr>
      </p:sp>
      <p:sp>
        <p:nvSpPr>
          <p:cNvPr id="9" name="Text 6"/>
          <p:cNvSpPr txBox="1"/>
          <p:nvPr/>
        </p:nvSpPr>
        <p:spPr>
          <a:xfrm>
            <a:off x="777240" y="4663440"/>
            <a:ext cx="6126480" cy="320040"/>
          </a:xfrm>
          <a:prstGeom prst="rect">
            <a:avLst/>
          </a:prstGeom>
          <a:noFill/>
          <a:ln/>
        </p:spPr>
        <p:txBody>
          <a:bodyPr wrap="square" lIns="0" tIns="0" rIns="0" bIns="0" rtlCol="0" anchor="t"/>
          <a:lstStyle/>
          <a:p>
            <a:pPr indent="0" marL="0">
              <a:buNone/>
            </a:pPr>
            <a:r>
              <a:rPr lang="en-US" sz="1450" b="1" dirty="0">
                <a:solidFill>
                  <a:srgbClr val="3D5A80"/>
                </a:solidFill>
                <a:latin typeface="Calibri" pitchFamily="34" charset="0"/>
                <a:ea typeface="Calibri" pitchFamily="34" charset="-122"/>
                <a:cs typeface="Calibri" pitchFamily="34" charset="-120"/>
              </a:rPr>
              <a:t>Reading a label</a:t>
            </a:r>
            <a:endParaRPr lang="en-US" sz="1450" dirty="0"/>
          </a:p>
        </p:txBody>
      </p:sp>
      <p:sp>
        <p:nvSpPr>
          <p:cNvPr id="10" name="Text 7"/>
          <p:cNvSpPr txBox="1"/>
          <p:nvPr/>
        </p:nvSpPr>
        <p:spPr>
          <a:xfrm>
            <a:off x="777240" y="5029200"/>
            <a:ext cx="6172200" cy="118872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ℓ</a:t>
            </a:r>
            <a:r>
              <a:rPr lang="en-US" sz="1250" baseline="-25000" dirty="0">
                <a:solidFill>
                  <a:srgbClr val="1F2937"/>
                </a:solidFill>
                <a:latin typeface="Calibri" pitchFamily="34" charset="0"/>
                <a:ea typeface="Calibri" pitchFamily="34" charset="-122"/>
                <a:cs typeface="Calibri" pitchFamily="34" charset="-120"/>
              </a:rPr>
              <a:t>j</a:t>
            </a:r>
            <a:r>
              <a:rPr lang="en-US" sz="1250" dirty="0">
                <a:solidFill>
                  <a:srgbClr val="1F2937"/>
                </a:solidFill>
                <a:latin typeface="Calibri" pitchFamily="34" charset="0"/>
                <a:ea typeface="Calibri" pitchFamily="34" charset="-122"/>
                <a:cs typeface="Calibri" pitchFamily="34" charset="-120"/>
              </a:rPr>
              <a:t> is the position padded with the row's label key. Only a party that ran the OPRF on that id has K(id) and can strip the pad: for 104, 60924 − 60918 = 6. The real protocol encrypts the label under a key derived from F′</a:t>
            </a:r>
            <a:r>
              <a:rPr lang="en-US" sz="1250" baseline="-25000" dirty="0">
                <a:solidFill>
                  <a:srgbClr val="1F2937"/>
                </a:solidFill>
                <a:latin typeface="Calibri" pitchFamily="34" charset="0"/>
                <a:ea typeface="Calibri" pitchFamily="34" charset="-122"/>
                <a:cs typeface="Calibri" pitchFamily="34" charset="-120"/>
              </a:rPr>
              <a:t>k</a:t>
            </a:r>
            <a:r>
              <a:rPr lang="en-US" sz="1250" dirty="0">
                <a:solidFill>
                  <a:srgbClr val="1F2937"/>
                </a:solidFill>
                <a:latin typeface="Calibri" pitchFamily="34" charset="0"/>
                <a:ea typeface="Calibri" pitchFamily="34" charset="-122"/>
                <a:cs typeface="Calibri" pitchFamily="34" charset="-120"/>
              </a:rPr>
              <a:t>(id); the additive pad is its toy stand-in.</a:t>
            </a:r>
            <a:endParaRPr lang="en-US" sz="1250" dirty="0"/>
          </a:p>
        </p:txBody>
      </p:sp>
      <p:sp>
        <p:nvSpPr>
          <p:cNvPr id="11" name="Shape 8"/>
          <p:cNvSpPr/>
          <p:nvPr/>
        </p:nvSpPr>
        <p:spPr>
          <a:xfrm>
            <a:off x="7315200" y="1600200"/>
            <a:ext cx="4297680" cy="4663440"/>
          </a:xfrm>
          <a:prstGeom prst="roundRect">
            <a:avLst>
              <a:gd name="adj" fmla="val 1702"/>
            </a:avLst>
          </a:prstGeom>
          <a:solidFill>
            <a:srgbClr val="EEF2F7"/>
          </a:solidFill>
          <a:ln w="12700">
            <a:solidFill>
              <a:srgbClr val="EEF2F7"/>
            </a:solidFill>
            <a:prstDash val="solid"/>
          </a:ln>
        </p:spPr>
      </p:sp>
      <p:sp>
        <p:nvSpPr>
          <p:cNvPr id="12" name="Text 9"/>
          <p:cNvSpPr txBox="1"/>
          <p:nvPr/>
        </p:nvSpPr>
        <p:spPr>
          <a:xfrm>
            <a:off x="7543800" y="1719072"/>
            <a:ext cx="384048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Two polynomials mod t</a:t>
            </a:r>
            <a:endParaRPr lang="en-US" sz="1600" dirty="0"/>
          </a:p>
        </p:txBody>
      </p:sp>
      <p:pic>
        <p:nvPicPr>
          <p:cNvPr id="13" name="Image 0" descr="/home/user/VerticalFederatedRegression/slides/assets/eq/ps_poly.png">    </p:cNvPr>
          <p:cNvPicPr>
            <a:picLocks noChangeAspect="1"/>
          </p:cNvPicPr>
          <p:nvPr/>
        </p:nvPicPr>
        <p:blipFill>
          <a:blip r:embed="rId1"/>
          <a:stretch>
            <a:fillRect/>
          </a:stretch>
        </p:blipFill>
        <p:spPr>
          <a:xfrm>
            <a:off x="7543800" y="2148840"/>
            <a:ext cx="2157653" cy="509220"/>
          </a:xfrm>
          <a:prstGeom prst="rect">
            <a:avLst/>
          </a:prstGeom>
        </p:spPr>
      </p:pic>
      <p:sp>
        <p:nvSpPr>
          <p:cNvPr id="14" name="Text 10"/>
          <p:cNvSpPr txBox="1"/>
          <p:nvPr/>
        </p:nvSpPr>
        <p:spPr>
          <a:xfrm>
            <a:off x="7543800" y="2743200"/>
            <a:ext cx="3840480" cy="59436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 is zero exactly at O's six items. L passes through every (y</a:t>
            </a:r>
            <a:r>
              <a:rPr lang="en-US" sz="1200" baseline="-25000" dirty="0">
                <a:solidFill>
                  <a:srgbClr val="1F2937"/>
                </a:solidFill>
                <a:latin typeface="Calibri" pitchFamily="34" charset="0"/>
                <a:ea typeface="Calibri" pitchFamily="34" charset="-122"/>
                <a:cs typeface="Calibri" pitchFamily="34" charset="-120"/>
              </a:rPr>
              <a:t>j</a:t>
            </a:r>
            <a:r>
              <a:rPr lang="en-US" sz="1200" dirty="0">
                <a:solidFill>
                  <a:srgbClr val="1F2937"/>
                </a:solidFill>
                <a:latin typeface="Calibri" pitchFamily="34" charset="0"/>
                <a:ea typeface="Calibri" pitchFamily="34" charset="-122"/>
                <a:cs typeface="Calibri" pitchFamily="34" charset="-120"/>
              </a:rPr>
              <a:t>, ℓ</a:t>
            </a:r>
            <a:r>
              <a:rPr lang="en-US" sz="1200" baseline="-25000" dirty="0">
                <a:solidFill>
                  <a:srgbClr val="1F2937"/>
                </a:solidFill>
                <a:latin typeface="Calibri" pitchFamily="34" charset="0"/>
                <a:ea typeface="Calibri" pitchFamily="34" charset="-122"/>
                <a:cs typeface="Calibri" pitchFamily="34" charset="-120"/>
              </a:rPr>
              <a:t>j</a:t>
            </a:r>
            <a:r>
              <a:rPr lang="en-US" sz="1200" dirty="0">
                <a:solidFill>
                  <a:srgbClr val="1F2937"/>
                </a:solidFill>
                <a:latin typeface="Calibri" pitchFamily="34" charset="0"/>
                <a:ea typeface="Calibri" pitchFamily="34" charset="-122"/>
                <a:cs typeface="Calibri" pitchFamily="34" charset="-120"/>
              </a:rPr>
              <a:t>). Coefficients, lowest degree first:</a:t>
            </a:r>
            <a:endParaRPr lang="en-US" sz="12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543800" y="3383280"/>
          <a:ext cx="9144000" cy="914400"/>
        </p:xfrm>
        <a:graphic>
          <a:graphicData uri="http://schemas.openxmlformats.org/drawingml/2006/table">
            <a:tbl>
              <a:tblPr/>
              <a:tblGrid>
                <a:gridCol w="822960"/>
                <a:gridCol w="1463040"/>
                <a:gridCol w="1463040"/>
              </a:tblGrid>
              <a:tr h="27432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X</a:t>
                      </a:r>
                      <a:r>
                        <a:rPr lang="en-US" sz="1200" b="1" baseline="30000" dirty="0">
                          <a:solidFill>
                            <a:srgbClr val="FFFFFF"/>
                          </a:solidFill>
                          <a:latin typeface="Calibri" pitchFamily="34" charset="0"/>
                          <a:ea typeface="Calibri" pitchFamily="34" charset="-122"/>
                          <a:cs typeface="Calibri" pitchFamily="34" charset="-120"/>
                        </a:rPr>
                        <a:t>m</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L</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24787</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14745</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X</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46847</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48338</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X</a:t>
                      </a:r>
                      <a:r>
                        <a:rPr lang="en-US" sz="1200" baseline="30000" dirty="0">
                          <a:solidFill>
                            <a:srgbClr val="1F2937"/>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41420</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11025</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X</a:t>
                      </a:r>
                      <a:r>
                        <a:rPr lang="en-US" sz="1200" baseline="30000" dirty="0">
                          <a:solidFill>
                            <a:srgbClr val="1F2937"/>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31575</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14990</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X</a:t>
                      </a:r>
                      <a:r>
                        <a:rPr lang="en-US" sz="1200" baseline="30000" dirty="0">
                          <a:solidFill>
                            <a:srgbClr val="1F2937"/>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62333</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48363</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X</a:t>
                      </a:r>
                      <a:r>
                        <a:rPr lang="en-US" sz="1200" baseline="30000" dirty="0">
                          <a:solidFill>
                            <a:srgbClr val="1F2937"/>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37224</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48931</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r h="274320">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X</a:t>
                      </a:r>
                      <a:r>
                        <a:rPr lang="en-US" sz="1200" baseline="30000" dirty="0">
                          <a:solidFill>
                            <a:srgbClr val="1F2937"/>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7543800" y="5669280"/>
            <a:ext cx="3840480" cy="502920"/>
          </a:xfrm>
          <a:prstGeom prst="rect">
            <a:avLst/>
          </a:prstGeom>
          <a:noFill/>
          <a:ln/>
        </p:spPr>
        <p:txBody>
          <a:bodyPr wrap="square" lIns="0" tIns="0" rIns="0" bIns="0" rtlCol="0" anchor="t"/>
          <a:lstStyle/>
          <a:p>
            <a:pPr indent="0" marL="0">
              <a:buNone/>
            </a:pPr>
            <a:r>
              <a:rPr lang="en-US" sz="1100" i="1" dirty="0">
                <a:solidFill>
                  <a:srgbClr val="5B6576"/>
                </a:solidFill>
                <a:latin typeface="Calibri" pitchFamily="34" charset="0"/>
                <a:ea typeface="Calibri" pitchFamily="34" charset="-122"/>
                <a:cs typeface="Calibri" pitchFamily="34" charset="-120"/>
              </a:rPr>
              <a:t>One bin b here. Real runs hash items into thousands of bins, each with its own small P and 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1 by hand: query and answer</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Shaded values travel inside BFV ciphertexts under R's own key: O computes on them without seeing them</a:t>
            </a:r>
            <a:endParaRPr lang="en-US" sz="1600" dirty="0"/>
          </a:p>
        </p:txBody>
      </p:sp>
      <p:sp>
        <p:nvSpPr>
          <p:cNvPr id="4" name="Shape 2"/>
          <p:cNvSpPr/>
          <p:nvPr/>
        </p:nvSpPr>
        <p:spPr>
          <a:xfrm>
            <a:off x="9784080" y="411480"/>
            <a:ext cx="1828800" cy="292608"/>
          </a:xfrm>
          <a:prstGeom prst="roundRect">
            <a:avLst>
              <a:gd name="adj" fmla="val 25000"/>
            </a:avLst>
          </a:prstGeom>
          <a:solidFill>
            <a:srgbClr val="3D5A80"/>
          </a:solidFill>
          <a:ln w="12700">
            <a:solidFill>
              <a:srgbClr val="3D5A80"/>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 R ↔ O</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1371600"/>
                <a:gridCol w="1051560"/>
                <a:gridCol w="868680"/>
                <a:gridCol w="868680"/>
                <a:gridCol w="868680"/>
                <a:gridCol w="960120"/>
                <a:gridCol w="960120"/>
                <a:gridCol w="914400"/>
                <a:gridCol w="3200400"/>
              </a:tblGrid>
              <a:tr h="38404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q = F</a:t>
                      </a:r>
                      <a:r>
                        <a:rPr lang="en-US" sz="1300" b="1" baseline="-25000" dirty="0">
                          <a:solidFill>
                            <a:srgbClr val="FFFFFF"/>
                          </a:solidFill>
                          <a:latin typeface="Calibri" pitchFamily="34" charset="0"/>
                          <a:ea typeface="Calibri" pitchFamily="34" charset="-122"/>
                          <a:cs typeface="Calibri" pitchFamily="34" charset="-120"/>
                        </a:rPr>
                        <a:t>k</a:t>
                      </a:r>
                      <a:r>
                        <a:rPr lang="en-US" sz="1300" b="1" dirty="0">
                          <a:solidFill>
                            <a:srgbClr val="FFFFFF"/>
                          </a:solidFill>
                          <a:latin typeface="Calibri" pitchFamily="34" charset="0"/>
                          <a:ea typeface="Calibri" pitchFamily="34" charset="-122"/>
                          <a:cs typeface="Calibri" pitchFamily="34" charset="-120"/>
                        </a:rPr>
                        <a:t>(id)</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q</a:t>
                      </a:r>
                      <a:r>
                        <a:rPr lang="en-US" sz="1300" b="1" baseline="30000"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q</a:t>
                      </a:r>
                      <a:r>
                        <a:rPr lang="en-US" sz="1300" b="1" baseline="30000"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P(q)</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ρ (mask)</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ρ·P(q)</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L(q)</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R's reading</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84048">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20938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22851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34922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2F7"/>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30623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60924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l" indent="0" marL="0">
                        <a:buNone/>
                      </a:pPr>
                      <a:r>
                        <a:rPr lang="en-US" sz="1300" b="1" dirty="0">
                          <a:solidFill>
                            <a:srgbClr val="2A78D6"/>
                          </a:solidFill>
                          <a:latin typeface="Calibri" pitchFamily="34" charset="0"/>
                          <a:ea typeface="Calibri" pitchFamily="34" charset="-122"/>
                          <a:cs typeface="Calibri" pitchFamily="34" charset="-120"/>
                        </a:rPr>
                        <a:t>match: τ = 60924 − 60918 = 6</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221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39362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6827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11122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2F7"/>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5232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39077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l" indent="0" marL="0">
                        <a:buNone/>
                      </a:pPr>
                      <a:r>
                        <a:rPr lang="en-US" sz="1300" b="1" dirty="0">
                          <a:solidFill>
                            <a:srgbClr val="2A78D6"/>
                          </a:solidFill>
                          <a:latin typeface="Calibri" pitchFamily="34" charset="0"/>
                          <a:ea typeface="Calibri" pitchFamily="34" charset="-122"/>
                          <a:cs typeface="Calibri" pitchFamily="34" charset="-120"/>
                        </a:rPr>
                        <a:t>match: τ = 39077 − 39074 = 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317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12628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14863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49079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3913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2F7"/>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24282</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52353</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39994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l" indent="0" marL="0">
                        <a:buNone/>
                      </a:pPr>
                      <a:r>
                        <a:rPr lang="en-US" sz="1300" dirty="0">
                          <a:solidFill>
                            <a:srgbClr val="5B6576"/>
                          </a:solidFill>
                          <a:latin typeface="Calibri" pitchFamily="34" charset="0"/>
                          <a:ea typeface="Calibri" pitchFamily="34" charset="-122"/>
                          <a:cs typeface="Calibri" pitchFamily="34" charset="-120"/>
                        </a:rPr>
                        <a:t>no match</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9d1 (dummy)</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58249</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29974</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59480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3EEFB"/>
                    </a:solidFill>
                  </a:tcPr>
                </a:tc>
                <a:tc>
                  <a:txBody>
                    <a:bodyPr/>
                    <a:lstStyle/>
                    <a:p>
                      <a:pPr algn="ctr" indent="0" marL="0">
                        <a:buNone/>
                      </a:pPr>
                      <a:r>
                        <a:rPr lang="en-US" sz="1300" dirty="0">
                          <a:solidFill>
                            <a:srgbClr val="5B6576"/>
                          </a:solidFill>
                          <a:latin typeface="Calibri" pitchFamily="34" charset="0"/>
                          <a:ea typeface="Calibri" pitchFamily="34" charset="-122"/>
                          <a:cs typeface="Calibri" pitchFamily="34" charset="-120"/>
                        </a:rPr>
                        <a:t>47288</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EEF2F7"/>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42170</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40661</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34907</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6E3D6"/>
                    </a:solidFill>
                  </a:tcPr>
                </a:tc>
                <a:tc>
                  <a:txBody>
                    <a:bodyPr/>
                    <a:lstStyle/>
                    <a:p>
                      <a:pPr algn="l" indent="0" marL="0">
                        <a:buNone/>
                      </a:pPr>
                      <a:r>
                        <a:rPr lang="en-US" sz="1300" dirty="0">
                          <a:solidFill>
                            <a:srgbClr val="5B6576"/>
                          </a:solidFill>
                          <a:latin typeface="Calibri" pitchFamily="34" charset="0"/>
                          <a:ea typeface="Calibri" pitchFamily="34" charset="-122"/>
                          <a:cs typeface="Calibri" pitchFamily="34" charset="-120"/>
                        </a:rPr>
                        <a:t>no match</a:t>
                      </a:r>
                      <a:endParaRPr lang="en-US" sz="130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7" name="Text 4"/>
          <p:cNvSpPr txBox="1"/>
          <p:nvPr/>
        </p:nvSpPr>
        <p:spPr>
          <a:xfrm>
            <a:off x="548640" y="3730752"/>
            <a:ext cx="11064240" cy="274320"/>
          </a:xfrm>
          <a:prstGeom prst="rect">
            <a:avLst/>
          </a:prstGeom>
          <a:noFill/>
          <a:ln/>
        </p:spPr>
        <p:txBody>
          <a:bodyPr wrap="square" lIns="0" tIns="0" rIns="0" bIns="0" rtlCol="0" anchor="t"/>
          <a:lstStyle/>
          <a:p>
            <a:pPr indent="0" marL="0">
              <a:buNone/>
            </a:pPr>
            <a:r>
              <a:rPr lang="en-US" sz="1150" i="1" dirty="0">
                <a:solidFill>
                  <a:srgbClr val="5B6576"/>
                </a:solidFill>
                <a:latin typeface="Calibri" pitchFamily="34" charset="0"/>
                <a:ea typeface="Calibri" pitchFamily="34" charset="-122"/>
                <a:cs typeface="Calibri" pitchFamily="34" charset="-120"/>
              </a:rPr>
              <a:t>Blue: sent by R.  Grey: inside O's computation, never decrypted.  Orange: returned to R.</a:t>
            </a:r>
            <a:endParaRPr lang="en-US" sz="1150" dirty="0"/>
          </a:p>
        </p:txBody>
      </p:sp>
      <p:sp>
        <p:nvSpPr>
          <p:cNvPr id="8" name="Shape 5"/>
          <p:cNvSpPr/>
          <p:nvPr/>
        </p:nvSpPr>
        <p:spPr>
          <a:xfrm>
            <a:off x="548640" y="4160520"/>
            <a:ext cx="3566160" cy="1828800"/>
          </a:xfrm>
          <a:prstGeom prst="roundRect">
            <a:avLst>
              <a:gd name="adj" fmla="val 4000"/>
            </a:avLst>
          </a:prstGeom>
          <a:solidFill>
            <a:srgbClr val="E3EEFB"/>
          </a:solidFill>
          <a:ln w="12700">
            <a:solidFill>
              <a:srgbClr val="E3EEFB"/>
            </a:solidFill>
            <a:prstDash val="solid"/>
          </a:ln>
        </p:spPr>
      </p:sp>
      <p:sp>
        <p:nvSpPr>
          <p:cNvPr id="9" name="Text 6"/>
          <p:cNvSpPr txBox="1"/>
          <p:nvPr/>
        </p:nvSpPr>
        <p:spPr>
          <a:xfrm>
            <a:off x="777240" y="4251960"/>
            <a:ext cx="3108960" cy="320040"/>
          </a:xfrm>
          <a:prstGeom prst="rect">
            <a:avLst/>
          </a:prstGeom>
          <a:noFill/>
          <a:ln/>
        </p:spPr>
        <p:txBody>
          <a:bodyPr wrap="square" lIns="0" tIns="0" rIns="0" bIns="0" rtlCol="0" anchor="t"/>
          <a:lstStyle/>
          <a:p>
            <a:pPr indent="0" marL="0">
              <a:buNone/>
            </a:pPr>
            <a:r>
              <a:rPr lang="en-US" sz="1450" b="1" dirty="0">
                <a:solidFill>
                  <a:srgbClr val="2A78D6"/>
                </a:solidFill>
                <a:latin typeface="Calibri" pitchFamily="34" charset="0"/>
                <a:ea typeface="Calibri" pitchFamily="34" charset="-122"/>
                <a:cs typeface="Calibri" pitchFamily="34" charset="-120"/>
              </a:rPr>
              <a:t>1  R sends</a:t>
            </a:r>
            <a:endParaRPr lang="en-US" sz="1450" dirty="0"/>
          </a:p>
        </p:txBody>
      </p:sp>
      <p:sp>
        <p:nvSpPr>
          <p:cNvPr id="10" name="Text 7"/>
          <p:cNvSpPr txBox="1"/>
          <p:nvPr/>
        </p:nvSpPr>
        <p:spPr>
          <a:xfrm>
            <a:off x="777240" y="4617720"/>
            <a:ext cx="3108960" cy="13258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Each item, encrypted under R's own BFV key, as q, q</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q</a:t>
            </a:r>
            <a:r>
              <a:rPr lang="en-US" sz="1250" baseline="30000" dirty="0">
                <a:solidFill>
                  <a:srgbClr val="1F2937"/>
                </a:solidFill>
                <a:latin typeface="Calibri" pitchFamily="34" charset="0"/>
                <a:ea typeface="Calibri" pitchFamily="34" charset="-122"/>
                <a:cs typeface="Calibri" pitchFamily="34" charset="-120"/>
              </a:rPr>
              <a:t>4</a:t>
            </a:r>
            <a:r>
              <a:rPr lang="en-US" sz="1250" dirty="0">
                <a:solidFill>
                  <a:srgbClr val="1F2937"/>
                </a:solidFill>
                <a:latin typeface="Calibri" pitchFamily="34" charset="0"/>
                <a:ea typeface="Calibri" pitchFamily="34" charset="-122"/>
                <a:cs typeface="Calibri" pitchFamily="34" charset="-120"/>
              </a:rPr>
              <a:t> (windowing). One item per query here; real runs cuckoo-hash the items into bins, at most one per bin.</a:t>
            </a:r>
            <a:endParaRPr lang="en-US" sz="1250" dirty="0"/>
          </a:p>
        </p:txBody>
      </p:sp>
      <p:sp>
        <p:nvSpPr>
          <p:cNvPr id="11" name="Shape 8"/>
          <p:cNvSpPr/>
          <p:nvPr/>
        </p:nvSpPr>
        <p:spPr>
          <a:xfrm>
            <a:off x="4297680" y="4160520"/>
            <a:ext cx="3566160" cy="1828800"/>
          </a:xfrm>
          <a:prstGeom prst="roundRect">
            <a:avLst>
              <a:gd name="adj" fmla="val 4000"/>
            </a:avLst>
          </a:prstGeom>
          <a:solidFill>
            <a:srgbClr val="F6E3D6"/>
          </a:solidFill>
          <a:ln w="12700">
            <a:solidFill>
              <a:srgbClr val="F6E3D6"/>
            </a:solidFill>
            <a:prstDash val="solid"/>
          </a:ln>
        </p:spPr>
      </p:sp>
      <p:sp>
        <p:nvSpPr>
          <p:cNvPr id="12" name="Text 9"/>
          <p:cNvSpPr txBox="1"/>
          <p:nvPr/>
        </p:nvSpPr>
        <p:spPr>
          <a:xfrm>
            <a:off x="4526280" y="4251960"/>
            <a:ext cx="3108960" cy="320040"/>
          </a:xfrm>
          <a:prstGeom prst="rect">
            <a:avLst/>
          </a:prstGeom>
          <a:noFill/>
          <a:ln/>
        </p:spPr>
        <p:txBody>
          <a:bodyPr wrap="square" lIns="0" tIns="0" rIns="0" bIns="0" rtlCol="0" anchor="t"/>
          <a:lstStyle/>
          <a:p>
            <a:pPr indent="0" marL="0">
              <a:buNone/>
            </a:pPr>
            <a:r>
              <a:rPr lang="en-US" sz="1450" b="1" dirty="0">
                <a:solidFill>
                  <a:srgbClr val="C45A0C"/>
                </a:solidFill>
                <a:latin typeface="Calibri" pitchFamily="34" charset="0"/>
                <a:ea typeface="Calibri" pitchFamily="34" charset="-122"/>
                <a:cs typeface="Calibri" pitchFamily="34" charset="-120"/>
              </a:rPr>
              <a:t>2  O evaluates</a:t>
            </a:r>
            <a:endParaRPr lang="en-US" sz="1450" dirty="0"/>
          </a:p>
        </p:txBody>
      </p:sp>
      <p:sp>
        <p:nvSpPr>
          <p:cNvPr id="13" name="Text 10"/>
          <p:cNvSpPr txBox="1"/>
          <p:nvPr/>
        </p:nvSpPr>
        <p:spPr>
          <a:xfrm>
            <a:off x="4526280" y="4617720"/>
            <a:ext cx="3108960" cy="13258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q</a:t>
            </a:r>
            <a:r>
              <a:rPr lang="en-US" sz="1250" baseline="30000" dirty="0">
                <a:solidFill>
                  <a:srgbClr val="1F2937"/>
                </a:solidFill>
                <a:latin typeface="Calibri" pitchFamily="34" charset="0"/>
                <a:ea typeface="Calibri" pitchFamily="34" charset="-122"/>
                <a:cs typeface="Calibri" pitchFamily="34" charset="-120"/>
              </a:rPr>
              <a:t>3</a:t>
            </a:r>
            <a:r>
              <a:rPr lang="en-US" sz="1250" dirty="0">
                <a:solidFill>
                  <a:srgbClr val="1F2937"/>
                </a:solidFill>
                <a:latin typeface="Calibri" pitchFamily="34" charset="0"/>
                <a:ea typeface="Calibri" pitchFamily="34" charset="-122"/>
                <a:cs typeface="Calibri" pitchFamily="34" charset="-120"/>
              </a:rPr>
              <a:t> = q·q</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 q</a:t>
            </a:r>
            <a:r>
              <a:rPr lang="en-US" sz="1250" baseline="30000" dirty="0">
                <a:solidFill>
                  <a:srgbClr val="1F2937"/>
                </a:solidFill>
                <a:latin typeface="Calibri" pitchFamily="34" charset="0"/>
                <a:ea typeface="Calibri" pitchFamily="34" charset="-122"/>
                <a:cs typeface="Calibri" pitchFamily="34" charset="-120"/>
              </a:rPr>
              <a:t>5</a:t>
            </a:r>
            <a:r>
              <a:rPr lang="en-US" sz="1250" dirty="0">
                <a:solidFill>
                  <a:srgbClr val="1F2937"/>
                </a:solidFill>
                <a:latin typeface="Calibri" pitchFamily="34" charset="0"/>
                <a:ea typeface="Calibri" pitchFamily="34" charset="-122"/>
                <a:cs typeface="Calibri" pitchFamily="34" charset="-120"/>
              </a:rPr>
              <a:t> = q·q</a:t>
            </a:r>
            <a:r>
              <a:rPr lang="en-US" sz="1250" baseline="30000" dirty="0">
                <a:solidFill>
                  <a:srgbClr val="1F2937"/>
                </a:solidFill>
                <a:latin typeface="Calibri" pitchFamily="34" charset="0"/>
                <a:ea typeface="Calibri" pitchFamily="34" charset="-122"/>
                <a:cs typeface="Calibri" pitchFamily="34" charset="-120"/>
              </a:rPr>
              <a:t>4</a:t>
            </a:r>
            <a:r>
              <a:rPr lang="en-US" sz="1250" dirty="0">
                <a:solidFill>
                  <a:srgbClr val="1F2937"/>
                </a:solidFill>
                <a:latin typeface="Calibri" pitchFamily="34" charset="0"/>
                <a:ea typeface="Calibri" pitchFamily="34" charset="-122"/>
                <a:cs typeface="Calibri" pitchFamily="34" charset="-120"/>
              </a:rPr>
              <a:t>, q</a:t>
            </a:r>
            <a:r>
              <a:rPr lang="en-US" sz="1250" baseline="30000" dirty="0">
                <a:solidFill>
                  <a:srgbClr val="1F2937"/>
                </a:solidFill>
                <a:latin typeface="Calibri" pitchFamily="34" charset="0"/>
                <a:ea typeface="Calibri" pitchFamily="34" charset="-122"/>
                <a:cs typeface="Calibri" pitchFamily="34" charset="-120"/>
              </a:rPr>
              <a:t>6</a:t>
            </a:r>
            <a:r>
              <a:rPr lang="en-US" sz="1250" dirty="0">
                <a:solidFill>
                  <a:srgbClr val="1F2937"/>
                </a:solidFill>
                <a:latin typeface="Calibri" pitchFamily="34" charset="0"/>
                <a:ea typeface="Calibri" pitchFamily="34" charset="-122"/>
                <a:cs typeface="Calibri" pitchFamily="34" charset="-120"/>
              </a:rPr>
              <a:t> = q</a:t>
            </a:r>
            <a:r>
              <a:rPr lang="en-US" sz="1250" baseline="30000" dirty="0">
                <a:solidFill>
                  <a:srgbClr val="1F2937"/>
                </a:solidFill>
                <a:latin typeface="Calibri" pitchFamily="34" charset="0"/>
                <a:ea typeface="Calibri" pitchFamily="34" charset="-122"/>
                <a:cs typeface="Calibri" pitchFamily="34" charset="-120"/>
              </a:rPr>
              <a:t>2</a:t>
            </a:r>
            <a:r>
              <a:rPr lang="en-US" sz="1250" dirty="0">
                <a:solidFill>
                  <a:srgbClr val="1F2937"/>
                </a:solidFill>
                <a:latin typeface="Calibri" pitchFamily="34" charset="0"/>
                <a:ea typeface="Calibri" pitchFamily="34" charset="-122"/>
                <a:cs typeface="Calibri" pitchFamily="34" charset="-120"/>
              </a:rPr>
              <a:t>·q</a:t>
            </a:r>
            <a:r>
              <a:rPr lang="en-US" sz="1250" baseline="30000" dirty="0">
                <a:solidFill>
                  <a:srgbClr val="1F2937"/>
                </a:solidFill>
                <a:latin typeface="Calibri" pitchFamily="34" charset="0"/>
                <a:ea typeface="Calibri" pitchFamily="34" charset="-122"/>
                <a:cs typeface="Calibri" pitchFamily="34" charset="-120"/>
              </a:rPr>
              <a:t>4</a:t>
            </a:r>
            <a:r>
              <a:rPr lang="en-US" sz="1250" dirty="0">
                <a:solidFill>
                  <a:srgbClr val="1F2937"/>
                </a:solidFill>
                <a:latin typeface="Calibri" pitchFamily="34" charset="0"/>
                <a:ea typeface="Calibri" pitchFamily="34" charset="-122"/>
                <a:cs typeface="Calibri" pitchFamily="34" charset="-120"/>
              </a:rPr>
              <a:t> cost one multiplication. Then P(q) and L(q) from its coefficients, and P(q) times a fresh random ρ ≠ 0. All on ciphertexts.</a:t>
            </a:r>
            <a:endParaRPr lang="en-US" sz="1250" dirty="0"/>
          </a:p>
        </p:txBody>
      </p:sp>
      <p:sp>
        <p:nvSpPr>
          <p:cNvPr id="14" name="Shape 11"/>
          <p:cNvSpPr/>
          <p:nvPr/>
        </p:nvSpPr>
        <p:spPr>
          <a:xfrm>
            <a:off x="8046720" y="4160520"/>
            <a:ext cx="3566160" cy="1828800"/>
          </a:xfrm>
          <a:prstGeom prst="roundRect">
            <a:avLst>
              <a:gd name="adj" fmla="val 4000"/>
            </a:avLst>
          </a:prstGeom>
          <a:solidFill>
            <a:srgbClr val="E3EEFB"/>
          </a:solidFill>
          <a:ln w="12700">
            <a:solidFill>
              <a:srgbClr val="E3EEFB"/>
            </a:solidFill>
            <a:prstDash val="solid"/>
          </a:ln>
        </p:spPr>
      </p:sp>
      <p:sp>
        <p:nvSpPr>
          <p:cNvPr id="15" name="Text 12"/>
          <p:cNvSpPr txBox="1"/>
          <p:nvPr/>
        </p:nvSpPr>
        <p:spPr>
          <a:xfrm>
            <a:off x="8275320" y="4251960"/>
            <a:ext cx="3108960" cy="320040"/>
          </a:xfrm>
          <a:prstGeom prst="rect">
            <a:avLst/>
          </a:prstGeom>
          <a:noFill/>
          <a:ln/>
        </p:spPr>
        <p:txBody>
          <a:bodyPr wrap="square" lIns="0" tIns="0" rIns="0" bIns="0" rtlCol="0" anchor="t"/>
          <a:lstStyle/>
          <a:p>
            <a:pPr indent="0" marL="0">
              <a:buNone/>
            </a:pPr>
            <a:r>
              <a:rPr lang="en-US" sz="1450" b="1" dirty="0">
                <a:solidFill>
                  <a:srgbClr val="2A78D6"/>
                </a:solidFill>
                <a:latin typeface="Calibri" pitchFamily="34" charset="0"/>
                <a:ea typeface="Calibri" pitchFamily="34" charset="-122"/>
                <a:cs typeface="Calibri" pitchFamily="34" charset="-120"/>
              </a:rPr>
              <a:t>3  R decrypts</a:t>
            </a:r>
            <a:endParaRPr lang="en-US" sz="1450" dirty="0"/>
          </a:p>
        </p:txBody>
      </p:sp>
      <p:sp>
        <p:nvSpPr>
          <p:cNvPr id="16" name="Text 13"/>
          <p:cNvSpPr txBox="1"/>
          <p:nvPr/>
        </p:nvSpPr>
        <p:spPr>
          <a:xfrm>
            <a:off x="8275320" y="4617720"/>
            <a:ext cx="3108960" cy="1325880"/>
          </a:xfrm>
          <a:prstGeom prst="rect">
            <a:avLst/>
          </a:prstGeom>
          <a:noFill/>
          <a:ln/>
        </p:spPr>
        <p:txBody>
          <a:bodyPr wrap="square" lIns="0" tIns="0" rIns="0" bIns="0" rtlCol="0" anchor="t"/>
          <a:lstStyle/>
          <a:p>
            <a:pPr indent="0" marL="0">
              <a:buNone/>
            </a:pPr>
            <a:r>
              <a:rPr lang="en-US" sz="1250" dirty="0">
                <a:solidFill>
                  <a:srgbClr val="1F2937"/>
                </a:solidFill>
                <a:latin typeface="Calibri" pitchFamily="34" charset="0"/>
                <a:ea typeface="Calibri" pitchFamily="34" charset="-122"/>
                <a:cs typeface="Calibri" pitchFamily="34" charset="-120"/>
              </a:rPr>
              <a:t>ρ·P(q) = 0 means a match: 104 and 221. Then τ = L(q) − K(id) mod t. For 317 and the dummy, ρ·P(q) is a random nonzero number and L(q) is meaningless.</a:t>
            </a:r>
            <a:endParaRPr lang="en-US" sz="1250" dirty="0"/>
          </a:p>
        </p:txBody>
      </p:sp>
      <p:sp>
        <p:nvSpPr>
          <p:cNvPr id="17" name="Text 14"/>
          <p:cNvSpPr txBox="1"/>
          <p:nvPr/>
        </p:nvSpPr>
        <p:spPr>
          <a:xfrm>
            <a:off x="548640" y="6126480"/>
            <a:ext cx="11064240" cy="274320"/>
          </a:xfrm>
          <a:prstGeom prst="rect">
            <a:avLst/>
          </a:prstGeom>
          <a:noFill/>
          <a:ln/>
        </p:spPr>
        <p:txBody>
          <a:bodyPr wrap="square" lIns="0" tIns="0" rIns="0" bIns="0" rtlCol="0" anchor="t"/>
          <a:lstStyle/>
          <a:p>
            <a:pPr indent="0" marL="0">
              <a:buNone/>
            </a:pPr>
            <a:r>
              <a:rPr lang="en-US" sz="1200" i="1" dirty="0">
                <a:solidFill>
                  <a:srgbClr val="5B6576"/>
                </a:solidFill>
                <a:latin typeface="Calibri" pitchFamily="34" charset="0"/>
                <a:ea typeface="Calibri" pitchFamily="34" charset="-122"/>
                <a:cs typeface="Calibri" pitchFamily="34" charset="-120"/>
              </a:rPr>
              <a:t>Why ρ: without it, P(q) at a non-match would leak information about O's items.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1: R computes its own block</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A uses only R's rows in I, so R computes it exactly; it never leaves R</a:t>
            </a:r>
            <a:endParaRPr lang="en-US" sz="1600" dirty="0"/>
          </a:p>
        </p:txBody>
      </p:sp>
      <p:sp>
        <p:nvSpPr>
          <p:cNvPr id="4" name="Shape 2"/>
          <p:cNvSpPr/>
          <p:nvPr/>
        </p:nvSpPr>
        <p:spPr>
          <a:xfrm>
            <a:off x="9784080" y="411480"/>
            <a:ext cx="1828800" cy="292608"/>
          </a:xfrm>
          <a:prstGeom prst="roundRect">
            <a:avLst>
              <a:gd name="adj" fmla="val 25000"/>
            </a:avLst>
          </a:prstGeom>
          <a:solidFill>
            <a:srgbClr val="2A78D6"/>
          </a:solidFill>
          <a:ln w="12700">
            <a:solidFill>
              <a:srgbClr val="2A78D6"/>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1 · R</a:t>
            </a:r>
            <a:endParaRPr lang="en-US" sz="1100" dirty="0"/>
          </a:p>
        </p:txBody>
      </p:sp>
      <p:sp>
        <p:nvSpPr>
          <p:cNvPr id="6" name="Text 4"/>
          <p:cNvSpPr txBox="1"/>
          <p:nvPr/>
        </p:nvSpPr>
        <p:spPr>
          <a:xfrm>
            <a:off x="548640" y="1600200"/>
            <a:ext cx="548640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R's rows ẋ</a:t>
            </a:r>
            <a:r>
              <a:rPr lang="en-US" sz="1600" b="1" baseline="-25000" dirty="0">
                <a:solidFill>
                  <a:srgbClr val="14213D"/>
                </a:solidFill>
                <a:latin typeface="Cambria" pitchFamily="34" charset="0"/>
                <a:ea typeface="Cambria" pitchFamily="34" charset="-122"/>
                <a:cs typeface="Cambria" pitchFamily="34" charset="-120"/>
              </a:rPr>
              <a:t>i</a:t>
            </a:r>
            <a:r>
              <a:rPr lang="en-US" sz="1600" b="1" dirty="0">
                <a:solidFill>
                  <a:srgbClr val="14213D"/>
                </a:solidFill>
                <a:latin typeface="Cambria" pitchFamily="34" charset="0"/>
                <a:ea typeface="Cambria" pitchFamily="34" charset="-122"/>
                <a:cs typeface="Cambria" pitchFamily="34" charset="-120"/>
              </a:rPr>
              <a:t> = (1, x</a:t>
            </a:r>
            <a:r>
              <a:rPr lang="en-US" sz="1600" b="1" baseline="-25000" dirty="0">
                <a:solidFill>
                  <a:srgbClr val="14213D"/>
                </a:solidFill>
                <a:latin typeface="Cambria" pitchFamily="34" charset="0"/>
                <a:ea typeface="Cambria" pitchFamily="34" charset="-122"/>
                <a:cs typeface="Cambria" pitchFamily="34" charset="-120"/>
              </a:rPr>
              <a:t>R1</a:t>
            </a:r>
            <a:r>
              <a:rPr lang="en-US" sz="1600" b="1" dirty="0">
                <a:solidFill>
                  <a:srgbClr val="14213D"/>
                </a:solidFill>
                <a:latin typeface="Cambria" pitchFamily="34" charset="0"/>
                <a:ea typeface="Cambria" pitchFamily="34" charset="-122"/>
                <a:cs typeface="Cambria" pitchFamily="34" charset="-120"/>
              </a:rPr>
              <a:t>, x</a:t>
            </a:r>
            <a:r>
              <a:rPr lang="en-US" sz="1600" b="1" baseline="-25000" dirty="0">
                <a:solidFill>
                  <a:srgbClr val="14213D"/>
                </a:solidFill>
                <a:latin typeface="Cambria" pitchFamily="34" charset="0"/>
                <a:ea typeface="Cambria" pitchFamily="34" charset="-122"/>
                <a:cs typeface="Cambria" pitchFamily="34" charset="-120"/>
              </a:rPr>
              <a:t>R2</a:t>
            </a:r>
            <a:r>
              <a:rPr lang="en-US" sz="1600" b="1" dirty="0">
                <a:solidFill>
                  <a:srgbClr val="14213D"/>
                </a:solidFill>
                <a:latin typeface="Cambria" pitchFamily="34" charset="0"/>
                <a:ea typeface="Cambria" pitchFamily="34" charset="-122"/>
                <a:cs typeface="Cambria" pitchFamily="34" charset="-120"/>
              </a:rPr>
              <a:t>) for i ∈ I</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9144000" cy="914400"/>
        </p:xfrm>
        <a:graphic>
          <a:graphicData uri="http://schemas.openxmlformats.org/drawingml/2006/table">
            <a:tbl>
              <a:tblPr/>
              <a:tblGrid>
                <a:gridCol w="822960"/>
                <a:gridCol w="1051560"/>
                <a:gridCol w="1051560"/>
                <a:gridCol w="1051560"/>
              </a:tblGrid>
              <a:tr h="292608">
                <a:tc>
                  <a:txBody>
                    <a:bodyPr/>
                    <a:lstStyle/>
                    <a:p>
                      <a:pPr indent="0" marL="0">
                        <a:buNone/>
                      </a:pP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intercept</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education</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health</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9260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ẋ</a:t>
                      </a:r>
                      <a:r>
                        <a:rPr lang="en-US" sz="1200" b="1" baseline="-25000" dirty="0">
                          <a:solidFill>
                            <a:srgbClr val="5B6576"/>
                          </a:solidFill>
                          <a:latin typeface="Calibri" pitchFamily="34" charset="0"/>
                          <a:ea typeface="Calibri" pitchFamily="34" charset="-122"/>
                          <a:cs typeface="Calibri" pitchFamily="34" charset="-120"/>
                        </a:rPr>
                        <a:t>104</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r>
              <a:tr h="29260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ẋ</a:t>
                      </a:r>
                      <a:r>
                        <a:rPr lang="en-US" sz="1200" b="1" baseline="-25000" dirty="0">
                          <a:solidFill>
                            <a:srgbClr val="5B6576"/>
                          </a:solidFill>
                          <a:latin typeface="Calibri" pitchFamily="34" charset="0"/>
                          <a:ea typeface="Calibri" pitchFamily="34" charset="-122"/>
                          <a:cs typeface="Calibri" pitchFamily="34" charset="-120"/>
                        </a:rPr>
                        <a:t>221</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0.8</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r>
            </a:tbl>
          </a:graphicData>
        </a:graphic>
      </p:graphicFrame>
      <p:sp>
        <p:nvSpPr>
          <p:cNvPr id="8" name="Text 5"/>
          <p:cNvSpPr txBox="1"/>
          <p:nvPr/>
        </p:nvSpPr>
        <p:spPr>
          <a:xfrm>
            <a:off x="548640" y="3154680"/>
            <a:ext cx="548640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A = ẋ</a:t>
            </a:r>
            <a:r>
              <a:rPr lang="en-US" sz="1600" b="1" baseline="-25000" dirty="0">
                <a:solidFill>
                  <a:srgbClr val="14213D"/>
                </a:solidFill>
                <a:latin typeface="Cambria" pitchFamily="34" charset="0"/>
                <a:ea typeface="Cambria" pitchFamily="34" charset="-122"/>
                <a:cs typeface="Cambria" pitchFamily="34" charset="-120"/>
              </a:rPr>
              <a:t>104</a:t>
            </a:r>
            <a:r>
              <a:rPr lang="en-US" sz="1600" b="1" dirty="0">
                <a:solidFill>
                  <a:srgbClr val="14213D"/>
                </a:solidFill>
                <a:latin typeface="Cambria" pitchFamily="34" charset="0"/>
                <a:ea typeface="Cambria" pitchFamily="34" charset="-122"/>
                <a:cs typeface="Cambria" pitchFamily="34" charset="-120"/>
              </a:rPr>
              <a:t> ẋ</a:t>
            </a:r>
            <a:r>
              <a:rPr lang="en-US" sz="1600" b="1" baseline="-25000" dirty="0">
                <a:solidFill>
                  <a:srgbClr val="14213D"/>
                </a:solidFill>
                <a:latin typeface="Cambria" pitchFamily="34" charset="0"/>
                <a:ea typeface="Cambria" pitchFamily="34" charset="-122"/>
                <a:cs typeface="Cambria" pitchFamily="34" charset="-120"/>
              </a:rPr>
              <a:t>104</a:t>
            </a:r>
            <a:r>
              <a:rPr lang="en-US" sz="1600" b="1" baseline="30000" dirty="0">
                <a:solidFill>
                  <a:srgbClr val="14213D"/>
                </a:solidFill>
                <a:latin typeface="Cambria" pitchFamily="34" charset="0"/>
                <a:ea typeface="Cambria" pitchFamily="34" charset="-122"/>
                <a:cs typeface="Cambria" pitchFamily="34" charset="-120"/>
              </a:rPr>
              <a:t>T</a:t>
            </a:r>
            <a:r>
              <a:rPr lang="en-US" sz="1600" b="1" dirty="0">
                <a:solidFill>
                  <a:srgbClr val="14213D"/>
                </a:solidFill>
                <a:latin typeface="Cambria" pitchFamily="34" charset="0"/>
                <a:ea typeface="Cambria" pitchFamily="34" charset="-122"/>
                <a:cs typeface="Cambria" pitchFamily="34" charset="-120"/>
              </a:rPr>
              <a:t> + ẋ</a:t>
            </a:r>
            <a:r>
              <a:rPr lang="en-US" sz="1600" b="1" baseline="-25000" dirty="0">
                <a:solidFill>
                  <a:srgbClr val="14213D"/>
                </a:solidFill>
                <a:latin typeface="Cambria" pitchFamily="34" charset="0"/>
                <a:ea typeface="Cambria" pitchFamily="34" charset="-122"/>
                <a:cs typeface="Cambria" pitchFamily="34" charset="-120"/>
              </a:rPr>
              <a:t>221</a:t>
            </a:r>
            <a:r>
              <a:rPr lang="en-US" sz="1600" b="1" dirty="0">
                <a:solidFill>
                  <a:srgbClr val="14213D"/>
                </a:solidFill>
                <a:latin typeface="Cambria" pitchFamily="34" charset="0"/>
                <a:ea typeface="Cambria" pitchFamily="34" charset="-122"/>
                <a:cs typeface="Cambria" pitchFamily="34" charset="-120"/>
              </a:rPr>
              <a:t> ẋ</a:t>
            </a:r>
            <a:r>
              <a:rPr lang="en-US" sz="1600" b="1" baseline="-25000" dirty="0">
                <a:solidFill>
                  <a:srgbClr val="14213D"/>
                </a:solidFill>
                <a:latin typeface="Cambria" pitchFamily="34" charset="0"/>
                <a:ea typeface="Cambria" pitchFamily="34" charset="-122"/>
                <a:cs typeface="Cambria" pitchFamily="34" charset="-120"/>
              </a:rPr>
              <a:t>221</a:t>
            </a:r>
            <a:r>
              <a:rPr lang="en-US" sz="1600" b="1" baseline="30000" dirty="0">
                <a:solidFill>
                  <a:srgbClr val="14213D"/>
                </a:solidFill>
                <a:latin typeface="Cambria" pitchFamily="34" charset="0"/>
                <a:ea typeface="Cambria" pitchFamily="34" charset="-122"/>
                <a:cs typeface="Cambria" pitchFamily="34" charset="-120"/>
              </a:rPr>
              <a:t>T</a:t>
            </a:r>
            <a:endParaRPr lang="en-US" sz="16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48640" y="3611880"/>
          <a:ext cx="9144000" cy="914400"/>
        </p:xfrm>
        <a:graphic>
          <a:graphicData uri="http://schemas.openxmlformats.org/drawingml/2006/table">
            <a:tbl>
              <a:tblPr/>
              <a:tblGrid>
                <a:gridCol w="1005840"/>
                <a:gridCol w="1051560"/>
                <a:gridCol w="1051560"/>
                <a:gridCol w="1051560"/>
              </a:tblGrid>
              <a:tr h="292608">
                <a:tc>
                  <a:txBody>
                    <a:bodyPr/>
                    <a:lstStyle/>
                    <a:p>
                      <a:pPr indent="0" marL="0">
                        <a:buNone/>
                      </a:pP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intercept</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education</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health</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29260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intercept</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2.00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r>
              <a:tr h="29260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education</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−0.42</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r>
              <a:tr h="29260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health</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−0.42</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0.68</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C9DCF5"/>
                    </a:solidFill>
                  </a:tcPr>
                </a:tc>
              </a:tr>
            </a:tbl>
          </a:graphicData>
        </a:graphic>
      </p:graphicFrame>
      <p:sp>
        <p:nvSpPr>
          <p:cNvPr id="10" name="Shape 6"/>
          <p:cNvSpPr/>
          <p:nvPr/>
        </p:nvSpPr>
        <p:spPr>
          <a:xfrm>
            <a:off x="6309360" y="1600200"/>
            <a:ext cx="5303520" cy="2377440"/>
          </a:xfrm>
          <a:prstGeom prst="roundRect">
            <a:avLst>
              <a:gd name="adj" fmla="val 3077"/>
            </a:avLst>
          </a:prstGeom>
          <a:solidFill>
            <a:srgbClr val="F7F9FC"/>
          </a:solidFill>
          <a:ln w="12700">
            <a:solidFill>
              <a:srgbClr val="F7F9FC"/>
            </a:solidFill>
            <a:prstDash val="solid"/>
          </a:ln>
        </p:spPr>
      </p:sp>
      <p:sp>
        <p:nvSpPr>
          <p:cNvPr id="11" name="Text 7"/>
          <p:cNvSpPr txBox="1"/>
          <p:nvPr/>
        </p:nvSpPr>
        <p:spPr>
          <a:xfrm>
            <a:off x="6537960" y="1719072"/>
            <a:ext cx="484632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Check</a:t>
            </a:r>
            <a:endParaRPr lang="en-US" sz="1500" dirty="0"/>
          </a:p>
        </p:txBody>
      </p:sp>
      <p:sp>
        <p:nvSpPr>
          <p:cNvPr id="12" name="Text 8"/>
          <p:cNvSpPr txBox="1"/>
          <p:nvPr/>
        </p:nvSpPr>
        <p:spPr>
          <a:xfrm>
            <a:off x="6537960" y="2121408"/>
            <a:ext cx="4892040" cy="17373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 equals the blue block of G on slide 4: the protocol gets R's part exactly, with no encryption and no noise.</a:t>
            </a:r>
            <a:endParaRPr lang="en-US" sz="1450" dirty="0"/>
          </a:p>
        </p:txBody>
      </p:sp>
      <p:sp>
        <p:nvSpPr>
          <p:cNvPr id="13" name="Shape 9"/>
          <p:cNvSpPr/>
          <p:nvPr/>
        </p:nvSpPr>
        <p:spPr>
          <a:xfrm>
            <a:off x="6309360" y="4206240"/>
            <a:ext cx="5303520" cy="1965960"/>
          </a:xfrm>
          <a:prstGeom prst="roundRect">
            <a:avLst>
              <a:gd name="adj" fmla="val 3721"/>
            </a:avLst>
          </a:prstGeom>
          <a:solidFill>
            <a:srgbClr val="F6E3D6"/>
          </a:solidFill>
          <a:ln w="12700">
            <a:solidFill>
              <a:srgbClr val="F6E3D6"/>
            </a:solidFill>
            <a:prstDash val="solid"/>
          </a:ln>
        </p:spPr>
      </p:sp>
      <p:sp>
        <p:nvSpPr>
          <p:cNvPr id="14" name="Text 10"/>
          <p:cNvSpPr txBox="1"/>
          <p:nvPr/>
        </p:nvSpPr>
        <p:spPr>
          <a:xfrm>
            <a:off x="6537960" y="4315968"/>
            <a:ext cx="484632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Why it matters here</a:t>
            </a:r>
            <a:endParaRPr lang="en-US" sz="1500" dirty="0"/>
          </a:p>
        </p:txBody>
      </p:sp>
      <p:sp>
        <p:nvSpPr>
          <p:cNvPr id="15" name="Text 11"/>
          <p:cNvSpPr txBox="1"/>
          <p:nvPr/>
        </p:nvSpPr>
        <p:spPr>
          <a:xfrm>
            <a:off x="6537960" y="4709160"/>
            <a:ext cx="4892040" cy="13716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A has rank 2 (two people, three columns), so its smallest eigenvalue is 0. That will decide where the ridge goes in stage 1.</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2: upload</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R writes its data into O's shuffled order, zero everywhere it has no match, and encrypts it</a:t>
            </a:r>
            <a:endParaRPr lang="en-US" sz="1600" dirty="0"/>
          </a:p>
        </p:txBody>
      </p:sp>
      <p:sp>
        <p:nvSpPr>
          <p:cNvPr id="4" name="Shape 2"/>
          <p:cNvSpPr/>
          <p:nvPr/>
        </p:nvSpPr>
        <p:spPr>
          <a:xfrm>
            <a:off x="9784080" y="411480"/>
            <a:ext cx="1828800" cy="292608"/>
          </a:xfrm>
          <a:prstGeom prst="roundRect">
            <a:avLst>
              <a:gd name="adj" fmla="val 25000"/>
            </a:avLst>
          </a:prstGeom>
          <a:solidFill>
            <a:srgbClr val="2A78D6"/>
          </a:solidFill>
          <a:ln w="12700">
            <a:solidFill>
              <a:srgbClr val="2A78D6"/>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2 · R → O</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a:tblGrid>
                <a:gridCol w="1600200"/>
                <a:gridCol w="868680"/>
                <a:gridCol w="868680"/>
                <a:gridCol w="868680"/>
                <a:gridCol w="868680"/>
                <a:gridCol w="868680"/>
                <a:gridCol w="868680"/>
              </a:tblGrid>
              <a:tr h="384048">
                <a:tc>
                  <a:txBody>
                    <a:bodyPr/>
                    <a:lstStyle/>
                    <a:p>
                      <a:pPr indent="0" marL="0">
                        <a:buNone/>
                      </a:pP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pos 1</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pos 2</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pos 3</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pos 4</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pos 5</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pos 6</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b (selection)</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r h="38404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ẋ</a:t>
                      </a:r>
                      <a:r>
                        <a:rPr lang="en-US" sz="1200" b="1" baseline="-25000" dirty="0">
                          <a:solidFill>
                            <a:srgbClr val="5B6576"/>
                          </a:solidFill>
                          <a:latin typeface="Calibri" pitchFamily="34" charset="0"/>
                          <a:ea typeface="Calibri" pitchFamily="34" charset="-122"/>
                          <a:cs typeface="Calibri" pitchFamily="34" charset="-120"/>
                        </a:rPr>
                        <a:t>0</a:t>
                      </a:r>
                      <a:r>
                        <a:rPr lang="en-US" sz="1200" b="1" dirty="0">
                          <a:solidFill>
                            <a:srgbClr val="5B6576"/>
                          </a:solidFill>
                          <a:latin typeface="Calibri" pitchFamily="34" charset="0"/>
                          <a:ea typeface="Calibri" pitchFamily="34" charset="-122"/>
                          <a:cs typeface="Calibri" pitchFamily="34" charset="-120"/>
                        </a:rPr>
                        <a:t> (intercept)</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r h="38404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ẋ</a:t>
                      </a:r>
                      <a:r>
                        <a:rPr lang="en-US" sz="1200" b="1" baseline="-25000" dirty="0">
                          <a:solidFill>
                            <a:srgbClr val="5B6576"/>
                          </a:solidFill>
                          <a:latin typeface="Calibri" pitchFamily="34" charset="0"/>
                          <a:ea typeface="Calibri" pitchFamily="34" charset="-122"/>
                          <a:cs typeface="Calibri" pitchFamily="34" charset="-120"/>
                        </a:rPr>
                        <a:t>1</a:t>
                      </a:r>
                      <a:r>
                        <a:rPr lang="en-US" sz="1200" b="1" dirty="0">
                          <a:solidFill>
                            <a:srgbClr val="5B6576"/>
                          </a:solidFill>
                          <a:latin typeface="Calibri" pitchFamily="34" charset="0"/>
                          <a:ea typeface="Calibri" pitchFamily="34" charset="-122"/>
                          <a:cs typeface="Calibri" pitchFamily="34" charset="-120"/>
                        </a:rPr>
                        <a:t> (education)</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−0.4</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r h="384048">
                <a:tc>
                  <a:txBody>
                    <a:bodyPr/>
                    <a:lstStyle/>
                    <a:p>
                      <a:pPr indent="0" marL="0">
                        <a:buNone/>
                      </a:pPr>
                      <a:r>
                        <a:rPr lang="en-US" sz="1200" b="1" dirty="0">
                          <a:solidFill>
                            <a:srgbClr val="5B6576"/>
                          </a:solidFill>
                          <a:latin typeface="Calibri" pitchFamily="34" charset="0"/>
                          <a:ea typeface="Calibri" pitchFamily="34" charset="-122"/>
                          <a:cs typeface="Calibri" pitchFamily="34" charset="-120"/>
                        </a:rPr>
                        <a:t>ẋ</a:t>
                      </a:r>
                      <a:r>
                        <a:rPr lang="en-US" sz="1200" b="1" baseline="-25000" dirty="0">
                          <a:solidFill>
                            <a:srgbClr val="5B6576"/>
                          </a:solidFill>
                          <a:latin typeface="Calibri" pitchFamily="34" charset="0"/>
                          <a:ea typeface="Calibri" pitchFamily="34" charset="-122"/>
                          <a:cs typeface="Calibri" pitchFamily="34" charset="-120"/>
                        </a:rPr>
                        <a:t>2</a:t>
                      </a:r>
                      <a:r>
                        <a:rPr lang="en-US" sz="1200" b="1" dirty="0">
                          <a:solidFill>
                            <a:srgbClr val="5B6576"/>
                          </a:solidFill>
                          <a:latin typeface="Calibri" pitchFamily="34" charset="0"/>
                          <a:ea typeface="Calibri" pitchFamily="34" charset="-122"/>
                          <a:cs typeface="Calibri" pitchFamily="34" charset="-120"/>
                        </a:rPr>
                        <a:t> (health)</a:t>
                      </a:r>
                      <a:endParaRPr lang="en-US" sz="12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0.8</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0.0</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bl>
          </a:graphicData>
        </a:graphic>
      </p:graphicFrame>
      <p:sp>
        <p:nvSpPr>
          <p:cNvPr id="7" name="Text 4"/>
          <p:cNvSpPr txBox="1"/>
          <p:nvPr/>
        </p:nvSpPr>
        <p:spPr>
          <a:xfrm>
            <a:off x="548640" y="3749040"/>
            <a:ext cx="6858000" cy="548640"/>
          </a:xfrm>
          <a:prstGeom prst="rect">
            <a:avLst/>
          </a:prstGeom>
          <a:noFill/>
          <a:ln/>
        </p:spPr>
        <p:txBody>
          <a:bodyPr wrap="square" lIns="0" tIns="0" rIns="0" bIns="0" rtlCol="0" anchor="t"/>
          <a:lstStyle/>
          <a:p>
            <a:pPr indent="0" marL="0">
              <a:buNone/>
            </a:pPr>
            <a:r>
              <a:rPr lang="en-US" sz="1350" i="1" dirty="0">
                <a:solidFill>
                  <a:srgbClr val="5B6576"/>
                </a:solidFill>
                <a:latin typeface="Calibri" pitchFamily="34" charset="0"/>
                <a:ea typeface="Calibri" pitchFamily="34" charset="-122"/>
                <a:cs typeface="Calibri" pitchFamily="34" charset="-120"/>
              </a:rPr>
              <a:t>Positions 3 and 6 are π(221) and π(104). ẋ</a:t>
            </a:r>
            <a:r>
              <a:rPr lang="en-US" sz="1350" i="1" baseline="-25000" dirty="0">
                <a:solidFill>
                  <a:srgbClr val="5B6576"/>
                </a:solidFill>
                <a:latin typeface="Calibri" pitchFamily="34" charset="0"/>
                <a:ea typeface="Calibri" pitchFamily="34" charset="-122"/>
                <a:cs typeface="Calibri" pitchFamily="34" charset="-120"/>
              </a:rPr>
              <a:t>0</a:t>
            </a:r>
            <a:r>
              <a:rPr lang="en-US" sz="1350" i="1" dirty="0">
                <a:solidFill>
                  <a:srgbClr val="5B6576"/>
                </a:solidFill>
                <a:latin typeface="Calibri" pitchFamily="34" charset="0"/>
                <a:ea typeface="Calibri" pitchFamily="34" charset="-122"/>
                <a:cs typeface="Calibri" pitchFamily="34" charset="-120"/>
              </a:rPr>
              <a:t> equals b: the intercept is 1 exactly where there is a match.</a:t>
            </a:r>
            <a:endParaRPr lang="en-US" sz="1350" dirty="0"/>
          </a:p>
        </p:txBody>
      </p:sp>
      <p:sp>
        <p:nvSpPr>
          <p:cNvPr id="8" name="Shape 5"/>
          <p:cNvSpPr/>
          <p:nvPr/>
        </p:nvSpPr>
        <p:spPr>
          <a:xfrm>
            <a:off x="7818120" y="1691640"/>
            <a:ext cx="3794760" cy="2514600"/>
          </a:xfrm>
          <a:prstGeom prst="roundRect">
            <a:avLst>
              <a:gd name="adj" fmla="val 2909"/>
            </a:avLst>
          </a:prstGeom>
          <a:solidFill>
            <a:srgbClr val="F6E3D6"/>
          </a:solidFill>
          <a:ln w="12700">
            <a:solidFill>
              <a:srgbClr val="F6E3D6"/>
            </a:solidFill>
            <a:prstDash val="solid"/>
          </a:ln>
        </p:spPr>
      </p:sp>
      <p:sp>
        <p:nvSpPr>
          <p:cNvPr id="9" name="Text 6"/>
          <p:cNvSpPr txBox="1"/>
          <p:nvPr/>
        </p:nvSpPr>
        <p:spPr>
          <a:xfrm>
            <a:off x="8046720" y="1810512"/>
            <a:ext cx="338328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What O receives</a:t>
            </a:r>
            <a:endParaRPr lang="en-US" sz="1500" dirty="0"/>
          </a:p>
        </p:txBody>
      </p:sp>
      <p:sp>
        <p:nvSpPr>
          <p:cNvPr id="10" name="Shape 7"/>
          <p:cNvSpPr/>
          <p:nvPr/>
        </p:nvSpPr>
        <p:spPr>
          <a:xfrm>
            <a:off x="8046720" y="2267712"/>
            <a:ext cx="329184" cy="329184"/>
          </a:xfrm>
          <a:prstGeom prst="ellipse">
            <a:avLst/>
          </a:prstGeom>
          <a:solidFill>
            <a:srgbClr val="3D5A80"/>
          </a:solidFill>
          <a:ln w="12700">
            <a:solidFill>
              <a:srgbClr val="3D5A80"/>
            </a:solidFill>
            <a:prstDash val="solid"/>
          </a:ln>
        </p:spPr>
      </p:sp>
      <p:pic>
        <p:nvPicPr>
          <p:cNvPr id="11" name="Image 0" descr="preencoded.png">    </p:cNvPr>
          <p:cNvPicPr>
            <a:picLocks noChangeAspect="1"/>
          </p:cNvPicPr>
          <p:nvPr/>
        </p:nvPicPr>
        <p:blipFill>
          <a:blip r:embed="rId1"/>
          <a:stretch>
            <a:fillRect/>
          </a:stretch>
        </p:blipFill>
        <p:spPr>
          <a:xfrm>
            <a:off x="8125724" y="2346716"/>
            <a:ext cx="171176" cy="171176"/>
          </a:xfrm>
          <a:prstGeom prst="rect">
            <a:avLst/>
          </a:prstGeom>
        </p:spPr>
      </p:pic>
      <p:sp>
        <p:nvSpPr>
          <p:cNvPr id="12" name="Text 8"/>
          <p:cNvSpPr txBox="1"/>
          <p:nvPr/>
        </p:nvSpPr>
        <p:spPr>
          <a:xfrm>
            <a:off x="8503920" y="2286000"/>
            <a:ext cx="3017520" cy="320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Enc(b): looks random</a:t>
            </a:r>
            <a:endParaRPr lang="en-US" sz="1300" dirty="0"/>
          </a:p>
        </p:txBody>
      </p:sp>
      <p:sp>
        <p:nvSpPr>
          <p:cNvPr id="13" name="Shape 9"/>
          <p:cNvSpPr/>
          <p:nvPr/>
        </p:nvSpPr>
        <p:spPr>
          <a:xfrm>
            <a:off x="8046720" y="2724912"/>
            <a:ext cx="329184" cy="329184"/>
          </a:xfrm>
          <a:prstGeom prst="ellipse">
            <a:avLst/>
          </a:prstGeom>
          <a:solidFill>
            <a:srgbClr val="3D5A80"/>
          </a:solidFill>
          <a:ln w="12700">
            <a:solidFill>
              <a:srgbClr val="3D5A80"/>
            </a:solidFill>
            <a:prstDash val="solid"/>
          </a:ln>
        </p:spPr>
      </p:sp>
      <p:pic>
        <p:nvPicPr>
          <p:cNvPr id="14" name="Image 1" descr="preencoded.png">    </p:cNvPr>
          <p:cNvPicPr>
            <a:picLocks noChangeAspect="1"/>
          </p:cNvPicPr>
          <p:nvPr/>
        </p:nvPicPr>
        <p:blipFill>
          <a:blip r:embed="rId2"/>
          <a:stretch>
            <a:fillRect/>
          </a:stretch>
        </p:blipFill>
        <p:spPr>
          <a:xfrm>
            <a:off x="8125724" y="2803916"/>
            <a:ext cx="171176" cy="171176"/>
          </a:xfrm>
          <a:prstGeom prst="rect">
            <a:avLst/>
          </a:prstGeom>
        </p:spPr>
      </p:pic>
      <p:sp>
        <p:nvSpPr>
          <p:cNvPr id="15" name="Text 10"/>
          <p:cNvSpPr txBox="1"/>
          <p:nvPr/>
        </p:nvSpPr>
        <p:spPr>
          <a:xfrm>
            <a:off x="8503920" y="2743200"/>
            <a:ext cx="3017520" cy="320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Enc(ẋ</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looks random</a:t>
            </a:r>
            <a:endParaRPr lang="en-US" sz="1300" dirty="0"/>
          </a:p>
        </p:txBody>
      </p:sp>
      <p:sp>
        <p:nvSpPr>
          <p:cNvPr id="16" name="Shape 11"/>
          <p:cNvSpPr/>
          <p:nvPr/>
        </p:nvSpPr>
        <p:spPr>
          <a:xfrm>
            <a:off x="8046720" y="3182112"/>
            <a:ext cx="329184" cy="329184"/>
          </a:xfrm>
          <a:prstGeom prst="ellipse">
            <a:avLst/>
          </a:prstGeom>
          <a:solidFill>
            <a:srgbClr val="3D5A80"/>
          </a:solidFill>
          <a:ln w="12700">
            <a:solidFill>
              <a:srgbClr val="3D5A80"/>
            </a:solidFill>
            <a:prstDash val="solid"/>
          </a:ln>
        </p:spPr>
      </p:sp>
      <p:pic>
        <p:nvPicPr>
          <p:cNvPr id="17" name="Image 2" descr="preencoded.png">    </p:cNvPr>
          <p:cNvPicPr>
            <a:picLocks noChangeAspect="1"/>
          </p:cNvPicPr>
          <p:nvPr/>
        </p:nvPicPr>
        <p:blipFill>
          <a:blip r:embed="rId3"/>
          <a:stretch>
            <a:fillRect/>
          </a:stretch>
        </p:blipFill>
        <p:spPr>
          <a:xfrm>
            <a:off x="8125724" y="3261116"/>
            <a:ext cx="171176" cy="171176"/>
          </a:xfrm>
          <a:prstGeom prst="rect">
            <a:avLst/>
          </a:prstGeom>
        </p:spPr>
      </p:pic>
      <p:sp>
        <p:nvSpPr>
          <p:cNvPr id="18" name="Text 12"/>
          <p:cNvSpPr txBox="1"/>
          <p:nvPr/>
        </p:nvSpPr>
        <p:spPr>
          <a:xfrm>
            <a:off x="8503920" y="3200400"/>
            <a:ext cx="3017520" cy="320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Enc(ẋ</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looks random</a:t>
            </a:r>
            <a:endParaRPr lang="en-US" sz="1300" dirty="0"/>
          </a:p>
        </p:txBody>
      </p:sp>
      <p:sp>
        <p:nvSpPr>
          <p:cNvPr id="19" name="Shape 13"/>
          <p:cNvSpPr/>
          <p:nvPr/>
        </p:nvSpPr>
        <p:spPr>
          <a:xfrm>
            <a:off x="8046720" y="3639312"/>
            <a:ext cx="329184" cy="329184"/>
          </a:xfrm>
          <a:prstGeom prst="ellipse">
            <a:avLst/>
          </a:prstGeom>
          <a:solidFill>
            <a:srgbClr val="3D5A80"/>
          </a:solidFill>
          <a:ln w="12700">
            <a:solidFill>
              <a:srgbClr val="3D5A80"/>
            </a:solidFill>
            <a:prstDash val="solid"/>
          </a:ln>
        </p:spPr>
      </p:sp>
      <p:pic>
        <p:nvPicPr>
          <p:cNvPr id="20" name="Image 3" descr="preencoded.png">    </p:cNvPr>
          <p:cNvPicPr>
            <a:picLocks noChangeAspect="1"/>
          </p:cNvPicPr>
          <p:nvPr/>
        </p:nvPicPr>
        <p:blipFill>
          <a:blip r:embed="rId4"/>
          <a:stretch>
            <a:fillRect/>
          </a:stretch>
        </p:blipFill>
        <p:spPr>
          <a:xfrm>
            <a:off x="8125724" y="3718316"/>
            <a:ext cx="171176" cy="171176"/>
          </a:xfrm>
          <a:prstGeom prst="rect">
            <a:avLst/>
          </a:prstGeom>
        </p:spPr>
      </p:pic>
      <p:sp>
        <p:nvSpPr>
          <p:cNvPr id="21" name="Text 14"/>
          <p:cNvSpPr txBox="1"/>
          <p:nvPr/>
        </p:nvSpPr>
        <p:spPr>
          <a:xfrm>
            <a:off x="8503920" y="3657600"/>
            <a:ext cx="3017520" cy="32004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Enc(ẋ</a:t>
            </a:r>
            <a:r>
              <a:rPr lang="en-US" sz="1300" baseline="-25000" dirty="0">
                <a:solidFill>
                  <a:srgbClr val="1F2937"/>
                </a:solidFill>
                <a:latin typeface="Calibri" pitchFamily="34" charset="0"/>
                <a:ea typeface="Calibri" pitchFamily="34" charset="-122"/>
                <a:cs typeface="Calibri" pitchFamily="34" charset="-120"/>
              </a:rPr>
              <a:t>2</a:t>
            </a:r>
            <a:r>
              <a:rPr lang="en-US" sz="1300" dirty="0">
                <a:solidFill>
                  <a:srgbClr val="1F2937"/>
                </a:solidFill>
                <a:latin typeface="Calibri" pitchFamily="34" charset="0"/>
                <a:ea typeface="Calibri" pitchFamily="34" charset="-122"/>
                <a:cs typeface="Calibri" pitchFamily="34" charset="-120"/>
              </a:rPr>
              <a:t>): looks random</a:t>
            </a:r>
            <a:endParaRPr lang="en-US" sz="1300" dirty="0"/>
          </a:p>
        </p:txBody>
      </p:sp>
      <p:sp>
        <p:nvSpPr>
          <p:cNvPr id="22" name="Shape 15"/>
          <p:cNvSpPr/>
          <p:nvPr/>
        </p:nvSpPr>
        <p:spPr>
          <a:xfrm>
            <a:off x="548640" y="4526280"/>
            <a:ext cx="11064240" cy="1645920"/>
          </a:xfrm>
          <a:prstGeom prst="roundRect">
            <a:avLst>
              <a:gd name="adj" fmla="val 4444"/>
            </a:avLst>
          </a:prstGeom>
          <a:solidFill>
            <a:srgbClr val="F7F9FC"/>
          </a:solidFill>
          <a:ln w="12700">
            <a:solidFill>
              <a:srgbClr val="F7F9FC"/>
            </a:solidFill>
            <a:prstDash val="solid"/>
          </a:ln>
        </p:spPr>
      </p:sp>
      <p:pic>
        <p:nvPicPr>
          <p:cNvPr id="23" name="Image 4" descr="/home/user/VerticalFederatedRegression/slides/assets/eq/upload.png">    </p:cNvPr>
          <p:cNvPicPr>
            <a:picLocks noChangeAspect="1"/>
          </p:cNvPicPr>
          <p:nvPr/>
        </p:nvPicPr>
        <p:blipFill>
          <a:blip r:embed="rId5"/>
          <a:stretch>
            <a:fillRect/>
          </a:stretch>
        </p:blipFill>
        <p:spPr>
          <a:xfrm>
            <a:off x="822960" y="4709160"/>
            <a:ext cx="7386020" cy="273291"/>
          </a:xfrm>
          <a:prstGeom prst="rect">
            <a:avLst/>
          </a:prstGeom>
        </p:spPr>
      </p:pic>
      <p:sp>
        <p:nvSpPr>
          <p:cNvPr id="24" name="Text 16"/>
          <p:cNvSpPr txBox="1"/>
          <p:nvPr/>
        </p:nvSpPr>
        <p:spPr>
          <a:xfrm>
            <a:off x="822960" y="5440680"/>
            <a:ext cx="10515600" cy="640080"/>
          </a:xfrm>
          <a:prstGeom prst="rect">
            <a:avLst/>
          </a:prstGeom>
          <a:noFill/>
          <a:ln/>
        </p:spPr>
        <p:txBody>
          <a:bodyPr wrap="square" lIns="0" tIns="0" rIns="0" bIns="0" rtlCol="0" anchor="t"/>
          <a:lstStyle/>
          <a:p>
            <a:pPr indent="0" marL="0">
              <a:buNone/>
            </a:pPr>
            <a:r>
              <a:rPr lang="en-US" sz="1350" dirty="0">
                <a:solidFill>
                  <a:srgbClr val="5B6576"/>
                </a:solidFill>
                <a:latin typeface="Calibri" pitchFamily="34" charset="0"/>
                <a:ea typeface="Calibri" pitchFamily="34" charset="-122"/>
                <a:cs typeface="Calibri" pitchFamily="34" charset="-120"/>
              </a:rPr>
              <a:t>R encrypts each vector with its own share; O folds in its share to move it under the joint key. Every position looks the same to O, so it cannot see that 3 and 6 are special.</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3: aggregate</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O multiplies R's encrypted vectors by its own columns, position by position, and sums</a:t>
            </a:r>
            <a:endParaRPr lang="en-US" sz="1600" dirty="0"/>
          </a:p>
        </p:txBody>
      </p:sp>
      <p:sp>
        <p:nvSpPr>
          <p:cNvPr id="4" name="Shape 2"/>
          <p:cNvSpPr/>
          <p:nvPr/>
        </p:nvSpPr>
        <p:spPr>
          <a:xfrm>
            <a:off x="9784080" y="411480"/>
            <a:ext cx="1828800" cy="292608"/>
          </a:xfrm>
          <a:prstGeom prst="roundRect">
            <a:avLst>
              <a:gd name="adj" fmla="val 25000"/>
            </a:avLst>
          </a:prstGeom>
          <a:solidFill>
            <a:srgbClr val="C45A0C"/>
          </a:solidFill>
          <a:ln w="12700">
            <a:solidFill>
              <a:srgbClr val="C45A0C"/>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3 · O</a:t>
            </a:r>
            <a:endParaRPr lang="en-US" sz="1100" dirty="0"/>
          </a:p>
        </p:txBody>
      </p:sp>
      <p:sp>
        <p:nvSpPr>
          <p:cNvPr id="6" name="Text 4"/>
          <p:cNvSpPr txBox="1"/>
          <p:nvPr/>
        </p:nvSpPr>
        <p:spPr>
          <a:xfrm>
            <a:off x="548640" y="1554480"/>
            <a:ext cx="548640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O's columns in its shuffled order</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9144000" cy="914400"/>
        </p:xfrm>
        <a:graphic>
          <a:graphicData uri="http://schemas.openxmlformats.org/drawingml/2006/table">
            <a:tbl>
              <a:tblPr/>
              <a:tblGrid>
                <a:gridCol w="1463040"/>
                <a:gridCol w="868680"/>
                <a:gridCol w="868680"/>
                <a:gridCol w="868680"/>
                <a:gridCol w="868680"/>
                <a:gridCol w="868680"/>
                <a:gridCol w="868680"/>
              </a:tblGrid>
              <a:tr h="365760">
                <a:tc>
                  <a:txBody>
                    <a:bodyPr/>
                    <a:lstStyle/>
                    <a:p>
                      <a:pPr indent="0" marL="0">
                        <a:buNone/>
                      </a:pP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1: 150</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2: dummy</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3: 221</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4: 088</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5: 399</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6: 104</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age x</a:t>
                      </a:r>
                      <a:r>
                        <a:rPr lang="en-US" sz="1150" b="1" baseline="-25000" dirty="0">
                          <a:solidFill>
                            <a:srgbClr val="5B6576"/>
                          </a:solidFill>
                          <a:latin typeface="Calibri" pitchFamily="34" charset="0"/>
                          <a:ea typeface="Calibri" pitchFamily="34" charset="-122"/>
                          <a:cs typeface="Calibri" pitchFamily="34" charset="-120"/>
                        </a:rPr>
                        <a:t>O1</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0.1</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0.8</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0.3</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−0.2</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−0.6</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r h="365760">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benefits x</a:t>
                      </a:r>
                      <a:r>
                        <a:rPr lang="en-US" sz="1150" b="1" baseline="-25000" dirty="0">
                          <a:solidFill>
                            <a:srgbClr val="5B6576"/>
                          </a:solidFill>
                          <a:latin typeface="Calibri" pitchFamily="34" charset="0"/>
                          <a:ea typeface="Calibri" pitchFamily="34" charset="-122"/>
                          <a:cs typeface="Calibri" pitchFamily="34" charset="-120"/>
                        </a:rPr>
                        <a:t>O2</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r h="365760">
                <a:tc>
                  <a:txBody>
                    <a:bodyPr/>
                    <a:lstStyle/>
                    <a:p>
                      <a:pPr indent="0" marL="0">
                        <a:buNone/>
                      </a:pPr>
                      <a:r>
                        <a:rPr lang="en-US" sz="1150" b="1" dirty="0">
                          <a:solidFill>
                            <a:srgbClr val="5B6576"/>
                          </a:solidFill>
                          <a:latin typeface="Calibri" pitchFamily="34" charset="0"/>
                          <a:ea typeface="Calibri" pitchFamily="34" charset="-122"/>
                          <a:cs typeface="Calibri" pitchFamily="34" charset="-120"/>
                        </a:rPr>
                        <a:t>income y</a:t>
                      </a:r>
                      <a:endParaRPr lang="en-US" sz="11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−0.2</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0.0</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0.4</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−0.5</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0.9</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marL="38100" marR="38100" marT="12700" marB="127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FFF4C2"/>
                    </a:solidFill>
                  </a:tcPr>
                </a:tc>
              </a:tr>
            </a:tbl>
          </a:graphicData>
        </a:graphic>
      </p:graphicFrame>
      <p:sp>
        <p:nvSpPr>
          <p:cNvPr id="8" name="Shape 5"/>
          <p:cNvSpPr/>
          <p:nvPr/>
        </p:nvSpPr>
        <p:spPr>
          <a:xfrm>
            <a:off x="548640" y="3611880"/>
            <a:ext cx="6675120" cy="2560320"/>
          </a:xfrm>
          <a:prstGeom prst="roundRect">
            <a:avLst>
              <a:gd name="adj" fmla="val 2857"/>
            </a:avLst>
          </a:prstGeom>
          <a:solidFill>
            <a:srgbClr val="F7F9FC"/>
          </a:solidFill>
          <a:ln w="12700">
            <a:solidFill>
              <a:srgbClr val="F7F9FC"/>
            </a:solidFill>
            <a:prstDash val="solid"/>
          </a:ln>
        </p:spPr>
      </p:sp>
      <p:sp>
        <p:nvSpPr>
          <p:cNvPr id="9" name="Text 6"/>
          <p:cNvSpPr txBox="1"/>
          <p:nvPr/>
        </p:nvSpPr>
        <p:spPr>
          <a:xfrm>
            <a:off x="777240" y="3721608"/>
            <a:ext cx="6309360" cy="365760"/>
          </a:xfrm>
          <a:prstGeom prst="rect">
            <a:avLst/>
          </a:prstGeom>
          <a:noFill/>
          <a:ln/>
        </p:spPr>
        <p:txBody>
          <a:bodyPr wrap="square" lIns="0" tIns="0" rIns="0" bIns="0" rtlCol="0" anchor="t"/>
          <a:lstStyle/>
          <a:p>
            <a:pPr indent="0" marL="0">
              <a:buNone/>
            </a:pPr>
            <a:r>
              <a:rPr lang="en-US" sz="1400" b="1" dirty="0">
                <a:solidFill>
                  <a:srgbClr val="3D5A80"/>
                </a:solidFill>
                <a:latin typeface="Calibri" pitchFamily="34" charset="0"/>
                <a:ea typeface="Calibri" pitchFamily="34" charset="-122"/>
                <a:cs typeface="Calibri" pitchFamily="34" charset="-120"/>
              </a:rPr>
              <a:t>Two of the sums, worked out (other positions multiply by 0)</a:t>
            </a:r>
            <a:endParaRPr lang="en-US" sz="1400" dirty="0"/>
          </a:p>
        </p:txBody>
      </p:sp>
      <p:sp>
        <p:nvSpPr>
          <p:cNvPr id="10" name="Text 7"/>
          <p:cNvSpPr txBox="1"/>
          <p:nvPr/>
        </p:nvSpPr>
        <p:spPr>
          <a:xfrm>
            <a:off x="777240" y="4160520"/>
            <a:ext cx="6309360" cy="1920240"/>
          </a:xfrm>
          <a:prstGeom prst="rect">
            <a:avLst/>
          </a:prstGeom>
          <a:noFill/>
          <a:ln/>
        </p:spPr>
        <p:txBody>
          <a:bodyPr wrap="square" lIns="0" tIns="0" rIns="0" bIns="0" rtlCol="0" anchor="t"/>
          <a:lstStyle/>
          <a:p>
            <a:pPr indent="0" marL="0">
              <a:spcAft>
                <a:spcPts val="1400"/>
              </a:spcAft>
              <a:buNone/>
            </a:pPr>
            <a:r>
              <a:rPr lang="en-US" sz="1500" dirty="0">
                <a:solidFill>
                  <a:srgbClr val="1F2937"/>
                </a:solidFill>
                <a:latin typeface="Calibri" pitchFamily="34" charset="0"/>
                <a:ea typeface="Calibri" pitchFamily="34" charset="-122"/>
                <a:cs typeface="Calibri" pitchFamily="34" charset="-120"/>
              </a:rPr>
              <a:t>C</a:t>
            </a:r>
            <a:r>
              <a:rPr lang="en-US" sz="1500" baseline="-25000" dirty="0">
                <a:solidFill>
                  <a:srgbClr val="1F2937"/>
                </a:solidFill>
                <a:latin typeface="Calibri" pitchFamily="34" charset="0"/>
                <a:ea typeface="Calibri" pitchFamily="34" charset="-122"/>
                <a:cs typeface="Calibri" pitchFamily="34" charset="-120"/>
              </a:rPr>
              <a:t>11</a:t>
            </a:r>
            <a:r>
              <a:rPr lang="en-US" sz="1500" dirty="0">
                <a:solidFill>
                  <a:srgbClr val="1F2937"/>
                </a:solidFill>
                <a:latin typeface="Calibri" pitchFamily="34" charset="0"/>
                <a:ea typeface="Calibri" pitchFamily="34" charset="-122"/>
                <a:cs typeface="Calibri" pitchFamily="34" charset="-120"/>
              </a:rPr>
              <a:t> = Σ</a:t>
            </a:r>
            <a:r>
              <a:rPr lang="en-US" sz="1500" baseline="-25000" dirty="0">
                <a:solidFill>
                  <a:srgbClr val="1F2937"/>
                </a:solidFill>
                <a:latin typeface="Calibri" pitchFamily="34" charset="0"/>
                <a:ea typeface="Calibri" pitchFamily="34" charset="-122"/>
                <a:cs typeface="Calibri" pitchFamily="34" charset="-120"/>
              </a:rPr>
              <a:t>t</a:t>
            </a:r>
            <a:r>
              <a:rPr lang="en-US" sz="1500" dirty="0">
                <a:solidFill>
                  <a:srgbClr val="1F2937"/>
                </a:solidFill>
                <a:latin typeface="Calibri" pitchFamily="34" charset="0"/>
                <a:ea typeface="Calibri" pitchFamily="34" charset="-122"/>
                <a:cs typeface="Calibri" pitchFamily="34" charset="-120"/>
              </a:rPr>
              <a:t> ẋ</a:t>
            </a:r>
            <a:r>
              <a:rPr lang="en-US" sz="1500" baseline="-25000" dirty="0">
                <a:solidFill>
                  <a:srgbClr val="1F2937"/>
                </a:solidFill>
                <a:latin typeface="Calibri" pitchFamily="34" charset="0"/>
                <a:ea typeface="Calibri" pitchFamily="34" charset="-122"/>
                <a:cs typeface="Calibri" pitchFamily="34" charset="-120"/>
              </a:rPr>
              <a:t>1,t</a:t>
            </a:r>
            <a:r>
              <a:rPr lang="en-US" sz="1500" dirty="0">
                <a:solidFill>
                  <a:srgbClr val="1F2937"/>
                </a:solidFill>
                <a:latin typeface="Calibri" pitchFamily="34" charset="0"/>
                <a:ea typeface="Calibri" pitchFamily="34" charset="-122"/>
                <a:cs typeface="Calibri" pitchFamily="34" charset="-120"/>
              </a:rPr>
              <a:t> · age</a:t>
            </a:r>
            <a:r>
              <a:rPr lang="en-US" sz="1500" baseline="-25000" dirty="0">
                <a:solidFill>
                  <a:srgbClr val="1F2937"/>
                </a:solidFill>
                <a:latin typeface="Calibri" pitchFamily="34" charset="0"/>
                <a:ea typeface="Calibri" pitchFamily="34" charset="-122"/>
                <a:cs typeface="Calibri" pitchFamily="34" charset="-120"/>
              </a:rPr>
              <a:t>t</a:t>
            </a:r>
            <a:r>
              <a:rPr lang="en-US" sz="1500" dirty="0">
                <a:solidFill>
                  <a:srgbClr val="1F2937"/>
                </a:solidFill>
                <a:latin typeface="Calibri" pitchFamily="34" charset="0"/>
                <a:ea typeface="Calibri" pitchFamily="34" charset="-122"/>
                <a:cs typeface="Calibri" pitchFamily="34" charset="-120"/>
              </a:rPr>
              <a:t> = (−0.4)(0.8) + (0.5)(−0.6) = </a:t>
            </a:r>
            <a:r>
              <a:rPr lang="en-US" sz="1500" b="1" dirty="0">
                <a:solidFill>
                  <a:srgbClr val="1F2937"/>
                </a:solidFill>
                <a:latin typeface="Calibri" pitchFamily="34" charset="0"/>
                <a:ea typeface="Calibri" pitchFamily="34" charset="-122"/>
                <a:cs typeface="Calibri" pitchFamily="34" charset="-120"/>
              </a:rPr>
              <a:t>−0.62</a:t>
            </a:r>
            <a:r>
              <a:rPr lang="en-US" sz="1250" dirty="0">
                <a:solidFill>
                  <a:srgbClr val="5B6576"/>
                </a:solidFill>
                <a:latin typeface="Calibri" pitchFamily="34" charset="0"/>
                <a:ea typeface="Calibri" pitchFamily="34" charset="-122"/>
                <a:cs typeface="Calibri" pitchFamily="34" charset="-120"/>
              </a:rPr>
              <a:t>  (cross-party: pairs R's row with O's row)</a:t>
            </a:r>
            <a:endParaRPr lang="en-US" sz="1500" dirty="0"/>
          </a:p>
          <a:p>
            <a:pPr indent="0" marL="0">
              <a:spcAft>
                <a:spcPts val="1400"/>
              </a:spcAft>
              <a:buNone/>
            </a:pPr>
            <a:r>
              <a:rPr lang="en-US" sz="1500" dirty="0">
                <a:solidFill>
                  <a:srgbClr val="1F2937"/>
                </a:solidFill>
                <a:latin typeface="Calibri" pitchFamily="34" charset="0"/>
                <a:ea typeface="Calibri" pitchFamily="34" charset="-122"/>
                <a:cs typeface="Calibri" pitchFamily="34" charset="-120"/>
              </a:rPr>
              <a:t>B</a:t>
            </a:r>
            <a:r>
              <a:rPr lang="en-US" sz="1500" baseline="-25000" dirty="0">
                <a:solidFill>
                  <a:srgbClr val="1F2937"/>
                </a:solidFill>
                <a:latin typeface="Calibri" pitchFamily="34" charset="0"/>
                <a:ea typeface="Calibri" pitchFamily="34" charset="-122"/>
                <a:cs typeface="Calibri" pitchFamily="34" charset="-120"/>
              </a:rPr>
              <a:t>11</a:t>
            </a:r>
            <a:r>
              <a:rPr lang="en-US" sz="1500" dirty="0">
                <a:solidFill>
                  <a:srgbClr val="1F2937"/>
                </a:solidFill>
                <a:latin typeface="Calibri" pitchFamily="34" charset="0"/>
                <a:ea typeface="Calibri" pitchFamily="34" charset="-122"/>
                <a:cs typeface="Calibri" pitchFamily="34" charset="-120"/>
              </a:rPr>
              <a:t> = Σ</a:t>
            </a:r>
            <a:r>
              <a:rPr lang="en-US" sz="1500" baseline="-25000" dirty="0">
                <a:solidFill>
                  <a:srgbClr val="1F2937"/>
                </a:solidFill>
                <a:latin typeface="Calibri" pitchFamily="34" charset="0"/>
                <a:ea typeface="Calibri" pitchFamily="34" charset="-122"/>
                <a:cs typeface="Calibri" pitchFamily="34" charset="-120"/>
              </a:rPr>
              <a:t>t</a:t>
            </a:r>
            <a:r>
              <a:rPr lang="en-US" sz="1500" dirty="0">
                <a:solidFill>
                  <a:srgbClr val="1F2937"/>
                </a:solidFill>
                <a:latin typeface="Calibri" pitchFamily="34" charset="0"/>
                <a:ea typeface="Calibri" pitchFamily="34" charset="-122"/>
                <a:cs typeface="Calibri" pitchFamily="34" charset="-120"/>
              </a:rPr>
              <a:t> b</a:t>
            </a:r>
            <a:r>
              <a:rPr lang="en-US" sz="1500" baseline="-25000" dirty="0">
                <a:solidFill>
                  <a:srgbClr val="1F2937"/>
                </a:solidFill>
                <a:latin typeface="Calibri" pitchFamily="34" charset="0"/>
                <a:ea typeface="Calibri" pitchFamily="34" charset="-122"/>
                <a:cs typeface="Calibri" pitchFamily="34" charset="-120"/>
              </a:rPr>
              <a:t>t</a:t>
            </a:r>
            <a:r>
              <a:rPr lang="en-US" sz="1500" dirty="0">
                <a:solidFill>
                  <a:srgbClr val="1F2937"/>
                </a:solidFill>
                <a:latin typeface="Calibri" pitchFamily="34" charset="0"/>
                <a:ea typeface="Calibri" pitchFamily="34" charset="-122"/>
                <a:cs typeface="Calibri" pitchFamily="34" charset="-120"/>
              </a:rPr>
              <a:t> · age</a:t>
            </a:r>
            <a:r>
              <a:rPr lang="en-US" sz="1500" baseline="-25000" dirty="0">
                <a:solidFill>
                  <a:srgbClr val="1F2937"/>
                </a:solidFill>
                <a:latin typeface="Calibri" pitchFamily="34" charset="0"/>
                <a:ea typeface="Calibri" pitchFamily="34" charset="-122"/>
                <a:cs typeface="Calibri" pitchFamily="34" charset="-120"/>
              </a:rPr>
              <a:t>t</a:t>
            </a:r>
            <a:r>
              <a:rPr lang="en-US" sz="1500" baseline="30000" dirty="0">
                <a:solidFill>
                  <a:srgbClr val="1F2937"/>
                </a:solidFill>
                <a:latin typeface="Calibri" pitchFamily="34" charset="0"/>
                <a:ea typeface="Calibri" pitchFamily="34" charset="-122"/>
                <a:cs typeface="Calibri" pitchFamily="34" charset="-120"/>
              </a:rPr>
              <a:t>2</a:t>
            </a:r>
            <a:r>
              <a:rPr lang="en-US" sz="1500" dirty="0">
                <a:solidFill>
                  <a:srgbClr val="1F2937"/>
                </a:solidFill>
                <a:latin typeface="Calibri" pitchFamily="34" charset="0"/>
                <a:ea typeface="Calibri" pitchFamily="34" charset="-122"/>
                <a:cs typeface="Calibri" pitchFamily="34" charset="-120"/>
              </a:rPr>
              <a:t> = (0.8)</a:t>
            </a:r>
            <a:r>
              <a:rPr lang="en-US" sz="1500" baseline="30000" dirty="0">
                <a:solidFill>
                  <a:srgbClr val="1F2937"/>
                </a:solidFill>
                <a:latin typeface="Calibri" pitchFamily="34" charset="0"/>
                <a:ea typeface="Calibri" pitchFamily="34" charset="-122"/>
                <a:cs typeface="Calibri" pitchFamily="34" charset="-120"/>
              </a:rPr>
              <a:t>2</a:t>
            </a:r>
            <a:r>
              <a:rPr lang="en-US" sz="1500" dirty="0">
                <a:solidFill>
                  <a:srgbClr val="1F2937"/>
                </a:solidFill>
                <a:latin typeface="Calibri" pitchFamily="34" charset="0"/>
                <a:ea typeface="Calibri" pitchFamily="34" charset="-122"/>
                <a:cs typeface="Calibri" pitchFamily="34" charset="-120"/>
              </a:rPr>
              <a:t> + (−0.6)</a:t>
            </a:r>
            <a:r>
              <a:rPr lang="en-US" sz="1500" baseline="30000" dirty="0">
                <a:solidFill>
                  <a:srgbClr val="1F2937"/>
                </a:solidFill>
                <a:latin typeface="Calibri" pitchFamily="34" charset="0"/>
                <a:ea typeface="Calibri" pitchFamily="34" charset="-122"/>
                <a:cs typeface="Calibri" pitchFamily="34" charset="-120"/>
              </a:rPr>
              <a:t>2</a:t>
            </a:r>
            <a:r>
              <a:rPr lang="en-US" sz="1500" dirty="0">
                <a:solidFill>
                  <a:srgbClr val="1F2937"/>
                </a:solidFill>
                <a:latin typeface="Calibri" pitchFamily="34" charset="0"/>
                <a:ea typeface="Calibri" pitchFamily="34" charset="-122"/>
                <a:cs typeface="Calibri" pitchFamily="34" charset="-120"/>
              </a:rPr>
              <a:t> = </a:t>
            </a:r>
            <a:r>
              <a:rPr lang="en-US" sz="1500" b="1" dirty="0">
                <a:solidFill>
                  <a:srgbClr val="1F2937"/>
                </a:solidFill>
                <a:latin typeface="Calibri" pitchFamily="34" charset="0"/>
                <a:ea typeface="Calibri" pitchFamily="34" charset="-122"/>
                <a:cs typeface="Calibri" pitchFamily="34" charset="-120"/>
              </a:rPr>
              <a:t>1.00</a:t>
            </a:r>
            <a:r>
              <a:rPr lang="en-US" sz="1250" dirty="0">
                <a:solidFill>
                  <a:srgbClr val="5B6576"/>
                </a:solidFill>
                <a:latin typeface="Calibri" pitchFamily="34" charset="0"/>
                <a:ea typeface="Calibri" pitchFamily="34" charset="-122"/>
                <a:cs typeface="Calibri" pitchFamily="34" charset="-120"/>
              </a:rPr>
              <a:t>  (O's matched rows only)</a:t>
            </a:r>
            <a:endParaRPr lang="en-US" sz="1500" dirty="0"/>
          </a:p>
        </p:txBody>
      </p:sp>
      <p:sp>
        <p:nvSpPr>
          <p:cNvPr id="11" name="Shape 8"/>
          <p:cNvSpPr/>
          <p:nvPr/>
        </p:nvSpPr>
        <p:spPr>
          <a:xfrm>
            <a:off x="7452360" y="3611880"/>
            <a:ext cx="4160520" cy="2560320"/>
          </a:xfrm>
          <a:prstGeom prst="roundRect">
            <a:avLst>
              <a:gd name="adj" fmla="val 2857"/>
            </a:avLst>
          </a:prstGeom>
          <a:solidFill>
            <a:srgbClr val="F6E3D6"/>
          </a:solidFill>
          <a:ln w="12700">
            <a:solidFill>
              <a:srgbClr val="F6E3D6"/>
            </a:solidFill>
            <a:prstDash val="solid"/>
          </a:ln>
        </p:spPr>
      </p:sp>
      <p:sp>
        <p:nvSpPr>
          <p:cNvPr id="12" name="Text 9"/>
          <p:cNvSpPr txBox="1"/>
          <p:nvPr/>
        </p:nvSpPr>
        <p:spPr>
          <a:xfrm>
            <a:off x="7680960" y="3721608"/>
            <a:ext cx="3749040" cy="365760"/>
          </a:xfrm>
          <a:prstGeom prst="rect">
            <a:avLst/>
          </a:prstGeom>
          <a:noFill/>
          <a:ln/>
        </p:spPr>
        <p:txBody>
          <a:bodyPr wrap="square" lIns="0" tIns="0" rIns="0" bIns="0" rtlCol="0" anchor="t"/>
          <a:lstStyle/>
          <a:p>
            <a:pPr indent="0" marL="0">
              <a:buNone/>
            </a:pPr>
            <a:r>
              <a:rPr lang="en-US" sz="1400" b="1" dirty="0">
                <a:solidFill>
                  <a:srgbClr val="C45A0C"/>
                </a:solidFill>
                <a:latin typeface="Calibri" pitchFamily="34" charset="0"/>
                <a:ea typeface="Calibri" pitchFamily="34" charset="-122"/>
                <a:cs typeface="Calibri" pitchFamily="34" charset="-120"/>
              </a:rPr>
              <a:t>All results, still encrypted</a:t>
            </a:r>
            <a:endParaRPr lang="en-US" sz="1400" dirty="0"/>
          </a:p>
        </p:txBody>
      </p:sp>
      <p:sp>
        <p:nvSpPr>
          <p:cNvPr id="13" name="Text 10"/>
          <p:cNvSpPr txBox="1"/>
          <p:nvPr/>
        </p:nvSpPr>
        <p:spPr>
          <a:xfrm>
            <a:off x="7680960" y="4133088"/>
            <a:ext cx="3794760" cy="14173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B: 1.00, −0.60, 1.00</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C: 0.20, 1.00; −0.62, 0.50; 0.76, −0.20</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c</a:t>
            </a:r>
            <a:r>
              <a:rPr lang="en-US" sz="1300" baseline="-25000" dirty="0">
                <a:solidFill>
                  <a:srgbClr val="1F2937"/>
                </a:solidFill>
                <a:latin typeface="Calibri" pitchFamily="34" charset="0"/>
                <a:ea typeface="Calibri" pitchFamily="34" charset="-122"/>
                <a:cs typeface="Calibri" pitchFamily="34" charset="-120"/>
              </a:rPr>
              <a:t>R</a:t>
            </a:r>
            <a:r>
              <a:rPr lang="en-US" sz="1300" dirty="0">
                <a:solidFill>
                  <a:srgbClr val="1F2937"/>
                </a:solidFill>
                <a:latin typeface="Calibri" pitchFamily="34" charset="0"/>
                <a:ea typeface="Calibri" pitchFamily="34" charset="-122"/>
                <a:cs typeface="Calibri" pitchFamily="34" charset="-120"/>
              </a:rPr>
              <a:t>: 1.10, 0.19, 0.18</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c</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−0.10, 0.70</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y</a:t>
            </a:r>
            <a:r>
              <a:rPr lang="en-US" sz="1300" baseline="30000" dirty="0">
                <a:solidFill>
                  <a:srgbClr val="1F2937"/>
                </a:solidFill>
                <a:latin typeface="Calibri" pitchFamily="34" charset="0"/>
                <a:ea typeface="Calibri" pitchFamily="34" charset="-122"/>
                <a:cs typeface="Calibri" pitchFamily="34" charset="-120"/>
              </a:rPr>
              <a:t>T</a:t>
            </a:r>
            <a:r>
              <a:rPr lang="en-US" sz="1300" dirty="0">
                <a:solidFill>
                  <a:srgbClr val="1F2937"/>
                </a:solidFill>
                <a:latin typeface="Calibri" pitchFamily="34" charset="0"/>
                <a:ea typeface="Calibri" pitchFamily="34" charset="-122"/>
                <a:cs typeface="Calibri" pitchFamily="34" charset="-120"/>
              </a:rPr>
              <a:t>y: 0.65</a:t>
            </a:r>
            <a:endParaRPr lang="en-US" sz="1300" dirty="0"/>
          </a:p>
        </p:txBody>
      </p:sp>
      <p:sp>
        <p:nvSpPr>
          <p:cNvPr id="14" name="Text 11"/>
          <p:cNvSpPr txBox="1"/>
          <p:nvPr/>
        </p:nvSpPr>
        <p:spPr>
          <a:xfrm>
            <a:off x="7680960" y="5623560"/>
            <a:ext cx="3749040" cy="411480"/>
          </a:xfrm>
          <a:prstGeom prst="rect">
            <a:avLst/>
          </a:prstGeom>
          <a:noFill/>
          <a:ln/>
        </p:spPr>
        <p:txBody>
          <a:bodyPr wrap="square" lIns="0" tIns="0" rIns="0" bIns="0" rtlCol="0" anchor="t"/>
          <a:lstStyle/>
          <a:p>
            <a:pPr indent="0" marL="0">
              <a:buNone/>
            </a:pPr>
            <a:r>
              <a:rPr lang="en-US" sz="1350" b="1" dirty="0">
                <a:solidFill>
                  <a:srgbClr val="1B8A7A"/>
                </a:solidFill>
                <a:latin typeface="Calibri" pitchFamily="34" charset="0"/>
                <a:ea typeface="Calibri" pitchFamily="34" charset="-122"/>
                <a:cs typeface="Calibri" pitchFamily="34" charset="-120"/>
              </a:rPr>
              <a:t>Identical to the pooled answer.</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3: packing the results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Each released number sits alone in its own slot of a packed ciphertext</a:t>
            </a:r>
            <a:endParaRPr lang="en-US" sz="1600" dirty="0"/>
          </a:p>
        </p:txBody>
      </p:sp>
      <p:sp>
        <p:nvSpPr>
          <p:cNvPr id="4" name="Shape 2"/>
          <p:cNvSpPr/>
          <p:nvPr/>
        </p:nvSpPr>
        <p:spPr>
          <a:xfrm>
            <a:off x="9784080" y="411480"/>
            <a:ext cx="1828800" cy="292608"/>
          </a:xfrm>
          <a:prstGeom prst="roundRect">
            <a:avLst>
              <a:gd name="adj" fmla="val 25000"/>
            </a:avLst>
          </a:prstGeom>
          <a:solidFill>
            <a:srgbClr val="C45A0C"/>
          </a:solidFill>
          <a:ln w="12700">
            <a:solidFill>
              <a:srgbClr val="C45A0C"/>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3 · O</a:t>
            </a:r>
            <a:endParaRPr lang="en-US" sz="1100" dirty="0"/>
          </a:p>
        </p:txBody>
      </p:sp>
      <p:sp>
        <p:nvSpPr>
          <p:cNvPr id="6" name="Text 4"/>
          <p:cNvSpPr txBox="1"/>
          <p:nvPr/>
        </p:nvSpPr>
        <p:spPr>
          <a:xfrm>
            <a:off x="548640" y="1600200"/>
            <a:ext cx="548640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M</a:t>
            </a:r>
            <a:r>
              <a:rPr lang="en-US" sz="1600" b="1" baseline="-25000" dirty="0">
                <a:solidFill>
                  <a:srgbClr val="14213D"/>
                </a:solidFill>
                <a:latin typeface="Cambria" pitchFamily="34" charset="0"/>
                <a:ea typeface="Cambria" pitchFamily="34" charset="-122"/>
                <a:cs typeface="Cambria" pitchFamily="34" charset="-120"/>
              </a:rPr>
              <a:t>1</a:t>
            </a:r>
            <a:r>
              <a:rPr lang="en-US" sz="1600" b="1" dirty="0">
                <a:solidFill>
                  <a:srgbClr val="14213D"/>
                </a:solidFill>
                <a:latin typeface="Cambria" pitchFamily="34" charset="0"/>
                <a:ea typeface="Cambria" pitchFamily="34" charset="-122"/>
                <a:cs typeface="Cambria" pitchFamily="34" charset="-120"/>
              </a:rPr>
              <a:t>: for stage 1</a:t>
            </a:r>
            <a:endParaRPr lang="en-US" sz="1600" dirty="0"/>
          </a:p>
        </p:txBody>
      </p:sp>
      <p:sp>
        <p:nvSpPr>
          <p:cNvPr id="7" name="Text 5"/>
          <p:cNvSpPr txBox="1"/>
          <p:nvPr/>
        </p:nvSpPr>
        <p:spPr>
          <a:xfrm>
            <a:off x="6035040" y="1627632"/>
            <a:ext cx="5577840" cy="365760"/>
          </a:xfrm>
          <a:prstGeom prst="rect">
            <a:avLst/>
          </a:prstGeom>
          <a:noFill/>
          <a:ln/>
        </p:spPr>
        <p:txBody>
          <a:bodyPr wrap="square" lIns="0" tIns="0" rIns="0" bIns="0" rtlCol="0" anchor="t"/>
          <a:lstStyle/>
          <a:p>
            <a:pPr algn="r" indent="0" marL="0">
              <a:buNone/>
            </a:pPr>
            <a:r>
              <a:rPr lang="en-US" sz="1300" dirty="0">
                <a:solidFill>
                  <a:srgbClr val="5B6576"/>
                </a:solidFill>
                <a:latin typeface="Calibri" pitchFamily="34" charset="0"/>
                <a:ea typeface="Calibri" pitchFamily="34" charset="-122"/>
                <a:cs typeface="Calibri" pitchFamily="34" charset="-120"/>
              </a:rPr>
              <a:t>B and C only (9 slots); the other 8,183 slots hold 0</a:t>
            </a:r>
            <a:endParaRPr lang="en-US" sz="1300" dirty="0"/>
          </a:p>
        </p:txBody>
      </p:sp>
      <p:sp>
        <p:nvSpPr>
          <p:cNvPr id="8" name="Shape 6"/>
          <p:cNvSpPr/>
          <p:nvPr/>
        </p:nvSpPr>
        <p:spPr>
          <a:xfrm>
            <a:off x="548640" y="2057400"/>
            <a:ext cx="701040" cy="868680"/>
          </a:xfrm>
          <a:prstGeom prst="rect">
            <a:avLst/>
          </a:prstGeom>
          <a:solidFill>
            <a:srgbClr val="F3D2BC"/>
          </a:solidFill>
          <a:ln w="12700">
            <a:solidFill>
              <a:srgbClr val="FFFFFF"/>
            </a:solidFill>
            <a:prstDash val="solid"/>
          </a:ln>
        </p:spPr>
      </p:sp>
      <p:sp>
        <p:nvSpPr>
          <p:cNvPr id="9" name="Text 7"/>
          <p:cNvSpPr txBox="1"/>
          <p:nvPr/>
        </p:nvSpPr>
        <p:spPr>
          <a:xfrm>
            <a:off x="548640" y="2103120"/>
            <a:ext cx="701040"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a:t>
            </a:r>
            <a:r>
              <a:rPr lang="en-US" sz="1150" b="1" baseline="-25000" dirty="0">
                <a:solidFill>
                  <a:srgbClr val="1F2937"/>
                </a:solidFill>
                <a:latin typeface="Calibri" pitchFamily="34" charset="0"/>
                <a:ea typeface="Calibri" pitchFamily="34" charset="-122"/>
                <a:cs typeface="Calibri" pitchFamily="34" charset="-120"/>
              </a:rPr>
              <a:t>11</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1.00</a:t>
            </a:r>
            <a:endParaRPr lang="en-US" sz="1500" dirty="0"/>
          </a:p>
        </p:txBody>
      </p:sp>
      <p:sp>
        <p:nvSpPr>
          <p:cNvPr id="10" name="Shape 8"/>
          <p:cNvSpPr/>
          <p:nvPr/>
        </p:nvSpPr>
        <p:spPr>
          <a:xfrm>
            <a:off x="1286256" y="2057400"/>
            <a:ext cx="701040" cy="868680"/>
          </a:xfrm>
          <a:prstGeom prst="rect">
            <a:avLst/>
          </a:prstGeom>
          <a:solidFill>
            <a:srgbClr val="F3D2BC"/>
          </a:solidFill>
          <a:ln w="12700">
            <a:solidFill>
              <a:srgbClr val="FFFFFF"/>
            </a:solidFill>
            <a:prstDash val="solid"/>
          </a:ln>
        </p:spPr>
      </p:sp>
      <p:sp>
        <p:nvSpPr>
          <p:cNvPr id="11" name="Text 9"/>
          <p:cNvSpPr txBox="1"/>
          <p:nvPr/>
        </p:nvSpPr>
        <p:spPr>
          <a:xfrm>
            <a:off x="1286256" y="2103120"/>
            <a:ext cx="701040"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a:t>
            </a:r>
            <a:r>
              <a:rPr lang="en-US" sz="1150" b="1" baseline="-25000" dirty="0">
                <a:solidFill>
                  <a:srgbClr val="1F2937"/>
                </a:solidFill>
                <a:latin typeface="Calibri" pitchFamily="34" charset="0"/>
                <a:ea typeface="Calibri" pitchFamily="34" charset="-122"/>
                <a:cs typeface="Calibri" pitchFamily="34" charset="-120"/>
              </a:rPr>
              <a:t>12</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−0.60</a:t>
            </a:r>
            <a:endParaRPr lang="en-US" sz="1500" dirty="0"/>
          </a:p>
        </p:txBody>
      </p:sp>
      <p:sp>
        <p:nvSpPr>
          <p:cNvPr id="12" name="Shape 10"/>
          <p:cNvSpPr/>
          <p:nvPr/>
        </p:nvSpPr>
        <p:spPr>
          <a:xfrm>
            <a:off x="2023872" y="2057400"/>
            <a:ext cx="701040" cy="868680"/>
          </a:xfrm>
          <a:prstGeom prst="rect">
            <a:avLst/>
          </a:prstGeom>
          <a:solidFill>
            <a:srgbClr val="F3D2BC"/>
          </a:solidFill>
          <a:ln w="12700">
            <a:solidFill>
              <a:srgbClr val="FFFFFF"/>
            </a:solidFill>
            <a:prstDash val="solid"/>
          </a:ln>
        </p:spPr>
      </p:sp>
      <p:sp>
        <p:nvSpPr>
          <p:cNvPr id="13" name="Text 11"/>
          <p:cNvSpPr txBox="1"/>
          <p:nvPr/>
        </p:nvSpPr>
        <p:spPr>
          <a:xfrm>
            <a:off x="2023872" y="2103120"/>
            <a:ext cx="701040"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a:t>
            </a:r>
            <a:r>
              <a:rPr lang="en-US" sz="1150" b="1" baseline="-25000" dirty="0">
                <a:solidFill>
                  <a:srgbClr val="1F2937"/>
                </a:solidFill>
                <a:latin typeface="Calibri" pitchFamily="34" charset="0"/>
                <a:ea typeface="Calibri" pitchFamily="34" charset="-122"/>
                <a:cs typeface="Calibri" pitchFamily="34" charset="-120"/>
              </a:rPr>
              <a:t>22</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1.00</a:t>
            </a:r>
            <a:endParaRPr lang="en-US" sz="1500" dirty="0"/>
          </a:p>
        </p:txBody>
      </p:sp>
      <p:sp>
        <p:nvSpPr>
          <p:cNvPr id="14" name="Shape 12"/>
          <p:cNvSpPr/>
          <p:nvPr/>
        </p:nvSpPr>
        <p:spPr>
          <a:xfrm>
            <a:off x="2761488" y="2057400"/>
            <a:ext cx="701040" cy="868680"/>
          </a:xfrm>
          <a:prstGeom prst="rect">
            <a:avLst/>
          </a:prstGeom>
          <a:solidFill>
            <a:srgbClr val="C45A0C"/>
          </a:solidFill>
          <a:ln w="12700">
            <a:solidFill>
              <a:srgbClr val="FFFFFF"/>
            </a:solidFill>
            <a:prstDash val="solid"/>
          </a:ln>
        </p:spPr>
      </p:sp>
      <p:sp>
        <p:nvSpPr>
          <p:cNvPr id="15" name="Text 13"/>
          <p:cNvSpPr txBox="1"/>
          <p:nvPr/>
        </p:nvSpPr>
        <p:spPr>
          <a:xfrm>
            <a:off x="2761488" y="2103120"/>
            <a:ext cx="7010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01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500" dirty="0"/>
          </a:p>
        </p:txBody>
      </p:sp>
      <p:sp>
        <p:nvSpPr>
          <p:cNvPr id="16" name="Shape 14"/>
          <p:cNvSpPr/>
          <p:nvPr/>
        </p:nvSpPr>
        <p:spPr>
          <a:xfrm>
            <a:off x="3499104" y="2057400"/>
            <a:ext cx="701040" cy="868680"/>
          </a:xfrm>
          <a:prstGeom prst="rect">
            <a:avLst/>
          </a:prstGeom>
          <a:solidFill>
            <a:srgbClr val="C45A0C"/>
          </a:solidFill>
          <a:ln w="12700">
            <a:solidFill>
              <a:srgbClr val="FFFFFF"/>
            </a:solidFill>
            <a:prstDash val="solid"/>
          </a:ln>
        </p:spPr>
      </p:sp>
      <p:sp>
        <p:nvSpPr>
          <p:cNvPr id="17" name="Text 15"/>
          <p:cNvSpPr txBox="1"/>
          <p:nvPr/>
        </p:nvSpPr>
        <p:spPr>
          <a:xfrm>
            <a:off x="3499104" y="2103120"/>
            <a:ext cx="7010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02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1.00</a:t>
            </a:r>
            <a:endParaRPr lang="en-US" sz="1500" dirty="0"/>
          </a:p>
        </p:txBody>
      </p:sp>
      <p:sp>
        <p:nvSpPr>
          <p:cNvPr id="18" name="Shape 16"/>
          <p:cNvSpPr/>
          <p:nvPr/>
        </p:nvSpPr>
        <p:spPr>
          <a:xfrm>
            <a:off x="4236720" y="2057400"/>
            <a:ext cx="701040" cy="868680"/>
          </a:xfrm>
          <a:prstGeom prst="rect">
            <a:avLst/>
          </a:prstGeom>
          <a:solidFill>
            <a:srgbClr val="C45A0C"/>
          </a:solidFill>
          <a:ln w="12700">
            <a:solidFill>
              <a:srgbClr val="FFFFFF"/>
            </a:solidFill>
            <a:prstDash val="solid"/>
          </a:ln>
        </p:spPr>
      </p:sp>
      <p:sp>
        <p:nvSpPr>
          <p:cNvPr id="19" name="Text 17"/>
          <p:cNvSpPr txBox="1"/>
          <p:nvPr/>
        </p:nvSpPr>
        <p:spPr>
          <a:xfrm>
            <a:off x="4236720" y="2103120"/>
            <a:ext cx="7010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11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−0.62</a:t>
            </a:r>
            <a:endParaRPr lang="en-US" sz="1500" dirty="0"/>
          </a:p>
        </p:txBody>
      </p:sp>
      <p:sp>
        <p:nvSpPr>
          <p:cNvPr id="20" name="Shape 18"/>
          <p:cNvSpPr/>
          <p:nvPr/>
        </p:nvSpPr>
        <p:spPr>
          <a:xfrm>
            <a:off x="4974336" y="2057400"/>
            <a:ext cx="701040" cy="868680"/>
          </a:xfrm>
          <a:prstGeom prst="rect">
            <a:avLst/>
          </a:prstGeom>
          <a:solidFill>
            <a:srgbClr val="C45A0C"/>
          </a:solidFill>
          <a:ln w="12700">
            <a:solidFill>
              <a:srgbClr val="FFFFFF"/>
            </a:solidFill>
            <a:prstDash val="solid"/>
          </a:ln>
        </p:spPr>
      </p:sp>
      <p:sp>
        <p:nvSpPr>
          <p:cNvPr id="21" name="Text 19"/>
          <p:cNvSpPr txBox="1"/>
          <p:nvPr/>
        </p:nvSpPr>
        <p:spPr>
          <a:xfrm>
            <a:off x="4974336" y="2103120"/>
            <a:ext cx="7010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12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0.50</a:t>
            </a:r>
            <a:endParaRPr lang="en-US" sz="1500" dirty="0"/>
          </a:p>
        </p:txBody>
      </p:sp>
      <p:sp>
        <p:nvSpPr>
          <p:cNvPr id="22" name="Shape 20"/>
          <p:cNvSpPr/>
          <p:nvPr/>
        </p:nvSpPr>
        <p:spPr>
          <a:xfrm>
            <a:off x="5711952" y="2057400"/>
            <a:ext cx="701040" cy="868680"/>
          </a:xfrm>
          <a:prstGeom prst="rect">
            <a:avLst/>
          </a:prstGeom>
          <a:solidFill>
            <a:srgbClr val="C45A0C"/>
          </a:solidFill>
          <a:ln w="12700">
            <a:solidFill>
              <a:srgbClr val="FFFFFF"/>
            </a:solidFill>
            <a:prstDash val="solid"/>
          </a:ln>
        </p:spPr>
      </p:sp>
      <p:sp>
        <p:nvSpPr>
          <p:cNvPr id="23" name="Text 21"/>
          <p:cNvSpPr txBox="1"/>
          <p:nvPr/>
        </p:nvSpPr>
        <p:spPr>
          <a:xfrm>
            <a:off x="5711952" y="2103120"/>
            <a:ext cx="7010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21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0.76</a:t>
            </a:r>
            <a:endParaRPr lang="en-US" sz="1500" dirty="0"/>
          </a:p>
        </p:txBody>
      </p:sp>
      <p:sp>
        <p:nvSpPr>
          <p:cNvPr id="24" name="Shape 22"/>
          <p:cNvSpPr/>
          <p:nvPr/>
        </p:nvSpPr>
        <p:spPr>
          <a:xfrm>
            <a:off x="6449568" y="2057400"/>
            <a:ext cx="701040" cy="868680"/>
          </a:xfrm>
          <a:prstGeom prst="rect">
            <a:avLst/>
          </a:prstGeom>
          <a:solidFill>
            <a:srgbClr val="C45A0C"/>
          </a:solidFill>
          <a:ln w="12700">
            <a:solidFill>
              <a:srgbClr val="FFFFFF"/>
            </a:solidFill>
            <a:prstDash val="solid"/>
          </a:ln>
        </p:spPr>
      </p:sp>
      <p:sp>
        <p:nvSpPr>
          <p:cNvPr id="25" name="Text 23"/>
          <p:cNvSpPr txBox="1"/>
          <p:nvPr/>
        </p:nvSpPr>
        <p:spPr>
          <a:xfrm>
            <a:off x="6449568" y="2103120"/>
            <a:ext cx="701040"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22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500" dirty="0"/>
          </a:p>
        </p:txBody>
      </p:sp>
      <p:sp>
        <p:nvSpPr>
          <p:cNvPr id="26" name="Text 24"/>
          <p:cNvSpPr txBox="1"/>
          <p:nvPr/>
        </p:nvSpPr>
        <p:spPr>
          <a:xfrm>
            <a:off x="7187184" y="2057400"/>
            <a:ext cx="4425696" cy="868680"/>
          </a:xfrm>
          <a:prstGeom prst="rect">
            <a:avLst/>
          </a:prstGeom>
          <a:noFill/>
          <a:ln/>
        </p:spPr>
        <p:txBody>
          <a:bodyPr wrap="square" lIns="0" tIns="0" rIns="0" bIns="0" rtlCol="0" anchor="ctr"/>
          <a:lstStyle/>
          <a:p>
            <a:pPr algn="ctr" indent="0" marL="0">
              <a:buNone/>
            </a:pPr>
            <a:r>
              <a:rPr lang="en-US" sz="1400" dirty="0">
                <a:solidFill>
                  <a:srgbClr val="5B6576"/>
                </a:solidFill>
                <a:latin typeface="Calibri" pitchFamily="34" charset="0"/>
                <a:ea typeface="Calibri" pitchFamily="34" charset="-122"/>
                <a:cs typeface="Calibri" pitchFamily="34" charset="-120"/>
              </a:rPr>
              <a:t>0 …</a:t>
            </a:r>
            <a:endParaRPr lang="en-US" sz="1400" dirty="0"/>
          </a:p>
        </p:txBody>
      </p:sp>
      <p:sp>
        <p:nvSpPr>
          <p:cNvPr id="27" name="Text 25"/>
          <p:cNvSpPr txBox="1"/>
          <p:nvPr/>
        </p:nvSpPr>
        <p:spPr>
          <a:xfrm>
            <a:off x="548640" y="3429000"/>
            <a:ext cx="5486400" cy="365760"/>
          </a:xfrm>
          <a:prstGeom prst="rect">
            <a:avLst/>
          </a:prstGeom>
          <a:noFill/>
          <a:ln/>
        </p:spPr>
        <p:txBody>
          <a:bodyPr wrap="square" lIns="0" tIns="0" rIns="0" bIns="0" rtlCol="0" anchor="t"/>
          <a:lstStyle/>
          <a:p>
            <a:pPr indent="0" marL="0">
              <a:buNone/>
            </a:pPr>
            <a:r>
              <a:rPr lang="en-US" sz="1600" b="1" dirty="0">
                <a:solidFill>
                  <a:srgbClr val="14213D"/>
                </a:solidFill>
                <a:latin typeface="Cambria" pitchFamily="34" charset="0"/>
                <a:ea typeface="Cambria" pitchFamily="34" charset="-122"/>
                <a:cs typeface="Cambria" pitchFamily="34" charset="-120"/>
              </a:rPr>
              <a:t>M</a:t>
            </a:r>
            <a:r>
              <a:rPr lang="en-US" sz="1600" b="1" baseline="-25000" dirty="0">
                <a:solidFill>
                  <a:srgbClr val="14213D"/>
                </a:solidFill>
                <a:latin typeface="Cambria" pitchFamily="34" charset="0"/>
                <a:ea typeface="Cambria" pitchFamily="34" charset="-122"/>
                <a:cs typeface="Cambria" pitchFamily="34" charset="-120"/>
              </a:rPr>
              <a:t>2</a:t>
            </a:r>
            <a:r>
              <a:rPr lang="en-US" sz="1600" b="1" dirty="0">
                <a:solidFill>
                  <a:srgbClr val="14213D"/>
                </a:solidFill>
                <a:latin typeface="Cambria" pitchFamily="34" charset="0"/>
                <a:ea typeface="Cambria" pitchFamily="34" charset="-122"/>
                <a:cs typeface="Cambria" pitchFamily="34" charset="-120"/>
              </a:rPr>
              <a:t>: for stage 2</a:t>
            </a:r>
            <a:endParaRPr lang="en-US" sz="1600" dirty="0"/>
          </a:p>
        </p:txBody>
      </p:sp>
      <p:sp>
        <p:nvSpPr>
          <p:cNvPr id="28" name="Text 26"/>
          <p:cNvSpPr txBox="1"/>
          <p:nvPr/>
        </p:nvSpPr>
        <p:spPr>
          <a:xfrm>
            <a:off x="6035040" y="3456432"/>
            <a:ext cx="5577840" cy="365760"/>
          </a:xfrm>
          <a:prstGeom prst="rect">
            <a:avLst/>
          </a:prstGeom>
          <a:noFill/>
          <a:ln/>
        </p:spPr>
        <p:txBody>
          <a:bodyPr wrap="square" lIns="0" tIns="0" rIns="0" bIns="0" rtlCol="0" anchor="t"/>
          <a:lstStyle/>
          <a:p>
            <a:pPr algn="r" indent="0" marL="0">
              <a:buNone/>
            </a:pPr>
            <a:r>
              <a:rPr lang="en-US" sz="1300" dirty="0">
                <a:solidFill>
                  <a:srgbClr val="5B6576"/>
                </a:solidFill>
                <a:latin typeface="Calibri" pitchFamily="34" charset="0"/>
                <a:ea typeface="Calibri" pitchFamily="34" charset="-122"/>
                <a:cs typeface="Calibri" pitchFamily="34" charset="-120"/>
              </a:rPr>
              <a:t>all 15 O-dependent numbers; y</a:t>
            </a:r>
            <a:r>
              <a:rPr lang="en-US" sz="1300" baseline="30000" dirty="0">
                <a:solidFill>
                  <a:srgbClr val="5B6576"/>
                </a:solidFill>
                <a:latin typeface="Calibri" pitchFamily="34" charset="0"/>
                <a:ea typeface="Calibri" pitchFamily="34" charset="-122"/>
                <a:cs typeface="Calibri" pitchFamily="34" charset="-120"/>
              </a:rPr>
              <a:t>T</a:t>
            </a:r>
            <a:r>
              <a:rPr lang="en-US" sz="1300" dirty="0">
                <a:solidFill>
                  <a:srgbClr val="5B6576"/>
                </a:solidFill>
                <a:latin typeface="Calibri" pitchFamily="34" charset="0"/>
                <a:ea typeface="Calibri" pitchFamily="34" charset="-122"/>
                <a:cs typeface="Calibri" pitchFamily="34" charset="-120"/>
              </a:rPr>
              <a:t>y included, since it is free</a:t>
            </a:r>
            <a:endParaRPr lang="en-US" sz="1300" dirty="0"/>
          </a:p>
        </p:txBody>
      </p:sp>
      <p:sp>
        <p:nvSpPr>
          <p:cNvPr id="29" name="Shape 27"/>
          <p:cNvSpPr/>
          <p:nvPr/>
        </p:nvSpPr>
        <p:spPr>
          <a:xfrm>
            <a:off x="548640" y="3886200"/>
            <a:ext cx="654939" cy="868680"/>
          </a:xfrm>
          <a:prstGeom prst="rect">
            <a:avLst/>
          </a:prstGeom>
          <a:solidFill>
            <a:srgbClr val="F3D2BC"/>
          </a:solidFill>
          <a:ln w="12700">
            <a:solidFill>
              <a:srgbClr val="FFFFFF"/>
            </a:solidFill>
            <a:prstDash val="solid"/>
          </a:ln>
        </p:spPr>
      </p:sp>
      <p:sp>
        <p:nvSpPr>
          <p:cNvPr id="30" name="Text 28"/>
          <p:cNvSpPr txBox="1"/>
          <p:nvPr/>
        </p:nvSpPr>
        <p:spPr>
          <a:xfrm>
            <a:off x="548640" y="3931920"/>
            <a:ext cx="654939"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a:t>
            </a:r>
            <a:r>
              <a:rPr lang="en-US" sz="1150" b="1" baseline="-25000" dirty="0">
                <a:solidFill>
                  <a:srgbClr val="1F2937"/>
                </a:solidFill>
                <a:latin typeface="Calibri" pitchFamily="34" charset="0"/>
                <a:ea typeface="Calibri" pitchFamily="34" charset="-122"/>
                <a:cs typeface="Calibri" pitchFamily="34" charset="-120"/>
              </a:rPr>
              <a:t>11</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1.00</a:t>
            </a:r>
            <a:endParaRPr lang="en-US" sz="1500" dirty="0"/>
          </a:p>
        </p:txBody>
      </p:sp>
      <p:sp>
        <p:nvSpPr>
          <p:cNvPr id="31" name="Shape 29"/>
          <p:cNvSpPr/>
          <p:nvPr/>
        </p:nvSpPr>
        <p:spPr>
          <a:xfrm>
            <a:off x="1240155" y="3886200"/>
            <a:ext cx="654939" cy="868680"/>
          </a:xfrm>
          <a:prstGeom prst="rect">
            <a:avLst/>
          </a:prstGeom>
          <a:solidFill>
            <a:srgbClr val="F3D2BC"/>
          </a:solidFill>
          <a:ln w="12700">
            <a:solidFill>
              <a:srgbClr val="FFFFFF"/>
            </a:solidFill>
            <a:prstDash val="solid"/>
          </a:ln>
        </p:spPr>
      </p:sp>
      <p:sp>
        <p:nvSpPr>
          <p:cNvPr id="32" name="Text 30"/>
          <p:cNvSpPr txBox="1"/>
          <p:nvPr/>
        </p:nvSpPr>
        <p:spPr>
          <a:xfrm>
            <a:off x="1240155" y="3931920"/>
            <a:ext cx="654939"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a:t>
            </a:r>
            <a:r>
              <a:rPr lang="en-US" sz="1150" b="1" baseline="-25000" dirty="0">
                <a:solidFill>
                  <a:srgbClr val="1F2937"/>
                </a:solidFill>
                <a:latin typeface="Calibri" pitchFamily="34" charset="0"/>
                <a:ea typeface="Calibri" pitchFamily="34" charset="-122"/>
                <a:cs typeface="Calibri" pitchFamily="34" charset="-120"/>
              </a:rPr>
              <a:t>12</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−0.60</a:t>
            </a:r>
            <a:endParaRPr lang="en-US" sz="1500" dirty="0"/>
          </a:p>
        </p:txBody>
      </p:sp>
      <p:sp>
        <p:nvSpPr>
          <p:cNvPr id="33" name="Shape 31"/>
          <p:cNvSpPr/>
          <p:nvPr/>
        </p:nvSpPr>
        <p:spPr>
          <a:xfrm>
            <a:off x="1931670" y="3886200"/>
            <a:ext cx="654939" cy="868680"/>
          </a:xfrm>
          <a:prstGeom prst="rect">
            <a:avLst/>
          </a:prstGeom>
          <a:solidFill>
            <a:srgbClr val="F3D2BC"/>
          </a:solidFill>
          <a:ln w="12700">
            <a:solidFill>
              <a:srgbClr val="FFFFFF"/>
            </a:solidFill>
            <a:prstDash val="solid"/>
          </a:ln>
        </p:spPr>
      </p:sp>
      <p:sp>
        <p:nvSpPr>
          <p:cNvPr id="34" name="Text 32"/>
          <p:cNvSpPr txBox="1"/>
          <p:nvPr/>
        </p:nvSpPr>
        <p:spPr>
          <a:xfrm>
            <a:off x="1931670" y="3931920"/>
            <a:ext cx="654939"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B</a:t>
            </a:r>
            <a:r>
              <a:rPr lang="en-US" sz="1150" b="1" baseline="-25000" dirty="0">
                <a:solidFill>
                  <a:srgbClr val="1F2937"/>
                </a:solidFill>
                <a:latin typeface="Calibri" pitchFamily="34" charset="0"/>
                <a:ea typeface="Calibri" pitchFamily="34" charset="-122"/>
                <a:cs typeface="Calibri" pitchFamily="34" charset="-120"/>
              </a:rPr>
              <a:t>22</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1.00</a:t>
            </a:r>
            <a:endParaRPr lang="en-US" sz="1500" dirty="0"/>
          </a:p>
        </p:txBody>
      </p:sp>
      <p:sp>
        <p:nvSpPr>
          <p:cNvPr id="35" name="Shape 33"/>
          <p:cNvSpPr/>
          <p:nvPr/>
        </p:nvSpPr>
        <p:spPr>
          <a:xfrm>
            <a:off x="2623185" y="3886200"/>
            <a:ext cx="654939" cy="868680"/>
          </a:xfrm>
          <a:prstGeom prst="rect">
            <a:avLst/>
          </a:prstGeom>
          <a:solidFill>
            <a:srgbClr val="C45A0C"/>
          </a:solidFill>
          <a:ln w="12700">
            <a:solidFill>
              <a:srgbClr val="FFFFFF"/>
            </a:solidFill>
            <a:prstDash val="solid"/>
          </a:ln>
        </p:spPr>
      </p:sp>
      <p:sp>
        <p:nvSpPr>
          <p:cNvPr id="36" name="Text 34"/>
          <p:cNvSpPr txBox="1"/>
          <p:nvPr/>
        </p:nvSpPr>
        <p:spPr>
          <a:xfrm>
            <a:off x="2623185"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01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500" dirty="0"/>
          </a:p>
        </p:txBody>
      </p:sp>
      <p:sp>
        <p:nvSpPr>
          <p:cNvPr id="37" name="Shape 35"/>
          <p:cNvSpPr/>
          <p:nvPr/>
        </p:nvSpPr>
        <p:spPr>
          <a:xfrm>
            <a:off x="3314700" y="3886200"/>
            <a:ext cx="654939" cy="868680"/>
          </a:xfrm>
          <a:prstGeom prst="rect">
            <a:avLst/>
          </a:prstGeom>
          <a:solidFill>
            <a:srgbClr val="C45A0C"/>
          </a:solidFill>
          <a:ln w="12700">
            <a:solidFill>
              <a:srgbClr val="FFFFFF"/>
            </a:solidFill>
            <a:prstDash val="solid"/>
          </a:ln>
        </p:spPr>
      </p:sp>
      <p:sp>
        <p:nvSpPr>
          <p:cNvPr id="38" name="Text 36"/>
          <p:cNvSpPr txBox="1"/>
          <p:nvPr/>
        </p:nvSpPr>
        <p:spPr>
          <a:xfrm>
            <a:off x="3314700"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02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1.00</a:t>
            </a:r>
            <a:endParaRPr lang="en-US" sz="1500" dirty="0"/>
          </a:p>
        </p:txBody>
      </p:sp>
      <p:sp>
        <p:nvSpPr>
          <p:cNvPr id="39" name="Shape 37"/>
          <p:cNvSpPr/>
          <p:nvPr/>
        </p:nvSpPr>
        <p:spPr>
          <a:xfrm>
            <a:off x="4006215" y="3886200"/>
            <a:ext cx="654939" cy="868680"/>
          </a:xfrm>
          <a:prstGeom prst="rect">
            <a:avLst/>
          </a:prstGeom>
          <a:solidFill>
            <a:srgbClr val="C45A0C"/>
          </a:solidFill>
          <a:ln w="12700">
            <a:solidFill>
              <a:srgbClr val="FFFFFF"/>
            </a:solidFill>
            <a:prstDash val="solid"/>
          </a:ln>
        </p:spPr>
      </p:sp>
      <p:sp>
        <p:nvSpPr>
          <p:cNvPr id="40" name="Text 38"/>
          <p:cNvSpPr txBox="1"/>
          <p:nvPr/>
        </p:nvSpPr>
        <p:spPr>
          <a:xfrm>
            <a:off x="4006215"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11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−0.62</a:t>
            </a:r>
            <a:endParaRPr lang="en-US" sz="1500" dirty="0"/>
          </a:p>
        </p:txBody>
      </p:sp>
      <p:sp>
        <p:nvSpPr>
          <p:cNvPr id="41" name="Shape 39"/>
          <p:cNvSpPr/>
          <p:nvPr/>
        </p:nvSpPr>
        <p:spPr>
          <a:xfrm>
            <a:off x="4697730" y="3886200"/>
            <a:ext cx="654939" cy="868680"/>
          </a:xfrm>
          <a:prstGeom prst="rect">
            <a:avLst/>
          </a:prstGeom>
          <a:solidFill>
            <a:srgbClr val="C45A0C"/>
          </a:solidFill>
          <a:ln w="12700">
            <a:solidFill>
              <a:srgbClr val="FFFFFF"/>
            </a:solidFill>
            <a:prstDash val="solid"/>
          </a:ln>
        </p:spPr>
      </p:sp>
      <p:sp>
        <p:nvSpPr>
          <p:cNvPr id="42" name="Text 40"/>
          <p:cNvSpPr txBox="1"/>
          <p:nvPr/>
        </p:nvSpPr>
        <p:spPr>
          <a:xfrm>
            <a:off x="4697730"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12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0.50</a:t>
            </a:r>
            <a:endParaRPr lang="en-US" sz="1500" dirty="0"/>
          </a:p>
        </p:txBody>
      </p:sp>
      <p:sp>
        <p:nvSpPr>
          <p:cNvPr id="43" name="Shape 41"/>
          <p:cNvSpPr/>
          <p:nvPr/>
        </p:nvSpPr>
        <p:spPr>
          <a:xfrm>
            <a:off x="5389245" y="3886200"/>
            <a:ext cx="654939" cy="868680"/>
          </a:xfrm>
          <a:prstGeom prst="rect">
            <a:avLst/>
          </a:prstGeom>
          <a:solidFill>
            <a:srgbClr val="C45A0C"/>
          </a:solidFill>
          <a:ln w="12700">
            <a:solidFill>
              <a:srgbClr val="FFFFFF"/>
            </a:solidFill>
            <a:prstDash val="solid"/>
          </a:ln>
        </p:spPr>
      </p:sp>
      <p:sp>
        <p:nvSpPr>
          <p:cNvPr id="44" name="Text 42"/>
          <p:cNvSpPr txBox="1"/>
          <p:nvPr/>
        </p:nvSpPr>
        <p:spPr>
          <a:xfrm>
            <a:off x="5389245"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21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0.76</a:t>
            </a:r>
            <a:endParaRPr lang="en-US" sz="1500" dirty="0"/>
          </a:p>
        </p:txBody>
      </p:sp>
      <p:sp>
        <p:nvSpPr>
          <p:cNvPr id="45" name="Shape 43"/>
          <p:cNvSpPr/>
          <p:nvPr/>
        </p:nvSpPr>
        <p:spPr>
          <a:xfrm>
            <a:off x="6080760" y="3886200"/>
            <a:ext cx="654939" cy="868680"/>
          </a:xfrm>
          <a:prstGeom prst="rect">
            <a:avLst/>
          </a:prstGeom>
          <a:solidFill>
            <a:srgbClr val="C45A0C"/>
          </a:solidFill>
          <a:ln w="12700">
            <a:solidFill>
              <a:srgbClr val="FFFFFF"/>
            </a:solidFill>
            <a:prstDash val="solid"/>
          </a:ln>
        </p:spPr>
      </p:sp>
      <p:sp>
        <p:nvSpPr>
          <p:cNvPr id="46" name="Text 44"/>
          <p:cNvSpPr txBox="1"/>
          <p:nvPr/>
        </p:nvSpPr>
        <p:spPr>
          <a:xfrm>
            <a:off x="6080760"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22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−0.20</a:t>
            </a:r>
            <a:endParaRPr lang="en-US" sz="1500" dirty="0"/>
          </a:p>
        </p:txBody>
      </p:sp>
      <p:sp>
        <p:nvSpPr>
          <p:cNvPr id="47" name="Shape 45"/>
          <p:cNvSpPr/>
          <p:nvPr/>
        </p:nvSpPr>
        <p:spPr>
          <a:xfrm>
            <a:off x="6772275" y="3886200"/>
            <a:ext cx="654939" cy="868680"/>
          </a:xfrm>
          <a:prstGeom prst="rect">
            <a:avLst/>
          </a:prstGeom>
          <a:solidFill>
            <a:srgbClr val="C45A0C"/>
          </a:solidFill>
          <a:ln w="12700">
            <a:solidFill>
              <a:srgbClr val="FFFFFF"/>
            </a:solidFill>
            <a:prstDash val="solid"/>
          </a:ln>
        </p:spPr>
      </p:sp>
      <p:sp>
        <p:nvSpPr>
          <p:cNvPr id="48" name="Text 46"/>
          <p:cNvSpPr txBox="1"/>
          <p:nvPr/>
        </p:nvSpPr>
        <p:spPr>
          <a:xfrm>
            <a:off x="6772275"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R0</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1.10</a:t>
            </a:r>
            <a:endParaRPr lang="en-US" sz="1500" dirty="0"/>
          </a:p>
        </p:txBody>
      </p:sp>
      <p:sp>
        <p:nvSpPr>
          <p:cNvPr id="49" name="Shape 47"/>
          <p:cNvSpPr/>
          <p:nvPr/>
        </p:nvSpPr>
        <p:spPr>
          <a:xfrm>
            <a:off x="7463790" y="3886200"/>
            <a:ext cx="654939" cy="868680"/>
          </a:xfrm>
          <a:prstGeom prst="rect">
            <a:avLst/>
          </a:prstGeom>
          <a:solidFill>
            <a:srgbClr val="C45A0C"/>
          </a:solidFill>
          <a:ln w="12700">
            <a:solidFill>
              <a:srgbClr val="FFFFFF"/>
            </a:solidFill>
            <a:prstDash val="solid"/>
          </a:ln>
        </p:spPr>
      </p:sp>
      <p:sp>
        <p:nvSpPr>
          <p:cNvPr id="50" name="Text 48"/>
          <p:cNvSpPr txBox="1"/>
          <p:nvPr/>
        </p:nvSpPr>
        <p:spPr>
          <a:xfrm>
            <a:off x="7463790"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R1</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0.19</a:t>
            </a:r>
            <a:endParaRPr lang="en-US" sz="1500" dirty="0"/>
          </a:p>
        </p:txBody>
      </p:sp>
      <p:sp>
        <p:nvSpPr>
          <p:cNvPr id="51" name="Shape 49"/>
          <p:cNvSpPr/>
          <p:nvPr/>
        </p:nvSpPr>
        <p:spPr>
          <a:xfrm>
            <a:off x="8155305" y="3886200"/>
            <a:ext cx="654939" cy="868680"/>
          </a:xfrm>
          <a:prstGeom prst="rect">
            <a:avLst/>
          </a:prstGeom>
          <a:solidFill>
            <a:srgbClr val="C45A0C"/>
          </a:solidFill>
          <a:ln w="12700">
            <a:solidFill>
              <a:srgbClr val="FFFFFF"/>
            </a:solidFill>
            <a:prstDash val="solid"/>
          </a:ln>
        </p:spPr>
      </p:sp>
      <p:sp>
        <p:nvSpPr>
          <p:cNvPr id="52" name="Text 50"/>
          <p:cNvSpPr txBox="1"/>
          <p:nvPr/>
        </p:nvSpPr>
        <p:spPr>
          <a:xfrm>
            <a:off x="8155305" y="3931920"/>
            <a:ext cx="654939" cy="77724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a:t>
            </a:r>
            <a:r>
              <a:rPr lang="en-US" sz="1150" b="1" baseline="-25000" dirty="0">
                <a:solidFill>
                  <a:srgbClr val="FFFFFF"/>
                </a:solidFill>
                <a:latin typeface="Calibri" pitchFamily="34" charset="0"/>
                <a:ea typeface="Calibri" pitchFamily="34" charset="-122"/>
                <a:cs typeface="Calibri" pitchFamily="34" charset="-120"/>
              </a:rPr>
              <a:t>R2</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0.18</a:t>
            </a:r>
            <a:endParaRPr lang="en-US" sz="1500" dirty="0"/>
          </a:p>
        </p:txBody>
      </p:sp>
      <p:sp>
        <p:nvSpPr>
          <p:cNvPr id="53" name="Shape 51"/>
          <p:cNvSpPr/>
          <p:nvPr/>
        </p:nvSpPr>
        <p:spPr>
          <a:xfrm>
            <a:off x="8846820" y="3886200"/>
            <a:ext cx="654939" cy="868680"/>
          </a:xfrm>
          <a:prstGeom prst="rect">
            <a:avLst/>
          </a:prstGeom>
          <a:solidFill>
            <a:srgbClr val="F3D2BC"/>
          </a:solidFill>
          <a:ln w="12700">
            <a:solidFill>
              <a:srgbClr val="FFFFFF"/>
            </a:solidFill>
            <a:prstDash val="solid"/>
          </a:ln>
        </p:spPr>
      </p:sp>
      <p:sp>
        <p:nvSpPr>
          <p:cNvPr id="54" name="Text 52"/>
          <p:cNvSpPr txBox="1"/>
          <p:nvPr/>
        </p:nvSpPr>
        <p:spPr>
          <a:xfrm>
            <a:off x="8846820" y="3931920"/>
            <a:ext cx="654939"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a:t>
            </a:r>
            <a:r>
              <a:rPr lang="en-US" sz="1150" b="1" baseline="-25000" dirty="0">
                <a:solidFill>
                  <a:srgbClr val="1F2937"/>
                </a:solidFill>
                <a:latin typeface="Calibri" pitchFamily="34" charset="0"/>
                <a:ea typeface="Calibri" pitchFamily="34" charset="-122"/>
                <a:cs typeface="Calibri" pitchFamily="34" charset="-120"/>
              </a:rPr>
              <a:t>O1</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−0.10</a:t>
            </a:r>
            <a:endParaRPr lang="en-US" sz="1500" dirty="0"/>
          </a:p>
        </p:txBody>
      </p:sp>
      <p:sp>
        <p:nvSpPr>
          <p:cNvPr id="55" name="Shape 53"/>
          <p:cNvSpPr/>
          <p:nvPr/>
        </p:nvSpPr>
        <p:spPr>
          <a:xfrm>
            <a:off x="9538335" y="3886200"/>
            <a:ext cx="654939" cy="868680"/>
          </a:xfrm>
          <a:prstGeom prst="rect">
            <a:avLst/>
          </a:prstGeom>
          <a:solidFill>
            <a:srgbClr val="F3D2BC"/>
          </a:solidFill>
          <a:ln w="12700">
            <a:solidFill>
              <a:srgbClr val="FFFFFF"/>
            </a:solidFill>
            <a:prstDash val="solid"/>
          </a:ln>
        </p:spPr>
      </p:sp>
      <p:sp>
        <p:nvSpPr>
          <p:cNvPr id="56" name="Text 54"/>
          <p:cNvSpPr txBox="1"/>
          <p:nvPr/>
        </p:nvSpPr>
        <p:spPr>
          <a:xfrm>
            <a:off x="9538335" y="3931920"/>
            <a:ext cx="654939"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c</a:t>
            </a:r>
            <a:r>
              <a:rPr lang="en-US" sz="1150" b="1" baseline="-25000" dirty="0">
                <a:solidFill>
                  <a:srgbClr val="1F2937"/>
                </a:solidFill>
                <a:latin typeface="Calibri" pitchFamily="34" charset="0"/>
                <a:ea typeface="Calibri" pitchFamily="34" charset="-122"/>
                <a:cs typeface="Calibri" pitchFamily="34" charset="-120"/>
              </a:rPr>
              <a:t>O2</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0.70</a:t>
            </a:r>
            <a:endParaRPr lang="en-US" sz="1500" dirty="0"/>
          </a:p>
        </p:txBody>
      </p:sp>
      <p:sp>
        <p:nvSpPr>
          <p:cNvPr id="57" name="Shape 55"/>
          <p:cNvSpPr/>
          <p:nvPr/>
        </p:nvSpPr>
        <p:spPr>
          <a:xfrm>
            <a:off x="10229850" y="3886200"/>
            <a:ext cx="654939" cy="868680"/>
          </a:xfrm>
          <a:prstGeom prst="rect">
            <a:avLst/>
          </a:prstGeom>
          <a:solidFill>
            <a:srgbClr val="F3D2BC"/>
          </a:solidFill>
          <a:ln w="12700">
            <a:solidFill>
              <a:srgbClr val="FFFFFF"/>
            </a:solidFill>
            <a:prstDash val="solid"/>
          </a:ln>
        </p:spPr>
      </p:sp>
      <p:sp>
        <p:nvSpPr>
          <p:cNvPr id="58" name="Text 56"/>
          <p:cNvSpPr txBox="1"/>
          <p:nvPr/>
        </p:nvSpPr>
        <p:spPr>
          <a:xfrm>
            <a:off x="10229850" y="3931920"/>
            <a:ext cx="654939" cy="777240"/>
          </a:xfrm>
          <a:prstGeom prst="rect">
            <a:avLst/>
          </a:prstGeom>
          <a:noFill/>
          <a:ln/>
        </p:spPr>
        <p:txBody>
          <a:bodyPr wrap="square" lIns="0" tIns="0" rIns="0" bIns="0" rtlCol="0" anchor="ctr"/>
          <a:lstStyle/>
          <a:p>
            <a:pPr algn="ctr" indent="0" marL="0">
              <a:buNone/>
            </a:pPr>
            <a:r>
              <a:rPr lang="en-US" sz="1150" b="1" dirty="0">
                <a:solidFill>
                  <a:srgbClr val="1F2937"/>
                </a:solidFill>
                <a:latin typeface="Calibri" pitchFamily="34" charset="0"/>
                <a:ea typeface="Calibri" pitchFamily="34" charset="-122"/>
                <a:cs typeface="Calibri" pitchFamily="34" charset="-120"/>
              </a:rPr>
              <a:t>y</a:t>
            </a:r>
            <a:r>
              <a:rPr lang="en-US" sz="1150" b="1" baseline="30000" dirty="0">
                <a:solidFill>
                  <a:srgbClr val="1F2937"/>
                </a:solidFill>
                <a:latin typeface="Calibri" pitchFamily="34" charset="0"/>
                <a:ea typeface="Calibri" pitchFamily="34" charset="-122"/>
                <a:cs typeface="Calibri" pitchFamily="34" charset="-120"/>
              </a:rPr>
              <a:t>T</a:t>
            </a:r>
            <a:r>
              <a:rPr lang="en-US" sz="1150" b="1" dirty="0">
                <a:solidFill>
                  <a:srgbClr val="1F2937"/>
                </a:solidFill>
                <a:latin typeface="Calibri" pitchFamily="34" charset="0"/>
                <a:ea typeface="Calibri" pitchFamily="34" charset="-122"/>
                <a:cs typeface="Calibri" pitchFamily="34" charset="-120"/>
              </a:rPr>
              <a:t>y</a:t>
            </a:r>
            <a:endParaRPr lang="en-US" sz="1500" dirty="0"/>
          </a:p>
          <a:p>
            <a:pPr algn="ctr" indent="0" marL="0">
              <a:buNone/>
            </a:pPr>
            <a:r>
              <a:rPr lang="en-US" sz="1200" dirty="0">
                <a:solidFill>
                  <a:srgbClr val="1F2937"/>
                </a:solidFill>
                <a:latin typeface="Calibri" pitchFamily="34" charset="0"/>
                <a:ea typeface="Calibri" pitchFamily="34" charset="-122"/>
                <a:cs typeface="Calibri" pitchFamily="34" charset="-120"/>
              </a:rPr>
              <a:t>0.65</a:t>
            </a:r>
            <a:endParaRPr lang="en-US" sz="1500" dirty="0"/>
          </a:p>
        </p:txBody>
      </p:sp>
      <p:sp>
        <p:nvSpPr>
          <p:cNvPr id="59" name="Shape 57"/>
          <p:cNvSpPr/>
          <p:nvPr/>
        </p:nvSpPr>
        <p:spPr>
          <a:xfrm>
            <a:off x="548640" y="5257800"/>
            <a:ext cx="11064240" cy="914400"/>
          </a:xfrm>
          <a:prstGeom prst="roundRect">
            <a:avLst>
              <a:gd name="adj" fmla="val 8000"/>
            </a:avLst>
          </a:prstGeom>
          <a:solidFill>
            <a:srgbClr val="F7F9FC"/>
          </a:solidFill>
          <a:ln w="12700">
            <a:solidFill>
              <a:srgbClr val="F7F9FC"/>
            </a:solidFill>
            <a:prstDash val="solid"/>
          </a:ln>
        </p:spPr>
      </p:sp>
      <p:sp>
        <p:nvSpPr>
          <p:cNvPr id="60" name="Text 58"/>
          <p:cNvSpPr txBox="1"/>
          <p:nvPr/>
        </p:nvSpPr>
        <p:spPr>
          <a:xfrm>
            <a:off x="777240" y="5321808"/>
            <a:ext cx="10607040" cy="77724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Two separate ciphertexts, so the first release can only ever depend on B and C. Slots run 1 to N/2 = 8,192 in the real scheme.</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4: the release, on one number</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Toy arithmetic: one integer instead of a polynomial, modulus q = 1,000,003, no security</a:t>
            </a:r>
            <a:endParaRPr lang="en-US" sz="1600" dirty="0"/>
          </a:p>
        </p:txBody>
      </p:sp>
      <p:sp>
        <p:nvSpPr>
          <p:cNvPr id="4" name="Shape 2"/>
          <p:cNvSpPr/>
          <p:nvPr/>
        </p:nvSpPr>
        <p:spPr>
          <a:xfrm>
            <a:off x="9784080" y="411480"/>
            <a:ext cx="1828800" cy="292608"/>
          </a:xfrm>
          <a:prstGeom prst="roundRect">
            <a:avLst>
              <a:gd name="adj" fmla="val 25000"/>
            </a:avLst>
          </a:prstGeom>
          <a:solidFill>
            <a:srgbClr val="C45A0C"/>
          </a:solidFill>
          <a:ln w="12700">
            <a:solidFill>
              <a:srgbClr val="C45A0C"/>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4 · O → R</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9144000" cy="914400"/>
        </p:xfrm>
        <a:graphic>
          <a:graphicData uri="http://schemas.openxmlformats.org/drawingml/2006/table">
            <a:tbl>
              <a:tblPr/>
              <a:tblGrid>
                <a:gridCol w="411480"/>
                <a:gridCol w="3931920"/>
                <a:gridCol w="4434840"/>
                <a:gridCol w="2286000"/>
              </a:tblGrid>
              <a:tr h="38404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Step</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Formula</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8404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The statistic</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z = C</a:t>
                      </a:r>
                      <a:r>
                        <a:rPr lang="en-US" sz="1300" baseline="-25000" dirty="0">
                          <a:solidFill>
                            <a:srgbClr val="1F2937"/>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−0.62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Encode at scale Ω = 1000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Ecd(z) = round(Ω z)</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−620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Aggregated ciphertext (key s = s</a:t>
                      </a:r>
                      <a:r>
                        <a:rPr lang="en-US" sz="1300" baseline="-25000" dirty="0">
                          <a:solidFill>
                            <a:srgbClr val="1F2937"/>
                          </a:solidFill>
                          <a:latin typeface="Calibri" pitchFamily="34" charset="0"/>
                          <a:ea typeface="Calibri" pitchFamily="34" charset="-122"/>
                          <a:cs typeface="Calibri" pitchFamily="34" charset="-120"/>
                        </a:rPr>
                        <a:t>R</a:t>
                      </a:r>
                      <a:r>
                        <a:rPr lang="en-US" sz="1300" dirty="0">
                          <a:solidFill>
                            <a:srgbClr val="1F2937"/>
                          </a:solidFill>
                          <a:latin typeface="Calibri" pitchFamily="34" charset="0"/>
                          <a:ea typeface="Calibri" pitchFamily="34" charset="-122"/>
                          <a:cs typeface="Calibri" pitchFamily="34" charset="-120"/>
                        </a:rPr>
                        <a:t> + s</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 3 + 5)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 −a s + e + Ecd(z),  c</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 a</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(211,552, 723,481)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00" b="1" dirty="0">
                          <a:solidFill>
                            <a:srgbClr val="C45A0C"/>
                          </a:solidFill>
                          <a:latin typeface="Calibri" pitchFamily="34" charset="0"/>
                          <a:ea typeface="Calibri" pitchFamily="34" charset="-122"/>
                          <a:cs typeface="Calibri" pitchFamily="34" charset="-120"/>
                        </a:rPr>
                        <a:t>O</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Re-randomize (u = 1, e</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 1, e</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 −2)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 c</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 p</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u + e</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c</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 c</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 a u + e</a:t>
                      </a:r>
                      <a:r>
                        <a:rPr lang="en-US" sz="1300" baseline="-25000" dirty="0">
                          <a:solidFill>
                            <a:srgbClr val="1F2937"/>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(423,724, 446,957)</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00" b="1" dirty="0">
                          <a:solidFill>
                            <a:srgbClr val="C45A0C"/>
                          </a:solidFill>
                          <a:latin typeface="Calibri" pitchFamily="34" charset="0"/>
                          <a:ea typeface="Calibri" pitchFamily="34" charset="-122"/>
                          <a:cs typeface="Calibri" pitchFamily="34" charset="-120"/>
                        </a:rPr>
                        <a:t>O</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Add noise inside its share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h</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 c</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 c</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s</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 η,  η = −64,449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−405,949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00" b="1" dirty="0">
                          <a:solidFill>
                            <a:srgbClr val="C45A0C"/>
                          </a:solidFill>
                          <a:latin typeface="Calibri" pitchFamily="34" charset="0"/>
                          <a:ea typeface="Calibri" pitchFamily="34" charset="-122"/>
                          <a:cs typeface="Calibri" pitchFamily="34" charset="-120"/>
                        </a:rPr>
                        <a:t>O</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Send; keep c</a:t>
                      </a:r>
                      <a:r>
                        <a:rPr lang="en-US" sz="1300" baseline="-25000" dirty="0">
                          <a:solidFill>
                            <a:srgbClr val="1F2937"/>
                          </a:solidFill>
                          <a:latin typeface="Calibri" pitchFamily="34" charset="0"/>
                          <a:ea typeface="Calibri" pitchFamily="34" charset="-122"/>
                          <a:cs typeface="Calibri" pitchFamily="34" charset="-120"/>
                        </a:rPr>
                        <a:t>0</a:t>
                      </a:r>
                      <a:r>
                        <a:rPr lang="en-US" sz="1300" dirty="0">
                          <a:solidFill>
                            <a:srgbClr val="1F2937"/>
                          </a:solidFill>
                          <a:latin typeface="Calibri" pitchFamily="34" charset="0"/>
                          <a:ea typeface="Calibri" pitchFamily="34" charset="-122"/>
                          <a:cs typeface="Calibri" pitchFamily="34" charset="-120"/>
                        </a:rPr>
                        <a:t>′ secret</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(c</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h</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(446,957, −405,949)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00" b="1" dirty="0">
                          <a:solidFill>
                            <a:srgbClr val="2A78D6"/>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Add its share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 = h</a:t>
                      </a:r>
                      <a:r>
                        <a:rPr lang="en-US" sz="1300" baseline="-25000" dirty="0">
                          <a:solidFill>
                            <a:srgbClr val="1F2937"/>
                          </a:solidFill>
                          <a:latin typeface="Calibri" pitchFamily="34" charset="0"/>
                          <a:ea typeface="Calibri" pitchFamily="34" charset="-122"/>
                          <a:cs typeface="Calibri" pitchFamily="34" charset="-120"/>
                        </a:rPr>
                        <a:t>O</a:t>
                      </a:r>
                      <a:r>
                        <a:rPr lang="en-US" sz="1300" dirty="0">
                          <a:solidFill>
                            <a:srgbClr val="1F2937"/>
                          </a:solidFill>
                          <a:latin typeface="Calibri" pitchFamily="34" charset="0"/>
                          <a:ea typeface="Calibri" pitchFamily="34" charset="-122"/>
                          <a:cs typeface="Calibri" pitchFamily="34" charset="-120"/>
                        </a:rPr>
                        <a:t> + c</a:t>
                      </a:r>
                      <a:r>
                        <a:rPr lang="en-US" sz="1300" baseline="-25000" dirty="0">
                          <a:solidFill>
                            <a:srgbClr val="1F2937"/>
                          </a:solidFill>
                          <a:latin typeface="Calibri" pitchFamily="34" charset="0"/>
                          <a:ea typeface="Calibri" pitchFamily="34" charset="-122"/>
                          <a:cs typeface="Calibri" pitchFamily="34" charset="-120"/>
                        </a:rPr>
                        <a:t>1</a:t>
                      </a:r>
                      <a:r>
                        <a:rPr lang="en-US" sz="1300" dirty="0">
                          <a:solidFill>
                            <a:srgbClr val="1F2937"/>
                          </a:solidFill>
                          <a:latin typeface="Calibri" pitchFamily="34" charset="0"/>
                          <a:ea typeface="Calibri" pitchFamily="34" charset="-122"/>
                          <a:cs typeface="Calibri" pitchFamily="34" charset="-120"/>
                        </a:rPr>
                        <a:t>′ s</a:t>
                      </a:r>
                      <a:r>
                        <a:rPr lang="en-US" sz="1300" baseline="-25000" dirty="0">
                          <a:solidFill>
                            <a:srgbClr val="1F2937"/>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−65,081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00" b="1" dirty="0">
                          <a:solidFill>
                            <a:srgbClr val="2A78D6"/>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…which equals</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Ecd(z) + e</a:t>
                      </a:r>
                      <a:r>
                        <a:rPr lang="en-US" sz="1300" baseline="-25000" dirty="0">
                          <a:solidFill>
                            <a:srgbClr val="1F2937"/>
                          </a:solidFill>
                          <a:latin typeface="Calibri" pitchFamily="34" charset="0"/>
                          <a:ea typeface="Calibri" pitchFamily="34" charset="-122"/>
                          <a:cs typeface="Calibri" pitchFamily="34" charset="-120"/>
                        </a:rPr>
                        <a:t>tot</a:t>
                      </a:r>
                      <a:r>
                        <a:rPr lang="en-US" sz="1300" dirty="0">
                          <a:solidFill>
                            <a:srgbClr val="1F2937"/>
                          </a:solidFill>
                          <a:latin typeface="Calibri" pitchFamily="34" charset="0"/>
                          <a:ea typeface="Calibri" pitchFamily="34" charset="-122"/>
                          <a:cs typeface="Calibri" pitchFamily="34" charset="-120"/>
                        </a:rPr>
                        <a:t> + η = −620 − 12 − 64,449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−65,081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00" b="1" dirty="0">
                          <a:solidFill>
                            <a:srgbClr val="2A78D6"/>
                          </a:solidFill>
                          <a:latin typeface="Calibri" pitchFamily="34" charset="0"/>
                          <a:ea typeface="Calibri" pitchFamily="34" charset="-122"/>
                          <a:cs typeface="Calibri" pitchFamily="34" charset="-120"/>
                        </a:rPr>
                        <a:t>R</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Decode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v / Ω</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−65.08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7" name="Shape 4"/>
          <p:cNvSpPr/>
          <p:nvPr/>
        </p:nvSpPr>
        <p:spPr>
          <a:xfrm>
            <a:off x="548640" y="5623560"/>
            <a:ext cx="11064240" cy="868680"/>
          </a:xfrm>
          <a:prstGeom prst="roundRect">
            <a:avLst>
              <a:gd name="adj" fmla="val 8421"/>
            </a:avLst>
          </a:prstGeom>
          <a:solidFill>
            <a:srgbClr val="F6E3D6"/>
          </a:solidFill>
          <a:ln w="12700">
            <a:solidFill>
              <a:srgbClr val="F6E3D6"/>
            </a:solidFill>
            <a:prstDash val="solid"/>
          </a:ln>
        </p:spPr>
      </p:sp>
      <p:sp>
        <p:nvSpPr>
          <p:cNvPr id="8" name="Text 5"/>
          <p:cNvSpPr txBox="1"/>
          <p:nvPr/>
        </p:nvSpPr>
        <p:spPr>
          <a:xfrm>
            <a:off x="777240" y="5687568"/>
            <a:ext cx="10607040" cy="73152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R gets −0.62 plus noise of −64.46: the noise η/Ω has standard deviation σ</a:t>
            </a:r>
            <a:r>
              <a:rPr lang="en-US" sz="1450" baseline="-25000" dirty="0">
                <a:solidFill>
                  <a:srgbClr val="1F2937"/>
                </a:solidFill>
                <a:latin typeface="Calibri" pitchFamily="34" charset="0"/>
                <a:ea typeface="Calibri" pitchFamily="34" charset="-122"/>
                <a:cs typeface="Calibri" pitchFamily="34" charset="-120"/>
              </a:rPr>
              <a:t>2</a:t>
            </a:r>
            <a:r>
              <a:rPr lang="en-US" sz="1450" dirty="0">
                <a:solidFill>
                  <a:srgbClr val="1F2937"/>
                </a:solidFill>
                <a:latin typeface="Calibri" pitchFamily="34" charset="0"/>
                <a:ea typeface="Calibri" pitchFamily="34" charset="-122"/>
                <a:cs typeface="Calibri" pitchFamily="34" charset="-120"/>
              </a:rPr>
              <a:t> = 37.5. Without c</a:t>
            </a:r>
            <a:r>
              <a:rPr lang="en-US" sz="1450" baseline="-25000" dirty="0">
                <a:solidFill>
                  <a:srgbClr val="1F2937"/>
                </a:solidFill>
                <a:latin typeface="Calibri" pitchFamily="34" charset="0"/>
                <a:ea typeface="Calibri" pitchFamily="34" charset="-122"/>
                <a:cs typeface="Calibri" pitchFamily="34" charset="-120"/>
              </a:rPr>
              <a:t>0</a:t>
            </a:r>
            <a:r>
              <a:rPr lang="en-US" sz="1450" dirty="0">
                <a:solidFill>
                  <a:srgbClr val="1F2937"/>
                </a:solidFill>
                <a:latin typeface="Calibri" pitchFamily="34" charset="0"/>
                <a:ea typeface="Calibri" pitchFamily="34" charset="-122"/>
                <a:cs typeface="Calibri" pitchFamily="34" charset="-120"/>
              </a:rPr>
              <a:t>′, R cannot strip η off, and it never sees O's share.</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Stage 1: choosing the ridge</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A first release of B and C only, with noise σ</a:t>
            </a:r>
            <a:r>
              <a:rPr lang="en-US" sz="1600" i="1" baseline="-25000" dirty="0">
                <a:solidFill>
                  <a:srgbClr val="5B6576"/>
                </a:solidFill>
                <a:latin typeface="Calibri" pitchFamily="34" charset="0"/>
                <a:ea typeface="Calibri" pitchFamily="34" charset="-122"/>
                <a:cs typeface="Calibri" pitchFamily="34" charset="-120"/>
              </a:rPr>
              <a:t>1</a:t>
            </a:r>
            <a:r>
              <a:rPr lang="en-US" sz="1600" i="1" dirty="0">
                <a:solidFill>
                  <a:srgbClr val="5B6576"/>
                </a:solidFill>
                <a:latin typeface="Calibri" pitchFamily="34" charset="0"/>
                <a:ea typeface="Calibri" pitchFamily="34" charset="-122"/>
                <a:cs typeface="Calibri" pitchFamily="34" charset="-120"/>
              </a:rPr>
              <a:t> = 90.5</a:t>
            </a:r>
            <a:endParaRPr lang="en-US" sz="1600" dirty="0"/>
          </a:p>
        </p:txBody>
      </p:sp>
      <p:sp>
        <p:nvSpPr>
          <p:cNvPr id="4" name="Shape 2"/>
          <p:cNvSpPr/>
          <p:nvPr/>
        </p:nvSpPr>
        <p:spPr>
          <a:xfrm>
            <a:off x="9784080" y="411480"/>
            <a:ext cx="1828800" cy="292608"/>
          </a:xfrm>
          <a:prstGeom prst="roundRect">
            <a:avLst>
              <a:gd name="adj" fmla="val 25000"/>
            </a:avLst>
          </a:prstGeom>
          <a:solidFill>
            <a:srgbClr val="C45A0C"/>
          </a:solidFill>
          <a:ln w="12700">
            <a:solidFill>
              <a:srgbClr val="C45A0C"/>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Phases 4–5 · O → R</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1005840"/>
                <a:gridCol w="1115568"/>
                <a:gridCol w="1115568"/>
                <a:gridCol w="1115568"/>
                <a:gridCol w="1115568"/>
                <a:gridCol w="1115568"/>
                <a:gridCol w="1115568"/>
                <a:gridCol w="1115568"/>
                <a:gridCol w="1115568"/>
                <a:gridCol w="1115568"/>
              </a:tblGrid>
              <a:tr h="347472">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47472">
                <a:tc>
                  <a:txBody>
                    <a:bodyPr/>
                    <a:lstStyle/>
                    <a:p>
                      <a:pPr algn="ctr" indent="0" marL="0">
                        <a:buNone/>
                      </a:pPr>
                      <a:r>
                        <a:rPr lang="en-US" sz="1300" b="1" dirty="0">
                          <a:solidFill>
                            <a:srgbClr val="5B6576"/>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0.76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47472">
                <a:tc>
                  <a:txBody>
                    <a:bodyPr/>
                    <a:lstStyle/>
                    <a:p>
                      <a:pPr algn="ctr" indent="0" marL="0">
                        <a:buNone/>
                      </a:pPr>
                      <a:r>
                        <a:rPr lang="en-US" sz="1300" b="1" dirty="0">
                          <a:solidFill>
                            <a:srgbClr val="C45A0C"/>
                          </a:solidFill>
                          <a:latin typeface="Calibri" pitchFamily="34" charset="0"/>
                          <a:ea typeface="Calibri" pitchFamily="34" charset="-122"/>
                          <a:cs typeface="Calibri" pitchFamily="34" charset="-120"/>
                        </a:rPr>
                        <a:t>released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−0.5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55.9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73.1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18.6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−64.4</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−72.8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120.2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118.5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−90.4</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8640" y="2880360"/>
          <a:ext cx="9144000" cy="914400"/>
        </p:xfrm>
        <a:graphic>
          <a:graphicData uri="http://schemas.openxmlformats.org/drawingml/2006/table">
            <a:tbl>
              <a:tblPr/>
              <a:tblGrid>
                <a:gridCol w="4754880"/>
                <a:gridCol w="6309360"/>
              </a:tblGrid>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R forms Ĝ</a:t>
                      </a:r>
                      <a:r>
                        <a:rPr lang="en-US" sz="1350" baseline="-25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 = A ⊕ noisy B, C; its smallest eigenvalue</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λ</a:t>
                      </a:r>
                      <a:r>
                        <a:rPr lang="en-US" sz="1350" baseline="-25000" dirty="0">
                          <a:solidFill>
                            <a:srgbClr val="1F2937"/>
                          </a:solidFill>
                          <a:latin typeface="Calibri" pitchFamily="34" charset="0"/>
                          <a:ea typeface="Calibri" pitchFamily="34" charset="-122"/>
                          <a:cs typeface="Calibri" pitchFamily="34" charset="-120"/>
                        </a:rPr>
                        <a:t>min</a:t>
                      </a:r>
                      <a:r>
                        <a:rPr lang="en-US" sz="1350" dirty="0">
                          <a:solidFill>
                            <a:srgbClr val="1F2937"/>
                          </a:solidFill>
                          <a:latin typeface="Calibri" pitchFamily="34" charset="0"/>
                          <a:ea typeface="Calibri" pitchFamily="34" charset="-122"/>
                          <a:cs typeface="Calibri" pitchFamily="34" charset="-120"/>
                        </a:rPr>
                        <a:t>(Ĝ</a:t>
                      </a:r>
                      <a:r>
                        <a:rPr lang="en-US" sz="1350" baseline="-25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 = −219.6</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Radius for the stage-1 noise</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r</a:t>
                      </a:r>
                      <a:r>
                        <a:rPr lang="en-US" sz="1350" baseline="-25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 = σ</a:t>
                      </a:r>
                      <a:r>
                        <a:rPr lang="en-US" sz="1350" baseline="-25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(2√5 + 2√ln 400) = 847.3</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Target for stage 2</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g* = 2 · 2.5 · σ</a:t>
                      </a:r>
                      <a:r>
                        <a:rPr lang="en-US" sz="1350" baseline="-25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 · √5 = 419.8</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Ridge on everything</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λ</a:t>
                      </a:r>
                      <a:r>
                        <a:rPr lang="en-US" sz="1350" baseline="-25000" dirty="0">
                          <a:solidFill>
                            <a:srgbClr val="1F2937"/>
                          </a:solidFill>
                          <a:latin typeface="Calibri" pitchFamily="34" charset="0"/>
                          <a:ea typeface="Calibri" pitchFamily="34" charset="-122"/>
                          <a:cs typeface="Calibri" pitchFamily="34" charset="-120"/>
                        </a:rPr>
                        <a:t>I</a:t>
                      </a:r>
                      <a:r>
                        <a:rPr lang="en-US" sz="1350" dirty="0">
                          <a:solidFill>
                            <a:srgbClr val="1F2937"/>
                          </a:solidFill>
                          <a:latin typeface="Calibri" pitchFamily="34" charset="0"/>
                          <a:ea typeface="Calibri" pitchFamily="34" charset="-122"/>
                          <a:cs typeface="Calibri" pitchFamily="34" charset="-120"/>
                        </a:rPr>
                        <a:t> = max{0, g* + r</a:t>
                      </a:r>
                      <a:r>
                        <a:rPr lang="en-US" sz="1350" baseline="-25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 − λ</a:t>
                      </a:r>
                      <a:r>
                        <a:rPr lang="en-US" sz="1350" baseline="-25000" dirty="0">
                          <a:solidFill>
                            <a:srgbClr val="1F2937"/>
                          </a:solidFill>
                          <a:latin typeface="Calibri" pitchFamily="34" charset="0"/>
                          <a:ea typeface="Calibri" pitchFamily="34" charset="-122"/>
                          <a:cs typeface="Calibri" pitchFamily="34" charset="-120"/>
                        </a:rPr>
                        <a:t>min</a:t>
                      </a:r>
                      <a:r>
                        <a:rPr lang="en-US" sz="1350" dirty="0">
                          <a:solidFill>
                            <a:srgbClr val="1F2937"/>
                          </a:solidFill>
                          <a:latin typeface="Calibri" pitchFamily="34" charset="0"/>
                          <a:ea typeface="Calibri" pitchFamily="34" charset="-122"/>
                          <a:cs typeface="Calibri" pitchFamily="34" charset="-120"/>
                        </a:rPr>
                        <a:t>(Ĝ</a:t>
                      </a:r>
                      <a:r>
                        <a:rPr lang="en-US" sz="1350" baseline="-25000" dirty="0">
                          <a:solidFill>
                            <a:srgbClr val="1F2937"/>
                          </a:solidFill>
                          <a:latin typeface="Calibri" pitchFamily="34" charset="0"/>
                          <a:ea typeface="Calibri" pitchFamily="34" charset="-122"/>
                          <a:cs typeface="Calibri" pitchFamily="34" charset="-120"/>
                        </a:rPr>
                        <a:t>1</a:t>
                      </a:r>
                      <a:r>
                        <a:rPr lang="en-US" sz="1350" dirty="0">
                          <a:solidFill>
                            <a:srgbClr val="1F2937"/>
                          </a:solidFill>
                          <a:latin typeface="Calibri" pitchFamily="34" charset="0"/>
                          <a:ea typeface="Calibri" pitchFamily="34" charset="-122"/>
                          <a:cs typeface="Calibri" pitchFamily="34" charset="-120"/>
                        </a:rPr>
                        <a:t>)} = 1486.8</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Ridge on O's block only</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λ</a:t>
                      </a:r>
                      <a:r>
                        <a:rPr lang="en-US" sz="1350" baseline="-25000" dirty="0">
                          <a:solidFill>
                            <a:srgbClr val="1F2937"/>
                          </a:solidFill>
                          <a:latin typeface="Calibri" pitchFamily="34" charset="0"/>
                          <a:ea typeface="Calibri" pitchFamily="34" charset="-122"/>
                          <a:cs typeface="Calibri" pitchFamily="34" charset="-120"/>
                        </a:rPr>
                        <a:t>O</a:t>
                      </a:r>
                      <a:r>
                        <a:rPr lang="en-US" sz="1350" dirty="0">
                          <a:solidFill>
                            <a:srgbClr val="1F2937"/>
                          </a:solidFill>
                          <a:latin typeface="Calibri" pitchFamily="34" charset="0"/>
                          <a:ea typeface="Calibri" pitchFamily="34" charset="-122"/>
                          <a:cs typeface="Calibri" pitchFamily="34" charset="-120"/>
                        </a:rPr>
                        <a:t> = ∞: it can never lift λ</a:t>
                      </a:r>
                      <a:r>
                        <a:rPr lang="en-US" sz="1350" baseline="-25000" dirty="0">
                          <a:solidFill>
                            <a:srgbClr val="1F2937"/>
                          </a:solidFill>
                          <a:latin typeface="Calibri" pitchFamily="34" charset="0"/>
                          <a:ea typeface="Calibri" pitchFamily="34" charset="-122"/>
                          <a:cs typeface="Calibri" pitchFamily="34" charset="-120"/>
                        </a:rPr>
                        <a:t>min</a:t>
                      </a:r>
                      <a:r>
                        <a:rPr lang="en-US" sz="1350" dirty="0">
                          <a:solidFill>
                            <a:srgbClr val="1F2937"/>
                          </a:solidFill>
                          <a:latin typeface="Calibri" pitchFamily="34" charset="0"/>
                          <a:ea typeface="Calibri" pitchFamily="34" charset="-122"/>
                          <a:cs typeface="Calibri" pitchFamily="34" charset="-120"/>
                        </a:rPr>
                        <a:t> above λ</a:t>
                      </a:r>
                      <a:r>
                        <a:rPr lang="en-US" sz="1350" baseline="-25000" dirty="0">
                          <a:solidFill>
                            <a:srgbClr val="1F2937"/>
                          </a:solidFill>
                          <a:latin typeface="Calibri" pitchFamily="34" charset="0"/>
                          <a:ea typeface="Calibri" pitchFamily="34" charset="-122"/>
                          <a:cs typeface="Calibri" pitchFamily="34" charset="-120"/>
                        </a:rPr>
                        <a:t>min</a:t>
                      </a:r>
                      <a:r>
                        <a:rPr lang="en-US" sz="1350" dirty="0">
                          <a:solidFill>
                            <a:srgbClr val="1F2937"/>
                          </a:solidFill>
                          <a:latin typeface="Calibri" pitchFamily="34" charset="0"/>
                          <a:ea typeface="Calibri" pitchFamily="34" charset="-122"/>
                          <a:cs typeface="Calibri" pitchFamily="34" charset="-120"/>
                        </a:rPr>
                        <a:t>(A) = 0</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84048">
                <a:tc>
                  <a:txBody>
                    <a:bodyPr/>
                    <a:lstStyle/>
                    <a:p>
                      <a:pPr indent="0" marL="0">
                        <a:buNone/>
                      </a:pPr>
                      <a:r>
                        <a:rPr lang="en-US" sz="1350" b="1" dirty="0">
                          <a:solidFill>
                            <a:srgbClr val="1F2937"/>
                          </a:solidFill>
                          <a:latin typeface="Calibri" pitchFamily="34" charset="0"/>
                          <a:ea typeface="Calibri" pitchFamily="34" charset="-122"/>
                          <a:cs typeface="Calibri" pitchFamily="34" charset="-120"/>
                        </a:rPr>
                        <a:t>Choice</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C45A0C"/>
                          </a:solidFill>
                          <a:latin typeface="Calibri" pitchFamily="34" charset="0"/>
                          <a:ea typeface="Calibri" pitchFamily="34" charset="-122"/>
                          <a:cs typeface="Calibri" pitchFamily="34" charset="-120"/>
                        </a:rPr>
                        <a:t>Ψ = I, λ = 1487</a:t>
                      </a:r>
                      <a:endParaRPr lang="en-US" sz="135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8" name="Shape 4"/>
          <p:cNvSpPr/>
          <p:nvPr/>
        </p:nvSpPr>
        <p:spPr>
          <a:xfrm>
            <a:off x="548640" y="5394960"/>
            <a:ext cx="11064240" cy="777240"/>
          </a:xfrm>
          <a:prstGeom prst="roundRect">
            <a:avLst>
              <a:gd name="adj" fmla="val 9412"/>
            </a:avLst>
          </a:prstGeom>
          <a:solidFill>
            <a:srgbClr val="F6E3D6"/>
          </a:solidFill>
          <a:ln w="12700">
            <a:solidFill>
              <a:srgbClr val="F6E3D6"/>
            </a:solidFill>
            <a:prstDash val="solid"/>
          </a:ln>
        </p:spPr>
      </p:sp>
      <p:sp>
        <p:nvSpPr>
          <p:cNvPr id="9" name="Text 5"/>
          <p:cNvSpPr txBox="1"/>
          <p:nvPr/>
        </p:nvSpPr>
        <p:spPr>
          <a:xfrm>
            <a:off x="777240" y="5440680"/>
            <a:ext cx="10607040" cy="685800"/>
          </a:xfrm>
          <a:prstGeom prst="rect">
            <a:avLst/>
          </a:prstGeom>
          <a:noFill/>
          <a:ln/>
        </p:spPr>
        <p:txBody>
          <a:bodyPr wrap="square" lIns="0" tIns="0" rIns="0" bIns="0" rtlCol="0" anchor="ctr"/>
          <a:lstStyle/>
          <a:p>
            <a:pPr indent="0" marL="0">
              <a:buNone/>
            </a:pPr>
            <a:r>
              <a:rPr lang="en-US" sz="1450" dirty="0">
                <a:solidFill>
                  <a:srgbClr val="1F2937"/>
                </a:solidFill>
                <a:latin typeface="Calibri" pitchFamily="34" charset="0"/>
                <a:ea typeface="Calibri" pitchFamily="34" charset="-122"/>
                <a:cs typeface="Calibri" pitchFamily="34" charset="-120"/>
              </a:rPr>
              <a:t>The ridge is huge because the noise is huge relative to two people's data. It is chosen before stage 2, so it is independent of the noise there.</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Stage 2: the main release</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All fifteen O-dependent numbers, with noise σ</a:t>
            </a:r>
            <a:r>
              <a:rPr lang="en-US" sz="1600" i="1" baseline="-25000" dirty="0">
                <a:solidFill>
                  <a:srgbClr val="5B6576"/>
                </a:solidFill>
                <a:latin typeface="Calibri" pitchFamily="34" charset="0"/>
                <a:ea typeface="Calibri" pitchFamily="34" charset="-122"/>
                <a:cs typeface="Calibri" pitchFamily="34" charset="-120"/>
              </a:rPr>
              <a:t>2</a:t>
            </a:r>
            <a:r>
              <a:rPr lang="en-US" sz="1600" i="1" dirty="0">
                <a:solidFill>
                  <a:srgbClr val="5B6576"/>
                </a:solidFill>
                <a:latin typeface="Calibri" pitchFamily="34" charset="0"/>
                <a:ea typeface="Calibri" pitchFamily="34" charset="-122"/>
                <a:cs typeface="Calibri" pitchFamily="34" charset="-120"/>
              </a:rPr>
              <a:t> = 37.5</a:t>
            </a:r>
            <a:endParaRPr lang="en-US" sz="1600" dirty="0"/>
          </a:p>
        </p:txBody>
      </p:sp>
      <p:sp>
        <p:nvSpPr>
          <p:cNvPr id="4" name="Shape 2"/>
          <p:cNvSpPr/>
          <p:nvPr/>
        </p:nvSpPr>
        <p:spPr>
          <a:xfrm>
            <a:off x="9784080" y="411480"/>
            <a:ext cx="1828800" cy="292608"/>
          </a:xfrm>
          <a:prstGeom prst="roundRect">
            <a:avLst>
              <a:gd name="adj" fmla="val 25000"/>
            </a:avLst>
          </a:prstGeom>
          <a:solidFill>
            <a:srgbClr val="C45A0C"/>
          </a:solidFill>
          <a:ln w="12700">
            <a:solidFill>
              <a:srgbClr val="C45A0C"/>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4 · O → R</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1005840"/>
                <a:gridCol w="1188720"/>
                <a:gridCol w="1188720"/>
                <a:gridCol w="1188720"/>
                <a:gridCol w="1188720"/>
                <a:gridCol w="1188720"/>
                <a:gridCol w="1188720"/>
                <a:gridCol w="1188720"/>
                <a:gridCol w="1188720"/>
              </a:tblGrid>
              <a:tr h="347472">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r>
                        <a:rPr lang="en-US" sz="1300" b="1" baseline="-25000" dirty="0">
                          <a:solidFill>
                            <a:srgbClr val="FFFFFF"/>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01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47472">
                <a:tc>
                  <a:txBody>
                    <a:bodyPr/>
                    <a:lstStyle/>
                    <a:p>
                      <a:pPr algn="ctr" indent="0" marL="0">
                        <a:buNone/>
                      </a:pPr>
                      <a:r>
                        <a:rPr lang="en-US" sz="1300" b="1" dirty="0">
                          <a:solidFill>
                            <a:srgbClr val="5B6576"/>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0.50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0.76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47472">
                <a:tc>
                  <a:txBody>
                    <a:bodyPr/>
                    <a:lstStyle/>
                    <a:p>
                      <a:pPr algn="ctr" indent="0" marL="0">
                        <a:buNone/>
                      </a:pPr>
                      <a:r>
                        <a:rPr lang="en-US" sz="1300" b="1" dirty="0">
                          <a:solidFill>
                            <a:srgbClr val="C45A0C"/>
                          </a:solidFill>
                          <a:latin typeface="Calibri" pitchFamily="34" charset="0"/>
                          <a:ea typeface="Calibri" pitchFamily="34" charset="-122"/>
                          <a:cs typeface="Calibri" pitchFamily="34" charset="-120"/>
                        </a:rPr>
                        <a:t>released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10.8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17.1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84.6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6.7</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−4.5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−36.8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30.2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−66.5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48640" y="2926080"/>
          <a:ext cx="9144000" cy="914400"/>
        </p:xfrm>
        <a:graphic>
          <a:graphicData uri="http://schemas.openxmlformats.org/drawingml/2006/table">
            <a:tbl>
              <a:tblPr/>
              <a:tblGrid>
                <a:gridCol w="1005840"/>
                <a:gridCol w="1188720"/>
                <a:gridCol w="1188720"/>
                <a:gridCol w="1188720"/>
                <a:gridCol w="1188720"/>
                <a:gridCol w="1188720"/>
                <a:gridCol w="1188720"/>
                <a:gridCol w="1188720"/>
              </a:tblGrid>
              <a:tr h="347472">
                <a:tc>
                  <a:txBody>
                    <a:bodyPr/>
                    <a:lstStyle/>
                    <a:p>
                      <a:pPr algn="ct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R0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R1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O1</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r>
                        <a:rPr lang="en-US" sz="1300" b="1" baseline="-25000" dirty="0">
                          <a:solidFill>
                            <a:srgbClr val="FFFFFF"/>
                          </a:solidFill>
                          <a:latin typeface="Calibri" pitchFamily="34" charset="0"/>
                          <a:ea typeface="Calibri" pitchFamily="34" charset="-122"/>
                          <a:cs typeface="Calibri" pitchFamily="34" charset="-120"/>
                        </a:rPr>
                        <a:t>O2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r>
                        <a:rPr lang="en-US" sz="1300" b="1" baseline="30000" dirty="0">
                          <a:solidFill>
                            <a:srgbClr val="FFFFFF"/>
                          </a:solidFill>
                          <a:latin typeface="Calibri" pitchFamily="34" charset="0"/>
                          <a:ea typeface="Calibri" pitchFamily="34" charset="-122"/>
                          <a:cs typeface="Calibri" pitchFamily="34" charset="-120"/>
                        </a:rPr>
                        <a:t>T</a:t>
                      </a:r>
                      <a:r>
                        <a:rPr lang="en-US" sz="1300" b="1" dirty="0">
                          <a:solidFill>
                            <a:srgbClr val="FFFFFF"/>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47472">
                <a:tc>
                  <a:txBody>
                    <a:bodyPr/>
                    <a:lstStyle/>
                    <a:p>
                      <a:pPr algn="ctr" indent="0" marL="0">
                        <a:buNone/>
                      </a:pPr>
                      <a:r>
                        <a:rPr lang="en-US" sz="1300" b="1" dirty="0">
                          <a:solidFill>
                            <a:srgbClr val="5B6576"/>
                          </a:solidFill>
                          <a:latin typeface="Calibri" pitchFamily="34" charset="0"/>
                          <a:ea typeface="Calibri" pitchFamily="34" charset="-122"/>
                          <a:cs typeface="Calibri" pitchFamily="34" charset="-120"/>
                        </a:rPr>
                        <a:t>true</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−0.20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1.10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0.19</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0.70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dirty="0">
                          <a:solidFill>
                            <a:srgbClr val="1F2937"/>
                          </a:solidFill>
                          <a:latin typeface="Calibri" pitchFamily="34" charset="0"/>
                          <a:ea typeface="Calibri" pitchFamily="34" charset="-122"/>
                          <a:cs typeface="Calibri" pitchFamily="34" charset="-120"/>
                        </a:rPr>
                        <a:t>0.65</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47472">
                <a:tc>
                  <a:txBody>
                    <a:bodyPr/>
                    <a:lstStyle/>
                    <a:p>
                      <a:pPr algn="ctr" indent="0" marL="0">
                        <a:buNone/>
                      </a:pPr>
                      <a:r>
                        <a:rPr lang="en-US" sz="1300" b="1" dirty="0">
                          <a:solidFill>
                            <a:srgbClr val="C45A0C"/>
                          </a:solidFill>
                          <a:latin typeface="Calibri" pitchFamily="34" charset="0"/>
                          <a:ea typeface="Calibri" pitchFamily="34" charset="-122"/>
                          <a:cs typeface="Calibri" pitchFamily="34" charset="-120"/>
                        </a:rPr>
                        <a:t>released</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−6.0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25.0</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34.8</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8.4</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33.2</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−2.3</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algn="ctr" indent="0" marL="0">
                        <a:buNone/>
                      </a:pPr>
                      <a:r>
                        <a:rPr lang="en-US" sz="1300" b="1" dirty="0">
                          <a:solidFill>
                            <a:srgbClr val="1F2937"/>
                          </a:solidFill>
                          <a:latin typeface="Calibri" pitchFamily="34" charset="0"/>
                          <a:ea typeface="Calibri" pitchFamily="34" charset="-122"/>
                          <a:cs typeface="Calibri" pitchFamily="34" charset="-120"/>
                        </a:rPr>
                        <a:t>77.6</a:t>
                      </a:r>
                      <a:endParaRPr lang="en-US" sz="1300" dirty="0">
                        <a:latin typeface="Calibri" charset="0"/>
                        <a:ea typeface="Calibri" charset="0"/>
                        <a:cs typeface="Calibri" charset="0"/>
                      </a:endParaRPr>
                    </a:p>
                  </a:txBody>
                  <a:tcPr marL="91440" marR="91440" marT="45720" marB="4572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8" name="Shape 4"/>
          <p:cNvSpPr/>
          <p:nvPr/>
        </p:nvSpPr>
        <p:spPr>
          <a:xfrm>
            <a:off x="548640" y="4434840"/>
            <a:ext cx="5440680" cy="1737360"/>
          </a:xfrm>
          <a:prstGeom prst="roundRect">
            <a:avLst>
              <a:gd name="adj" fmla="val 4211"/>
            </a:avLst>
          </a:prstGeom>
          <a:solidFill>
            <a:srgbClr val="F7F9FC"/>
          </a:solidFill>
          <a:ln w="12700">
            <a:solidFill>
              <a:srgbClr val="F7F9FC"/>
            </a:solidFill>
            <a:prstDash val="solid"/>
          </a:ln>
        </p:spPr>
      </p:sp>
      <p:sp>
        <p:nvSpPr>
          <p:cNvPr id="9" name="Text 5"/>
          <p:cNvSpPr txBox="1"/>
          <p:nvPr/>
        </p:nvSpPr>
        <p:spPr>
          <a:xfrm>
            <a:off x="777240" y="4544568"/>
            <a:ext cx="502920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Gate</a:t>
            </a:r>
            <a:endParaRPr lang="en-US" sz="1500" dirty="0"/>
          </a:p>
        </p:txBody>
      </p:sp>
      <p:sp>
        <p:nvSpPr>
          <p:cNvPr id="10" name="Text 6"/>
          <p:cNvSpPr txBox="1"/>
          <p:nvPr/>
        </p:nvSpPr>
        <p:spPr>
          <a:xfrm>
            <a:off x="777240" y="4937760"/>
            <a:ext cx="5029200" cy="114300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ϑ̂ = λ</a:t>
            </a:r>
            <a:r>
              <a:rPr lang="en-US" sz="1450" baseline="-25000" dirty="0">
                <a:solidFill>
                  <a:srgbClr val="1F2937"/>
                </a:solidFill>
                <a:latin typeface="Calibri" pitchFamily="34" charset="0"/>
                <a:ea typeface="Calibri" pitchFamily="34" charset="-122"/>
                <a:cs typeface="Calibri" pitchFamily="34" charset="-120"/>
              </a:rPr>
              <a:t>min</a:t>
            </a:r>
            <a:r>
              <a:rPr lang="en-US" sz="1450" dirty="0">
                <a:solidFill>
                  <a:srgbClr val="1F2937"/>
                </a:solidFill>
                <a:latin typeface="Calibri" pitchFamily="34" charset="0"/>
                <a:ea typeface="Calibri" pitchFamily="34" charset="-122"/>
                <a:cs typeface="Calibri" pitchFamily="34" charset="-120"/>
              </a:rPr>
              <a:t>(Ĝ</a:t>
            </a:r>
            <a:r>
              <a:rPr lang="en-US" sz="1450" baseline="-25000" dirty="0">
                <a:solidFill>
                  <a:srgbClr val="1F2937"/>
                </a:solidFill>
                <a:latin typeface="Calibri" pitchFamily="34" charset="0"/>
                <a:ea typeface="Calibri" pitchFamily="34" charset="-122"/>
                <a:cs typeface="Calibri" pitchFamily="34" charset="-120"/>
              </a:rPr>
              <a:t>2</a:t>
            </a:r>
            <a:r>
              <a:rPr lang="en-US" sz="1450" dirty="0">
                <a:solidFill>
                  <a:srgbClr val="1F2937"/>
                </a:solidFill>
                <a:latin typeface="Calibri" pitchFamily="34" charset="0"/>
                <a:ea typeface="Calibri" pitchFamily="34" charset="-122"/>
                <a:cs typeface="Calibri" pitchFamily="34" charset="-120"/>
              </a:rPr>
              <a:t> + λI) / (2σ</a:t>
            </a:r>
            <a:r>
              <a:rPr lang="en-US" sz="1450" baseline="-25000" dirty="0">
                <a:solidFill>
                  <a:srgbClr val="1F2937"/>
                </a:solidFill>
                <a:latin typeface="Calibri" pitchFamily="34" charset="0"/>
                <a:ea typeface="Calibri" pitchFamily="34" charset="-122"/>
                <a:cs typeface="Calibri" pitchFamily="34" charset="-120"/>
              </a:rPr>
              <a:t>2</a:t>
            </a:r>
            <a:r>
              <a:rPr lang="en-US" sz="1450" dirty="0">
                <a:solidFill>
                  <a:srgbClr val="1F2937"/>
                </a:solidFill>
                <a:latin typeface="Calibri" pitchFamily="34" charset="0"/>
                <a:ea typeface="Calibri" pitchFamily="34" charset="-122"/>
                <a:cs typeface="Calibri" pitchFamily="34" charset="-120"/>
              </a:rPr>
              <a:t>√5) = 8.42 ≥ 1, so R may report an estimate.</a:t>
            </a:r>
            <a:endParaRPr lang="en-US" sz="1450" dirty="0"/>
          </a:p>
        </p:txBody>
      </p:sp>
      <p:sp>
        <p:nvSpPr>
          <p:cNvPr id="11" name="Shape 7"/>
          <p:cNvSpPr/>
          <p:nvPr/>
        </p:nvSpPr>
        <p:spPr>
          <a:xfrm>
            <a:off x="6172200" y="4434840"/>
            <a:ext cx="5440680" cy="1737360"/>
          </a:xfrm>
          <a:prstGeom prst="roundRect">
            <a:avLst>
              <a:gd name="adj" fmla="val 4211"/>
            </a:avLst>
          </a:prstGeom>
          <a:solidFill>
            <a:srgbClr val="F6E3D6"/>
          </a:solidFill>
          <a:ln w="12700">
            <a:solidFill>
              <a:srgbClr val="F6E3D6"/>
            </a:solidFill>
            <a:prstDash val="solid"/>
          </a:ln>
        </p:spPr>
      </p:sp>
      <p:sp>
        <p:nvSpPr>
          <p:cNvPr id="12" name="Text 8"/>
          <p:cNvSpPr txBox="1"/>
          <p:nvPr/>
        </p:nvSpPr>
        <p:spPr>
          <a:xfrm>
            <a:off x="6400800" y="4544568"/>
            <a:ext cx="502920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What R holds now</a:t>
            </a:r>
            <a:endParaRPr lang="en-US" sz="1500" dirty="0"/>
          </a:p>
        </p:txBody>
      </p:sp>
      <p:sp>
        <p:nvSpPr>
          <p:cNvPr id="13" name="Text 9"/>
          <p:cNvSpPr txBox="1"/>
          <p:nvPr/>
        </p:nvSpPr>
        <p:spPr>
          <a:xfrm>
            <a:off x="6400800" y="4937760"/>
            <a:ext cx="5029200" cy="11430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Its exact A, and fifteen numbers that are almost pure noise. Nothing about any one person in O's register can be read from them beyond what ε = 1 allows.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Phase 5: the estimate and its intervals</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θ̃ = (Ĝ</a:t>
            </a:r>
            <a:r>
              <a:rPr lang="en-US" sz="1600" i="1" baseline="-25000" dirty="0">
                <a:solidFill>
                  <a:srgbClr val="5B6576"/>
                </a:solidFill>
                <a:latin typeface="Calibri" pitchFamily="34" charset="0"/>
                <a:ea typeface="Calibri" pitchFamily="34" charset="-122"/>
                <a:cs typeface="Calibri" pitchFamily="34" charset="-120"/>
              </a:rPr>
              <a:t>2</a:t>
            </a:r>
            <a:r>
              <a:rPr lang="en-US" sz="1600" i="1" dirty="0">
                <a:solidFill>
                  <a:srgbClr val="5B6576"/>
                </a:solidFill>
                <a:latin typeface="Calibri" pitchFamily="34" charset="0"/>
                <a:ea typeface="Calibri" pitchFamily="34" charset="-122"/>
                <a:cs typeface="Calibri" pitchFamily="34" charset="-120"/>
              </a:rPr>
              <a:t> + λI)</a:t>
            </a:r>
            <a:r>
              <a:rPr lang="en-US" sz="1600" i="1" baseline="30000" dirty="0">
                <a:solidFill>
                  <a:srgbClr val="5B6576"/>
                </a:solidFill>
                <a:latin typeface="Calibri" pitchFamily="34" charset="0"/>
                <a:ea typeface="Calibri" pitchFamily="34" charset="-122"/>
                <a:cs typeface="Calibri" pitchFamily="34" charset="-120"/>
              </a:rPr>
              <a:t>−1</a:t>
            </a:r>
            <a:r>
              <a:rPr lang="en-US" sz="1600" i="1" dirty="0">
                <a:solidFill>
                  <a:srgbClr val="5B6576"/>
                </a:solidFill>
                <a:latin typeface="Calibri" pitchFamily="34" charset="0"/>
                <a:ea typeface="Calibri" pitchFamily="34" charset="-122"/>
                <a:cs typeface="Calibri" pitchFamily="34" charset="-120"/>
              </a:rPr>
              <a:t> ĉ</a:t>
            </a:r>
            <a:r>
              <a:rPr lang="en-US" sz="1600" i="1" baseline="-25000" dirty="0">
                <a:solidFill>
                  <a:srgbClr val="5B6576"/>
                </a:solidFill>
                <a:latin typeface="Calibri" pitchFamily="34" charset="0"/>
                <a:ea typeface="Calibri" pitchFamily="34" charset="-122"/>
                <a:cs typeface="Calibri" pitchFamily="34" charset="-120"/>
              </a:rPr>
              <a:t>2</a:t>
            </a:r>
            <a:r>
              <a:rPr lang="en-US" sz="1600" i="1" dirty="0">
                <a:solidFill>
                  <a:srgbClr val="5B6576"/>
                </a:solidFill>
                <a:latin typeface="Calibri" pitchFamily="34" charset="0"/>
                <a:ea typeface="Calibri" pitchFamily="34" charset="-122"/>
                <a:cs typeface="Calibri" pitchFamily="34" charset="-120"/>
              </a:rPr>
              <a:t>, with a parametric bootstrap for the noise</a:t>
            </a:r>
            <a:endParaRPr lang="en-US" sz="1600" dirty="0"/>
          </a:p>
        </p:txBody>
      </p:sp>
      <p:sp>
        <p:nvSpPr>
          <p:cNvPr id="4" name="Shape 2"/>
          <p:cNvSpPr/>
          <p:nvPr/>
        </p:nvSpPr>
        <p:spPr>
          <a:xfrm>
            <a:off x="9784080" y="411480"/>
            <a:ext cx="1828800" cy="292608"/>
          </a:xfrm>
          <a:prstGeom prst="roundRect">
            <a:avLst>
              <a:gd name="adj" fmla="val 25000"/>
            </a:avLst>
          </a:prstGeom>
          <a:solidFill>
            <a:srgbClr val="2A78D6"/>
          </a:solidFill>
          <a:ln w="12700">
            <a:solidFill>
              <a:srgbClr val="2A78D6"/>
            </a:solidFill>
            <a:prstDash val="solid"/>
          </a:ln>
        </p:spPr>
      </p:sp>
      <p:sp>
        <p:nvSpPr>
          <p:cNvPr id="5" name="Text 3"/>
          <p:cNvSpPr txBox="1"/>
          <p:nvPr/>
        </p:nvSpPr>
        <p:spPr>
          <a:xfrm>
            <a:off x="9784080" y="411480"/>
            <a:ext cx="182880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Phase 5 · R</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9144000" cy="914400"/>
        </p:xfrm>
        <a:graphic>
          <a:graphicData uri="http://schemas.openxmlformats.org/drawingml/2006/table">
            <a:tbl>
              <a:tblPr/>
              <a:tblGrid>
                <a:gridCol w="2011680"/>
                <a:gridCol w="2194560"/>
                <a:gridCol w="2834640"/>
                <a:gridCol w="2468880"/>
                <a:gridCol w="155448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Coefficient</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Protocol estimate θ̃</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Wald interval θ̃ ± 2.00·sd</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Ridge target θ</a:t>
                      </a:r>
                      <a:r>
                        <a:rPr lang="en-US" sz="1350" b="1" baseline="-25000" dirty="0">
                          <a:solidFill>
                            <a:srgbClr val="FFFFFF"/>
                          </a:solidFill>
                          <a:latin typeface="Calibri" pitchFamily="34" charset="0"/>
                          <a:ea typeface="Calibri" pitchFamily="34" charset="-122"/>
                          <a:cs typeface="Calibri" pitchFamily="34" charset="-120"/>
                        </a:rPr>
                        <a:t>λ</a:t>
                      </a:r>
                      <a:r>
                        <a:rPr lang="en-US" sz="1350" b="1" dirty="0">
                          <a:solidFill>
                            <a:srgbClr val="FFFFFF"/>
                          </a:solidFill>
                          <a:latin typeface="Calibri" pitchFamily="34" charset="0"/>
                          <a:ea typeface="Calibri" pitchFamily="34" charset="-122"/>
                          <a:cs typeface="Calibri" pitchFamily="34" charset="-120"/>
                        </a:rPr>
                        <a:t> (true)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Covers?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intercept</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0.017</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[−0.035, 0.068]</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0.0007</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B8A7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education</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0.024</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[−0.027, 0.075]</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0.0001</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B8A7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health</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0.007</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[−0.044, 0.057]</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0.0001</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B8A7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age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0.023</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[−0.028, 0.074]</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−0.0001</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B8A7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benefits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−0.002</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[−0.050, 0.046]</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0.0005</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B8A7A"/>
                          </a:solidFill>
                          <a:latin typeface="Calibri" pitchFamily="34" charset="0"/>
                          <a:ea typeface="Calibri" pitchFamily="34" charset="-122"/>
                          <a:cs typeface="Calibri" pitchFamily="34" charset="-120"/>
                        </a:rPr>
                        <a:t>yes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7" name="Shape 4"/>
          <p:cNvSpPr/>
          <p:nvPr/>
        </p:nvSpPr>
        <p:spPr>
          <a:xfrm>
            <a:off x="548640" y="4023360"/>
            <a:ext cx="5440680" cy="2148840"/>
          </a:xfrm>
          <a:prstGeom prst="roundRect">
            <a:avLst>
              <a:gd name="adj" fmla="val 3404"/>
            </a:avLst>
          </a:prstGeom>
          <a:solidFill>
            <a:srgbClr val="F7F9FC"/>
          </a:solidFill>
          <a:ln w="12700">
            <a:solidFill>
              <a:srgbClr val="F7F9FC"/>
            </a:solidFill>
            <a:prstDash val="solid"/>
          </a:ln>
        </p:spPr>
      </p:sp>
      <p:sp>
        <p:nvSpPr>
          <p:cNvPr id="8" name="Text 5"/>
          <p:cNvSpPr txBox="1"/>
          <p:nvPr/>
        </p:nvSpPr>
        <p:spPr>
          <a:xfrm>
            <a:off x="777240" y="4133088"/>
            <a:ext cx="502920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Reading it</a:t>
            </a:r>
            <a:endParaRPr lang="en-US" sz="1500" dirty="0"/>
          </a:p>
        </p:txBody>
      </p:sp>
      <p:sp>
        <p:nvSpPr>
          <p:cNvPr id="9" name="Text 6"/>
          <p:cNvSpPr txBox="1"/>
          <p:nvPr/>
        </p:nvSpPr>
        <p:spPr>
          <a:xfrm>
            <a:off x="777240" y="4526280"/>
            <a:ext cx="5074920" cy="160020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λ ≈ 1487 dwarfs G (entries about 1), so θ</a:t>
            </a:r>
            <a:r>
              <a:rPr lang="en-US" sz="1350" baseline="-25000" dirty="0">
                <a:solidFill>
                  <a:srgbClr val="1F2937"/>
                </a:solidFill>
                <a:latin typeface="Calibri" pitchFamily="34" charset="0"/>
                <a:ea typeface="Calibri" pitchFamily="34" charset="-122"/>
                <a:cs typeface="Calibri" pitchFamily="34" charset="-120"/>
              </a:rPr>
              <a:t>λ</a:t>
            </a:r>
            <a:r>
              <a:rPr lang="en-US" sz="1350" dirty="0">
                <a:solidFill>
                  <a:srgbClr val="1F2937"/>
                </a:solidFill>
                <a:latin typeface="Calibri" pitchFamily="34" charset="0"/>
                <a:ea typeface="Calibri" pitchFamily="34" charset="-122"/>
                <a:cs typeface="Calibri" pitchFamily="34" charset="-120"/>
              </a:rPr>
              <a:t> ≈ 0 and θ̃ ≈ ĉ</a:t>
            </a:r>
            <a:r>
              <a:rPr lang="en-US" sz="1350" baseline="-25000" dirty="0">
                <a:solidFill>
                  <a:srgbClr val="1F2937"/>
                </a:solidFill>
                <a:latin typeface="Calibri" pitchFamily="34" charset="0"/>
                <a:ea typeface="Calibri" pitchFamily="34" charset="-122"/>
                <a:cs typeface="Calibri" pitchFamily="34" charset="-120"/>
              </a:rPr>
              <a:t>2</a:t>
            </a:r>
            <a:r>
              <a:rPr lang="en-US" sz="1350" dirty="0">
                <a:solidFill>
                  <a:srgbClr val="1F2937"/>
                </a:solidFill>
                <a:latin typeface="Calibri" pitchFamily="34" charset="0"/>
                <a:ea typeface="Calibri" pitchFamily="34" charset="-122"/>
                <a:cs typeface="Calibri" pitchFamily="34" charset="-120"/>
              </a:rPr>
              <a:t> / λ: noise, shrunk</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intervals are honest about it: they are as wide as the estimates, and cover the target</a:t>
            </a:r>
            <a:endParaRPr lang="en-US" sz="1350" dirty="0"/>
          </a:p>
          <a:p>
            <a:pPr marL="342900" indent="-342900">
              <a:spcAft>
                <a:spcPts val="600"/>
              </a:spcAft>
              <a:buSzPct val="100000"/>
              <a:buChar char="•"/>
            </a:pPr>
            <a:r>
              <a:rPr lang="en-US" sz="1350" dirty="0">
                <a:solidFill>
                  <a:srgbClr val="1F2937"/>
                </a:solidFill>
                <a:latin typeface="Calibri" pitchFamily="34" charset="0"/>
                <a:ea typeface="Calibri" pitchFamily="34" charset="-122"/>
                <a:cs typeface="Calibri" pitchFamily="34" charset="-120"/>
              </a:rPr>
              <a:t>The least-squares β does not exist here (G has rank 2)</a:t>
            </a:r>
            <a:endParaRPr lang="en-US" sz="1350" dirty="0"/>
          </a:p>
        </p:txBody>
      </p:sp>
      <p:sp>
        <p:nvSpPr>
          <p:cNvPr id="10" name="Shape 7"/>
          <p:cNvSpPr/>
          <p:nvPr/>
        </p:nvSpPr>
        <p:spPr>
          <a:xfrm>
            <a:off x="6172200" y="4023360"/>
            <a:ext cx="5440680" cy="2148840"/>
          </a:xfrm>
          <a:prstGeom prst="roundRect">
            <a:avLst>
              <a:gd name="adj" fmla="val 3404"/>
            </a:avLst>
          </a:prstGeom>
          <a:solidFill>
            <a:srgbClr val="F6E3D6"/>
          </a:solidFill>
          <a:ln w="12700">
            <a:solidFill>
              <a:srgbClr val="F6E3D6"/>
            </a:solidFill>
            <a:prstDash val="solid"/>
          </a:ln>
        </p:spPr>
      </p:sp>
      <p:sp>
        <p:nvSpPr>
          <p:cNvPr id="11" name="Text 8"/>
          <p:cNvSpPr txBox="1"/>
          <p:nvPr/>
        </p:nvSpPr>
        <p:spPr>
          <a:xfrm>
            <a:off x="6400800" y="4133088"/>
            <a:ext cx="502920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The protocol fails safe</a:t>
            </a:r>
            <a:endParaRPr lang="en-US" sz="1500" dirty="0"/>
          </a:p>
        </p:txBody>
      </p:sp>
      <p:sp>
        <p:nvSpPr>
          <p:cNvPr id="12" name="Text 9"/>
          <p:cNvSpPr txBox="1"/>
          <p:nvPr/>
        </p:nvSpPr>
        <p:spPr>
          <a:xfrm>
            <a:off x="6400800" y="4526280"/>
            <a:ext cx="5029200" cy="155448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With two people, any answer that told R something about them would break privacy. So the estimate is shrunk to almost nothing, and the intervals say so.</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each party saw</a:t>
            </a:r>
            <a:endParaRPr lang="en-US" sz="3200" dirty="0"/>
          </a:p>
        </p:txBody>
      </p:sp>
      <p:sp>
        <p:nvSpPr>
          <p:cNvPr id="3" name="Shape 1"/>
          <p:cNvSpPr/>
          <p:nvPr/>
        </p:nvSpPr>
        <p:spPr>
          <a:xfrm>
            <a:off x="548640" y="1417320"/>
            <a:ext cx="5440680" cy="3931920"/>
          </a:xfrm>
          <a:prstGeom prst="roundRect">
            <a:avLst>
              <a:gd name="adj" fmla="val 1860"/>
            </a:avLst>
          </a:prstGeom>
          <a:solidFill>
            <a:srgbClr val="F6E3D6"/>
          </a:solidFill>
          <a:ln w="12700">
            <a:solidFill>
              <a:srgbClr val="F6E3D6"/>
            </a:solidFill>
            <a:prstDash val="solid"/>
          </a:ln>
        </p:spPr>
      </p:sp>
      <p:sp>
        <p:nvSpPr>
          <p:cNvPr id="4" name="Shape 2"/>
          <p:cNvSpPr/>
          <p:nvPr/>
        </p:nvSpPr>
        <p:spPr>
          <a:xfrm>
            <a:off x="777240" y="1645920"/>
            <a:ext cx="640080" cy="640080"/>
          </a:xfrm>
          <a:prstGeom prst="ellipse">
            <a:avLst/>
          </a:prstGeom>
          <a:solidFill>
            <a:srgbClr val="C45A0C"/>
          </a:solidFill>
          <a:ln w="12700">
            <a:solidFill>
              <a:srgbClr val="C45A0C"/>
            </a:solidFill>
            <a:prstDash val="solid"/>
          </a:ln>
        </p:spPr>
      </p:sp>
      <p:pic>
        <p:nvPicPr>
          <p:cNvPr id="5" name="Image 0" descr="preencoded.png">    </p:cNvPr>
          <p:cNvPicPr>
            <a:picLocks noChangeAspect="1"/>
          </p:cNvPicPr>
          <p:nvPr/>
        </p:nvPicPr>
        <p:blipFill>
          <a:blip r:embed="rId1"/>
          <a:stretch>
            <a:fillRect/>
          </a:stretch>
        </p:blipFill>
        <p:spPr>
          <a:xfrm>
            <a:off x="930859" y="1799539"/>
            <a:ext cx="332842" cy="332842"/>
          </a:xfrm>
          <a:prstGeom prst="rect">
            <a:avLst/>
          </a:prstGeom>
        </p:spPr>
      </p:pic>
      <p:sp>
        <p:nvSpPr>
          <p:cNvPr id="6" name="Text 3"/>
          <p:cNvSpPr txBox="1"/>
          <p:nvPr/>
        </p:nvSpPr>
        <p:spPr>
          <a:xfrm>
            <a:off x="1600200" y="1737360"/>
            <a:ext cx="3657600" cy="457200"/>
          </a:xfrm>
          <a:prstGeom prst="rect">
            <a:avLst/>
          </a:prstGeom>
          <a:noFill/>
          <a:ln/>
        </p:spPr>
        <p:txBody>
          <a:bodyPr wrap="square" lIns="0" tIns="0" rIns="0" bIns="0" rtlCol="0" anchor="t"/>
          <a:lstStyle/>
          <a:p>
            <a:pPr indent="0" marL="0">
              <a:buNone/>
            </a:pPr>
            <a:r>
              <a:rPr lang="en-US" sz="2200" b="1" dirty="0">
                <a:solidFill>
                  <a:srgbClr val="14213D"/>
                </a:solidFill>
                <a:latin typeface="Cambria" pitchFamily="34" charset="0"/>
                <a:ea typeface="Cambria" pitchFamily="34" charset="-122"/>
                <a:cs typeface="Cambria" pitchFamily="34" charset="-120"/>
              </a:rPr>
              <a:t>O</a:t>
            </a:r>
            <a:endParaRPr lang="en-US" sz="2200" dirty="0"/>
          </a:p>
        </p:txBody>
      </p:sp>
      <p:sp>
        <p:nvSpPr>
          <p:cNvPr id="7" name="Text 4"/>
          <p:cNvSpPr txBox="1"/>
          <p:nvPr/>
        </p:nvSpPr>
        <p:spPr>
          <a:xfrm>
            <a:off x="777240" y="2514600"/>
            <a:ext cx="498348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4 blinded OPRF queries and encrypted PSI queries</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Four upload ciphertexts that look random</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The padded sizes: 4 queries, 6 rows</a:t>
            </a:r>
            <a:endParaRPr lang="en-US" sz="1500" dirty="0"/>
          </a:p>
          <a:p>
            <a:pPr marL="342900" indent="-3429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Not: which rows matched, R's features, or that R has three people</a:t>
            </a:r>
            <a:endParaRPr lang="en-US" sz="1500" dirty="0"/>
          </a:p>
          <a:p>
            <a:pPr marL="342900" indent="-3429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Not: any decryption share from R</a:t>
            </a:r>
            <a:endParaRPr lang="en-US" sz="1500" dirty="0"/>
          </a:p>
        </p:txBody>
      </p:sp>
      <p:sp>
        <p:nvSpPr>
          <p:cNvPr id="8" name="Shape 5"/>
          <p:cNvSpPr/>
          <p:nvPr/>
        </p:nvSpPr>
        <p:spPr>
          <a:xfrm>
            <a:off x="6172200" y="1417320"/>
            <a:ext cx="5440680" cy="3931920"/>
          </a:xfrm>
          <a:prstGeom prst="roundRect">
            <a:avLst>
              <a:gd name="adj" fmla="val 1860"/>
            </a:avLst>
          </a:prstGeom>
          <a:solidFill>
            <a:srgbClr val="E3EEFB"/>
          </a:solidFill>
          <a:ln w="12700">
            <a:solidFill>
              <a:srgbClr val="E3EEFB"/>
            </a:solidFill>
            <a:prstDash val="solid"/>
          </a:ln>
        </p:spPr>
      </p:sp>
      <p:sp>
        <p:nvSpPr>
          <p:cNvPr id="9" name="Shape 6"/>
          <p:cNvSpPr/>
          <p:nvPr/>
        </p:nvSpPr>
        <p:spPr>
          <a:xfrm>
            <a:off x="6400800" y="1645920"/>
            <a:ext cx="640080" cy="640080"/>
          </a:xfrm>
          <a:prstGeom prst="ellipse">
            <a:avLst/>
          </a:prstGeom>
          <a:solidFill>
            <a:srgbClr val="2A78D6"/>
          </a:solidFill>
          <a:ln w="12700">
            <a:solidFill>
              <a:srgbClr val="2A78D6"/>
            </a:solidFill>
            <a:prstDash val="solid"/>
          </a:ln>
        </p:spPr>
      </p:sp>
      <p:pic>
        <p:nvPicPr>
          <p:cNvPr id="10" name="Image 1" descr="preencoded.png">    </p:cNvPr>
          <p:cNvPicPr>
            <a:picLocks noChangeAspect="1"/>
          </p:cNvPicPr>
          <p:nvPr/>
        </p:nvPicPr>
        <p:blipFill>
          <a:blip r:embed="rId2"/>
          <a:stretch>
            <a:fillRect/>
          </a:stretch>
        </p:blipFill>
        <p:spPr>
          <a:xfrm>
            <a:off x="6554419" y="1799539"/>
            <a:ext cx="332842" cy="332842"/>
          </a:xfrm>
          <a:prstGeom prst="rect">
            <a:avLst/>
          </a:prstGeom>
        </p:spPr>
      </p:pic>
      <p:sp>
        <p:nvSpPr>
          <p:cNvPr id="11" name="Text 7"/>
          <p:cNvSpPr txBox="1"/>
          <p:nvPr/>
        </p:nvSpPr>
        <p:spPr>
          <a:xfrm>
            <a:off x="7223760" y="1737360"/>
            <a:ext cx="3657600" cy="457200"/>
          </a:xfrm>
          <a:prstGeom prst="rect">
            <a:avLst/>
          </a:prstGeom>
          <a:noFill/>
          <a:ln/>
        </p:spPr>
        <p:txBody>
          <a:bodyPr wrap="square" lIns="0" tIns="0" rIns="0" bIns="0" rtlCol="0" anchor="t"/>
          <a:lstStyle/>
          <a:p>
            <a:pPr indent="0" marL="0">
              <a:buNone/>
            </a:pPr>
            <a:r>
              <a:rPr lang="en-US" sz="2200" b="1" dirty="0">
                <a:solidFill>
                  <a:srgbClr val="14213D"/>
                </a:solidFill>
                <a:latin typeface="Cambria" pitchFamily="34" charset="0"/>
                <a:ea typeface="Cambria" pitchFamily="34" charset="-122"/>
                <a:cs typeface="Cambria" pitchFamily="34" charset="-120"/>
              </a:rPr>
              <a:t>R</a:t>
            </a:r>
            <a:endParaRPr lang="en-US" sz="2200" dirty="0"/>
          </a:p>
        </p:txBody>
      </p:sp>
      <p:sp>
        <p:nvSpPr>
          <p:cNvPr id="12" name="Text 8"/>
          <p:cNvSpPr txBox="1"/>
          <p:nvPr/>
        </p:nvSpPr>
        <p:spPr>
          <a:xfrm>
            <a:off x="6400800" y="2514600"/>
            <a:ext cx="498348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Its own data, and its exact block A</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That 104 and 221 are in the register, at positions 6 and 3; that 317 is not</a:t>
            </a:r>
            <a:endParaRPr lang="en-US" sz="1500" dirty="0"/>
          </a:p>
          <a:p>
            <a:pPr marL="342900" indent="-342900">
              <a:spcAft>
                <a:spcPts val="600"/>
              </a:spcAft>
              <a:buSzPct val="100000"/>
              <a:buChar char="•"/>
            </a:pPr>
            <a:r>
              <a:rPr lang="en-US" sz="1500" dirty="0">
                <a:solidFill>
                  <a:srgbClr val="1F2937"/>
                </a:solidFill>
                <a:latin typeface="Calibri" pitchFamily="34" charset="0"/>
                <a:ea typeface="Calibri" pitchFamily="34" charset="-122"/>
                <a:cs typeface="Calibri" pitchFamily="34" charset="-120"/>
              </a:rPr>
              <a:t>Two noisy releases (σ</a:t>
            </a:r>
            <a:r>
              <a:rPr lang="en-US" sz="1500" baseline="-25000" dirty="0">
                <a:solidFill>
                  <a:srgbClr val="1F2937"/>
                </a:solidFill>
                <a:latin typeface="Calibri" pitchFamily="34" charset="0"/>
                <a:ea typeface="Calibri" pitchFamily="34" charset="-122"/>
                <a:cs typeface="Calibri" pitchFamily="34" charset="-120"/>
              </a:rPr>
              <a:t>1</a:t>
            </a:r>
            <a:r>
              <a:rPr lang="en-US" sz="1500" dirty="0">
                <a:solidFill>
                  <a:srgbClr val="1F2937"/>
                </a:solidFill>
                <a:latin typeface="Calibri" pitchFamily="34" charset="0"/>
                <a:ea typeface="Calibri" pitchFamily="34" charset="-122"/>
                <a:cs typeface="Calibri" pitchFamily="34" charset="-120"/>
              </a:rPr>
              <a:t> = 90.5, σ</a:t>
            </a:r>
            <a:r>
              <a:rPr lang="en-US" sz="1500" baseline="-25000" dirty="0">
                <a:solidFill>
                  <a:srgbClr val="1F2937"/>
                </a:solidFill>
                <a:latin typeface="Calibri" pitchFamily="34" charset="0"/>
                <a:ea typeface="Calibri" pitchFamily="34" charset="-122"/>
                <a:cs typeface="Calibri" pitchFamily="34" charset="-120"/>
              </a:rPr>
              <a:t>2</a:t>
            </a:r>
            <a:r>
              <a:rPr lang="en-US" sz="1500" dirty="0">
                <a:solidFill>
                  <a:srgbClr val="1F2937"/>
                </a:solidFill>
                <a:latin typeface="Calibri" pitchFamily="34" charset="0"/>
                <a:ea typeface="Calibri" pitchFamily="34" charset="-122"/>
                <a:cs typeface="Calibri" pitchFamily="34" charset="-120"/>
              </a:rPr>
              <a:t> = 37.5) and the estimate θ̃</a:t>
            </a:r>
            <a:endParaRPr lang="en-US" sz="1500" dirty="0"/>
          </a:p>
          <a:p>
            <a:pPr marL="342900" indent="-342900">
              <a:spcAft>
                <a:spcPts val="600"/>
              </a:spcAft>
              <a:buSzPct val="100000"/>
              <a:buChar char="•"/>
            </a:pPr>
            <a:r>
              <a:rPr lang="en-US" sz="1500" b="1" dirty="0">
                <a:solidFill>
                  <a:srgbClr val="1F2937"/>
                </a:solidFill>
                <a:latin typeface="Calibri" pitchFamily="34" charset="0"/>
                <a:ea typeface="Calibri" pitchFamily="34" charset="-122"/>
                <a:cs typeface="Calibri" pitchFamily="34" charset="-120"/>
              </a:rPr>
              <a:t>Not: O's rows, O's key share, or the c</a:t>
            </a:r>
            <a:r>
              <a:rPr lang="en-US" sz="1500" b="1" baseline="-25000" dirty="0">
                <a:solidFill>
                  <a:srgbClr val="1F2937"/>
                </a:solidFill>
                <a:latin typeface="Calibri" pitchFamily="34" charset="0"/>
                <a:ea typeface="Calibri" pitchFamily="34" charset="-122"/>
                <a:cs typeface="Calibri" pitchFamily="34" charset="-120"/>
              </a:rPr>
              <a:t>0</a:t>
            </a:r>
            <a:r>
              <a:rPr lang="en-US" sz="1500" b="1" dirty="0">
                <a:solidFill>
                  <a:srgbClr val="1F2937"/>
                </a:solidFill>
                <a:latin typeface="Calibri" pitchFamily="34" charset="0"/>
                <a:ea typeface="Calibri" pitchFamily="34" charset="-122"/>
                <a:cs typeface="Calibri" pitchFamily="34" charset="-120"/>
              </a:rPr>
              <a:t>′ that would remove the noise</a:t>
            </a:r>
            <a:endParaRPr lang="en-US" sz="1500" dirty="0"/>
          </a:p>
        </p:txBody>
      </p:sp>
      <p:sp>
        <p:nvSpPr>
          <p:cNvPr id="13" name="Shape 9"/>
          <p:cNvSpPr/>
          <p:nvPr/>
        </p:nvSpPr>
        <p:spPr>
          <a:xfrm>
            <a:off x="548640" y="5577840"/>
            <a:ext cx="11064240" cy="685800"/>
          </a:xfrm>
          <a:prstGeom prst="roundRect">
            <a:avLst>
              <a:gd name="adj" fmla="val 10667"/>
            </a:avLst>
          </a:prstGeom>
          <a:solidFill>
            <a:srgbClr val="F7F9FC"/>
          </a:solidFill>
          <a:ln w="12700">
            <a:solidFill>
              <a:srgbClr val="F7F9FC"/>
            </a:solidFill>
            <a:prstDash val="solid"/>
          </a:ln>
        </p:spPr>
      </p:sp>
      <p:sp>
        <p:nvSpPr>
          <p:cNvPr id="14" name="Text 10"/>
          <p:cNvSpPr txBox="1"/>
          <p:nvPr/>
        </p:nvSpPr>
        <p:spPr>
          <a:xfrm>
            <a:off x="777240" y="5623560"/>
            <a:ext cx="10607040" cy="594360"/>
          </a:xfrm>
          <a:prstGeom prst="rect">
            <a:avLst/>
          </a:prstGeom>
          <a:noFill/>
          <a:ln/>
        </p:spPr>
        <p:txBody>
          <a:bodyPr wrap="square" lIns="0" tIns="0" rIns="0" bIns="0" rtlCol="0" anchor="ctr"/>
          <a:lstStyle/>
          <a:p>
            <a:pPr indent="0" marL="0">
              <a:buNone/>
            </a:pPr>
            <a:r>
              <a:rPr lang="en-US" sz="1450" i="1" dirty="0">
                <a:solidFill>
                  <a:srgbClr val="1F2937"/>
                </a:solidFill>
                <a:latin typeface="Calibri" pitchFamily="34" charset="0"/>
                <a:ea typeface="Calibri" pitchFamily="34" charset="-122"/>
                <a:cs typeface="Calibri" pitchFamily="34" charset="-120"/>
              </a:rPr>
              <a:t>Nobody ever computed O's parts of G and c in the clear: the pooled answer on slide 4 exists only in this deck.</a:t>
            </a:r>
            <a:endParaRPr lang="en-US" sz="14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same steps with 20,000 people</a:t>
            </a:r>
            <a:endParaRPr lang="en-US" sz="3200" dirty="0"/>
          </a:p>
        </p:txBody>
      </p:sp>
      <p:sp>
        <p:nvSpPr>
          <p:cNvPr id="3" name="Text 1"/>
          <p:cNvSpPr txBox="1"/>
          <p:nvPr/>
        </p:nvSpPr>
        <p:spPr>
          <a:xfrm>
            <a:off x="548640" y="1024128"/>
            <a:ext cx="11064240" cy="411480"/>
          </a:xfrm>
          <a:prstGeom prst="rect">
            <a:avLst/>
          </a:prstGeom>
          <a:noFill/>
          <a:ln/>
        </p:spPr>
        <p:txBody>
          <a:bodyPr wrap="square" lIns="0" tIns="0" rIns="0" bIns="0" rtlCol="0" anchor="ctr"/>
          <a:lstStyle/>
          <a:p>
            <a:pPr indent="0" marL="0">
              <a:buNone/>
            </a:pPr>
            <a:r>
              <a:rPr lang="en-US" sz="1600" i="1" dirty="0">
                <a:solidFill>
                  <a:srgbClr val="5B6576"/>
                </a:solidFill>
                <a:latin typeface="Calibri" pitchFamily="34" charset="0"/>
                <a:ea typeface="Calibri" pitchFamily="34" charset="-122"/>
                <a:cs typeface="Calibri" pitchFamily="34" charset="-120"/>
              </a:rPr>
              <a:t>Same bounds, same budget, so the same noise: σ</a:t>
            </a:r>
            <a:r>
              <a:rPr lang="en-US" sz="1600" i="1" baseline="-25000" dirty="0">
                <a:solidFill>
                  <a:srgbClr val="5B6576"/>
                </a:solidFill>
                <a:latin typeface="Calibri" pitchFamily="34" charset="0"/>
                <a:ea typeface="Calibri" pitchFamily="34" charset="-122"/>
                <a:cs typeface="Calibri" pitchFamily="34" charset="-120"/>
              </a:rPr>
              <a:t>1</a:t>
            </a:r>
            <a:r>
              <a:rPr lang="en-US" sz="1600" i="1" dirty="0">
                <a:solidFill>
                  <a:srgbClr val="5B6576"/>
                </a:solidFill>
                <a:latin typeface="Calibri" pitchFamily="34" charset="0"/>
                <a:ea typeface="Calibri" pitchFamily="34" charset="-122"/>
                <a:cs typeface="Calibri" pitchFamily="34" charset="-120"/>
              </a:rPr>
              <a:t> = 90.5 and σ</a:t>
            </a:r>
            <a:r>
              <a:rPr lang="en-US" sz="1600" i="1" baseline="-25000" dirty="0">
                <a:solidFill>
                  <a:srgbClr val="5B6576"/>
                </a:solidFill>
                <a:latin typeface="Calibri" pitchFamily="34" charset="0"/>
                <a:ea typeface="Calibri" pitchFamily="34" charset="-122"/>
                <a:cs typeface="Calibri" pitchFamily="34" charset="-120"/>
              </a:rPr>
              <a:t>2</a:t>
            </a:r>
            <a:r>
              <a:rPr lang="en-US" sz="1600" i="1" dirty="0">
                <a:solidFill>
                  <a:srgbClr val="5B6576"/>
                </a:solidFill>
                <a:latin typeface="Calibri" pitchFamily="34" charset="0"/>
                <a:ea typeface="Calibri" pitchFamily="34" charset="-122"/>
                <a:cs typeface="Calibri" pitchFamily="34" charset="-120"/>
              </a:rPr>
              <a:t> = 37.5 per released number</a:t>
            </a:r>
            <a:endParaRPr lang="en-US" sz="1600" dirty="0"/>
          </a:p>
        </p:txBody>
      </p:sp>
      <p:sp>
        <p:nvSpPr>
          <p:cNvPr id="4" name="Text 2"/>
          <p:cNvSpPr txBox="1"/>
          <p:nvPr/>
        </p:nvSpPr>
        <p:spPr>
          <a:xfrm>
            <a:off x="548640" y="1554480"/>
            <a:ext cx="11064240" cy="59436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Matched people drawn from a population like the toy's: R's features and age uniform on [−1, 1], benefits 0 or 1, income linear in all four plus noise, clipped to [−1, 1].</a:t>
            </a:r>
            <a:endParaRPr lang="en-US" sz="14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9144000" cy="914400"/>
        </p:xfrm>
        <a:graphic>
          <a:graphicData uri="http://schemas.openxmlformats.org/drawingml/2006/table">
            <a:tbl>
              <a:tblPr/>
              <a:tblGrid>
                <a:gridCol w="2011680"/>
                <a:gridCol w="1463040"/>
                <a:gridCol w="3200400"/>
                <a:gridCol w="2011680"/>
                <a:gridCol w="237744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Coefficient</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True β</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Least squares, pooled (non-private)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Protocol θ̃</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Wald interval ± 2.00·sd</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solidFill>
                      <a:srgbClr val="14213D"/>
                    </a:solidFill>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intercept</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0.10</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0.096</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F2937"/>
                          </a:solidFill>
                          <a:latin typeface="Calibri" pitchFamily="34" charset="0"/>
                          <a:ea typeface="Calibri" pitchFamily="34" charset="-122"/>
                          <a:cs typeface="Calibri" pitchFamily="34" charset="-120"/>
                        </a:rPr>
                        <a:t>0.095</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 0.012</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education</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0.30</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0.294</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F2937"/>
                          </a:solidFill>
                          <a:latin typeface="Calibri" pitchFamily="34" charset="0"/>
                          <a:ea typeface="Calibri" pitchFamily="34" charset="-122"/>
                          <a:cs typeface="Calibri" pitchFamily="34" charset="-120"/>
                        </a:rPr>
                        <a:t>0.296</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 0.012</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health</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−0.20</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−0.199</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F2937"/>
                          </a:solidFill>
                          <a:latin typeface="Calibri" pitchFamily="34" charset="0"/>
                          <a:ea typeface="Calibri" pitchFamily="34" charset="-122"/>
                          <a:cs typeface="Calibri" pitchFamily="34" charset="-120"/>
                        </a:rPr>
                        <a:t>−0.193</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 0.013</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age</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0.40</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0.395</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F2937"/>
                          </a:solidFill>
                          <a:latin typeface="Calibri" pitchFamily="34" charset="0"/>
                          <a:ea typeface="Calibri" pitchFamily="34" charset="-122"/>
                          <a:cs typeface="Calibri" pitchFamily="34" charset="-120"/>
                        </a:rPr>
                        <a:t>0.391</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 0.013</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r h="365760">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benefits</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0.20</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0.199</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b="1" dirty="0">
                          <a:solidFill>
                            <a:srgbClr val="1F2937"/>
                          </a:solidFill>
                          <a:latin typeface="Calibri" pitchFamily="34" charset="0"/>
                          <a:ea typeface="Calibri" pitchFamily="34" charset="-122"/>
                          <a:cs typeface="Calibri" pitchFamily="34" charset="-120"/>
                        </a:rPr>
                        <a:t>0.202</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c>
                  <a:txBody>
                    <a:bodyPr/>
                    <a:lstStyle/>
                    <a:p>
                      <a:pPr indent="0" marL="0">
                        <a:buNone/>
                      </a:pPr>
                      <a:r>
                        <a:rPr lang="en-US" sz="1350" dirty="0">
                          <a:solidFill>
                            <a:srgbClr val="1F2937"/>
                          </a:solidFill>
                          <a:latin typeface="Calibri" pitchFamily="34" charset="0"/>
                          <a:ea typeface="Calibri" pitchFamily="34" charset="-122"/>
                          <a:cs typeface="Calibri" pitchFamily="34" charset="-120"/>
                        </a:rPr>
                        <a:t>± 0.019</a:t>
                      </a:r>
                      <a:endParaRPr lang="en-US" sz="1350" dirty="0">
                        <a:latin typeface="Calibri" charset="0"/>
                        <a:ea typeface="Calibri" charset="0"/>
                        <a:cs typeface="Calibri" charset="0"/>
                      </a:endParaRPr>
                    </a:p>
                  </a:txBody>
                  <a:tcPr marL="76200" marR="76200" marT="38100" marB="38100" anchor="ctr">
                    <a:lnL w="9525" cap="flat" cmpd="sng" algn="ctr">
                      <a:solidFill>
                        <a:srgbClr val="C9D3E0"/>
                      </a:solidFill>
                      <a:prstDash val="solid"/>
                      <a:round/>
                      <a:headEnd type="none" w="med" len="med"/>
                      <a:tailEnd type="none" w="med" len="med"/>
                    </a:lnL>
                    <a:lnR w="9525" cap="flat" cmpd="sng" algn="ctr">
                      <a:solidFill>
                        <a:srgbClr val="C9D3E0"/>
                      </a:solidFill>
                      <a:prstDash val="solid"/>
                      <a:round/>
                      <a:headEnd type="none" w="med" len="med"/>
                      <a:tailEnd type="none" w="med" len="med"/>
                    </a:lnR>
                    <a:lnT w="9525" cap="flat" cmpd="sng" algn="ctr">
                      <a:solidFill>
                        <a:srgbClr val="C9D3E0"/>
                      </a:solidFill>
                      <a:prstDash val="solid"/>
                      <a:round/>
                      <a:headEnd type="none" w="med" len="med"/>
                      <a:tailEnd type="none" w="med" len="med"/>
                    </a:lnT>
                    <a:lnB w="9525" cap="flat" cmpd="sng" algn="ctr">
                      <a:solidFill>
                        <a:srgbClr val="C9D3E0"/>
                      </a:solidFill>
                      <a:prstDash val="solid"/>
                      <a:round/>
                      <a:headEnd type="none" w="med" len="med"/>
                      <a:tailEnd type="none" w="med" len="med"/>
                    </a:lnB>
                  </a:tcPr>
                </a:tc>
              </a:tr>
            </a:tbl>
          </a:graphicData>
        </a:graphic>
      </p:graphicFrame>
      <p:sp>
        <p:nvSpPr>
          <p:cNvPr id="6" name="Shape 3"/>
          <p:cNvSpPr/>
          <p:nvPr/>
        </p:nvSpPr>
        <p:spPr>
          <a:xfrm>
            <a:off x="548640" y="4663440"/>
            <a:ext cx="5440680" cy="1508760"/>
          </a:xfrm>
          <a:prstGeom prst="roundRect">
            <a:avLst>
              <a:gd name="adj" fmla="val 4848"/>
            </a:avLst>
          </a:prstGeom>
          <a:solidFill>
            <a:srgbClr val="F7F9FC"/>
          </a:solidFill>
          <a:ln w="12700">
            <a:solidFill>
              <a:srgbClr val="F7F9FC"/>
            </a:solidFill>
            <a:prstDash val="solid"/>
          </a:ln>
        </p:spPr>
      </p:sp>
      <p:sp>
        <p:nvSpPr>
          <p:cNvPr id="7" name="Text 4"/>
          <p:cNvSpPr txBox="1"/>
          <p:nvPr/>
        </p:nvSpPr>
        <p:spPr>
          <a:xfrm>
            <a:off x="777240" y="4754880"/>
            <a:ext cx="5029200" cy="365760"/>
          </a:xfrm>
          <a:prstGeom prst="rect">
            <a:avLst/>
          </a:prstGeom>
          <a:noFill/>
          <a:ln/>
        </p:spPr>
        <p:txBody>
          <a:bodyPr wrap="square" lIns="0" tIns="0" rIns="0" bIns="0" rtlCol="0" anchor="t"/>
          <a:lstStyle/>
          <a:p>
            <a:pPr indent="0" marL="0">
              <a:buNone/>
            </a:pPr>
            <a:r>
              <a:rPr lang="en-US" sz="1500" b="1" dirty="0">
                <a:solidFill>
                  <a:srgbClr val="3D5A80"/>
                </a:solidFill>
                <a:latin typeface="Calibri" pitchFamily="34" charset="0"/>
                <a:ea typeface="Calibri" pitchFamily="34" charset="-122"/>
                <a:cs typeface="Calibri" pitchFamily="34" charset="-120"/>
              </a:rPr>
              <a:t>Stage 1 now</a:t>
            </a:r>
            <a:endParaRPr lang="en-US" sz="1500" dirty="0"/>
          </a:p>
        </p:txBody>
      </p:sp>
      <p:sp>
        <p:nvSpPr>
          <p:cNvPr id="8" name="Text 5"/>
          <p:cNvSpPr txBox="1"/>
          <p:nvPr/>
        </p:nvSpPr>
        <p:spPr>
          <a:xfrm>
            <a:off x="777240" y="5138928"/>
            <a:ext cx="5029200" cy="9601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λ</a:t>
            </a:r>
            <a:r>
              <a:rPr lang="en-US" sz="1450" baseline="-25000" dirty="0">
                <a:solidFill>
                  <a:srgbClr val="1F2937"/>
                </a:solidFill>
                <a:latin typeface="Calibri" pitchFamily="34" charset="0"/>
                <a:ea typeface="Calibri" pitchFamily="34" charset="-122"/>
                <a:cs typeface="Calibri" pitchFamily="34" charset="-120"/>
              </a:rPr>
              <a:t>min</a:t>
            </a:r>
            <a:r>
              <a:rPr lang="en-US" sz="1450" dirty="0">
                <a:solidFill>
                  <a:srgbClr val="1F2937"/>
                </a:solidFill>
                <a:latin typeface="Calibri" pitchFamily="34" charset="0"/>
                <a:ea typeface="Calibri" pitchFamily="34" charset="-122"/>
                <a:cs typeface="Calibri" pitchFamily="34" charset="-120"/>
              </a:rPr>
              <a:t>(Ĝ</a:t>
            </a:r>
            <a:r>
              <a:rPr lang="en-US" sz="1450" baseline="-25000" dirty="0">
                <a:solidFill>
                  <a:srgbClr val="1F2937"/>
                </a:solidFill>
                <a:latin typeface="Calibri" pitchFamily="34" charset="0"/>
                <a:ea typeface="Calibri" pitchFamily="34" charset="-122"/>
                <a:cs typeface="Calibri" pitchFamily="34" charset="-120"/>
              </a:rPr>
              <a:t>1</a:t>
            </a:r>
            <a:r>
              <a:rPr lang="en-US" sz="1450" dirty="0">
                <a:solidFill>
                  <a:srgbClr val="1F2937"/>
                </a:solidFill>
                <a:latin typeface="Calibri" pitchFamily="34" charset="0"/>
                <a:ea typeface="Calibri" pitchFamily="34" charset="-122"/>
                <a:cs typeface="Calibri" pitchFamily="34" charset="-120"/>
              </a:rPr>
              <a:t>) = 3,893 &gt; g* + r</a:t>
            </a:r>
            <a:r>
              <a:rPr lang="en-US" sz="1450" baseline="-25000" dirty="0">
                <a:solidFill>
                  <a:srgbClr val="1F2937"/>
                </a:solidFill>
                <a:latin typeface="Calibri" pitchFamily="34" charset="0"/>
                <a:ea typeface="Calibri" pitchFamily="34" charset="-122"/>
                <a:cs typeface="Calibri" pitchFamily="34" charset="-120"/>
              </a:rPr>
              <a:t>1</a:t>
            </a:r>
            <a:r>
              <a:rPr lang="en-US" sz="1450" dirty="0">
                <a:solidFill>
                  <a:srgbClr val="1F2937"/>
                </a:solidFill>
                <a:latin typeface="Calibri" pitchFamily="34" charset="0"/>
                <a:ea typeface="Calibri" pitchFamily="34" charset="-122"/>
                <a:cs typeface="Calibri" pitchFamily="34" charset="-120"/>
              </a:rPr>
              <a:t> = 1,267, so λ = 0: no ridge. Gate ϑ̂ = 22.6.</a:t>
            </a:r>
            <a:endParaRPr lang="en-US" sz="1450" dirty="0"/>
          </a:p>
        </p:txBody>
      </p:sp>
      <p:sp>
        <p:nvSpPr>
          <p:cNvPr id="9" name="Shape 6"/>
          <p:cNvSpPr/>
          <p:nvPr/>
        </p:nvSpPr>
        <p:spPr>
          <a:xfrm>
            <a:off x="6172200" y="4663440"/>
            <a:ext cx="5440680" cy="1508760"/>
          </a:xfrm>
          <a:prstGeom prst="roundRect">
            <a:avLst>
              <a:gd name="adj" fmla="val 4848"/>
            </a:avLst>
          </a:prstGeom>
          <a:solidFill>
            <a:srgbClr val="F6E3D6"/>
          </a:solidFill>
          <a:ln w="12700">
            <a:solidFill>
              <a:srgbClr val="F6E3D6"/>
            </a:solidFill>
            <a:prstDash val="solid"/>
          </a:ln>
        </p:spPr>
      </p:sp>
      <p:sp>
        <p:nvSpPr>
          <p:cNvPr id="10" name="Text 7"/>
          <p:cNvSpPr txBox="1"/>
          <p:nvPr/>
        </p:nvSpPr>
        <p:spPr>
          <a:xfrm>
            <a:off x="6400800" y="4754880"/>
            <a:ext cx="5029200" cy="365760"/>
          </a:xfrm>
          <a:prstGeom prst="rect">
            <a:avLst/>
          </a:prstGeom>
          <a:noFill/>
          <a:ln/>
        </p:spPr>
        <p:txBody>
          <a:bodyPr wrap="square" lIns="0" tIns="0" rIns="0" bIns="0" rtlCol="0" anchor="t"/>
          <a:lstStyle/>
          <a:p>
            <a:pPr indent="0" marL="0">
              <a:buNone/>
            </a:pPr>
            <a:r>
              <a:rPr lang="en-US" sz="1500" b="1" dirty="0">
                <a:solidFill>
                  <a:srgbClr val="C45A0C"/>
                </a:solidFill>
                <a:latin typeface="Calibri" pitchFamily="34" charset="0"/>
                <a:ea typeface="Calibri" pitchFamily="34" charset="-122"/>
                <a:cs typeface="Calibri" pitchFamily="34" charset="-120"/>
              </a:rPr>
              <a:t>Why it works now</a:t>
            </a:r>
            <a:endParaRPr lang="en-US" sz="1500" dirty="0"/>
          </a:p>
        </p:txBody>
      </p:sp>
      <p:sp>
        <p:nvSpPr>
          <p:cNvPr id="11" name="Text 8"/>
          <p:cNvSpPr txBox="1"/>
          <p:nvPr/>
        </p:nvSpPr>
        <p:spPr>
          <a:xfrm>
            <a:off x="6400800" y="5138928"/>
            <a:ext cx="5029200" cy="960120"/>
          </a:xfrm>
          <a:prstGeom prst="rect">
            <a:avLst/>
          </a:prstGeom>
          <a:noFill/>
          <a:ln/>
        </p:spPr>
        <p:txBody>
          <a:bodyPr wrap="square" lIns="0" tIns="0" rIns="0" bIns="0" rtlCol="0" anchor="t"/>
          <a:lstStyle/>
          <a:p>
            <a:pPr indent="0" marL="0">
              <a:buNone/>
            </a:pPr>
            <a:r>
              <a:rPr lang="en-US" sz="1450" dirty="0">
                <a:solidFill>
                  <a:srgbClr val="1F2937"/>
                </a:solidFill>
                <a:latin typeface="Calibri" pitchFamily="34" charset="0"/>
                <a:ea typeface="Calibri" pitchFamily="34" charset="-122"/>
                <a:cs typeface="Calibri" pitchFamily="34" charset="-120"/>
              </a:rPr>
              <a:t>The noise per number is unchanged, but the statistics grew with n (G</a:t>
            </a:r>
            <a:r>
              <a:rPr lang="en-US" sz="1450" baseline="-25000" dirty="0">
                <a:solidFill>
                  <a:srgbClr val="1F2937"/>
                </a:solidFill>
                <a:latin typeface="Calibri" pitchFamily="34" charset="0"/>
                <a:ea typeface="Calibri" pitchFamily="34" charset="-122"/>
                <a:cs typeface="Calibri" pitchFamily="34" charset="-120"/>
              </a:rPr>
              <a:t>11</a:t>
            </a:r>
            <a:r>
              <a:rPr lang="en-US" sz="1450" dirty="0">
                <a:solidFill>
                  <a:srgbClr val="1F2937"/>
                </a:solidFill>
                <a:latin typeface="Calibri" pitchFamily="34" charset="0"/>
                <a:ea typeface="Calibri" pitchFamily="34" charset="-122"/>
                <a:cs typeface="Calibri" pitchFamily="34" charset="-120"/>
              </a:rPr>
              <a:t> ≈ 6,700). The estimate lands within 0.01 of pooled least squares.</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1148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 example shows</a:t>
            </a:r>
            <a:endParaRPr lang="en-US" sz="3400" dirty="0"/>
          </a:p>
        </p:txBody>
      </p:sp>
      <p:sp>
        <p:nvSpPr>
          <p:cNvPr id="3" name="Shape 1"/>
          <p:cNvSpPr/>
          <p:nvPr/>
        </p:nvSpPr>
        <p:spPr>
          <a:xfrm>
            <a:off x="548640" y="1463040"/>
            <a:ext cx="548640" cy="548640"/>
          </a:xfrm>
          <a:prstGeom prst="ellipse">
            <a:avLst/>
          </a:prstGeom>
          <a:solidFill>
            <a:srgbClr val="C45A0C"/>
          </a:solidFill>
          <a:ln w="12700">
            <a:solidFill>
              <a:srgbClr val="C45A0C"/>
            </a:solidFill>
            <a:prstDash val="solid"/>
          </a:ln>
        </p:spPr>
      </p:sp>
      <p:sp>
        <p:nvSpPr>
          <p:cNvPr id="4" name="Text 2"/>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5" name="Text 3"/>
          <p:cNvSpPr txBox="1"/>
          <p:nvPr/>
        </p:nvSpPr>
        <p:spPr>
          <a:xfrm>
            <a:off x="1325880" y="1481328"/>
            <a:ext cx="10241280" cy="82296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Linkage gives R its matches and their positions in O's shuffled register; O learns only the padded sizes</a:t>
            </a:r>
            <a:endParaRPr lang="en-US" sz="1700" dirty="0"/>
          </a:p>
        </p:txBody>
      </p:sp>
      <p:sp>
        <p:nvSpPr>
          <p:cNvPr id="6" name="Shape 4"/>
          <p:cNvSpPr/>
          <p:nvPr/>
        </p:nvSpPr>
        <p:spPr>
          <a:xfrm>
            <a:off x="548640" y="2423160"/>
            <a:ext cx="548640" cy="548640"/>
          </a:xfrm>
          <a:prstGeom prst="ellipse">
            <a:avLst/>
          </a:prstGeom>
          <a:solidFill>
            <a:srgbClr val="C45A0C"/>
          </a:solidFill>
          <a:ln w="12700">
            <a:solidFill>
              <a:srgbClr val="C45A0C"/>
            </a:solidFill>
            <a:prstDash val="solid"/>
          </a:ln>
        </p:spPr>
      </p:sp>
      <p:sp>
        <p:nvSpPr>
          <p:cNvPr id="7" name="Text 5"/>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8" name="Text 6"/>
          <p:cNvSpPr txBox="1"/>
          <p:nvPr/>
        </p:nvSpPr>
        <p:spPr>
          <a:xfrm>
            <a:off x="1325880" y="2441448"/>
            <a:ext cx="10241280" cy="82296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R writes its data into O's order with zeros elsewhere, so O's encrypted sums pick out exactly the matched rows</a:t>
            </a:r>
            <a:endParaRPr lang="en-US" sz="1700" dirty="0"/>
          </a:p>
        </p:txBody>
      </p:sp>
      <p:sp>
        <p:nvSpPr>
          <p:cNvPr id="9" name="Shape 7"/>
          <p:cNvSpPr/>
          <p:nvPr/>
        </p:nvSpPr>
        <p:spPr>
          <a:xfrm>
            <a:off x="548640" y="3383280"/>
            <a:ext cx="548640" cy="548640"/>
          </a:xfrm>
          <a:prstGeom prst="ellipse">
            <a:avLst/>
          </a:prstGeom>
          <a:solidFill>
            <a:srgbClr val="C45A0C"/>
          </a:solidFill>
          <a:ln w="12700">
            <a:solidFill>
              <a:srgbClr val="C45A0C"/>
            </a:solidFill>
            <a:prstDash val="solid"/>
          </a:ln>
        </p:spPr>
      </p:sp>
      <p:sp>
        <p:nvSpPr>
          <p:cNvPr id="10" name="Text 8"/>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1" name="Text 9"/>
          <p:cNvSpPr txBox="1"/>
          <p:nvPr/>
        </p:nvSpPr>
        <p:spPr>
          <a:xfrm>
            <a:off x="1325880" y="3401568"/>
            <a:ext cx="10241280" cy="82296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O adds the noise inside its share of the decryption: R sees each statistic only with noise of the planned size</a:t>
            </a:r>
            <a:endParaRPr lang="en-US" sz="1700" dirty="0"/>
          </a:p>
        </p:txBody>
      </p:sp>
      <p:sp>
        <p:nvSpPr>
          <p:cNvPr id="12" name="Shape 10"/>
          <p:cNvSpPr/>
          <p:nvPr/>
        </p:nvSpPr>
        <p:spPr>
          <a:xfrm>
            <a:off x="548640" y="4343400"/>
            <a:ext cx="548640" cy="548640"/>
          </a:xfrm>
          <a:prstGeom prst="ellipse">
            <a:avLst/>
          </a:prstGeom>
          <a:solidFill>
            <a:srgbClr val="C45A0C"/>
          </a:solidFill>
          <a:ln w="12700">
            <a:solidFill>
              <a:srgbClr val="C45A0C"/>
            </a:solidFill>
            <a:prstDash val="solid"/>
          </a:ln>
        </p:spPr>
      </p:sp>
      <p:sp>
        <p:nvSpPr>
          <p:cNvPr id="13" name="Text 11"/>
          <p:cNvSpPr txBox="1"/>
          <p:nvPr/>
        </p:nvSpPr>
        <p:spPr>
          <a:xfrm>
            <a:off x="548640" y="434340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4" name="Text 12"/>
          <p:cNvSpPr txBox="1"/>
          <p:nvPr/>
        </p:nvSpPr>
        <p:spPr>
          <a:xfrm>
            <a:off x="1325880" y="4361688"/>
            <a:ext cx="10241280" cy="82296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With two people the noise dominates; the ridge shrinks the estimate to almost nothing, and the intervals say so</a:t>
            </a:r>
            <a:endParaRPr lang="en-US" sz="1700" dirty="0"/>
          </a:p>
        </p:txBody>
      </p:sp>
      <p:sp>
        <p:nvSpPr>
          <p:cNvPr id="15" name="Shape 13"/>
          <p:cNvSpPr/>
          <p:nvPr/>
        </p:nvSpPr>
        <p:spPr>
          <a:xfrm>
            <a:off x="548640" y="5303520"/>
            <a:ext cx="548640" cy="548640"/>
          </a:xfrm>
          <a:prstGeom prst="ellipse">
            <a:avLst/>
          </a:prstGeom>
          <a:solidFill>
            <a:srgbClr val="C45A0C"/>
          </a:solidFill>
          <a:ln w="12700">
            <a:solidFill>
              <a:srgbClr val="C45A0C"/>
            </a:solidFill>
            <a:prstDash val="solid"/>
          </a:ln>
        </p:spPr>
      </p:sp>
      <p:sp>
        <p:nvSpPr>
          <p:cNvPr id="16" name="Text 14"/>
          <p:cNvSpPr txBox="1"/>
          <p:nvPr/>
        </p:nvSpPr>
        <p:spPr>
          <a:xfrm>
            <a:off x="548640" y="5303520"/>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17" name="Text 15"/>
          <p:cNvSpPr txBox="1"/>
          <p:nvPr/>
        </p:nvSpPr>
        <p:spPr>
          <a:xfrm>
            <a:off x="1325880" y="5321808"/>
            <a:ext cx="10241280" cy="82296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With 20,000 people the same steps, with the same noise, recover least squares to within 0.01</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worked example of the protocol</dc:title>
  <dc:subject>PptxGenJS Presentation</dc:subject>
  <dc:creator>VFL Scenario B project</dc:creator>
  <cp:lastModifiedBy>VFL Scenario B project</cp:lastModifiedBy>
  <cp:revision>1</cp:revision>
  <dcterms:created xsi:type="dcterms:W3CDTF">2026-10-21T23:29:15Z</dcterms:created>
  <dcterms:modified xsi:type="dcterms:W3CDTF">2026-10-21T23:29:15Z</dcterms:modified>
</cp:coreProperties>
</file>