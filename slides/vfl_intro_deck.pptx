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Cambria"/>
              </a:defRPr>
            </a:pPr>
            <a:r>
              <a:rPr sz="1400" b="0" i="0" u="none" strike="noStrike">
                <a:solidFill>
                  <a:srgbClr val="14213D"/>
                </a:solidFill>
                <a:latin typeface="Cambria"/>
              </a:rPr>
              <a:t>Outputs on neighbouring datasets</a:t>
            </a:r>
          </a:p>
        </c:rich>
      </c:tx>
      <c:layout/>
      <c:overlay val="0"/>
    </c:title>
    <c:autoTitleDeleted val="0"/>
    <c:plotArea>
      <c:layout/>
      <c:lineChart>
        <c:varyColors val="0"/>
        <c:ser>
          <c:idx val="0"/>
          <c:order val="0"/>
          <c:tx>
            <c:strRef>
              <c:f>Sheet1!$B$1</c:f>
              <c:strCache>
                <c:ptCount val="1"/>
                <c:pt idx="0">
                  <c:v>M(D)</c:v>
                </c:pt>
              </c:strCache>
            </c:strRef>
          </c:tx>
          <c:spPr>
            <a:solidFill>
              <a:srgbClr val="3D5A80"/>
            </a:solidFill>
            <a:ln w="31750" cap="flat">
              <a:solidFill>
                <a:srgbClr val="3D5A8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D5A80"/>
              </a:solidFill>
              <a:ln w="9525" cap="flat">
                <a:solidFill>
                  <a:srgbClr val="3D5A80"/>
                </a:solidFill>
                <a:prstDash val="solid"/>
                <a:round/>
              </a:ln>
              <a:effectLst/>
            </c:spPr>
          </c:marker>
          <c:cat>
            <c:multiLvlStrRef>
              <c:f>Sheet1!$A$2:$A$38</c:f>
              <c:multiLvlStrCache>
                <c:ptCount val="37"/>
                <c:lvl>
                  <c:pt idx="0">
                    <c:v>-4.0</c:v>
                  </c:pt>
                  <c:pt idx="1">
                    <c:v>-3.8</c:v>
                  </c:pt>
                  <c:pt idx="2">
                    <c:v>-3.5</c:v>
                  </c:pt>
                  <c:pt idx="3">
                    <c:v>-3.3</c:v>
                  </c:pt>
                  <c:pt idx="4">
                    <c:v>-3.0</c:v>
                  </c:pt>
                  <c:pt idx="5">
                    <c:v>-2.8</c:v>
                  </c:pt>
                  <c:pt idx="6">
                    <c:v>-2.5</c:v>
                  </c:pt>
                  <c:pt idx="7">
                    <c:v>-2.3</c:v>
                  </c:pt>
                  <c:pt idx="8">
                    <c:v>-2.0</c:v>
                  </c:pt>
                  <c:pt idx="9">
                    <c:v>-1.8</c:v>
                  </c:pt>
                  <c:pt idx="10">
                    <c:v>-1.5</c:v>
                  </c:pt>
                  <c:pt idx="11">
                    <c:v>-1.3</c:v>
                  </c:pt>
                  <c:pt idx="12">
                    <c:v>-1.0</c:v>
                  </c:pt>
                  <c:pt idx="13">
                    <c:v>-0.8</c:v>
                  </c:pt>
                  <c:pt idx="14">
                    <c:v>-0.5</c:v>
                  </c:pt>
                  <c:pt idx="15">
                    <c:v>-0.3</c:v>
                  </c:pt>
                  <c:pt idx="16">
                    <c:v>0.0</c:v>
                  </c:pt>
                  <c:pt idx="17">
                    <c:v>0.3</c:v>
                  </c:pt>
                  <c:pt idx="18">
                    <c:v>0.5</c:v>
                  </c:pt>
                  <c:pt idx="19">
                    <c:v>0.8</c:v>
                  </c:pt>
                  <c:pt idx="20">
                    <c:v>1.0</c:v>
                  </c:pt>
                  <c:pt idx="21">
                    <c:v>1.3</c:v>
                  </c:pt>
                  <c:pt idx="22">
                    <c:v>1.5</c:v>
                  </c:pt>
                  <c:pt idx="23">
                    <c:v>1.8</c:v>
                  </c:pt>
                  <c:pt idx="24">
                    <c:v>2.0</c:v>
                  </c:pt>
                  <c:pt idx="25">
                    <c:v>2.3</c:v>
                  </c:pt>
                  <c:pt idx="26">
                    <c:v>2.5</c:v>
                  </c:pt>
                  <c:pt idx="27">
                    <c:v>2.8</c:v>
                  </c:pt>
                  <c:pt idx="28">
                    <c:v>3.0</c:v>
                  </c:pt>
                  <c:pt idx="29">
                    <c:v>3.3</c:v>
                  </c:pt>
                  <c:pt idx="30">
                    <c:v>3.5</c:v>
                  </c:pt>
                  <c:pt idx="31">
                    <c:v>3.8</c:v>
                  </c:pt>
                  <c:pt idx="32">
                    <c:v>4.0</c:v>
                  </c:pt>
                  <c:pt idx="33">
                    <c:v>4.3</c:v>
                  </c:pt>
                  <c:pt idx="34">
                    <c:v>4.5</c:v>
                  </c:pt>
                  <c:pt idx="35">
                    <c:v>4.8</c:v>
                  </c:pt>
                  <c:pt idx="36">
                    <c:v>5.0</c:v>
                  </c:pt>
                </c:lvl>
              </c:multiLvlStrCache>
            </c:multiLvlStrRef>
          </c:cat>
          <c:val>
            <c:numRef>
              <c:f>Sheet1!$B$2:$B$38</c:f>
              <c:numCache>
                <c:formatCode>General</c:formatCode>
                <c:ptCount val="37"/>
                <c:pt idx="0">
                  <c:v>0.00033546262790251185</c:v>
                </c:pt>
                <c:pt idx="1">
                  <c:v>0.00088382630693505</c:v>
                </c:pt>
                <c:pt idx="2">
                  <c:v>0.002187491118182885</c:v>
                </c:pt>
                <c:pt idx="3">
                  <c:v>0.005086069231012701</c:v>
                </c:pt>
                <c:pt idx="4">
                  <c:v>0.011108996538242306</c:v>
                </c:pt>
                <c:pt idx="5">
                  <c:v>0.022794180883612347</c:v>
                </c:pt>
                <c:pt idx="6">
                  <c:v>0.04393693362340742</c:v>
                </c:pt>
                <c:pt idx="7">
                  <c:v>0.07955950871822769</c:v>
                </c:pt>
                <c:pt idx="8">
                  <c:v>0.1353352832366127</c:v>
                </c:pt>
                <c:pt idx="9">
                  <c:v>0.21626516682988728</c:v>
                </c:pt>
                <c:pt idx="10">
                  <c:v>0.32465246735834974</c:v>
                </c:pt>
                <c:pt idx="11">
                  <c:v>0.45783336177161427</c:v>
                </c:pt>
                <c:pt idx="12">
                  <c:v>0.6065306597126334</c:v>
                </c:pt>
                <c:pt idx="13">
                  <c:v>0.7548396019890073</c:v>
                </c:pt>
                <c:pt idx="14">
                  <c:v>0.8824969025845955</c:v>
                </c:pt>
                <c:pt idx="15">
                  <c:v>0.9692332344763441</c:v>
                </c:pt>
                <c:pt idx="16">
                  <c:v>1</c:v>
                </c:pt>
                <c:pt idx="17">
                  <c:v>0.9692332344763441</c:v>
                </c:pt>
                <c:pt idx="18">
                  <c:v>0.8824969025845955</c:v>
                </c:pt>
                <c:pt idx="19">
                  <c:v>0.7548396019890073</c:v>
                </c:pt>
                <c:pt idx="20">
                  <c:v>0.6065306597126334</c:v>
                </c:pt>
                <c:pt idx="21">
                  <c:v>0.45783336177161427</c:v>
                </c:pt>
                <c:pt idx="22">
                  <c:v>0.32465246735834974</c:v>
                </c:pt>
                <c:pt idx="23">
                  <c:v>0.21626516682988728</c:v>
                </c:pt>
                <c:pt idx="24">
                  <c:v>0.1353352832366127</c:v>
                </c:pt>
                <c:pt idx="25">
                  <c:v>0.07955950871822769</c:v>
                </c:pt>
                <c:pt idx="26">
                  <c:v>0.04393693362340742</c:v>
                </c:pt>
                <c:pt idx="27">
                  <c:v>0.022794180883612347</c:v>
                </c:pt>
                <c:pt idx="28">
                  <c:v>0.011108996538242306</c:v>
                </c:pt>
                <c:pt idx="29">
                  <c:v>0.005086069231012701</c:v>
                </c:pt>
                <c:pt idx="30">
                  <c:v>0.002187491118182885</c:v>
                </c:pt>
                <c:pt idx="31">
                  <c:v>0.00088382630693505</c:v>
                </c:pt>
                <c:pt idx="32">
                  <c:v>0.00033546262790251185</c:v>
                </c:pt>
                <c:pt idx="33">
                  <c:v>0.00011961288358102437</c:v>
                </c:pt>
                <c:pt idx="34">
                  <c:v>0.00004006529739295107</c:v>
                </c:pt>
                <c:pt idx="35">
                  <c:v>0.000012607105177048523</c:v>
                </c:pt>
                <c:pt idx="36">
                  <c:v>0.000003726653172078671</c:v>
                </c:pt>
              </c:numCache>
            </c:numRef>
          </c:val>
          <c:smooth val="1"/>
        </c:ser>
        <c:ser>
          <c:idx val="1"/>
          <c:order val="1"/>
          <c:tx>
            <c:strRef>
              <c:f>Sheet1!$C$1</c:f>
              <c:strCache>
                <c:ptCount val="1"/>
                <c:pt idx="0">
                  <c:v>M(D′)</c:v>
                </c:pt>
              </c:strCache>
            </c:strRef>
          </c:tx>
          <c:spPr>
            <a:solidFill>
              <a:srgbClr val="C45A0C"/>
            </a:solidFill>
            <a:ln w="31750" cap="flat">
              <a:solidFill>
                <a:srgbClr val="C45A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45A0C"/>
              </a:solidFill>
              <a:ln w="9525" cap="flat">
                <a:solidFill>
                  <a:srgbClr val="C45A0C"/>
                </a:solidFill>
                <a:prstDash val="solid"/>
                <a:round/>
              </a:ln>
              <a:effectLst/>
            </c:spPr>
          </c:marker>
          <c:cat>
            <c:multiLvlStrRef>
              <c:f>Sheet1!$A$2:$A$38</c:f>
              <c:multiLvlStrCache>
                <c:ptCount val="37"/>
                <c:lvl>
                  <c:pt idx="0">
                    <c:v>-4.0</c:v>
                  </c:pt>
                  <c:pt idx="1">
                    <c:v>-3.8</c:v>
                  </c:pt>
                  <c:pt idx="2">
                    <c:v>-3.5</c:v>
                  </c:pt>
                  <c:pt idx="3">
                    <c:v>-3.3</c:v>
                  </c:pt>
                  <c:pt idx="4">
                    <c:v>-3.0</c:v>
                  </c:pt>
                  <c:pt idx="5">
                    <c:v>-2.8</c:v>
                  </c:pt>
                  <c:pt idx="6">
                    <c:v>-2.5</c:v>
                  </c:pt>
                  <c:pt idx="7">
                    <c:v>-2.3</c:v>
                  </c:pt>
                  <c:pt idx="8">
                    <c:v>-2.0</c:v>
                  </c:pt>
                  <c:pt idx="9">
                    <c:v>-1.8</c:v>
                  </c:pt>
                  <c:pt idx="10">
                    <c:v>-1.5</c:v>
                  </c:pt>
                  <c:pt idx="11">
                    <c:v>-1.3</c:v>
                  </c:pt>
                  <c:pt idx="12">
                    <c:v>-1.0</c:v>
                  </c:pt>
                  <c:pt idx="13">
                    <c:v>-0.8</c:v>
                  </c:pt>
                  <c:pt idx="14">
                    <c:v>-0.5</c:v>
                  </c:pt>
                  <c:pt idx="15">
                    <c:v>-0.3</c:v>
                  </c:pt>
                  <c:pt idx="16">
                    <c:v>0.0</c:v>
                  </c:pt>
                  <c:pt idx="17">
                    <c:v>0.3</c:v>
                  </c:pt>
                  <c:pt idx="18">
                    <c:v>0.5</c:v>
                  </c:pt>
                  <c:pt idx="19">
                    <c:v>0.8</c:v>
                  </c:pt>
                  <c:pt idx="20">
                    <c:v>1.0</c:v>
                  </c:pt>
                  <c:pt idx="21">
                    <c:v>1.3</c:v>
                  </c:pt>
                  <c:pt idx="22">
                    <c:v>1.5</c:v>
                  </c:pt>
                  <c:pt idx="23">
                    <c:v>1.8</c:v>
                  </c:pt>
                  <c:pt idx="24">
                    <c:v>2.0</c:v>
                  </c:pt>
                  <c:pt idx="25">
                    <c:v>2.3</c:v>
                  </c:pt>
                  <c:pt idx="26">
                    <c:v>2.5</c:v>
                  </c:pt>
                  <c:pt idx="27">
                    <c:v>2.8</c:v>
                  </c:pt>
                  <c:pt idx="28">
                    <c:v>3.0</c:v>
                  </c:pt>
                  <c:pt idx="29">
                    <c:v>3.3</c:v>
                  </c:pt>
                  <c:pt idx="30">
                    <c:v>3.5</c:v>
                  </c:pt>
                  <c:pt idx="31">
                    <c:v>3.8</c:v>
                  </c:pt>
                  <c:pt idx="32">
                    <c:v>4.0</c:v>
                  </c:pt>
                  <c:pt idx="33">
                    <c:v>4.3</c:v>
                  </c:pt>
                  <c:pt idx="34">
                    <c:v>4.5</c:v>
                  </c:pt>
                  <c:pt idx="35">
                    <c:v>4.8</c:v>
                  </c:pt>
                  <c:pt idx="36">
                    <c:v>5.0</c:v>
                  </c:pt>
                </c:lvl>
              </c:multiLvlStrCache>
            </c:multiLvlStrRef>
          </c:cat>
          <c:val>
            <c:numRef>
              <c:f>Sheet1!$C$2:$C$38</c:f>
              <c:numCache>
                <c:formatCode>General</c:formatCode>
                <c:ptCount val="37"/>
                <c:pt idx="0">
                  <c:v>0.000003726653172078671</c:v>
                </c:pt>
                <c:pt idx="1">
                  <c:v>0.000012607105177048523</c:v>
                </c:pt>
                <c:pt idx="2">
                  <c:v>0.00004006529739295107</c:v>
                </c:pt>
                <c:pt idx="3">
                  <c:v>0.00011961288358102437</c:v>
                </c:pt>
                <c:pt idx="4">
                  <c:v>0.00033546262790251185</c:v>
                </c:pt>
                <c:pt idx="5">
                  <c:v>0.00088382630693505</c:v>
                </c:pt>
                <c:pt idx="6">
                  <c:v>0.002187491118182885</c:v>
                </c:pt>
                <c:pt idx="7">
                  <c:v>0.005086069231012701</c:v>
                </c:pt>
                <c:pt idx="8">
                  <c:v>0.011108996538242306</c:v>
                </c:pt>
                <c:pt idx="9">
                  <c:v>0.022794180883612347</c:v>
                </c:pt>
                <c:pt idx="10">
                  <c:v>0.04393693362340742</c:v>
                </c:pt>
                <c:pt idx="11">
                  <c:v>0.07955950871822769</c:v>
                </c:pt>
                <c:pt idx="12">
                  <c:v>0.1353352832366127</c:v>
                </c:pt>
                <c:pt idx="13">
                  <c:v>0.21626516682988728</c:v>
                </c:pt>
                <c:pt idx="14">
                  <c:v>0.32465246735834974</c:v>
                </c:pt>
                <c:pt idx="15">
                  <c:v>0.45783336177161427</c:v>
                </c:pt>
                <c:pt idx="16">
                  <c:v>0.6065306597126334</c:v>
                </c:pt>
                <c:pt idx="17">
                  <c:v>0.7548396019890073</c:v>
                </c:pt>
                <c:pt idx="18">
                  <c:v>0.8824969025845955</c:v>
                </c:pt>
                <c:pt idx="19">
                  <c:v>0.9692332344763441</c:v>
                </c:pt>
                <c:pt idx="20">
                  <c:v>1</c:v>
                </c:pt>
                <c:pt idx="21">
                  <c:v>0.9692332344763441</c:v>
                </c:pt>
                <c:pt idx="22">
                  <c:v>0.8824969025845955</c:v>
                </c:pt>
                <c:pt idx="23">
                  <c:v>0.7548396019890073</c:v>
                </c:pt>
                <c:pt idx="24">
                  <c:v>0.6065306597126334</c:v>
                </c:pt>
                <c:pt idx="25">
                  <c:v>0.45783336177161427</c:v>
                </c:pt>
                <c:pt idx="26">
                  <c:v>0.32465246735834974</c:v>
                </c:pt>
                <c:pt idx="27">
                  <c:v>0.21626516682988728</c:v>
                </c:pt>
                <c:pt idx="28">
                  <c:v>0.1353352832366127</c:v>
                </c:pt>
                <c:pt idx="29">
                  <c:v>0.07955950871822769</c:v>
                </c:pt>
                <c:pt idx="30">
                  <c:v>0.04393693362340742</c:v>
                </c:pt>
                <c:pt idx="31">
                  <c:v>0.022794180883612347</c:v>
                </c:pt>
                <c:pt idx="32">
                  <c:v>0.011108996538242306</c:v>
                </c:pt>
                <c:pt idx="33">
                  <c:v>0.005086069231012701</c:v>
                </c:pt>
                <c:pt idx="34">
                  <c:v>0.002187491118182885</c:v>
                </c:pt>
                <c:pt idx="35">
                  <c:v>0.00088382630693505</c:v>
                </c:pt>
                <c:pt idx="36">
                  <c:v>0.00033546262790251185</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Cambria"/>
              </a:defRPr>
            </a:pPr>
            <a:r>
              <a:rPr sz="1300" b="0" i="0" u="none" strike="noStrike">
                <a:solidFill>
                  <a:srgbClr val="14213D"/>
                </a:solidFill>
                <a:latin typeface="Cambria"/>
              </a:rPr>
              <a:t>housing  (n = 506)</a:t>
            </a:r>
          </a:p>
        </c:rich>
      </c:tx>
      <c:layout/>
      <c:overlay val="0"/>
    </c:title>
    <c:autoTitleDeleted val="0"/>
    <c:plotArea>
      <c:layout/>
      <c:lineChart>
        <c:varyColors val="0"/>
        <c:ser>
          <c:idx val="0"/>
          <c:order val="0"/>
          <c:tx>
            <c:strRef>
              <c:f>Sheet1!$B$1</c:f>
              <c:strCache>
                <c:ptCount val="1"/>
                <c:pt idx="0">
                  <c:v>Predict zero</c:v>
                </c:pt>
              </c:strCache>
            </c:strRef>
          </c:tx>
          <c:spPr>
            <a:solidFill>
              <a:srgbClr val="B8BEC8"/>
            </a:solidFill>
            <a:ln w="25400" cap="flat">
              <a:solidFill>
                <a:srgbClr val="B8BEC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8BEC8"/>
              </a:solidFill>
              <a:ln w="9525" cap="flat">
                <a:solidFill>
                  <a:srgbClr val="B8BEC8"/>
                </a:solidFill>
                <a:prstDash val="solid"/>
                <a:round/>
              </a:ln>
              <a:effectLst/>
            </c:spPr>
          </c:marker>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Sheet1!$B$2:$B$11</c:f>
              <c:numCache>
                <c:formatCode>General</c:formatCode>
                <c:ptCount val="10"/>
                <c:pt idx="0">
                  <c:v>2.824</c:v>
                </c:pt>
                <c:pt idx="1">
                  <c:v>2.824</c:v>
                </c:pt>
                <c:pt idx="2">
                  <c:v>2.824</c:v>
                </c:pt>
                <c:pt idx="3">
                  <c:v>2.824</c:v>
                </c:pt>
                <c:pt idx="4">
                  <c:v>2.824</c:v>
                </c:pt>
                <c:pt idx="5">
                  <c:v>2.824</c:v>
                </c:pt>
                <c:pt idx="6">
                  <c:v>2.824</c:v>
                </c:pt>
                <c:pt idx="7">
                  <c:v>2.824</c:v>
                </c:pt>
                <c:pt idx="8">
                  <c:v>2.824</c:v>
                </c:pt>
                <c:pt idx="9">
                  <c:v>2.824</c:v>
                </c:pt>
              </c:numCache>
            </c:numRef>
          </c:val>
          <c:smooth val="0"/>
        </c:ser>
        <c:ser>
          <c:idx val="1"/>
          <c:order val="1"/>
          <c:tx>
            <c:strRef>
              <c:f>Sheet1!$C$1</c:f>
              <c:strCache>
                <c:ptCount val="1"/>
                <c:pt idx="0">
                  <c:v>AdaSSP (pooled data)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errBars>
            <c:errDir val="y"/>
            <c:errBarType val="both"/>
            <c:errValType val="cust"/>
            <c:noEndCap val="0"/>
            <c:plus>
              <c:numLit>
                <c:formatCode>General</c:formatCode>
                <c:ptCount val="10"/>
                <c:pt idx="0">
                  <c:v>0.5599</c:v>
                </c:pt>
                <c:pt idx="1">
                  <c:v>0.5507</c:v>
                </c:pt>
                <c:pt idx="2">
                  <c:v>0.5827</c:v>
                </c:pt>
                <c:pt idx="3">
                  <c:v>0.6003</c:v>
                </c:pt>
                <c:pt idx="4">
                  <c:v>0.5577</c:v>
                </c:pt>
                <c:pt idx="5">
                  <c:v>0.5258</c:v>
                </c:pt>
                <c:pt idx="6">
                  <c:v>0.4927</c:v>
                </c:pt>
                <c:pt idx="7">
                  <c:v>0.4527</c:v>
                </c:pt>
                <c:pt idx="8">
                  <c:v>0.4025</c:v>
                </c:pt>
                <c:pt idx="9">
                  <c:v>0.3718</c:v>
                </c:pt>
              </c:numLit>
            </c:plus>
            <c:minus>
              <c:numLit>
                <c:formatCode>General</c:formatCode>
                <c:ptCount val="10"/>
                <c:pt idx="0">
                  <c:v>0.5599</c:v>
                </c:pt>
                <c:pt idx="1">
                  <c:v>0.5507</c:v>
                </c:pt>
                <c:pt idx="2">
                  <c:v>0.5827</c:v>
                </c:pt>
                <c:pt idx="3">
                  <c:v>0.6003</c:v>
                </c:pt>
                <c:pt idx="4">
                  <c:v>0.5577</c:v>
                </c:pt>
                <c:pt idx="5">
                  <c:v>0.5258</c:v>
                </c:pt>
                <c:pt idx="6">
                  <c:v>0.4927</c:v>
                </c:pt>
                <c:pt idx="7">
                  <c:v>0.4527</c:v>
                </c:pt>
                <c:pt idx="8">
                  <c:v>0.4025</c:v>
                </c:pt>
                <c:pt idx="9">
                  <c:v>0.3718</c:v>
                </c:pt>
              </c:numLit>
            </c:minus>
            <c:spPr>
              <a:ln w="12700">
                <a:solidFill>
                  <a:srgbClr val="1BAF7A"/>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Sheet1!$C$2:$C$11</c:f>
              <c:numCache>
                <c:formatCode>General</c:formatCode>
                <c:ptCount val="10"/>
                <c:pt idx="0">
                  <c:v>3.048</c:v>
                </c:pt>
                <c:pt idx="1">
                  <c:v>2.957</c:v>
                </c:pt>
                <c:pt idx="2">
                  <c:v>2.882</c:v>
                </c:pt>
                <c:pt idx="3">
                  <c:v>2.789</c:v>
                </c:pt>
                <c:pt idx="4">
                  <c:v>2.512</c:v>
                </c:pt>
                <c:pt idx="5">
                  <c:v>2.137</c:v>
                </c:pt>
                <c:pt idx="6">
                  <c:v>1.798</c:v>
                </c:pt>
                <c:pt idx="7">
                  <c:v>1.485</c:v>
                </c:pt>
                <c:pt idx="8">
                  <c:v>1.204</c:v>
                </c:pt>
                <c:pt idx="9">
                  <c:v>1.092</c:v>
                </c:pt>
              </c:numCache>
            </c:numRef>
          </c:val>
          <c:smooth val="0"/>
        </c:ser>
        <c:ser>
          <c:idx val="2"/>
          <c:order val="2"/>
          <c:tx>
            <c:strRef>
              <c:f>Sheet1!$D$1</c:f>
              <c:strCache>
                <c:ptCount val="1"/>
                <c:pt idx="0">
                  <c:v>This protocol</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errBars>
            <c:errDir val="y"/>
            <c:errBarType val="both"/>
            <c:errValType val="cust"/>
            <c:noEndCap val="0"/>
            <c:plus>
              <c:numLit>
                <c:formatCode>General</c:formatCode>
                <c:ptCount val="10"/>
                <c:pt idx="0">
                  <c:v>0.6217</c:v>
                </c:pt>
                <c:pt idx="1">
                  <c:v>0.5915</c:v>
                </c:pt>
                <c:pt idx="2">
                  <c:v>0.5975</c:v>
                </c:pt>
                <c:pt idx="3">
                  <c:v>0.5813</c:v>
                </c:pt>
                <c:pt idx="4">
                  <c:v>0.5775</c:v>
                </c:pt>
                <c:pt idx="5">
                  <c:v>0.5188</c:v>
                </c:pt>
                <c:pt idx="6">
                  <c:v>0.5013</c:v>
                </c:pt>
                <c:pt idx="7">
                  <c:v>0.4707</c:v>
                </c:pt>
                <c:pt idx="8">
                  <c:v>0.4276</c:v>
                </c:pt>
                <c:pt idx="9">
                  <c:v>0.4048</c:v>
                </c:pt>
              </c:numLit>
            </c:plus>
            <c:minus>
              <c:numLit>
                <c:formatCode>General</c:formatCode>
                <c:ptCount val="10"/>
                <c:pt idx="0">
                  <c:v>0.6217</c:v>
                </c:pt>
                <c:pt idx="1">
                  <c:v>0.5915</c:v>
                </c:pt>
                <c:pt idx="2">
                  <c:v>0.5975</c:v>
                </c:pt>
                <c:pt idx="3">
                  <c:v>0.5813</c:v>
                </c:pt>
                <c:pt idx="4">
                  <c:v>0.5775</c:v>
                </c:pt>
                <c:pt idx="5">
                  <c:v>0.5188</c:v>
                </c:pt>
                <c:pt idx="6">
                  <c:v>0.5013</c:v>
                </c:pt>
                <c:pt idx="7">
                  <c:v>0.4707</c:v>
                </c:pt>
                <c:pt idx="8">
                  <c:v>0.4276</c:v>
                </c:pt>
                <c:pt idx="9">
                  <c:v>0.4048</c:v>
                </c:pt>
              </c:numLit>
            </c:minus>
            <c:spPr>
              <a:ln w="12700">
                <a:solidFill>
                  <a:srgbClr val="2A78D6"/>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Sheet1!$D$2:$D$11</c:f>
              <c:numCache>
                <c:formatCode>General</c:formatCode>
                <c:ptCount val="10"/>
                <c:pt idx="0">
                  <c:v>2.906</c:v>
                </c:pt>
                <c:pt idx="1">
                  <c:v>2.861</c:v>
                </c:pt>
                <c:pt idx="2">
                  <c:v>2.82</c:v>
                </c:pt>
                <c:pt idx="3">
                  <c:v>2.711</c:v>
                </c:pt>
                <c:pt idx="4">
                  <c:v>2.602</c:v>
                </c:pt>
                <c:pt idx="5">
                  <c:v>2.239</c:v>
                </c:pt>
                <c:pt idx="6">
                  <c:v>1.965</c:v>
                </c:pt>
                <c:pt idx="7">
                  <c:v>1.657</c:v>
                </c:pt>
                <c:pt idx="8">
                  <c:v>1.338</c:v>
                </c:pt>
                <c:pt idx="9">
                  <c:v>1.18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B6576"/>
                    </a:solidFill>
                    <a:latin typeface="Arial"/>
                  </a:defRPr>
                </a:pPr>
                <a:r>
                  <a:rPr sz="1000" b="0" i="0" u="none" strike="noStrike">
                    <a:solidFill>
                      <a:srgbClr val="5B6576"/>
                    </a:solidFill>
                    <a:latin typeface="Arial"/>
                  </a:rPr>
                  <a:t>ε</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2"/>
        <c:crosses val="autoZero"/>
        <c:auto val="1"/>
        <c:lblAlgn val="ctr"/>
        <c:noMultiLvlLbl val="1"/>
      </c:catAx>
      <c:valAx>
        <c:axId val="2094734552"/>
        <c:scaling>
          <c:orientation val="minMax"/>
          <c:min val="1"/>
        </c:scaling>
        <c:delete val="0"/>
        <c:axPos val="l"/>
        <c:majorGridlines>
          <c:spPr>
            <a:ln w="6350" cap="flat">
              <a:solidFill>
                <a:srgbClr val="E5E7EB"/>
              </a:solidFill>
              <a:prstDash val="solid"/>
              <a:round/>
            </a:ln>
          </c:spPr>
        </c:majorGridlines>
        <c:title>
          <c:tx>
            <c:rich>
              <a:bodyPr/>
              <a:lstStyle/>
              <a:p>
                <a:pPr>
                  <a:defRPr sz="1000" b="0" i="0" u="none" strike="noStrike">
                    <a:solidFill>
                      <a:srgbClr val="5B6576"/>
                    </a:solidFill>
                    <a:latin typeface="Arial"/>
                  </a:defRPr>
                </a:pPr>
                <a:r>
                  <a:rPr sz="1000" b="0" i="0" u="none" strike="noStrike">
                    <a:solidFill>
                      <a:srgbClr val="5B6576"/>
                    </a:solidFill>
                    <a:latin typeface="Arial"/>
                  </a:rPr>
                  <a:t>MSE ÷ non-private</a:t>
                </a:r>
              </a:p>
            </c:rich>
          </c:tx>
          <c:layout/>
          <c:overlay val="0"/>
        </c:title>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Cambria"/>
              </a:defRPr>
            </a:pPr>
            <a:r>
              <a:rPr sz="1300" b="0" i="0" u="none" strike="noStrike">
                <a:solidFill>
                  <a:srgbClr val="14213D"/>
                </a:solidFill>
                <a:latin typeface="Cambria"/>
              </a:rPr>
              <a:t>elevators  (n = 16,599)</a:t>
            </a:r>
          </a:p>
        </c:rich>
      </c:tx>
      <c:layout/>
      <c:overlay val="0"/>
    </c:title>
    <c:autoTitleDeleted val="0"/>
    <c:plotArea>
      <c:layout/>
      <c:lineChart>
        <c:varyColors val="0"/>
        <c:ser>
          <c:idx val="0"/>
          <c:order val="0"/>
          <c:tx>
            <c:strRef>
              <c:f>Sheet1!$B$1</c:f>
              <c:strCache>
                <c:ptCount val="1"/>
                <c:pt idx="0">
                  <c:v>Predict zero</c:v>
                </c:pt>
              </c:strCache>
            </c:strRef>
          </c:tx>
          <c:spPr>
            <a:solidFill>
              <a:srgbClr val="B8BEC8"/>
            </a:solidFill>
            <a:ln w="25400" cap="flat">
              <a:solidFill>
                <a:srgbClr val="B8BEC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8BEC8"/>
              </a:solidFill>
              <a:ln w="9525" cap="flat">
                <a:solidFill>
                  <a:srgbClr val="B8BEC8"/>
                </a:solidFill>
                <a:prstDash val="solid"/>
                <a:round/>
              </a:ln>
              <a:effectLst/>
            </c:spPr>
          </c:marker>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Sheet1!$B$2:$B$11</c:f>
              <c:numCache>
                <c:formatCode>General</c:formatCode>
                <c:ptCount val="10"/>
                <c:pt idx="0">
                  <c:v>4.226</c:v>
                </c:pt>
                <c:pt idx="1">
                  <c:v>4.226</c:v>
                </c:pt>
                <c:pt idx="2">
                  <c:v>4.226</c:v>
                </c:pt>
                <c:pt idx="3">
                  <c:v>4.226</c:v>
                </c:pt>
                <c:pt idx="4">
                  <c:v>4.226</c:v>
                </c:pt>
                <c:pt idx="5">
                  <c:v>4.226</c:v>
                </c:pt>
                <c:pt idx="6">
                  <c:v>4.226</c:v>
                </c:pt>
                <c:pt idx="7">
                  <c:v>4.226</c:v>
                </c:pt>
                <c:pt idx="8">
                  <c:v>4.226</c:v>
                </c:pt>
                <c:pt idx="9">
                  <c:v>4.226</c:v>
                </c:pt>
              </c:numCache>
            </c:numRef>
          </c:val>
          <c:smooth val="0"/>
        </c:ser>
        <c:ser>
          <c:idx val="1"/>
          <c:order val="1"/>
          <c:tx>
            <c:strRef>
              <c:f>Sheet1!$C$1</c:f>
              <c:strCache>
                <c:ptCount val="1"/>
                <c:pt idx="0">
                  <c:v>AdaSSP (pooled data)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errBars>
            <c:errDir val="y"/>
            <c:errBarType val="both"/>
            <c:errValType val="cust"/>
            <c:noEndCap val="0"/>
            <c:plus>
              <c:numLit>
                <c:formatCode>General</c:formatCode>
                <c:ptCount val="10"/>
                <c:pt idx="0">
                  <c:v>0.1353</c:v>
                </c:pt>
                <c:pt idx="1">
                  <c:v>0.06918</c:v>
                </c:pt>
                <c:pt idx="2">
                  <c:v>0.06121</c:v>
                </c:pt>
                <c:pt idx="3">
                  <c:v>0.06169</c:v>
                </c:pt>
                <c:pt idx="4">
                  <c:v>0.07114</c:v>
                </c:pt>
                <c:pt idx="5">
                  <c:v>0.06912</c:v>
                </c:pt>
                <c:pt idx="6">
                  <c:v>0.05343</c:v>
                </c:pt>
                <c:pt idx="7">
                  <c:v>0.04651</c:v>
                </c:pt>
                <c:pt idx="8">
                  <c:v>0.03951</c:v>
                </c:pt>
                <c:pt idx="9">
                  <c:v>0.03801</c:v>
                </c:pt>
              </c:numLit>
            </c:plus>
            <c:minus>
              <c:numLit>
                <c:formatCode>General</c:formatCode>
                <c:ptCount val="10"/>
                <c:pt idx="0">
                  <c:v>0.1353</c:v>
                </c:pt>
                <c:pt idx="1">
                  <c:v>0.06918</c:v>
                </c:pt>
                <c:pt idx="2">
                  <c:v>0.06121</c:v>
                </c:pt>
                <c:pt idx="3">
                  <c:v>0.06169</c:v>
                </c:pt>
                <c:pt idx="4">
                  <c:v>0.07114</c:v>
                </c:pt>
                <c:pt idx="5">
                  <c:v>0.06912</c:v>
                </c:pt>
                <c:pt idx="6">
                  <c:v>0.05343</c:v>
                </c:pt>
                <c:pt idx="7">
                  <c:v>0.04651</c:v>
                </c:pt>
                <c:pt idx="8">
                  <c:v>0.03951</c:v>
                </c:pt>
                <c:pt idx="9">
                  <c:v>0.03801</c:v>
                </c:pt>
              </c:numLit>
            </c:minus>
            <c:spPr>
              <a:ln w="12700">
                <a:solidFill>
                  <a:srgbClr val="1BAF7A"/>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Sheet1!$C$2:$C$11</c:f>
              <c:numCache>
                <c:formatCode>General</c:formatCode>
                <c:ptCount val="10"/>
                <c:pt idx="0">
                  <c:v>4.281</c:v>
                </c:pt>
                <c:pt idx="1">
                  <c:v>3.843</c:v>
                </c:pt>
                <c:pt idx="2">
                  <c:v>3.235</c:v>
                </c:pt>
                <c:pt idx="3">
                  <c:v>2.799</c:v>
                </c:pt>
                <c:pt idx="4">
                  <c:v>2.4</c:v>
                </c:pt>
                <c:pt idx="5">
                  <c:v>1.873</c:v>
                </c:pt>
                <c:pt idx="6">
                  <c:v>1.514</c:v>
                </c:pt>
                <c:pt idx="7">
                  <c:v>1.239</c:v>
                </c:pt>
                <c:pt idx="8">
                  <c:v>1.058</c:v>
                </c:pt>
                <c:pt idx="9">
                  <c:v>1.012</c:v>
                </c:pt>
              </c:numCache>
            </c:numRef>
          </c:val>
          <c:smooth val="0"/>
        </c:ser>
        <c:ser>
          <c:idx val="2"/>
          <c:order val="2"/>
          <c:tx>
            <c:strRef>
              <c:f>Sheet1!$D$1</c:f>
              <c:strCache>
                <c:ptCount val="1"/>
                <c:pt idx="0">
                  <c:v>This protocol</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errBars>
            <c:errDir val="y"/>
            <c:errBarType val="both"/>
            <c:errValType val="cust"/>
            <c:noEndCap val="0"/>
            <c:plus>
              <c:numLit>
                <c:formatCode>General</c:formatCode>
                <c:ptCount val="10"/>
                <c:pt idx="0">
                  <c:v>0.09400</c:v>
                </c:pt>
                <c:pt idx="1">
                  <c:v>0.08385</c:v>
                </c:pt>
                <c:pt idx="2">
                  <c:v>0.06546</c:v>
                </c:pt>
                <c:pt idx="3">
                  <c:v>0.06869</c:v>
                </c:pt>
                <c:pt idx="4">
                  <c:v>0.07098</c:v>
                </c:pt>
                <c:pt idx="5">
                  <c:v>0.05715</c:v>
                </c:pt>
                <c:pt idx="6">
                  <c:v>0.05602</c:v>
                </c:pt>
                <c:pt idx="7">
                  <c:v>0.04965</c:v>
                </c:pt>
                <c:pt idx="8">
                  <c:v>0.04270</c:v>
                </c:pt>
                <c:pt idx="9">
                  <c:v>0.03903</c:v>
                </c:pt>
              </c:numLit>
            </c:plus>
            <c:minus>
              <c:numLit>
                <c:formatCode>General</c:formatCode>
                <c:ptCount val="10"/>
                <c:pt idx="0">
                  <c:v>0.09400</c:v>
                </c:pt>
                <c:pt idx="1">
                  <c:v>0.08385</c:v>
                </c:pt>
                <c:pt idx="2">
                  <c:v>0.06546</c:v>
                </c:pt>
                <c:pt idx="3">
                  <c:v>0.06869</c:v>
                </c:pt>
                <c:pt idx="4">
                  <c:v>0.07098</c:v>
                </c:pt>
                <c:pt idx="5">
                  <c:v>0.05715</c:v>
                </c:pt>
                <c:pt idx="6">
                  <c:v>0.05602</c:v>
                </c:pt>
                <c:pt idx="7">
                  <c:v>0.04965</c:v>
                </c:pt>
                <c:pt idx="8">
                  <c:v>0.04270</c:v>
                </c:pt>
                <c:pt idx="9">
                  <c:v>0.03903</c:v>
                </c:pt>
              </c:numLit>
            </c:minus>
            <c:spPr>
              <a:ln w="12700">
                <a:solidFill>
                  <a:srgbClr val="2A78D6"/>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Sheet1!$D$2:$D$11</c:f>
              <c:numCache>
                <c:formatCode>General</c:formatCode>
                <c:ptCount val="10"/>
                <c:pt idx="0">
                  <c:v>3.995</c:v>
                </c:pt>
                <c:pt idx="1">
                  <c:v>3.667</c:v>
                </c:pt>
                <c:pt idx="2">
                  <c:v>3.192</c:v>
                </c:pt>
                <c:pt idx="3">
                  <c:v>2.864</c:v>
                </c:pt>
                <c:pt idx="4">
                  <c:v>2.532</c:v>
                </c:pt>
                <c:pt idx="5">
                  <c:v>2.073</c:v>
                </c:pt>
                <c:pt idx="6">
                  <c:v>1.714</c:v>
                </c:pt>
                <c:pt idx="7">
                  <c:v>1.397</c:v>
                </c:pt>
                <c:pt idx="8">
                  <c:v>1.136</c:v>
                </c:pt>
                <c:pt idx="9">
                  <c:v>1.049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B6576"/>
                    </a:solidFill>
                    <a:latin typeface="Arial"/>
                  </a:defRPr>
                </a:pPr>
                <a:r>
                  <a:rPr sz="1000" b="0" i="0" u="none" strike="noStrike">
                    <a:solidFill>
                      <a:srgbClr val="5B6576"/>
                    </a:solidFill>
                    <a:latin typeface="Arial"/>
                  </a:rPr>
                  <a:t>ε</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2"/>
        <c:crosses val="autoZero"/>
        <c:auto val="1"/>
        <c:lblAlgn val="ctr"/>
        <c:noMultiLvlLbl val="1"/>
      </c:catAx>
      <c:valAx>
        <c:axId val="2094734552"/>
        <c:scaling>
          <c:orientation val="minMax"/>
          <c:min val="1"/>
        </c:scaling>
        <c:delete val="0"/>
        <c:axPos val="l"/>
        <c:majorGridlines>
          <c:spPr>
            <a:ln w="6350"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Cambria"/>
              </a:defRPr>
            </a:pPr>
            <a:r>
              <a:rPr sz="1300" b="0" i="0" u="none" strike="noStrike">
                <a:solidFill>
                  <a:srgbClr val="14213D"/>
                </a:solidFill>
                <a:latin typeface="Cambria"/>
              </a:rPr>
              <a:t>protein  (n = 45,730)</a:t>
            </a:r>
          </a:p>
        </c:rich>
      </c:tx>
      <c:layout/>
      <c:overlay val="0"/>
    </c:title>
    <c:autoTitleDeleted val="0"/>
    <c:plotArea>
      <c:layout/>
      <c:lineChart>
        <c:varyColors val="0"/>
        <c:ser>
          <c:idx val="0"/>
          <c:order val="0"/>
          <c:tx>
            <c:strRef>
              <c:f>Sheet1!$B$1</c:f>
              <c:strCache>
                <c:ptCount val="1"/>
                <c:pt idx="0">
                  <c:v>Predict zero</c:v>
                </c:pt>
              </c:strCache>
            </c:strRef>
          </c:tx>
          <c:spPr>
            <a:solidFill>
              <a:srgbClr val="B8BEC8"/>
            </a:solidFill>
            <a:ln w="25400" cap="flat">
              <a:solidFill>
                <a:srgbClr val="B8BEC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8BEC8"/>
              </a:solidFill>
              <a:ln w="9525" cap="flat">
                <a:solidFill>
                  <a:srgbClr val="B8BEC8"/>
                </a:solidFill>
                <a:prstDash val="solid"/>
                <a:round/>
              </a:ln>
              <a:effectLst/>
            </c:spPr>
          </c:marker>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Sheet1!$B$2:$B$11</c:f>
              <c:numCache>
                <c:formatCode>General</c:formatCode>
                <c:ptCount val="10"/>
                <c:pt idx="0">
                  <c:v>1.405</c:v>
                </c:pt>
                <c:pt idx="1">
                  <c:v>1.405</c:v>
                </c:pt>
                <c:pt idx="2">
                  <c:v>1.405</c:v>
                </c:pt>
                <c:pt idx="3">
                  <c:v>1.405</c:v>
                </c:pt>
                <c:pt idx="4">
                  <c:v>1.405</c:v>
                </c:pt>
                <c:pt idx="5">
                  <c:v>1.405</c:v>
                </c:pt>
                <c:pt idx="6">
                  <c:v>1.405</c:v>
                </c:pt>
                <c:pt idx="7">
                  <c:v>1.405</c:v>
                </c:pt>
                <c:pt idx="8">
                  <c:v>1.405</c:v>
                </c:pt>
                <c:pt idx="9">
                  <c:v>1.405</c:v>
                </c:pt>
              </c:numCache>
            </c:numRef>
          </c:val>
          <c:smooth val="0"/>
        </c:ser>
        <c:ser>
          <c:idx val="1"/>
          <c:order val="1"/>
          <c:tx>
            <c:strRef>
              <c:f>Sheet1!$C$1</c:f>
              <c:strCache>
                <c:ptCount val="1"/>
                <c:pt idx="0">
                  <c:v>AdaSSP (pooled data)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errBars>
            <c:errDir val="y"/>
            <c:errBarType val="both"/>
            <c:errValType val="cust"/>
            <c:noEndCap val="0"/>
            <c:plus>
              <c:numLit>
                <c:formatCode>General</c:formatCode>
                <c:ptCount val="10"/>
                <c:pt idx="0">
                  <c:v>0.01459</c:v>
                </c:pt>
                <c:pt idx="1">
                  <c:v>0.01315</c:v>
                </c:pt>
                <c:pt idx="2">
                  <c:v>0.01237</c:v>
                </c:pt>
                <c:pt idx="3">
                  <c:v>0.01219</c:v>
                </c:pt>
                <c:pt idx="4">
                  <c:v>0.01343</c:v>
                </c:pt>
                <c:pt idx="5">
                  <c:v>0.01492</c:v>
                </c:pt>
                <c:pt idx="6">
                  <c:v>0.01543</c:v>
                </c:pt>
                <c:pt idx="7">
                  <c:v>0.01577</c:v>
                </c:pt>
                <c:pt idx="8">
                  <c:v>0.01583</c:v>
                </c:pt>
                <c:pt idx="9">
                  <c:v>0.01581</c:v>
                </c:pt>
              </c:numLit>
            </c:plus>
            <c:minus>
              <c:numLit>
                <c:formatCode>General</c:formatCode>
                <c:ptCount val="10"/>
                <c:pt idx="0">
                  <c:v>0.01459</c:v>
                </c:pt>
                <c:pt idx="1">
                  <c:v>0.01315</c:v>
                </c:pt>
                <c:pt idx="2">
                  <c:v>0.01237</c:v>
                </c:pt>
                <c:pt idx="3">
                  <c:v>0.01219</c:v>
                </c:pt>
                <c:pt idx="4">
                  <c:v>0.01343</c:v>
                </c:pt>
                <c:pt idx="5">
                  <c:v>0.01492</c:v>
                </c:pt>
                <c:pt idx="6">
                  <c:v>0.01543</c:v>
                </c:pt>
                <c:pt idx="7">
                  <c:v>0.01577</c:v>
                </c:pt>
                <c:pt idx="8">
                  <c:v>0.01583</c:v>
                </c:pt>
                <c:pt idx="9">
                  <c:v>0.01581</c:v>
                </c:pt>
              </c:numLit>
            </c:minus>
            <c:spPr>
              <a:ln w="12700">
                <a:solidFill>
                  <a:srgbClr val="1BAF7A"/>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Sheet1!$C$2:$C$11</c:f>
              <c:numCache>
                <c:formatCode>General</c:formatCode>
                <c:ptCount val="10"/>
                <c:pt idx="0">
                  <c:v>1.229</c:v>
                </c:pt>
                <c:pt idx="1">
                  <c:v>1.162</c:v>
                </c:pt>
                <c:pt idx="2">
                  <c:v>1.096</c:v>
                </c:pt>
                <c:pt idx="3">
                  <c:v>1.059</c:v>
                </c:pt>
                <c:pt idx="4">
                  <c:v>1.033</c:v>
                </c:pt>
                <c:pt idx="5">
                  <c:v>1.014</c:v>
                </c:pt>
                <c:pt idx="6">
                  <c:v>1.007</c:v>
                </c:pt>
                <c:pt idx="7">
                  <c:v>1.004</c:v>
                </c:pt>
                <c:pt idx="8">
                  <c:v>1.001</c:v>
                </c:pt>
                <c:pt idx="9">
                  <c:v>1</c:v>
                </c:pt>
              </c:numCache>
            </c:numRef>
          </c:val>
          <c:smooth val="0"/>
        </c:ser>
        <c:ser>
          <c:idx val="2"/>
          <c:order val="2"/>
          <c:tx>
            <c:strRef>
              <c:f>Sheet1!$D$1</c:f>
              <c:strCache>
                <c:ptCount val="1"/>
                <c:pt idx="0">
                  <c:v>This protocol</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errBars>
            <c:errDir val="y"/>
            <c:errBarType val="both"/>
            <c:errValType val="cust"/>
            <c:noEndCap val="0"/>
            <c:plus>
              <c:numLit>
                <c:formatCode>General</c:formatCode>
                <c:ptCount val="10"/>
                <c:pt idx="0">
                  <c:v>0.01208</c:v>
                </c:pt>
                <c:pt idx="1">
                  <c:v>0.01354</c:v>
                </c:pt>
                <c:pt idx="2">
                  <c:v>0.01271</c:v>
                </c:pt>
                <c:pt idx="3">
                  <c:v>0.01274</c:v>
                </c:pt>
                <c:pt idx="4">
                  <c:v>0.01328</c:v>
                </c:pt>
                <c:pt idx="5">
                  <c:v>0.01419</c:v>
                </c:pt>
                <c:pt idx="6">
                  <c:v>0.01512</c:v>
                </c:pt>
                <c:pt idx="7">
                  <c:v>0.01559</c:v>
                </c:pt>
                <c:pt idx="8">
                  <c:v>0.01577</c:v>
                </c:pt>
                <c:pt idx="9">
                  <c:v>0.01582</c:v>
                </c:pt>
              </c:numLit>
            </c:plus>
            <c:minus>
              <c:numLit>
                <c:formatCode>General</c:formatCode>
                <c:ptCount val="10"/>
                <c:pt idx="0">
                  <c:v>0.01208</c:v>
                </c:pt>
                <c:pt idx="1">
                  <c:v>0.01354</c:v>
                </c:pt>
                <c:pt idx="2">
                  <c:v>0.01271</c:v>
                </c:pt>
                <c:pt idx="3">
                  <c:v>0.01274</c:v>
                </c:pt>
                <c:pt idx="4">
                  <c:v>0.01328</c:v>
                </c:pt>
                <c:pt idx="5">
                  <c:v>0.01419</c:v>
                </c:pt>
                <c:pt idx="6">
                  <c:v>0.01512</c:v>
                </c:pt>
                <c:pt idx="7">
                  <c:v>0.01559</c:v>
                </c:pt>
                <c:pt idx="8">
                  <c:v>0.01577</c:v>
                </c:pt>
                <c:pt idx="9">
                  <c:v>0.01582</c:v>
                </c:pt>
              </c:numLit>
            </c:minus>
            <c:spPr>
              <a:ln w="12700">
                <a:solidFill>
                  <a:srgbClr val="2A78D6"/>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Sheet1!$D$2:$D$11</c:f>
              <c:numCache>
                <c:formatCode>General</c:formatCode>
                <c:ptCount val="10"/>
                <c:pt idx="0">
                  <c:v>1.229</c:v>
                </c:pt>
                <c:pt idx="1">
                  <c:v>1.171</c:v>
                </c:pt>
                <c:pt idx="2">
                  <c:v>1.11</c:v>
                </c:pt>
                <c:pt idx="3">
                  <c:v>1.073</c:v>
                </c:pt>
                <c:pt idx="4">
                  <c:v>1.044</c:v>
                </c:pt>
                <c:pt idx="5">
                  <c:v>1.021</c:v>
                </c:pt>
                <c:pt idx="6">
                  <c:v>1.011</c:v>
                </c:pt>
                <c:pt idx="7">
                  <c:v>1.006</c:v>
                </c:pt>
                <c:pt idx="8">
                  <c:v>1.002</c:v>
                </c:pt>
                <c:pt idx="9">
                  <c:v>1.001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B6576"/>
                    </a:solidFill>
                    <a:latin typeface="Arial"/>
                  </a:defRPr>
                </a:pPr>
                <a:r>
                  <a:rPr sz="1000" b="0" i="0" u="none" strike="noStrike">
                    <a:solidFill>
                      <a:srgbClr val="5B6576"/>
                    </a:solidFill>
                    <a:latin typeface="Arial"/>
                  </a:rPr>
                  <a:t>ε</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2"/>
        <c:crosses val="autoZero"/>
        <c:auto val="1"/>
        <c:lblAlgn val="ctr"/>
        <c:noMultiLvlLbl val="1"/>
      </c:catAx>
      <c:valAx>
        <c:axId val="2094734552"/>
        <c:scaling>
          <c:orientation val="minMax"/>
          <c:min val="1"/>
        </c:scaling>
        <c:delete val="0"/>
        <c:axPos val="l"/>
        <c:majorGridlines>
          <c:spPr>
            <a:ln w="6350"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introduction for people meeting this material for the first time. A researcher and a national statistical agency want to fit a linear regression on the people they have in common, where the agency holds the outcome. Neither may share its records. We build the protocol up from three standard tools (differential privacy, homomorphic encryption and private set intersection), state what it guarantees, show how to choose its parameters, and look at the results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parts. The building blocks are short primers: enough to follow the protocol, not a full course. The protocol and its guarantees are the core. The parameter and results parts show how the pieces trade off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the setting, the data layout, what has to be computed, and the privacy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motivating setting. A researcher's cohort and an agency's register cover overlapping people but different variables. Today, linking them means weeks of vetting and work inside a secure Research Data Centre. The goal is a protocol that answers the regression question directly, without either side handing over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people, columns are variables. The two tables overlap only on the matched people, and the register is far larger than the cohort. This layout is called vertical partitioning: the parties hold different columns for the same rows. The regression we want uses R's columns and O's columns together, on the matched rows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Ordinary least squares needs the Gram matrix G = ZᵀZ and the vector c = Zᵀy over the matched rows. These are sufficient statistics: once you have them, you never need the rows again. Every block is a sum over the matched set I, which is why each carries a superscript I. They differ in what they need to know about the matching. A^I uses only R's rows in I, so R computes it exactly and it never leaves R. B^I, c_O^I and the sum of squares (yᵀy)^I use only O's matched rows π(I): they depend on which rows match but not on how R's and O's rows pair up. C^I and c_R^I multiply R's row i by O's row π(i), so they depend on the bijection π itself; this is why the linkage step must give R the position of every match, not just the match set. The protocol computes all O-dependent sums under encryption and releases them to R only after adding noise. On later slides the superscript I is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requirements. Input privacy protects R's data from O; cohort privacy protects the fact of who R is studying; output privacy protects the people in O's register from R, the analyst. The threat model is honest-but-curious, also called semi-honest: nobody deviates from the protocol, but everyone tries to learn from what they see. A researcher who deliberately deviated could break output privacy; covering that needs extra machinery, discussed at the end. One thing is disclosed by design: R learns which of its own cohort members appear in the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DP regression, such as AdaSSP by Wang (2018), assumes one curator already holds the joined table. Federated learning with homomorphic encryption keeps data split but usually releases an unprotected model. Private set intersection only does the linkage. This protocol combines private linkage, encrypted aggregation and differential privacy. Its guarantee is narrower than central DP in one respect: it protects O's side of each record, and R learns which of its cohort members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three short primers, enough to follow the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Differential privacy is a property of a randomized release M. For any two neighbouring datasets D and D', and any set of outcomes S, the probability of S changes by at most a factor e^epsilon, plus a small slack delta. Here neighbours differ in one person's O-side data, with R's features held fixed: replace-one adjacency. The Gaussian mechanism adds normal noise to a statistic f. Its scale is the sensitivity Delta, the most f can move between neighbours, times a multiplier s that depends only on (epsilon, delta). Two properties we use constantly: post-processing cannot weaken the guarantee, and costs of several releases add up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released vector is (triu B, C, c_R, c_O, yT y). Replacing one person's O-side data, with R's row fixed, moves it by at most Delta in the l2 norm. With R, O, Y the squared bounds, the usual case has the closed form on the slide; it is the exact supremum when O has at least two features. Three practical consequences. Keeping A out of the release removes R's fourth-power term, which is why A stays exact at R. yT y adds nothing when B_y^2 &lt;= 2(B_R^2 + B_O^2), which covers all our settings; otherwise it is released separately. And since Delta scales with the squares of the bounds, choosing tight bounds is the most powerful lever on accuracy. Splitting one row bound between the parties, B_R^2 = B_O^2 = 1/2, gives Delta = 2.03 instead of 3.16.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zCDP measures privacy loss with a single number rho. A Gaussian release with sensitivity Delta and noise sigma costs Delta^2 / (2 sigma^2), and the costs of several releases simply add. At the end, the total converts to an (epsilon, delta) statement; the protocol uses the tight conversion of Canonne, Kamath and Steinke, and the simple bound on the slide is within a few tens of percent of it. A protocol run makes two releases: a small one (10% of the budget) used only to choose the ridge penalty, and the main one. O keeps a ledger per register, shared across researchers, because an individual can appear in many cohorts. Because R cannot decrypt anything without O's key share, O can enforce the cap simply by refusing.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CKKS is a homomorphic encryption scheme for approximate arithmetic. One ciphertext packs a vector of up to N/2 real numbers into slots. The operations we need are adding ciphertexts, multiplying a ciphertext by plaintext numbers that O holds, and rotating slots so that a vector can be summed into one slot. Values are encoded by multiplying by a large scale Omega and rounding, so decryption returns the value plus a small error. Decryption itself is c0 + c1 s. In the threshold variant the secret is split, s = s_R + s_O: R can compute c1 s_R, O can compute c0 + c1 s_O, and only together do they give the plaintext. That split is what lets O add privacy noise inside its share of the decryption.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Linkage uses labeled private set intersection in the style of Chen, Laine and Rindal (2018). First, an oblivious PRF: R obtains a keyed hash of each of its identifiers from O without revealing them, and pads its list to a public cap so O does not even learn the cohort size. Second, R sends encrypted queries (BFV encryption under R's own key), and O evaluates polynomials built from its hashed register. Third, R decrypts and learns which identifiers match and, for each match, a label. The label is the row's position in O's register after a secret random shuffle, which O draws fresh for every run. R needs these positions to line up its features with O's rows in the next phase. O learns only the public padded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the protocol phase by phase. Blue is R, orange is 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protocol in one picture. Phase 0: both parties agree public parameters and generate a split key. Phase 1: private linkage; R learns which of its cohort members match and where they sit in O's shuffled register, and computes its own block A. Phase 2: R uploads its features, encrypted, in O's row order. Phase 3: O computes the needed sums under encryption. Phase 4: O releases them in two rounds, adding noise inside its share of the decryption. Phase 5: R chooses the ridge from the first release, then computes the estimate and confidence intervals from the second. The next slides take each phase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The parties agree on everything that determines the noise before touching data: a study scope defined on public attributes, a cap on the cohort size, the padded register size, clipping bounds from public reference data, and the privacy budget. From these O derives the sensitivities, the noise scales and the CKKS scale, and checks its ledger. O draws a fresh secret shuffle of its rows and a fresh OPRF key for this run. Finally the parties run threshold key generation: one joint public key whose secret key is split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in detail. R pads its identifier list to the public cap, so O learns nothing from the count. The OPRF gives R a keyed hash of each identifier. R cuckoo-hashes these and sends encrypted queries, encrypted under R's own BFV key, so O cannot read them. O evaluates membership and label polynomials and replies. R decrypts: it learns which identifiers match and, for each, its position in O's shuffled register. R then computes its own block A exactly. O has learned only the public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R builds vectors as long as O's padded register, in O's shuffled order: a selection vector with a 1 at each matched position, and one vector per feature with R's clipped value at matched positions and zeros elsewhere. The first feature is the intercept. R encrypts each vector with its own key share, sending only c0 and a short seed from which the random a can be regenerated; this halves the upload. O subtracts a times its own share, which turns the ciphertext into one under the joint key. To O, all of this looks random, so matched and unmatched positions cannot be told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3. Each O-dependent statistic is an inner product between one of R's encrypted vectors and one of O's plaintext columns, summed over positions. Multiplying by the selection vector restricts O's data to the matched rows. O first sums the chunk products, then does one EvalSum per entry to collect the total into a slot. It then packs the entries so that each sits alone in its own slot: M1 holds only B and C, for the first release, and M2 holds everything, for the second. Keeping them separate means the first release can only depend on B and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4, the core of the protocol. O first re-randomizes the packed ciphertext with fresh randomness u, e0, e1, using the joint public key (p0, a). It then computes its share of the decryption, c0' + c1' s_O, and adds noise eta drawn from an exact discrete Gaussian on the integers. It sends c1' and this noisy share h_O, but never c0'. R adds c1' s_R and gets the encoded statistic, plus the encryption error e, plus eta. Two points matter. Because c0' is not sent, R cannot recover c1' s_O and hence O's key share. And eta is chosen wide enough to give the planned DP noise on the statistic and also to drown the encryption error statistically; that second job is what fixes the CKKS scale later. Fresh randomness every release stops R from differencing two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cautionary experiment that motivates the release design. In a simpler design, O added the DP noise as a plaintext value to the ciphertext, and the key holder decrypted. The decrypted value was correctly noised, but the ciphertext's c1 part did not depend on the noise at all: it was a deterministic function of R's own ciphertexts and O's data. So R could recompute c1 for each candidate dataset and compare. In real OpenFHE runs R identified the true dataset 20 times out of 20, where epsilon = 1 would allow at most 73%. The protocol avoids this by re-randomizing the ciphertext, putting the noise into O's decryption share, and making that noise wide enough to hide the encryption error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noisy Gram matrix can be badly conditioned, or even singular, when n is small relative to the noise, so the protocol adds a ridge. Choosing the ridge from the same noisy release would make it depend on the noise and break the error analysis. So the protocol spends 10% of the budget on a first release of B and C only. R combines it with its exact A, computes a lower confidence bound on the smallest eigenvalue, and picks the smallest ridge that makes the validity ratio theta at least 2.5. Psi says where the ridge goes: only on O's block if that is enough, otherwise on everything. The main release then uses the remaining 90%, a gate refuses to report if the matrix still looks too close to singular, and the estimate is the ridge solution on the second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now has a noisy release and a known noise distribution, so everything else is post-processing and costs no privacy. There are two targets. theta_lambda is the ridge solution on the true clipped statistics, which is what the protocol estimates without bias at first order. beta is the plain least-squares coefficient; the ridge pulls the estimate away from it by a bias that is bounded but not zero. A parametric bootstrap simulates fresh noise around the release to estimate the mechanism's covariance and to correct the residual sum of squares. The Wald interval targets theta_lambda. The bias-aware interval for beta widens the Wald interval to cover the worst-case ridge bias, which needs a bound on the norm of beta, either public or derived privately from stage 1. An optional second-order bias correction exists; it is off by default because its effect is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figure with every message of the protocol. Rows are phases, the left column is R, the right column is O, and the middle column holds public or joint objects. Use it as a map when reading the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the guarantees, the status of their proofs, and one consequence for the encryption parameters.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guarantees in one table. O's view can be simulated from public sizes, so it learns nothing else. R's view can be simulated from the noisy statistics alone; formally, R's view is (epsilon, delta)-SIM-CDP, a computational version of differential privacy. The assumptions are honest-but-curious behaviour and standard lattice cryptography. Two things are out of scope. A researcher who deviates, for example by not clipping its inputs, could break output privacy; preventing that needs zero-knowledge proofs that the uploads are well formed. And R learns which of its cohort members are in the register; hiding that is possible with circuit-PSI, but the sensitivity then grows because match status itself becomes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of every claim. On the cryptographic side, everything needed for the main theorem is proven, including an explicit worst-case bound on the encryption error, which we checked against OpenFHE: the measured error sits 6 to 8 bits below the bound, as expected for a worst-case bound. On the statistical side, the sensitivity, the yT y criterion, the independence of the ridge choice and the eigenvalue bound are proven; interval coverage and the bootstrap correction are proven to first order, which is standard for this kind of analysis, and simulations confirm them. The open items are listed at the bottom; none of them affects the main guarantee for a single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one concrete consequence of the proofs. The noise eta must be about 2^40 times the worst-case encryption error to hide it statistically (the smudging lemma). But the noise the analyst sees in the statistics, sigma_2, is fixed by the privacy budget, and it equals sigma_c sqrt(N/2) / Omega. So Omega has to grow until both hold: about 2^61.5 for the circuit as specified, for the example. Restructuring the circuit lowers the worst-case error and brings this to 2^57.2, or 2^53.7 if R also encodes at a larger scale. OpenFHE's measured error is well below the bound, but O must calibrate from the worst-case bound: an estimate from the actual ciphertexts would depend on the data and could leak through the noise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how to go from a privacy budget to concrete noise levels, the ridge, and the number of matched records needed. All numbers here are for the full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calibration chain, from experiments/calibration_protocol.py (reports/calibration/protocol.md). Pick delta from the number of people protected. Convert (epsilon, delta) to a zCDP budget with the tight conversion. Compute the sensitivities from the bounds. Split the budget between the two releases: 10% for stage 1, 90% for stage 2, which gives the two noise scales. The ridge at run time comes from stage 1; for planning, approximate the smallest eigenvalue of G by n times ell, where ell comes from public reference data, or 0 if none exists. The table gives sigma_2 per unit of sensitivity; for example at epsilon = 1 and delta = 1e-9 it is about 6 times Delta. The planning formula uses the simple conversion and is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rules of thumb to translate a noise level into a sample size. For prediction, the excess test error depends on n only through n divided by sigma, so the records needed scale with sigma. For coefficients, once the ridge is off, the DP error relative to the sampling error scales with sigma squared over n, so the records needed scale with sigma squared. In practice: measure the records needed once, at one epsilon, on a pilot or public data, and transfer. The table checks both laws against the experiments; transferred predictions land within about 10% of what was observed, except at small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knobs and what they buy. Tighter bounds are by far the most powerful: twice as close cuts sigma by 4 and the records needed for coefficients by 16. Splitting one row bound between the parties cuts sigma by about a third. Doubling epsilon roughly halves sigma; going from delta = 1e-6 to 1e-9 costs 20-32%. Sharing one budget over several runs is much cheaper with zCDP than with a naive split. In the worked example, note the last two columns: because the ridge is chosen from a noisy first release, it stays on until n is about three times larger than it would if the eigenvalue bound were known exactly. That is the price of not knowing the joint design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6: results. Read the setup slide first: it says exactly what the experiments simulate.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evaluation has a simulation part, where the true coefficients are known, and a real-data part on 29 datasets from Wang's AdaSSP study. The box at the bottom matters for interpreting everything that follows. The experiments simulate one DP release followed by the ridge solve. The full protocol splits the budget into two releases, so its main release is about 11-16% noisier at the same (epsilon, delta), and it learns the ridge from stage 1. In the simulation the ridge used the true eigenvalue bound, which is optimistic; on real data the experiments used no bound at all (ell = 0), so the ridge never switched off there, whereas the protocol switches it off once stage 1 shows enough signal. The experiments also applied the optional bias correction, whose effect is a few percent. A rerun under the exact protocol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has been run on real cryptography so far. A prototype of the linkage and aggregation steps ran end to end over sockets, with both a plaintext backend and OpenFHE. Linkage recovered exactly the right matches with the right alignment, and with the noise switched off the regression agreed with the plaintext answer to about 1e-10. That prototype used a single CKKS key and did not include the threshold release step. The full protocol is specified and proven but not yet implemented; the table gives its cost model. The key fact for planning is that O's work is linear in the padded register size, which is why the study scope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error of the standardized slopes over 200 runs, each with new data and a new DP release, against the non-private floor. At small n the ridge dominates and the estimate is pulled towards zero (the dashed line). Once the ridge switches off, the DP error falls like 1/n, faster than the sampling error's 1/sqrt(n), and the curves merge into the floor. The crossings on the right are where the private estimate comes within twice the non-private error. Remember the setup caveats: one release, ridge from a known eigenvalue bound, so the full protocol needs somewhat more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error split into its parts, for five privacy levels, as the validity ratio rho_0 grows (left to right means more data relative to noise). When sigma is large relative to the data, the ridge's shrinkage dominates the error. The bias that the noise itself causes, through inverting a noisy matrix, is tiny. That is why the optional bias correction barely matters, and why the protocol leaves it off by default. The practical message: at small n, accuracy is limited by the ridge, so tighter bounds and more matched records are what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of the two intervals, from a simulation of the protocol's release and solve-and-infer step (stage 1, ridge choice, stage 2, bootstrap, intervals), 2,000 replications per scenario. The Wald interval for theta_lambda reaches its 95.5% target in every scenario, including with an active ridge. The bias-aware interval for beta always covers, but it is conservative, and without a public bound on the norm of beta it can be unbounded when the ridge is on. For contrast, in an earlier study a naive interval around a ridge estimate, interpreted as covering beta, covered only 42 to 81%: the ridge bias is not small. The lesson is to be explicit about which target an interval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of the 29 datasets, at epsilon = 1. Each number is test MSE divided by the non-private MSE, so 1.00 means no loss. Predicting zero is the floor any useful method must beat. AdaSSP is the standard central DP regression; it needs all the data pooled with one trusted curator, so it is not available in our setting, but it shows what a central method achieves. Its guarantee is also stronger, and at the same nominal epsilon it is in fact more private than our release, so this comparison is conservative for us. The protocol is close to AdaSSP on the large datasets and somewhat worse on the small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charts from reports/adassp/results.csv; verdicts over all 29 datasets from reports/adassp/all/compare.csv. Each curve is test MSE relative to non-private, as epsilon goes from 0.01 to 10. At very small epsilon both private methods are often worse than predicting zero, so wins there mean little. From epsilon around 0.5, central AdaSSP is ahead, and the gap shrinks with more data: on protein, with 45k rows, the two are almost identical. That gap is the price of not pooling, plus our looser per-party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real-data counterpart of the simulation curves. For four datasets with at least 15k rows and a real linear signal, we took nested subsets of the training folds as the matched set and measured test error. The table gives the number of matched records needed to come within 10% of non-private. Doubling epsilon roughly halves it, as the scaling law predicts, and the protocol needs about 1.5 to 2 times the records of the central method. 'Within 10%' is not equally hard on every dataset: on protein, predicting zero is already only 1.4 times worse than non-private.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Limits by design: the guarantee assumes both parties follow the protocol; R learns match status; linkage is on exact identifiers; the model is linear with a model-based variance; and O's cost is linear in its padded register. Still to do: implement and benchmark the full protocol, rerun the experiments under its exact two-release rule, fix concrete encryption parameters for the larger scale, close the remaining proof items, and redo the real-data comparison with preprocessing that each party can do on its own data, since Wang's pipeline normalizes whole rows across both parties'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The protocol combines three standard tools so that a researcher and an agency can fit a regression without pooling. Its guarantees are proven for honest-but-curious parties. Accuracy is driven mostly by tight bounds and the number of matched records. And compared with central DP on pooled data, the price of not pooling is moderate on large datasets. The documents on the right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7086600" y="1417320"/>
            <a:ext cx="3017520" cy="3017520"/>
          </a:xfrm>
          <a:prstGeom prst="ellipse">
            <a:avLst/>
          </a:prstGeom>
          <a:solidFill>
            <a:srgbClr val="3D5A80">
              <a:alpha val="65000"/>
            </a:srgbClr>
          </a:solidFill>
          <a:ln w="19050">
            <a:solidFill>
              <a:srgbClr val="8FA6C4"/>
            </a:solidFill>
            <a:prstDash val="solid"/>
          </a:ln>
        </p:spPr>
      </p:sp>
      <p:sp>
        <p:nvSpPr>
          <p:cNvPr id="3" name="Shape 1"/>
          <p:cNvSpPr/>
          <p:nvPr/>
        </p:nvSpPr>
        <p:spPr>
          <a:xfrm>
            <a:off x="8549640" y="1417320"/>
            <a:ext cx="3017520" cy="3017520"/>
          </a:xfrm>
          <a:prstGeom prst="ellipse">
            <a:avLst/>
          </a:prstGeom>
          <a:solidFill>
            <a:srgbClr val="C45A0C">
              <a:alpha val="55000"/>
            </a:srgbClr>
          </a:solidFill>
          <a:ln w="19050">
            <a:solidFill>
              <a:srgbClr val="E7A77C"/>
            </a:solidFill>
            <a:prstDash val="solid"/>
          </a:ln>
        </p:spPr>
      </p:sp>
      <p:sp>
        <p:nvSpPr>
          <p:cNvPr id="4" name="Text 2"/>
          <p:cNvSpPr txBox="1"/>
          <p:nvPr/>
        </p:nvSpPr>
        <p:spPr>
          <a:xfrm>
            <a:off x="7406640" y="2606040"/>
            <a:ext cx="73152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a:t>
            </a:r>
            <a:endParaRPr lang="en-US" sz="3000" dirty="0"/>
          </a:p>
        </p:txBody>
      </p:sp>
      <p:sp>
        <p:nvSpPr>
          <p:cNvPr id="5" name="Text 3"/>
          <p:cNvSpPr txBox="1"/>
          <p:nvPr/>
        </p:nvSpPr>
        <p:spPr>
          <a:xfrm>
            <a:off x="10469880" y="2606040"/>
            <a:ext cx="73152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O</a:t>
            </a:r>
            <a:endParaRPr lang="en-US" sz="3000" dirty="0"/>
          </a:p>
        </p:txBody>
      </p:sp>
      <p:pic>
        <p:nvPicPr>
          <p:cNvPr id="6" name="Image 0" descr="preencoded.png">    </p:cNvPr>
          <p:cNvPicPr>
            <a:picLocks noChangeAspect="1"/>
          </p:cNvPicPr>
          <p:nvPr/>
        </p:nvPicPr>
        <p:blipFill>
          <a:blip r:embed="rId1"/>
          <a:stretch>
            <a:fillRect/>
          </a:stretch>
        </p:blipFill>
        <p:spPr>
          <a:xfrm>
            <a:off x="9281160" y="2697480"/>
            <a:ext cx="457200" cy="457200"/>
          </a:xfrm>
          <a:prstGeom prst="rect">
            <a:avLst/>
          </a:prstGeom>
        </p:spPr>
      </p:pic>
      <p:sp>
        <p:nvSpPr>
          <p:cNvPr id="7" name="Text 4"/>
          <p:cNvSpPr txBox="1"/>
          <p:nvPr/>
        </p:nvSpPr>
        <p:spPr>
          <a:xfrm>
            <a:off x="731520" y="1325880"/>
            <a:ext cx="6126480" cy="19202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Regression across a register and a cohort, without pooling</a:t>
            </a:r>
            <a:endParaRPr lang="en-US" sz="3600" dirty="0"/>
          </a:p>
        </p:txBody>
      </p:sp>
      <p:sp>
        <p:nvSpPr>
          <p:cNvPr id="8" name="Text 5"/>
          <p:cNvSpPr txBox="1"/>
          <p:nvPr/>
        </p:nvSpPr>
        <p:spPr>
          <a:xfrm>
            <a:off x="731520" y="3337560"/>
            <a:ext cx="6035040" cy="822960"/>
          </a:xfrm>
          <a:prstGeom prst="rect">
            <a:avLst/>
          </a:prstGeom>
          <a:noFill/>
          <a:ln/>
        </p:spPr>
        <p:txBody>
          <a:bodyPr wrap="square" lIns="0" tIns="0" rIns="0" bIns="0" rtlCol="0" anchor="t"/>
          <a:lstStyle/>
          <a:p>
            <a:pPr indent="0" marL="0">
              <a:buNone/>
            </a:pPr>
            <a:r>
              <a:rPr lang="en-US" sz="1800" dirty="0">
                <a:solidFill>
                  <a:srgbClr val="CAD5E6"/>
                </a:solidFill>
                <a:latin typeface="Calibri" pitchFamily="34" charset="0"/>
                <a:ea typeface="Calibri" pitchFamily="34" charset="-122"/>
                <a:cs typeface="Calibri" pitchFamily="34" charset="-120"/>
              </a:rPr>
              <a:t>Privacy-preserving vertical federated linear regression: motivation, protocol and results</a:t>
            </a:r>
            <a:endParaRPr lang="en-US" sz="1800" dirty="0"/>
          </a:p>
        </p:txBody>
      </p:sp>
      <p:sp>
        <p:nvSpPr>
          <p:cNvPr id="9" name="Text 6"/>
          <p:cNvSpPr txBox="1"/>
          <p:nvPr/>
        </p:nvSpPr>
        <p:spPr>
          <a:xfrm>
            <a:off x="731520" y="5760720"/>
            <a:ext cx="6400800" cy="365760"/>
          </a:xfrm>
          <a:prstGeom prst="rect">
            <a:avLst/>
          </a:prstGeom>
          <a:noFill/>
          <a:ln/>
        </p:spPr>
        <p:txBody>
          <a:bodyPr wrap="square" lIns="0" tIns="0" rIns="0" bIns="0" rtlCol="0" anchor="ctr"/>
          <a:lstStyle/>
          <a:p>
            <a:pPr indent="0" marL="0">
              <a:buNone/>
            </a:pPr>
            <a:r>
              <a:rPr lang="en-US" sz="1300" dirty="0">
                <a:solidFill>
                  <a:srgbClr val="8FA6C4"/>
                </a:solidFill>
                <a:latin typeface="Calibri" pitchFamily="34" charset="0"/>
                <a:ea typeface="Calibri" pitchFamily="34" charset="-122"/>
                <a:cs typeface="Calibri" pitchFamily="34" charset="-120"/>
              </a:rPr>
              <a:t>Internal training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we will cover</a:t>
            </a:r>
            <a:endParaRPr lang="en-US" sz="3200" dirty="0"/>
          </a:p>
        </p:txBody>
      </p:sp>
      <p:sp>
        <p:nvSpPr>
          <p:cNvPr id="3" name="Shape 1"/>
          <p:cNvSpPr/>
          <p:nvPr/>
        </p:nvSpPr>
        <p:spPr>
          <a:xfrm>
            <a:off x="548640" y="1417320"/>
            <a:ext cx="3566160" cy="2194560"/>
          </a:xfrm>
          <a:prstGeom prst="roundRect">
            <a:avLst>
              <a:gd name="adj" fmla="val 3333"/>
            </a:avLst>
          </a:prstGeom>
          <a:solidFill>
            <a:srgbClr val="EEF2F7"/>
          </a:solidFill>
          <a:ln w="12700">
            <a:solidFill>
              <a:srgbClr val="EEF2F7"/>
            </a:solidFill>
            <a:prstDash val="solid"/>
          </a:ln>
        </p:spPr>
      </p:sp>
      <p:sp>
        <p:nvSpPr>
          <p:cNvPr id="4" name="Shape 2"/>
          <p:cNvSpPr/>
          <p:nvPr/>
        </p:nvSpPr>
        <p:spPr>
          <a:xfrm>
            <a:off x="822960" y="1691640"/>
            <a:ext cx="640080" cy="640080"/>
          </a:xfrm>
          <a:prstGeom prst="ellipse">
            <a:avLst/>
          </a:prstGeom>
          <a:solidFill>
            <a:srgbClr val="14213D"/>
          </a:solidFill>
          <a:ln w="12700">
            <a:solidFill>
              <a:srgbClr val="14213D"/>
            </a:solidFill>
            <a:prstDash val="solid"/>
          </a:ln>
        </p:spPr>
      </p:sp>
      <p:sp>
        <p:nvSpPr>
          <p:cNvPr id="5" name="Text 3"/>
          <p:cNvSpPr txBox="1"/>
          <p:nvPr/>
        </p:nvSpPr>
        <p:spPr>
          <a:xfrm>
            <a:off x="822960" y="16916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822960" y="2441448"/>
            <a:ext cx="306324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The problem</a:t>
            </a:r>
            <a:endParaRPr lang="en-US" sz="2000" dirty="0"/>
          </a:p>
        </p:txBody>
      </p:sp>
      <p:sp>
        <p:nvSpPr>
          <p:cNvPr id="7" name="Text 5"/>
          <p:cNvSpPr txBox="1"/>
          <p:nvPr/>
        </p:nvSpPr>
        <p:spPr>
          <a:xfrm>
            <a:off x="822960" y="2880360"/>
            <a:ext cx="3063240" cy="68580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Why join a research cohort to an agency register, and what must stay private</a:t>
            </a:r>
            <a:endParaRPr lang="en-US" sz="1400" dirty="0"/>
          </a:p>
        </p:txBody>
      </p:sp>
      <p:sp>
        <p:nvSpPr>
          <p:cNvPr id="8" name="Shape 6"/>
          <p:cNvSpPr/>
          <p:nvPr/>
        </p:nvSpPr>
        <p:spPr>
          <a:xfrm>
            <a:off x="4297680" y="1417320"/>
            <a:ext cx="3566160" cy="2194560"/>
          </a:xfrm>
          <a:prstGeom prst="roundRect">
            <a:avLst>
              <a:gd name="adj" fmla="val 3333"/>
            </a:avLst>
          </a:prstGeom>
          <a:solidFill>
            <a:srgbClr val="EEF2F7"/>
          </a:solidFill>
          <a:ln w="12700">
            <a:solidFill>
              <a:srgbClr val="EEF2F7"/>
            </a:solidFill>
            <a:prstDash val="solid"/>
          </a:ln>
        </p:spPr>
      </p:sp>
      <p:sp>
        <p:nvSpPr>
          <p:cNvPr id="9" name="Shape 7"/>
          <p:cNvSpPr/>
          <p:nvPr/>
        </p:nvSpPr>
        <p:spPr>
          <a:xfrm>
            <a:off x="4572000" y="1691640"/>
            <a:ext cx="640080" cy="640080"/>
          </a:xfrm>
          <a:prstGeom prst="ellipse">
            <a:avLst/>
          </a:prstGeom>
          <a:solidFill>
            <a:srgbClr val="14213D"/>
          </a:solidFill>
          <a:ln w="12700">
            <a:solidFill>
              <a:srgbClr val="14213D"/>
            </a:solidFill>
            <a:prstDash val="solid"/>
          </a:ln>
        </p:spPr>
      </p:sp>
      <p:sp>
        <p:nvSpPr>
          <p:cNvPr id="10" name="Text 8"/>
          <p:cNvSpPr txBox="1"/>
          <p:nvPr/>
        </p:nvSpPr>
        <p:spPr>
          <a:xfrm>
            <a:off x="4572000" y="16916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441448"/>
            <a:ext cx="306324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Building blocks</a:t>
            </a:r>
            <a:endParaRPr lang="en-US" sz="2000" dirty="0"/>
          </a:p>
        </p:txBody>
      </p:sp>
      <p:sp>
        <p:nvSpPr>
          <p:cNvPr id="12" name="Text 10"/>
          <p:cNvSpPr txBox="1"/>
          <p:nvPr/>
        </p:nvSpPr>
        <p:spPr>
          <a:xfrm>
            <a:off x="4572000" y="2880360"/>
            <a:ext cx="3063240" cy="68580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Differential privacy, homomorphic encryption, private set intersection</a:t>
            </a:r>
            <a:endParaRPr lang="en-US" sz="1400" dirty="0"/>
          </a:p>
        </p:txBody>
      </p:sp>
      <p:sp>
        <p:nvSpPr>
          <p:cNvPr id="13" name="Shape 11"/>
          <p:cNvSpPr/>
          <p:nvPr/>
        </p:nvSpPr>
        <p:spPr>
          <a:xfrm>
            <a:off x="8046720" y="1417320"/>
            <a:ext cx="3566160" cy="2194560"/>
          </a:xfrm>
          <a:prstGeom prst="roundRect">
            <a:avLst>
              <a:gd name="adj" fmla="val 3333"/>
            </a:avLst>
          </a:prstGeom>
          <a:solidFill>
            <a:srgbClr val="EEF2F7"/>
          </a:solidFill>
          <a:ln w="12700">
            <a:solidFill>
              <a:srgbClr val="EEF2F7"/>
            </a:solidFill>
            <a:prstDash val="solid"/>
          </a:ln>
        </p:spPr>
      </p:sp>
      <p:sp>
        <p:nvSpPr>
          <p:cNvPr id="14" name="Shape 12"/>
          <p:cNvSpPr/>
          <p:nvPr/>
        </p:nvSpPr>
        <p:spPr>
          <a:xfrm>
            <a:off x="8321040" y="1691640"/>
            <a:ext cx="640080" cy="640080"/>
          </a:xfrm>
          <a:prstGeom prst="ellipse">
            <a:avLst/>
          </a:prstGeom>
          <a:solidFill>
            <a:srgbClr val="C45A0C"/>
          </a:solidFill>
          <a:ln w="12700">
            <a:solidFill>
              <a:srgbClr val="C45A0C"/>
            </a:solidFill>
            <a:prstDash val="solid"/>
          </a:ln>
        </p:spPr>
      </p:sp>
      <p:sp>
        <p:nvSpPr>
          <p:cNvPr id="15" name="Text 13"/>
          <p:cNvSpPr txBox="1"/>
          <p:nvPr/>
        </p:nvSpPr>
        <p:spPr>
          <a:xfrm>
            <a:off x="8321040" y="16916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txBox="1"/>
          <p:nvPr/>
        </p:nvSpPr>
        <p:spPr>
          <a:xfrm>
            <a:off x="8321040" y="2441448"/>
            <a:ext cx="306324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The protocol</a:t>
            </a:r>
            <a:endParaRPr lang="en-US" sz="2000" dirty="0"/>
          </a:p>
        </p:txBody>
      </p:sp>
      <p:sp>
        <p:nvSpPr>
          <p:cNvPr id="17" name="Text 15"/>
          <p:cNvSpPr txBox="1"/>
          <p:nvPr/>
        </p:nvSpPr>
        <p:spPr>
          <a:xfrm>
            <a:off x="8321040" y="2880360"/>
            <a:ext cx="3063240" cy="68580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Six phases, from setup to confidence intervals</a:t>
            </a:r>
            <a:endParaRPr lang="en-US" sz="1400" dirty="0"/>
          </a:p>
        </p:txBody>
      </p:sp>
      <p:sp>
        <p:nvSpPr>
          <p:cNvPr id="18" name="Shape 16"/>
          <p:cNvSpPr/>
          <p:nvPr/>
        </p:nvSpPr>
        <p:spPr>
          <a:xfrm>
            <a:off x="548640" y="3840480"/>
            <a:ext cx="3566160" cy="2194560"/>
          </a:xfrm>
          <a:prstGeom prst="roundRect">
            <a:avLst>
              <a:gd name="adj" fmla="val 3333"/>
            </a:avLst>
          </a:prstGeom>
          <a:solidFill>
            <a:srgbClr val="EEF2F7"/>
          </a:solidFill>
          <a:ln w="12700">
            <a:solidFill>
              <a:srgbClr val="EEF2F7"/>
            </a:solidFill>
            <a:prstDash val="solid"/>
          </a:ln>
        </p:spPr>
      </p:sp>
      <p:sp>
        <p:nvSpPr>
          <p:cNvPr id="19" name="Shape 17"/>
          <p:cNvSpPr/>
          <p:nvPr/>
        </p:nvSpPr>
        <p:spPr>
          <a:xfrm>
            <a:off x="822960" y="4114800"/>
            <a:ext cx="640080" cy="640080"/>
          </a:xfrm>
          <a:prstGeom prst="ellipse">
            <a:avLst/>
          </a:prstGeom>
          <a:solidFill>
            <a:srgbClr val="14213D"/>
          </a:solidFill>
          <a:ln w="12700">
            <a:solidFill>
              <a:srgbClr val="14213D"/>
            </a:solidFill>
            <a:prstDash val="solid"/>
          </a:ln>
        </p:spPr>
      </p:sp>
      <p:sp>
        <p:nvSpPr>
          <p:cNvPr id="20" name="Text 18"/>
          <p:cNvSpPr txBox="1"/>
          <p:nvPr/>
        </p:nvSpPr>
        <p:spPr>
          <a:xfrm>
            <a:off x="822960" y="4114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1" name="Text 19"/>
          <p:cNvSpPr txBox="1"/>
          <p:nvPr/>
        </p:nvSpPr>
        <p:spPr>
          <a:xfrm>
            <a:off x="822960" y="4864608"/>
            <a:ext cx="306324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Guarantees</a:t>
            </a:r>
            <a:endParaRPr lang="en-US" sz="2000" dirty="0"/>
          </a:p>
        </p:txBody>
      </p:sp>
      <p:sp>
        <p:nvSpPr>
          <p:cNvPr id="22" name="Text 20"/>
          <p:cNvSpPr txBox="1"/>
          <p:nvPr/>
        </p:nvSpPr>
        <p:spPr>
          <a:xfrm>
            <a:off x="822960" y="5303520"/>
            <a:ext cx="3063240" cy="68580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What each party learns, and what is proven</a:t>
            </a:r>
            <a:endParaRPr lang="en-US" sz="1400" dirty="0"/>
          </a:p>
        </p:txBody>
      </p:sp>
      <p:sp>
        <p:nvSpPr>
          <p:cNvPr id="23" name="Shape 21"/>
          <p:cNvSpPr/>
          <p:nvPr/>
        </p:nvSpPr>
        <p:spPr>
          <a:xfrm>
            <a:off x="4297680" y="3840480"/>
            <a:ext cx="3566160" cy="2194560"/>
          </a:xfrm>
          <a:prstGeom prst="roundRect">
            <a:avLst>
              <a:gd name="adj" fmla="val 3333"/>
            </a:avLst>
          </a:prstGeom>
          <a:solidFill>
            <a:srgbClr val="EEF2F7"/>
          </a:solidFill>
          <a:ln w="12700">
            <a:solidFill>
              <a:srgbClr val="EEF2F7"/>
            </a:solidFill>
            <a:prstDash val="solid"/>
          </a:ln>
        </p:spPr>
      </p:sp>
      <p:sp>
        <p:nvSpPr>
          <p:cNvPr id="24" name="Shape 22"/>
          <p:cNvSpPr/>
          <p:nvPr/>
        </p:nvSpPr>
        <p:spPr>
          <a:xfrm>
            <a:off x="4572000" y="4114800"/>
            <a:ext cx="640080" cy="640080"/>
          </a:xfrm>
          <a:prstGeom prst="ellipse">
            <a:avLst/>
          </a:prstGeom>
          <a:solidFill>
            <a:srgbClr val="14213D"/>
          </a:solidFill>
          <a:ln w="12700">
            <a:solidFill>
              <a:srgbClr val="14213D"/>
            </a:solidFill>
            <a:prstDash val="solid"/>
          </a:ln>
        </p:spPr>
      </p:sp>
      <p:sp>
        <p:nvSpPr>
          <p:cNvPr id="25" name="Text 23"/>
          <p:cNvSpPr txBox="1"/>
          <p:nvPr/>
        </p:nvSpPr>
        <p:spPr>
          <a:xfrm>
            <a:off x="4572000" y="4114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6" name="Text 24"/>
          <p:cNvSpPr txBox="1"/>
          <p:nvPr/>
        </p:nvSpPr>
        <p:spPr>
          <a:xfrm>
            <a:off x="4572000" y="4864608"/>
            <a:ext cx="306324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Choosing parameters</a:t>
            </a:r>
            <a:endParaRPr lang="en-US" sz="2000" dirty="0"/>
          </a:p>
        </p:txBody>
      </p:sp>
      <p:sp>
        <p:nvSpPr>
          <p:cNvPr id="27" name="Text 25"/>
          <p:cNvSpPr txBox="1"/>
          <p:nvPr/>
        </p:nvSpPr>
        <p:spPr>
          <a:xfrm>
            <a:off x="4572000" y="5303520"/>
            <a:ext cx="3063240" cy="68580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From a privacy budget to noise, ridge and the sample size needed</a:t>
            </a:r>
            <a:endParaRPr lang="en-US" sz="1400" dirty="0"/>
          </a:p>
        </p:txBody>
      </p:sp>
      <p:sp>
        <p:nvSpPr>
          <p:cNvPr id="28" name="Shape 26"/>
          <p:cNvSpPr/>
          <p:nvPr/>
        </p:nvSpPr>
        <p:spPr>
          <a:xfrm>
            <a:off x="8046720" y="3840480"/>
            <a:ext cx="3566160" cy="2194560"/>
          </a:xfrm>
          <a:prstGeom prst="roundRect">
            <a:avLst>
              <a:gd name="adj" fmla="val 3333"/>
            </a:avLst>
          </a:prstGeom>
          <a:solidFill>
            <a:srgbClr val="EEF2F7"/>
          </a:solidFill>
          <a:ln w="12700">
            <a:solidFill>
              <a:srgbClr val="EEF2F7"/>
            </a:solidFill>
            <a:prstDash val="solid"/>
          </a:ln>
        </p:spPr>
      </p:sp>
      <p:sp>
        <p:nvSpPr>
          <p:cNvPr id="29" name="Shape 27"/>
          <p:cNvSpPr/>
          <p:nvPr/>
        </p:nvSpPr>
        <p:spPr>
          <a:xfrm>
            <a:off x="8321040" y="4114800"/>
            <a:ext cx="640080" cy="640080"/>
          </a:xfrm>
          <a:prstGeom prst="ellipse">
            <a:avLst/>
          </a:prstGeom>
          <a:solidFill>
            <a:srgbClr val="14213D"/>
          </a:solidFill>
          <a:ln w="12700">
            <a:solidFill>
              <a:srgbClr val="14213D"/>
            </a:solidFill>
            <a:prstDash val="solid"/>
          </a:ln>
        </p:spPr>
      </p:sp>
      <p:sp>
        <p:nvSpPr>
          <p:cNvPr id="30" name="Text 28"/>
          <p:cNvSpPr txBox="1"/>
          <p:nvPr/>
        </p:nvSpPr>
        <p:spPr>
          <a:xfrm>
            <a:off x="8321040" y="4114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31" name="Text 29"/>
          <p:cNvSpPr txBox="1"/>
          <p:nvPr/>
        </p:nvSpPr>
        <p:spPr>
          <a:xfrm>
            <a:off x="8321040" y="4864608"/>
            <a:ext cx="306324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Results</a:t>
            </a:r>
            <a:endParaRPr lang="en-US" sz="2000" dirty="0"/>
          </a:p>
        </p:txBody>
      </p:sp>
      <p:sp>
        <p:nvSpPr>
          <p:cNvPr id="32" name="Text 30"/>
          <p:cNvSpPr txBox="1"/>
          <p:nvPr/>
        </p:nvSpPr>
        <p:spPr>
          <a:xfrm>
            <a:off x="8321040" y="5303520"/>
            <a:ext cx="3063240" cy="68580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Accuracy in simulation and on real data, and what is still to run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1</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problem</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Joint regression across data that cannot be pooled</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Two datasets, one question, no pooling</a:t>
            </a:r>
            <a:endParaRPr lang="en-US" sz="3200" dirty="0"/>
          </a:p>
        </p:txBody>
      </p:sp>
      <p:sp>
        <p:nvSpPr>
          <p:cNvPr id="3" name="Shape 1"/>
          <p:cNvSpPr/>
          <p:nvPr/>
        </p:nvSpPr>
        <p:spPr>
          <a:xfrm>
            <a:off x="548640" y="1417320"/>
            <a:ext cx="5120640" cy="3246120"/>
          </a:xfrm>
          <a:prstGeom prst="roundRect">
            <a:avLst>
              <a:gd name="adj" fmla="val 2254"/>
            </a:avLst>
          </a:prstGeom>
          <a:solidFill>
            <a:srgbClr val="EEF2F7"/>
          </a:solidFill>
          <a:ln w="12700">
            <a:solidFill>
              <a:srgbClr val="EEF2F7"/>
            </a:solidFill>
            <a:prstDash val="solid"/>
          </a:ln>
        </p:spPr>
      </p:sp>
      <p:sp>
        <p:nvSpPr>
          <p:cNvPr id="4" name="Shape 2"/>
          <p:cNvSpPr/>
          <p:nvPr/>
        </p:nvSpPr>
        <p:spPr>
          <a:xfrm>
            <a:off x="822960" y="1691640"/>
            <a:ext cx="731520" cy="73152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998525" y="1867205"/>
            <a:ext cx="380390" cy="380390"/>
          </a:xfrm>
          <a:prstGeom prst="rect">
            <a:avLst/>
          </a:prstGeom>
        </p:spPr>
      </p:pic>
      <p:sp>
        <p:nvSpPr>
          <p:cNvPr id="6" name="Text 3"/>
          <p:cNvSpPr txBox="1"/>
          <p:nvPr/>
        </p:nvSpPr>
        <p:spPr>
          <a:xfrm>
            <a:off x="1737360" y="1783080"/>
            <a:ext cx="3657600" cy="457200"/>
          </a:xfrm>
          <a:prstGeom prst="rect">
            <a:avLst/>
          </a:prstGeom>
          <a:noFill/>
          <a:ln/>
        </p:spPr>
        <p:txBody>
          <a:bodyPr wrap="square" lIns="0" tIns="0" rIns="0" bIns="0" rtlCol="0" anchor="t"/>
          <a:lstStyle/>
          <a:p>
            <a:pPr indent="0" marL="0">
              <a:buNone/>
            </a:pPr>
            <a:r>
              <a:rPr lang="en-US" sz="2200" b="1" dirty="0">
                <a:solidFill>
                  <a:srgbClr val="14213D"/>
                </a:solidFill>
                <a:latin typeface="Cambria" pitchFamily="34" charset="0"/>
                <a:ea typeface="Cambria" pitchFamily="34" charset="-122"/>
                <a:cs typeface="Cambria" pitchFamily="34" charset="-120"/>
              </a:rPr>
              <a:t>Researcher  R</a:t>
            </a:r>
            <a:endParaRPr lang="en-US" sz="2200" dirty="0"/>
          </a:p>
        </p:txBody>
      </p:sp>
      <p:sp>
        <p:nvSpPr>
          <p:cNvPr id="7" name="Text 4"/>
          <p:cNvSpPr txBox="1"/>
          <p:nvPr/>
        </p:nvSpPr>
        <p:spPr>
          <a:xfrm>
            <a:off x="868680" y="2606040"/>
            <a:ext cx="457200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Smaller cohort with rich domain variables: health, education, surveys</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Wants to know whether these predict an administrative outcome</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Holds features X</a:t>
            </a:r>
            <a:r>
              <a:rPr lang="en-US" sz="1500" baseline="-25000" dirty="0">
                <a:solidFill>
                  <a:srgbClr val="1F2937"/>
                </a:solidFill>
                <a:latin typeface="Calibri" pitchFamily="34" charset="0"/>
                <a:ea typeface="Calibri" pitchFamily="34" charset="-122"/>
                <a:cs typeface="Calibri" pitchFamily="34" charset="-120"/>
              </a:rPr>
              <a:t>R</a:t>
            </a:r>
            <a:r>
              <a:rPr lang="en-US" sz="1500" dirty="0">
                <a:solidFill>
                  <a:srgbClr val="1F2937"/>
                </a:solidFill>
                <a:latin typeface="Calibri" pitchFamily="34" charset="0"/>
                <a:ea typeface="Calibri" pitchFamily="34" charset="-122"/>
                <a:cs typeface="Calibri" pitchFamily="34" charset="-120"/>
              </a:rPr>
              <a:t> and identifiers</a:t>
            </a:r>
            <a:endParaRPr lang="en-US" sz="1500" dirty="0"/>
          </a:p>
        </p:txBody>
      </p:sp>
      <p:sp>
        <p:nvSpPr>
          <p:cNvPr id="8" name="Shape 5"/>
          <p:cNvSpPr/>
          <p:nvPr/>
        </p:nvSpPr>
        <p:spPr>
          <a:xfrm>
            <a:off x="6035040" y="1417320"/>
            <a:ext cx="5577840" cy="3246120"/>
          </a:xfrm>
          <a:prstGeom prst="roundRect">
            <a:avLst>
              <a:gd name="adj" fmla="val 2254"/>
            </a:avLst>
          </a:prstGeom>
          <a:solidFill>
            <a:srgbClr val="EEF2F7"/>
          </a:solidFill>
          <a:ln w="12700">
            <a:solidFill>
              <a:srgbClr val="EEF2F7"/>
            </a:solidFill>
            <a:prstDash val="solid"/>
          </a:ln>
        </p:spPr>
      </p:sp>
      <p:sp>
        <p:nvSpPr>
          <p:cNvPr id="9" name="Shape 6"/>
          <p:cNvSpPr/>
          <p:nvPr/>
        </p:nvSpPr>
        <p:spPr>
          <a:xfrm>
            <a:off x="6309360" y="1691640"/>
            <a:ext cx="731520" cy="731520"/>
          </a:xfrm>
          <a:prstGeom prst="ellipse">
            <a:avLst/>
          </a:prstGeom>
          <a:solidFill>
            <a:srgbClr val="C45A0C"/>
          </a:solidFill>
          <a:ln w="12700">
            <a:solidFill>
              <a:srgbClr val="C45A0C"/>
            </a:solidFill>
            <a:prstDash val="solid"/>
          </a:ln>
        </p:spPr>
      </p:sp>
      <p:pic>
        <p:nvPicPr>
          <p:cNvPr id="10" name="Image 1" descr="preencoded.png">    </p:cNvPr>
          <p:cNvPicPr>
            <a:picLocks noChangeAspect="1"/>
          </p:cNvPicPr>
          <p:nvPr/>
        </p:nvPicPr>
        <p:blipFill>
          <a:blip r:embed="rId2"/>
          <a:stretch>
            <a:fillRect/>
          </a:stretch>
        </p:blipFill>
        <p:spPr>
          <a:xfrm>
            <a:off x="6484925" y="1867205"/>
            <a:ext cx="380390" cy="380390"/>
          </a:xfrm>
          <a:prstGeom prst="rect">
            <a:avLst/>
          </a:prstGeom>
        </p:spPr>
      </p:pic>
      <p:sp>
        <p:nvSpPr>
          <p:cNvPr id="11" name="Text 7"/>
          <p:cNvSpPr txBox="1"/>
          <p:nvPr/>
        </p:nvSpPr>
        <p:spPr>
          <a:xfrm>
            <a:off x="7223760" y="1801368"/>
            <a:ext cx="4297680" cy="45720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Organization  O  (e.g. StatCan)</a:t>
            </a:r>
            <a:endParaRPr lang="en-US" sz="2000" dirty="0"/>
          </a:p>
        </p:txBody>
      </p:sp>
      <p:sp>
        <p:nvSpPr>
          <p:cNvPr id="12" name="Text 8"/>
          <p:cNvSpPr txBox="1"/>
          <p:nvPr/>
        </p:nvSpPr>
        <p:spPr>
          <a:xfrm>
            <a:off x="6355080" y="2606040"/>
            <a:ext cx="502920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Population register: tax filings, income, benefits</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Holds the outcome y and features X</a:t>
            </a:r>
            <a:r>
              <a:rPr lang="en-US" sz="1500" baseline="-25000" dirty="0">
                <a:solidFill>
                  <a:srgbClr val="1F2937"/>
                </a:solidFill>
                <a:latin typeface="Calibri" pitchFamily="34" charset="0"/>
                <a:ea typeface="Calibri" pitchFamily="34" charset="-122"/>
                <a:cs typeface="Calibri" pitchFamily="34" charset="-120"/>
              </a:rPr>
              <a:t>O</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Cannot release records; law and governance bar direct sharing</a:t>
            </a:r>
            <a:endParaRPr lang="en-US" sz="1500" dirty="0"/>
          </a:p>
        </p:txBody>
      </p:sp>
      <p:sp>
        <p:nvSpPr>
          <p:cNvPr id="13" name="Text 9"/>
          <p:cNvSpPr txBox="1"/>
          <p:nvPr/>
        </p:nvSpPr>
        <p:spPr>
          <a:xfrm>
            <a:off x="548640" y="4983480"/>
            <a:ext cx="3291840" cy="822960"/>
          </a:xfrm>
          <a:prstGeom prst="rect">
            <a:avLst/>
          </a:prstGeom>
          <a:noFill/>
          <a:ln/>
        </p:spPr>
        <p:txBody>
          <a:bodyPr wrap="square" lIns="0" tIns="0" rIns="0" bIns="0" rtlCol="0" anchor="t"/>
          <a:lstStyle/>
          <a:p>
            <a:pPr indent="0" marL="0">
              <a:buNone/>
            </a:pPr>
            <a:r>
              <a:rPr lang="en-US" sz="4000" b="1" dirty="0">
                <a:solidFill>
                  <a:srgbClr val="C45A0C"/>
                </a:solidFill>
                <a:latin typeface="Cambria" pitchFamily="34" charset="0"/>
                <a:ea typeface="Cambria" pitchFamily="34" charset="-122"/>
                <a:cs typeface="Cambria" pitchFamily="34" charset="-120"/>
              </a:rPr>
              <a:t>6–8 weeks</a:t>
            </a:r>
            <a:endParaRPr lang="en-US" sz="4000" dirty="0"/>
          </a:p>
        </p:txBody>
      </p:sp>
      <p:sp>
        <p:nvSpPr>
          <p:cNvPr id="14" name="Text 10"/>
          <p:cNvSpPr txBox="1"/>
          <p:nvPr/>
        </p:nvSpPr>
        <p:spPr>
          <a:xfrm>
            <a:off x="3931920" y="5074920"/>
            <a:ext cx="7680960" cy="822960"/>
          </a:xfrm>
          <a:prstGeom prst="rect">
            <a:avLst/>
          </a:prstGeom>
          <a:noFill/>
          <a:ln/>
        </p:spPr>
        <p:txBody>
          <a:bodyPr wrap="square" lIns="0" tIns="0" rIns="0" bIns="0" rtlCol="0" anchor="t"/>
          <a:lstStyle/>
          <a:p>
            <a:pPr indent="0" marL="0">
              <a:buNone/>
            </a:pPr>
            <a:r>
              <a:rPr lang="en-US" sz="1600" dirty="0">
                <a:solidFill>
                  <a:srgbClr val="5B6576"/>
                </a:solidFill>
                <a:latin typeface="Calibri" pitchFamily="34" charset="0"/>
                <a:ea typeface="Calibri" pitchFamily="34" charset="-122"/>
                <a:cs typeface="Calibri" pitchFamily="34" charset="-120"/>
              </a:rPr>
              <a:t>of vetting and approvals today before a researcher can link a cohort to agency records in a Research Data Centre. Neither dataset alone answers the question.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Same people, different variables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Vertically partitioned data: overlapping rows, disjoint columns</a:t>
            </a:r>
            <a:endParaRPr lang="en-US" sz="1600" dirty="0"/>
          </a:p>
        </p:txBody>
      </p:sp>
      <p:sp>
        <p:nvSpPr>
          <p:cNvPr id="4" name="Text 2"/>
          <p:cNvSpPr txBox="1"/>
          <p:nvPr/>
        </p:nvSpPr>
        <p:spPr>
          <a:xfrm>
            <a:off x="731520" y="2240280"/>
            <a:ext cx="2926080" cy="320040"/>
          </a:xfrm>
          <a:prstGeom prst="rect">
            <a:avLst/>
          </a:prstGeom>
          <a:noFill/>
          <a:ln/>
        </p:spPr>
        <p:txBody>
          <a:bodyPr wrap="square" lIns="0" tIns="0" rIns="0" bIns="0" rtlCol="0" anchor="t"/>
          <a:lstStyle/>
          <a:p>
            <a:pPr indent="0" marL="0">
              <a:buNone/>
            </a:pPr>
            <a:r>
              <a:rPr lang="en-US" sz="1400" b="1" dirty="0">
                <a:solidFill>
                  <a:srgbClr val="2A78D6"/>
                </a:solidFill>
                <a:latin typeface="Calibri" pitchFamily="34" charset="0"/>
                <a:ea typeface="Calibri" pitchFamily="34" charset="-122"/>
                <a:cs typeface="Calibri" pitchFamily="34" charset="-120"/>
              </a:rPr>
              <a:t>R: cohort (n</a:t>
            </a:r>
            <a:r>
              <a:rPr lang="en-US" sz="1400" b="1" baseline="-25000" dirty="0">
                <a:solidFill>
                  <a:srgbClr val="2A78D6"/>
                </a:solidFill>
                <a:latin typeface="Calibri" pitchFamily="34" charset="0"/>
                <a:ea typeface="Calibri" pitchFamily="34" charset="-122"/>
                <a:cs typeface="Calibri" pitchFamily="34" charset="-120"/>
              </a:rPr>
              <a:t>R</a:t>
            </a:r>
            <a:r>
              <a:rPr lang="en-US" sz="1400" b="1" dirty="0">
                <a:solidFill>
                  <a:srgbClr val="2A78D6"/>
                </a:solidFill>
                <a:latin typeface="Calibri" pitchFamily="34" charset="0"/>
                <a:ea typeface="Calibri" pitchFamily="34" charset="-122"/>
                <a:cs typeface="Calibri" pitchFamily="34" charset="-120"/>
              </a:rPr>
              <a:t> rows)</a:t>
            </a:r>
            <a:endParaRPr lang="en-US" sz="1400" dirty="0"/>
          </a:p>
        </p:txBody>
      </p:sp>
      <p:sp>
        <p:nvSpPr>
          <p:cNvPr id="5" name="Shape 3"/>
          <p:cNvSpPr/>
          <p:nvPr/>
        </p:nvSpPr>
        <p:spPr>
          <a:xfrm>
            <a:off x="731520" y="2606040"/>
            <a:ext cx="2377440" cy="192024"/>
          </a:xfrm>
          <a:prstGeom prst="rect">
            <a:avLst/>
          </a:prstGeom>
          <a:solidFill>
            <a:srgbClr val="E3EEFB"/>
          </a:solidFill>
          <a:ln w="12700">
            <a:solidFill>
              <a:srgbClr val="FFFFFF"/>
            </a:solidFill>
            <a:prstDash val="solid"/>
          </a:ln>
        </p:spPr>
      </p:sp>
      <p:sp>
        <p:nvSpPr>
          <p:cNvPr id="6" name="Shape 4"/>
          <p:cNvSpPr/>
          <p:nvPr/>
        </p:nvSpPr>
        <p:spPr>
          <a:xfrm>
            <a:off x="731520" y="2834640"/>
            <a:ext cx="2377440" cy="192024"/>
          </a:xfrm>
          <a:prstGeom prst="rect">
            <a:avLst/>
          </a:prstGeom>
          <a:solidFill>
            <a:srgbClr val="E3EEFB"/>
          </a:solidFill>
          <a:ln w="12700">
            <a:solidFill>
              <a:srgbClr val="FFFFFF"/>
            </a:solidFill>
            <a:prstDash val="solid"/>
          </a:ln>
        </p:spPr>
      </p:sp>
      <p:sp>
        <p:nvSpPr>
          <p:cNvPr id="7" name="Shape 5"/>
          <p:cNvSpPr/>
          <p:nvPr/>
        </p:nvSpPr>
        <p:spPr>
          <a:xfrm>
            <a:off x="731520" y="3063240"/>
            <a:ext cx="2377440" cy="192024"/>
          </a:xfrm>
          <a:prstGeom prst="rect">
            <a:avLst/>
          </a:prstGeom>
          <a:solidFill>
            <a:srgbClr val="E3EEFB"/>
          </a:solidFill>
          <a:ln w="12700">
            <a:solidFill>
              <a:srgbClr val="FFFFFF"/>
            </a:solidFill>
            <a:prstDash val="solid"/>
          </a:ln>
        </p:spPr>
      </p:sp>
      <p:sp>
        <p:nvSpPr>
          <p:cNvPr id="8" name="Shape 6"/>
          <p:cNvSpPr/>
          <p:nvPr/>
        </p:nvSpPr>
        <p:spPr>
          <a:xfrm>
            <a:off x="731520" y="3291840"/>
            <a:ext cx="2377440" cy="192024"/>
          </a:xfrm>
          <a:prstGeom prst="rect">
            <a:avLst/>
          </a:prstGeom>
          <a:solidFill>
            <a:srgbClr val="C9DCF5"/>
          </a:solidFill>
          <a:ln w="12700">
            <a:solidFill>
              <a:srgbClr val="FFFFFF"/>
            </a:solidFill>
            <a:prstDash val="solid"/>
          </a:ln>
        </p:spPr>
      </p:sp>
      <p:sp>
        <p:nvSpPr>
          <p:cNvPr id="9" name="Shape 7"/>
          <p:cNvSpPr/>
          <p:nvPr/>
        </p:nvSpPr>
        <p:spPr>
          <a:xfrm>
            <a:off x="731520" y="3520440"/>
            <a:ext cx="2377440" cy="192024"/>
          </a:xfrm>
          <a:prstGeom prst="rect">
            <a:avLst/>
          </a:prstGeom>
          <a:solidFill>
            <a:srgbClr val="C9DCF5"/>
          </a:solidFill>
          <a:ln w="12700">
            <a:solidFill>
              <a:srgbClr val="FFFFFF"/>
            </a:solidFill>
            <a:prstDash val="solid"/>
          </a:ln>
        </p:spPr>
      </p:sp>
      <p:sp>
        <p:nvSpPr>
          <p:cNvPr id="10" name="Shape 8"/>
          <p:cNvSpPr/>
          <p:nvPr/>
        </p:nvSpPr>
        <p:spPr>
          <a:xfrm>
            <a:off x="731520" y="3749040"/>
            <a:ext cx="2377440" cy="192024"/>
          </a:xfrm>
          <a:prstGeom prst="rect">
            <a:avLst/>
          </a:prstGeom>
          <a:solidFill>
            <a:srgbClr val="C9DCF5"/>
          </a:solidFill>
          <a:ln w="12700">
            <a:solidFill>
              <a:srgbClr val="FFFFFF"/>
            </a:solidFill>
            <a:prstDash val="solid"/>
          </a:ln>
        </p:spPr>
      </p:sp>
      <p:sp>
        <p:nvSpPr>
          <p:cNvPr id="11" name="Shape 9"/>
          <p:cNvSpPr/>
          <p:nvPr/>
        </p:nvSpPr>
        <p:spPr>
          <a:xfrm>
            <a:off x="731520" y="3977640"/>
            <a:ext cx="2377440" cy="192024"/>
          </a:xfrm>
          <a:prstGeom prst="rect">
            <a:avLst/>
          </a:prstGeom>
          <a:solidFill>
            <a:srgbClr val="C9DCF5"/>
          </a:solidFill>
          <a:ln w="12700">
            <a:solidFill>
              <a:srgbClr val="FFFFFF"/>
            </a:solidFill>
            <a:prstDash val="solid"/>
          </a:ln>
        </p:spPr>
      </p:sp>
      <p:sp>
        <p:nvSpPr>
          <p:cNvPr id="12" name="Shape 10"/>
          <p:cNvSpPr/>
          <p:nvPr/>
        </p:nvSpPr>
        <p:spPr>
          <a:xfrm>
            <a:off x="731520" y="4206240"/>
            <a:ext cx="2377440" cy="192024"/>
          </a:xfrm>
          <a:prstGeom prst="rect">
            <a:avLst/>
          </a:prstGeom>
          <a:solidFill>
            <a:srgbClr val="C9DCF5"/>
          </a:solidFill>
          <a:ln w="12700">
            <a:solidFill>
              <a:srgbClr val="FFFFFF"/>
            </a:solidFill>
            <a:prstDash val="solid"/>
          </a:ln>
        </p:spPr>
      </p:sp>
      <p:sp>
        <p:nvSpPr>
          <p:cNvPr id="13" name="Shape 11"/>
          <p:cNvSpPr/>
          <p:nvPr/>
        </p:nvSpPr>
        <p:spPr>
          <a:xfrm>
            <a:off x="731520" y="4434840"/>
            <a:ext cx="2377440" cy="192024"/>
          </a:xfrm>
          <a:prstGeom prst="rect">
            <a:avLst/>
          </a:prstGeom>
          <a:solidFill>
            <a:srgbClr val="C9DCF5"/>
          </a:solidFill>
          <a:ln w="12700">
            <a:solidFill>
              <a:srgbClr val="FFFFFF"/>
            </a:solidFill>
            <a:prstDash val="solid"/>
          </a:ln>
        </p:spPr>
      </p:sp>
      <p:sp>
        <p:nvSpPr>
          <p:cNvPr id="14" name="Shape 12"/>
          <p:cNvSpPr/>
          <p:nvPr/>
        </p:nvSpPr>
        <p:spPr>
          <a:xfrm>
            <a:off x="731520" y="4663440"/>
            <a:ext cx="2377440" cy="192024"/>
          </a:xfrm>
          <a:prstGeom prst="rect">
            <a:avLst/>
          </a:prstGeom>
          <a:solidFill>
            <a:srgbClr val="C9DCF5"/>
          </a:solidFill>
          <a:ln w="12700">
            <a:solidFill>
              <a:srgbClr val="FFFFFF"/>
            </a:solidFill>
            <a:prstDash val="solid"/>
          </a:ln>
        </p:spPr>
      </p:sp>
      <p:sp>
        <p:nvSpPr>
          <p:cNvPr id="15" name="Shape 13"/>
          <p:cNvSpPr/>
          <p:nvPr/>
        </p:nvSpPr>
        <p:spPr>
          <a:xfrm>
            <a:off x="731520" y="4892040"/>
            <a:ext cx="2377440" cy="192024"/>
          </a:xfrm>
          <a:prstGeom prst="rect">
            <a:avLst/>
          </a:prstGeom>
          <a:solidFill>
            <a:srgbClr val="C9DCF5"/>
          </a:solidFill>
          <a:ln w="12700">
            <a:solidFill>
              <a:srgbClr val="FFFFFF"/>
            </a:solidFill>
            <a:prstDash val="solid"/>
          </a:ln>
        </p:spPr>
      </p:sp>
      <p:sp>
        <p:nvSpPr>
          <p:cNvPr id="16" name="Shape 14"/>
          <p:cNvSpPr/>
          <p:nvPr/>
        </p:nvSpPr>
        <p:spPr>
          <a:xfrm>
            <a:off x="731520" y="5120640"/>
            <a:ext cx="2377440" cy="192024"/>
          </a:xfrm>
          <a:prstGeom prst="rect">
            <a:avLst/>
          </a:prstGeom>
          <a:solidFill>
            <a:srgbClr val="E3EEFB"/>
          </a:solidFill>
          <a:ln w="12700">
            <a:solidFill>
              <a:srgbClr val="FFFFFF"/>
            </a:solidFill>
            <a:prstDash val="solid"/>
          </a:ln>
        </p:spPr>
      </p:sp>
      <p:sp>
        <p:nvSpPr>
          <p:cNvPr id="17" name="Text 15"/>
          <p:cNvSpPr txBox="1"/>
          <p:nvPr/>
        </p:nvSpPr>
        <p:spPr>
          <a:xfrm>
            <a:off x="731520" y="5394960"/>
            <a:ext cx="2377440" cy="320040"/>
          </a:xfrm>
          <a:prstGeom prst="rect">
            <a:avLst/>
          </a:prstGeom>
          <a:noFill/>
          <a:ln/>
        </p:spPr>
        <p:txBody>
          <a:bodyPr wrap="square" lIns="0" tIns="0" rIns="0" bIns="0" rtlCol="0" anchor="t"/>
          <a:lstStyle/>
          <a:p>
            <a:pPr algn="ctr" indent="0" marL="0">
              <a:buNone/>
            </a:pPr>
            <a:r>
              <a:rPr lang="en-US" sz="1500" b="1" dirty="0">
                <a:solidFill>
                  <a:srgbClr val="2A78D6"/>
                </a:solidFill>
                <a:latin typeface="Calibri" pitchFamily="34" charset="0"/>
                <a:ea typeface="Calibri" pitchFamily="34" charset="-122"/>
                <a:cs typeface="Calibri" pitchFamily="34" charset="-120"/>
              </a:rPr>
              <a:t>X</a:t>
            </a:r>
            <a:r>
              <a:rPr lang="en-US" sz="1500" b="1" baseline="-25000" dirty="0">
                <a:solidFill>
                  <a:srgbClr val="2A78D6"/>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3931920" y="1554480"/>
            <a:ext cx="3840480" cy="320040"/>
          </a:xfrm>
          <a:prstGeom prst="rect">
            <a:avLst/>
          </a:prstGeom>
          <a:noFill/>
          <a:ln/>
        </p:spPr>
        <p:txBody>
          <a:bodyPr wrap="square" lIns="0" tIns="0" rIns="0" bIns="0" rtlCol="0" anchor="t"/>
          <a:lstStyle/>
          <a:p>
            <a:pPr indent="0" marL="0">
              <a:buNone/>
            </a:pPr>
            <a:r>
              <a:rPr lang="en-US" sz="1400" b="1" dirty="0">
                <a:solidFill>
                  <a:srgbClr val="C45A0C"/>
                </a:solidFill>
                <a:latin typeface="Calibri" pitchFamily="34" charset="0"/>
                <a:ea typeface="Calibri" pitchFamily="34" charset="-122"/>
                <a:cs typeface="Calibri" pitchFamily="34" charset="-120"/>
              </a:rPr>
              <a:t>O: register (n</a:t>
            </a:r>
            <a:r>
              <a:rPr lang="en-US" sz="1400" b="1" baseline="-25000" dirty="0">
                <a:solidFill>
                  <a:srgbClr val="C45A0C"/>
                </a:solidFill>
                <a:latin typeface="Calibri" pitchFamily="34" charset="0"/>
                <a:ea typeface="Calibri" pitchFamily="34" charset="-122"/>
                <a:cs typeface="Calibri" pitchFamily="34" charset="-120"/>
              </a:rPr>
              <a:t>O</a:t>
            </a:r>
            <a:r>
              <a:rPr lang="en-US" sz="1400" b="1" dirty="0">
                <a:solidFill>
                  <a:srgbClr val="C45A0C"/>
                </a:solidFill>
                <a:latin typeface="Calibri" pitchFamily="34" charset="0"/>
                <a:ea typeface="Calibri" pitchFamily="34" charset="-122"/>
                <a:cs typeface="Calibri" pitchFamily="34" charset="-120"/>
              </a:rPr>
              <a:t> rows, n</a:t>
            </a:r>
            <a:r>
              <a:rPr lang="en-US" sz="1400" b="1" baseline="-25000" dirty="0">
                <a:solidFill>
                  <a:srgbClr val="C45A0C"/>
                </a:solidFill>
                <a:latin typeface="Calibri" pitchFamily="34" charset="0"/>
                <a:ea typeface="Calibri" pitchFamily="34" charset="-122"/>
                <a:cs typeface="Calibri" pitchFamily="34" charset="-120"/>
              </a:rPr>
              <a:t>O</a:t>
            </a:r>
            <a:r>
              <a:rPr lang="en-US" sz="1400" b="1" dirty="0">
                <a:solidFill>
                  <a:srgbClr val="C45A0C"/>
                </a:solidFill>
                <a:latin typeface="Calibri" pitchFamily="34" charset="0"/>
                <a:ea typeface="Calibri" pitchFamily="34" charset="-122"/>
                <a:cs typeface="Calibri" pitchFamily="34" charset="-120"/>
              </a:rPr>
              <a:t> ≫ n</a:t>
            </a:r>
            <a:r>
              <a:rPr lang="en-US" sz="1400" b="1" baseline="-25000" dirty="0">
                <a:solidFill>
                  <a:srgbClr val="C45A0C"/>
                </a:solidFill>
                <a:latin typeface="Calibri" pitchFamily="34" charset="0"/>
                <a:ea typeface="Calibri" pitchFamily="34" charset="-122"/>
                <a:cs typeface="Calibri" pitchFamily="34" charset="-120"/>
              </a:rPr>
              <a:t>R</a:t>
            </a:r>
            <a:r>
              <a:rPr lang="en-US" sz="1400" b="1" dirty="0">
                <a:solidFill>
                  <a:srgbClr val="C45A0C"/>
                </a:solidFill>
                <a:latin typeface="Calibri" pitchFamily="34" charset="0"/>
                <a:ea typeface="Calibri" pitchFamily="34" charset="-122"/>
                <a:cs typeface="Calibri" pitchFamily="34" charset="-120"/>
              </a:rPr>
              <a:t>)</a:t>
            </a:r>
            <a:endParaRPr lang="en-US" sz="1400" dirty="0"/>
          </a:p>
        </p:txBody>
      </p:sp>
      <p:sp>
        <p:nvSpPr>
          <p:cNvPr id="19" name="Shape 17"/>
          <p:cNvSpPr/>
          <p:nvPr/>
        </p:nvSpPr>
        <p:spPr>
          <a:xfrm>
            <a:off x="3931920" y="1920240"/>
            <a:ext cx="2926080" cy="192024"/>
          </a:xfrm>
          <a:prstGeom prst="rect">
            <a:avLst/>
          </a:prstGeom>
          <a:solidFill>
            <a:srgbClr val="F8EDE5"/>
          </a:solidFill>
          <a:ln w="12700">
            <a:solidFill>
              <a:srgbClr val="FFFFFF"/>
            </a:solidFill>
            <a:prstDash val="solid"/>
          </a:ln>
        </p:spPr>
      </p:sp>
      <p:sp>
        <p:nvSpPr>
          <p:cNvPr id="20" name="Shape 18"/>
          <p:cNvSpPr/>
          <p:nvPr/>
        </p:nvSpPr>
        <p:spPr>
          <a:xfrm>
            <a:off x="6903720" y="1920240"/>
            <a:ext cx="457200" cy="192024"/>
          </a:xfrm>
          <a:prstGeom prst="rect">
            <a:avLst/>
          </a:prstGeom>
          <a:solidFill>
            <a:srgbClr val="F1D9C8"/>
          </a:solidFill>
          <a:ln w="12700">
            <a:solidFill>
              <a:srgbClr val="FFFFFF"/>
            </a:solidFill>
            <a:prstDash val="solid"/>
          </a:ln>
        </p:spPr>
      </p:sp>
      <p:sp>
        <p:nvSpPr>
          <p:cNvPr id="21" name="Shape 19"/>
          <p:cNvSpPr/>
          <p:nvPr/>
        </p:nvSpPr>
        <p:spPr>
          <a:xfrm>
            <a:off x="3931920" y="2148840"/>
            <a:ext cx="2926080" cy="192024"/>
          </a:xfrm>
          <a:prstGeom prst="rect">
            <a:avLst/>
          </a:prstGeom>
          <a:solidFill>
            <a:srgbClr val="F8EDE5"/>
          </a:solidFill>
          <a:ln w="12700">
            <a:solidFill>
              <a:srgbClr val="FFFFFF"/>
            </a:solidFill>
            <a:prstDash val="solid"/>
          </a:ln>
        </p:spPr>
      </p:sp>
      <p:sp>
        <p:nvSpPr>
          <p:cNvPr id="22" name="Shape 20"/>
          <p:cNvSpPr/>
          <p:nvPr/>
        </p:nvSpPr>
        <p:spPr>
          <a:xfrm>
            <a:off x="6903720" y="2148840"/>
            <a:ext cx="457200" cy="192024"/>
          </a:xfrm>
          <a:prstGeom prst="rect">
            <a:avLst/>
          </a:prstGeom>
          <a:solidFill>
            <a:srgbClr val="F1D9C8"/>
          </a:solidFill>
          <a:ln w="12700">
            <a:solidFill>
              <a:srgbClr val="FFFFFF"/>
            </a:solidFill>
            <a:prstDash val="solid"/>
          </a:ln>
        </p:spPr>
      </p:sp>
      <p:sp>
        <p:nvSpPr>
          <p:cNvPr id="23" name="Shape 21"/>
          <p:cNvSpPr/>
          <p:nvPr/>
        </p:nvSpPr>
        <p:spPr>
          <a:xfrm>
            <a:off x="3931920" y="2377440"/>
            <a:ext cx="2926080" cy="192024"/>
          </a:xfrm>
          <a:prstGeom prst="rect">
            <a:avLst/>
          </a:prstGeom>
          <a:solidFill>
            <a:srgbClr val="F8EDE5"/>
          </a:solidFill>
          <a:ln w="12700">
            <a:solidFill>
              <a:srgbClr val="FFFFFF"/>
            </a:solidFill>
            <a:prstDash val="solid"/>
          </a:ln>
        </p:spPr>
      </p:sp>
      <p:sp>
        <p:nvSpPr>
          <p:cNvPr id="24" name="Shape 22"/>
          <p:cNvSpPr/>
          <p:nvPr/>
        </p:nvSpPr>
        <p:spPr>
          <a:xfrm>
            <a:off x="6903720" y="2377440"/>
            <a:ext cx="457200" cy="192024"/>
          </a:xfrm>
          <a:prstGeom prst="rect">
            <a:avLst/>
          </a:prstGeom>
          <a:solidFill>
            <a:srgbClr val="F1D9C8"/>
          </a:solidFill>
          <a:ln w="12700">
            <a:solidFill>
              <a:srgbClr val="FFFFFF"/>
            </a:solidFill>
            <a:prstDash val="solid"/>
          </a:ln>
        </p:spPr>
      </p:sp>
      <p:sp>
        <p:nvSpPr>
          <p:cNvPr id="25" name="Shape 23"/>
          <p:cNvSpPr/>
          <p:nvPr/>
        </p:nvSpPr>
        <p:spPr>
          <a:xfrm>
            <a:off x="3931920" y="2606040"/>
            <a:ext cx="2926080" cy="192024"/>
          </a:xfrm>
          <a:prstGeom prst="rect">
            <a:avLst/>
          </a:prstGeom>
          <a:solidFill>
            <a:srgbClr val="F8EDE5"/>
          </a:solidFill>
          <a:ln w="12700">
            <a:solidFill>
              <a:srgbClr val="FFFFFF"/>
            </a:solidFill>
            <a:prstDash val="solid"/>
          </a:ln>
        </p:spPr>
      </p:sp>
      <p:sp>
        <p:nvSpPr>
          <p:cNvPr id="26" name="Shape 24"/>
          <p:cNvSpPr/>
          <p:nvPr/>
        </p:nvSpPr>
        <p:spPr>
          <a:xfrm>
            <a:off x="6903720" y="2606040"/>
            <a:ext cx="457200" cy="192024"/>
          </a:xfrm>
          <a:prstGeom prst="rect">
            <a:avLst/>
          </a:prstGeom>
          <a:solidFill>
            <a:srgbClr val="F1D9C8"/>
          </a:solidFill>
          <a:ln w="12700">
            <a:solidFill>
              <a:srgbClr val="FFFFFF"/>
            </a:solidFill>
            <a:prstDash val="solid"/>
          </a:ln>
        </p:spPr>
      </p:sp>
      <p:sp>
        <p:nvSpPr>
          <p:cNvPr id="27" name="Shape 25"/>
          <p:cNvSpPr/>
          <p:nvPr/>
        </p:nvSpPr>
        <p:spPr>
          <a:xfrm>
            <a:off x="3931920" y="2834640"/>
            <a:ext cx="2926080" cy="192024"/>
          </a:xfrm>
          <a:prstGeom prst="rect">
            <a:avLst/>
          </a:prstGeom>
          <a:solidFill>
            <a:srgbClr val="F8EDE5"/>
          </a:solidFill>
          <a:ln w="12700">
            <a:solidFill>
              <a:srgbClr val="FFFFFF"/>
            </a:solidFill>
            <a:prstDash val="solid"/>
          </a:ln>
        </p:spPr>
      </p:sp>
      <p:sp>
        <p:nvSpPr>
          <p:cNvPr id="28" name="Shape 26"/>
          <p:cNvSpPr/>
          <p:nvPr/>
        </p:nvSpPr>
        <p:spPr>
          <a:xfrm>
            <a:off x="6903720" y="2834640"/>
            <a:ext cx="457200" cy="192024"/>
          </a:xfrm>
          <a:prstGeom prst="rect">
            <a:avLst/>
          </a:prstGeom>
          <a:solidFill>
            <a:srgbClr val="F1D9C8"/>
          </a:solidFill>
          <a:ln w="12700">
            <a:solidFill>
              <a:srgbClr val="FFFFFF"/>
            </a:solidFill>
            <a:prstDash val="solid"/>
          </a:ln>
        </p:spPr>
      </p:sp>
      <p:sp>
        <p:nvSpPr>
          <p:cNvPr id="29" name="Shape 27"/>
          <p:cNvSpPr/>
          <p:nvPr/>
        </p:nvSpPr>
        <p:spPr>
          <a:xfrm>
            <a:off x="3931920" y="3063240"/>
            <a:ext cx="2926080" cy="192024"/>
          </a:xfrm>
          <a:prstGeom prst="rect">
            <a:avLst/>
          </a:prstGeom>
          <a:solidFill>
            <a:srgbClr val="F8EDE5"/>
          </a:solidFill>
          <a:ln w="12700">
            <a:solidFill>
              <a:srgbClr val="FFFFFF"/>
            </a:solidFill>
            <a:prstDash val="solid"/>
          </a:ln>
        </p:spPr>
      </p:sp>
      <p:sp>
        <p:nvSpPr>
          <p:cNvPr id="30" name="Shape 28"/>
          <p:cNvSpPr/>
          <p:nvPr/>
        </p:nvSpPr>
        <p:spPr>
          <a:xfrm>
            <a:off x="6903720" y="3063240"/>
            <a:ext cx="457200" cy="192024"/>
          </a:xfrm>
          <a:prstGeom prst="rect">
            <a:avLst/>
          </a:prstGeom>
          <a:solidFill>
            <a:srgbClr val="F1D9C8"/>
          </a:solidFill>
          <a:ln w="12700">
            <a:solidFill>
              <a:srgbClr val="FFFFFF"/>
            </a:solidFill>
            <a:prstDash val="solid"/>
          </a:ln>
        </p:spPr>
      </p:sp>
      <p:sp>
        <p:nvSpPr>
          <p:cNvPr id="31" name="Shape 29"/>
          <p:cNvSpPr/>
          <p:nvPr/>
        </p:nvSpPr>
        <p:spPr>
          <a:xfrm>
            <a:off x="3931920" y="3291840"/>
            <a:ext cx="2926080" cy="192024"/>
          </a:xfrm>
          <a:prstGeom prst="rect">
            <a:avLst/>
          </a:prstGeom>
          <a:solidFill>
            <a:srgbClr val="F3D2BC"/>
          </a:solidFill>
          <a:ln w="12700">
            <a:solidFill>
              <a:srgbClr val="FFFFFF"/>
            </a:solidFill>
            <a:prstDash val="solid"/>
          </a:ln>
        </p:spPr>
      </p:sp>
      <p:sp>
        <p:nvSpPr>
          <p:cNvPr id="32" name="Shape 30"/>
          <p:cNvSpPr/>
          <p:nvPr/>
        </p:nvSpPr>
        <p:spPr>
          <a:xfrm>
            <a:off x="6903720" y="3291840"/>
            <a:ext cx="457200" cy="192024"/>
          </a:xfrm>
          <a:prstGeom prst="rect">
            <a:avLst/>
          </a:prstGeom>
          <a:solidFill>
            <a:srgbClr val="E3A57B"/>
          </a:solidFill>
          <a:ln w="12700">
            <a:solidFill>
              <a:srgbClr val="FFFFFF"/>
            </a:solidFill>
            <a:prstDash val="solid"/>
          </a:ln>
        </p:spPr>
      </p:sp>
      <p:sp>
        <p:nvSpPr>
          <p:cNvPr id="33" name="Shape 31"/>
          <p:cNvSpPr/>
          <p:nvPr/>
        </p:nvSpPr>
        <p:spPr>
          <a:xfrm>
            <a:off x="3931920" y="3520440"/>
            <a:ext cx="2926080" cy="192024"/>
          </a:xfrm>
          <a:prstGeom prst="rect">
            <a:avLst/>
          </a:prstGeom>
          <a:solidFill>
            <a:srgbClr val="F3D2BC"/>
          </a:solidFill>
          <a:ln w="12700">
            <a:solidFill>
              <a:srgbClr val="FFFFFF"/>
            </a:solidFill>
            <a:prstDash val="solid"/>
          </a:ln>
        </p:spPr>
      </p:sp>
      <p:sp>
        <p:nvSpPr>
          <p:cNvPr id="34" name="Shape 32"/>
          <p:cNvSpPr/>
          <p:nvPr/>
        </p:nvSpPr>
        <p:spPr>
          <a:xfrm>
            <a:off x="6903720" y="3520440"/>
            <a:ext cx="457200" cy="192024"/>
          </a:xfrm>
          <a:prstGeom prst="rect">
            <a:avLst/>
          </a:prstGeom>
          <a:solidFill>
            <a:srgbClr val="E3A57B"/>
          </a:solidFill>
          <a:ln w="12700">
            <a:solidFill>
              <a:srgbClr val="FFFFFF"/>
            </a:solidFill>
            <a:prstDash val="solid"/>
          </a:ln>
        </p:spPr>
      </p:sp>
      <p:sp>
        <p:nvSpPr>
          <p:cNvPr id="35" name="Shape 33"/>
          <p:cNvSpPr/>
          <p:nvPr/>
        </p:nvSpPr>
        <p:spPr>
          <a:xfrm>
            <a:off x="3931920" y="3749040"/>
            <a:ext cx="2926080" cy="192024"/>
          </a:xfrm>
          <a:prstGeom prst="rect">
            <a:avLst/>
          </a:prstGeom>
          <a:solidFill>
            <a:srgbClr val="F3D2BC"/>
          </a:solidFill>
          <a:ln w="12700">
            <a:solidFill>
              <a:srgbClr val="FFFFFF"/>
            </a:solidFill>
            <a:prstDash val="solid"/>
          </a:ln>
        </p:spPr>
      </p:sp>
      <p:sp>
        <p:nvSpPr>
          <p:cNvPr id="36" name="Shape 34"/>
          <p:cNvSpPr/>
          <p:nvPr/>
        </p:nvSpPr>
        <p:spPr>
          <a:xfrm>
            <a:off x="6903720" y="3749040"/>
            <a:ext cx="457200" cy="192024"/>
          </a:xfrm>
          <a:prstGeom prst="rect">
            <a:avLst/>
          </a:prstGeom>
          <a:solidFill>
            <a:srgbClr val="E3A57B"/>
          </a:solidFill>
          <a:ln w="12700">
            <a:solidFill>
              <a:srgbClr val="FFFFFF"/>
            </a:solidFill>
            <a:prstDash val="solid"/>
          </a:ln>
        </p:spPr>
      </p:sp>
      <p:sp>
        <p:nvSpPr>
          <p:cNvPr id="37" name="Shape 35"/>
          <p:cNvSpPr/>
          <p:nvPr/>
        </p:nvSpPr>
        <p:spPr>
          <a:xfrm>
            <a:off x="3931920" y="3977640"/>
            <a:ext cx="2926080" cy="192024"/>
          </a:xfrm>
          <a:prstGeom prst="rect">
            <a:avLst/>
          </a:prstGeom>
          <a:solidFill>
            <a:srgbClr val="F3D2BC"/>
          </a:solidFill>
          <a:ln w="12700">
            <a:solidFill>
              <a:srgbClr val="FFFFFF"/>
            </a:solidFill>
            <a:prstDash val="solid"/>
          </a:ln>
        </p:spPr>
      </p:sp>
      <p:sp>
        <p:nvSpPr>
          <p:cNvPr id="38" name="Shape 36"/>
          <p:cNvSpPr/>
          <p:nvPr/>
        </p:nvSpPr>
        <p:spPr>
          <a:xfrm>
            <a:off x="6903720" y="3977640"/>
            <a:ext cx="457200" cy="192024"/>
          </a:xfrm>
          <a:prstGeom prst="rect">
            <a:avLst/>
          </a:prstGeom>
          <a:solidFill>
            <a:srgbClr val="E3A57B"/>
          </a:solidFill>
          <a:ln w="12700">
            <a:solidFill>
              <a:srgbClr val="FFFFFF"/>
            </a:solidFill>
            <a:prstDash val="solid"/>
          </a:ln>
        </p:spPr>
      </p:sp>
      <p:sp>
        <p:nvSpPr>
          <p:cNvPr id="39" name="Shape 37"/>
          <p:cNvSpPr/>
          <p:nvPr/>
        </p:nvSpPr>
        <p:spPr>
          <a:xfrm>
            <a:off x="3931920" y="4206240"/>
            <a:ext cx="2926080" cy="192024"/>
          </a:xfrm>
          <a:prstGeom prst="rect">
            <a:avLst/>
          </a:prstGeom>
          <a:solidFill>
            <a:srgbClr val="F3D2BC"/>
          </a:solidFill>
          <a:ln w="12700">
            <a:solidFill>
              <a:srgbClr val="FFFFFF"/>
            </a:solidFill>
            <a:prstDash val="solid"/>
          </a:ln>
        </p:spPr>
      </p:sp>
      <p:sp>
        <p:nvSpPr>
          <p:cNvPr id="40" name="Shape 38"/>
          <p:cNvSpPr/>
          <p:nvPr/>
        </p:nvSpPr>
        <p:spPr>
          <a:xfrm>
            <a:off x="6903720" y="4206240"/>
            <a:ext cx="457200" cy="192024"/>
          </a:xfrm>
          <a:prstGeom prst="rect">
            <a:avLst/>
          </a:prstGeom>
          <a:solidFill>
            <a:srgbClr val="E3A57B"/>
          </a:solidFill>
          <a:ln w="12700">
            <a:solidFill>
              <a:srgbClr val="FFFFFF"/>
            </a:solidFill>
            <a:prstDash val="solid"/>
          </a:ln>
        </p:spPr>
      </p:sp>
      <p:sp>
        <p:nvSpPr>
          <p:cNvPr id="41" name="Shape 39"/>
          <p:cNvSpPr/>
          <p:nvPr/>
        </p:nvSpPr>
        <p:spPr>
          <a:xfrm>
            <a:off x="3931920" y="4434840"/>
            <a:ext cx="2926080" cy="192024"/>
          </a:xfrm>
          <a:prstGeom prst="rect">
            <a:avLst/>
          </a:prstGeom>
          <a:solidFill>
            <a:srgbClr val="F3D2BC"/>
          </a:solidFill>
          <a:ln w="12700">
            <a:solidFill>
              <a:srgbClr val="FFFFFF"/>
            </a:solidFill>
            <a:prstDash val="solid"/>
          </a:ln>
        </p:spPr>
      </p:sp>
      <p:sp>
        <p:nvSpPr>
          <p:cNvPr id="42" name="Shape 40"/>
          <p:cNvSpPr/>
          <p:nvPr/>
        </p:nvSpPr>
        <p:spPr>
          <a:xfrm>
            <a:off x="6903720" y="4434840"/>
            <a:ext cx="457200" cy="192024"/>
          </a:xfrm>
          <a:prstGeom prst="rect">
            <a:avLst/>
          </a:prstGeom>
          <a:solidFill>
            <a:srgbClr val="E3A57B"/>
          </a:solidFill>
          <a:ln w="12700">
            <a:solidFill>
              <a:srgbClr val="FFFFFF"/>
            </a:solidFill>
            <a:prstDash val="solid"/>
          </a:ln>
        </p:spPr>
      </p:sp>
      <p:sp>
        <p:nvSpPr>
          <p:cNvPr id="43" name="Shape 41"/>
          <p:cNvSpPr/>
          <p:nvPr/>
        </p:nvSpPr>
        <p:spPr>
          <a:xfrm>
            <a:off x="3931920" y="4663440"/>
            <a:ext cx="2926080" cy="192024"/>
          </a:xfrm>
          <a:prstGeom prst="rect">
            <a:avLst/>
          </a:prstGeom>
          <a:solidFill>
            <a:srgbClr val="F3D2BC"/>
          </a:solidFill>
          <a:ln w="12700">
            <a:solidFill>
              <a:srgbClr val="FFFFFF"/>
            </a:solidFill>
            <a:prstDash val="solid"/>
          </a:ln>
        </p:spPr>
      </p:sp>
      <p:sp>
        <p:nvSpPr>
          <p:cNvPr id="44" name="Shape 42"/>
          <p:cNvSpPr/>
          <p:nvPr/>
        </p:nvSpPr>
        <p:spPr>
          <a:xfrm>
            <a:off x="6903720" y="4663440"/>
            <a:ext cx="457200" cy="192024"/>
          </a:xfrm>
          <a:prstGeom prst="rect">
            <a:avLst/>
          </a:prstGeom>
          <a:solidFill>
            <a:srgbClr val="E3A57B"/>
          </a:solidFill>
          <a:ln w="12700">
            <a:solidFill>
              <a:srgbClr val="FFFFFF"/>
            </a:solidFill>
            <a:prstDash val="solid"/>
          </a:ln>
        </p:spPr>
      </p:sp>
      <p:sp>
        <p:nvSpPr>
          <p:cNvPr id="45" name="Shape 43"/>
          <p:cNvSpPr/>
          <p:nvPr/>
        </p:nvSpPr>
        <p:spPr>
          <a:xfrm>
            <a:off x="3931920" y="4892040"/>
            <a:ext cx="2926080" cy="192024"/>
          </a:xfrm>
          <a:prstGeom prst="rect">
            <a:avLst/>
          </a:prstGeom>
          <a:solidFill>
            <a:srgbClr val="F3D2BC"/>
          </a:solidFill>
          <a:ln w="12700">
            <a:solidFill>
              <a:srgbClr val="FFFFFF"/>
            </a:solidFill>
            <a:prstDash val="solid"/>
          </a:ln>
        </p:spPr>
      </p:sp>
      <p:sp>
        <p:nvSpPr>
          <p:cNvPr id="46" name="Shape 44"/>
          <p:cNvSpPr/>
          <p:nvPr/>
        </p:nvSpPr>
        <p:spPr>
          <a:xfrm>
            <a:off x="6903720" y="4892040"/>
            <a:ext cx="457200" cy="192024"/>
          </a:xfrm>
          <a:prstGeom prst="rect">
            <a:avLst/>
          </a:prstGeom>
          <a:solidFill>
            <a:srgbClr val="E3A57B"/>
          </a:solidFill>
          <a:ln w="12700">
            <a:solidFill>
              <a:srgbClr val="FFFFFF"/>
            </a:solidFill>
            <a:prstDash val="solid"/>
          </a:ln>
        </p:spPr>
      </p:sp>
      <p:sp>
        <p:nvSpPr>
          <p:cNvPr id="47" name="Shape 45"/>
          <p:cNvSpPr/>
          <p:nvPr/>
        </p:nvSpPr>
        <p:spPr>
          <a:xfrm>
            <a:off x="3931920" y="5120640"/>
            <a:ext cx="2926080" cy="192024"/>
          </a:xfrm>
          <a:prstGeom prst="rect">
            <a:avLst/>
          </a:prstGeom>
          <a:solidFill>
            <a:srgbClr val="F8EDE5"/>
          </a:solidFill>
          <a:ln w="12700">
            <a:solidFill>
              <a:srgbClr val="FFFFFF"/>
            </a:solidFill>
            <a:prstDash val="solid"/>
          </a:ln>
        </p:spPr>
      </p:sp>
      <p:sp>
        <p:nvSpPr>
          <p:cNvPr id="48" name="Shape 46"/>
          <p:cNvSpPr/>
          <p:nvPr/>
        </p:nvSpPr>
        <p:spPr>
          <a:xfrm>
            <a:off x="6903720" y="5120640"/>
            <a:ext cx="457200" cy="192024"/>
          </a:xfrm>
          <a:prstGeom prst="rect">
            <a:avLst/>
          </a:prstGeom>
          <a:solidFill>
            <a:srgbClr val="F1D9C8"/>
          </a:solidFill>
          <a:ln w="12700">
            <a:solidFill>
              <a:srgbClr val="FFFFFF"/>
            </a:solidFill>
            <a:prstDash val="solid"/>
          </a:ln>
        </p:spPr>
      </p:sp>
      <p:sp>
        <p:nvSpPr>
          <p:cNvPr id="49" name="Shape 47"/>
          <p:cNvSpPr/>
          <p:nvPr/>
        </p:nvSpPr>
        <p:spPr>
          <a:xfrm>
            <a:off x="3931920" y="5349240"/>
            <a:ext cx="2926080" cy="192024"/>
          </a:xfrm>
          <a:prstGeom prst="rect">
            <a:avLst/>
          </a:prstGeom>
          <a:solidFill>
            <a:srgbClr val="F8EDE5"/>
          </a:solidFill>
          <a:ln w="12700">
            <a:solidFill>
              <a:srgbClr val="FFFFFF"/>
            </a:solidFill>
            <a:prstDash val="solid"/>
          </a:ln>
        </p:spPr>
      </p:sp>
      <p:sp>
        <p:nvSpPr>
          <p:cNvPr id="50" name="Shape 48"/>
          <p:cNvSpPr/>
          <p:nvPr/>
        </p:nvSpPr>
        <p:spPr>
          <a:xfrm>
            <a:off x="6903720" y="5349240"/>
            <a:ext cx="457200" cy="192024"/>
          </a:xfrm>
          <a:prstGeom prst="rect">
            <a:avLst/>
          </a:prstGeom>
          <a:solidFill>
            <a:srgbClr val="F1D9C8"/>
          </a:solidFill>
          <a:ln w="12700">
            <a:solidFill>
              <a:srgbClr val="FFFFFF"/>
            </a:solidFill>
            <a:prstDash val="solid"/>
          </a:ln>
        </p:spPr>
      </p:sp>
      <p:sp>
        <p:nvSpPr>
          <p:cNvPr id="51" name="Shape 49"/>
          <p:cNvSpPr/>
          <p:nvPr/>
        </p:nvSpPr>
        <p:spPr>
          <a:xfrm>
            <a:off x="3931920" y="5577840"/>
            <a:ext cx="2926080" cy="192024"/>
          </a:xfrm>
          <a:prstGeom prst="rect">
            <a:avLst/>
          </a:prstGeom>
          <a:solidFill>
            <a:srgbClr val="F8EDE5"/>
          </a:solidFill>
          <a:ln w="12700">
            <a:solidFill>
              <a:srgbClr val="FFFFFF"/>
            </a:solidFill>
            <a:prstDash val="solid"/>
          </a:ln>
        </p:spPr>
      </p:sp>
      <p:sp>
        <p:nvSpPr>
          <p:cNvPr id="52" name="Shape 50"/>
          <p:cNvSpPr/>
          <p:nvPr/>
        </p:nvSpPr>
        <p:spPr>
          <a:xfrm>
            <a:off x="6903720" y="5577840"/>
            <a:ext cx="457200" cy="192024"/>
          </a:xfrm>
          <a:prstGeom prst="rect">
            <a:avLst/>
          </a:prstGeom>
          <a:solidFill>
            <a:srgbClr val="F1D9C8"/>
          </a:solidFill>
          <a:ln w="12700">
            <a:solidFill>
              <a:srgbClr val="FFFFFF"/>
            </a:solidFill>
            <a:prstDash val="solid"/>
          </a:ln>
        </p:spPr>
      </p:sp>
      <p:sp>
        <p:nvSpPr>
          <p:cNvPr id="53" name="Shape 51"/>
          <p:cNvSpPr/>
          <p:nvPr/>
        </p:nvSpPr>
        <p:spPr>
          <a:xfrm>
            <a:off x="3931920" y="5806440"/>
            <a:ext cx="2926080" cy="192024"/>
          </a:xfrm>
          <a:prstGeom prst="rect">
            <a:avLst/>
          </a:prstGeom>
          <a:solidFill>
            <a:srgbClr val="F8EDE5"/>
          </a:solidFill>
          <a:ln w="12700">
            <a:solidFill>
              <a:srgbClr val="FFFFFF"/>
            </a:solidFill>
            <a:prstDash val="solid"/>
          </a:ln>
        </p:spPr>
      </p:sp>
      <p:sp>
        <p:nvSpPr>
          <p:cNvPr id="54" name="Shape 52"/>
          <p:cNvSpPr/>
          <p:nvPr/>
        </p:nvSpPr>
        <p:spPr>
          <a:xfrm>
            <a:off x="6903720" y="5806440"/>
            <a:ext cx="457200" cy="192024"/>
          </a:xfrm>
          <a:prstGeom prst="rect">
            <a:avLst/>
          </a:prstGeom>
          <a:solidFill>
            <a:srgbClr val="F1D9C8"/>
          </a:solidFill>
          <a:ln w="12700">
            <a:solidFill>
              <a:srgbClr val="FFFFFF"/>
            </a:solidFill>
            <a:prstDash val="solid"/>
          </a:ln>
        </p:spPr>
      </p:sp>
      <p:sp>
        <p:nvSpPr>
          <p:cNvPr id="55" name="Text 53"/>
          <p:cNvSpPr txBox="1"/>
          <p:nvPr/>
        </p:nvSpPr>
        <p:spPr>
          <a:xfrm>
            <a:off x="3931920" y="6080760"/>
            <a:ext cx="2926080" cy="320040"/>
          </a:xfrm>
          <a:prstGeom prst="rect">
            <a:avLst/>
          </a:prstGeom>
          <a:noFill/>
          <a:ln/>
        </p:spPr>
        <p:txBody>
          <a:bodyPr wrap="square" lIns="0" tIns="0" rIns="0" bIns="0" rtlCol="0" anchor="t"/>
          <a:lstStyle/>
          <a:p>
            <a:pPr algn="ctr" indent="0" marL="0">
              <a:buNone/>
            </a:pPr>
            <a:r>
              <a:rPr lang="en-US" sz="1500" b="1" dirty="0">
                <a:solidFill>
                  <a:srgbClr val="C45A0C"/>
                </a:solidFill>
                <a:latin typeface="Calibri" pitchFamily="34" charset="0"/>
                <a:ea typeface="Calibri" pitchFamily="34" charset="-122"/>
                <a:cs typeface="Calibri" pitchFamily="34" charset="-120"/>
              </a:rPr>
              <a:t>X</a:t>
            </a:r>
            <a:r>
              <a:rPr lang="en-US" sz="1500" b="1" baseline="-25000" dirty="0">
                <a:solidFill>
                  <a:srgbClr val="C45A0C"/>
                </a:solidFill>
                <a:latin typeface="Calibri" pitchFamily="34" charset="0"/>
                <a:ea typeface="Calibri" pitchFamily="34" charset="-122"/>
                <a:cs typeface="Calibri" pitchFamily="34" charset="-120"/>
              </a:rPr>
              <a:t>O</a:t>
            </a:r>
            <a:endParaRPr lang="en-US" sz="1500" dirty="0"/>
          </a:p>
        </p:txBody>
      </p:sp>
      <p:sp>
        <p:nvSpPr>
          <p:cNvPr id="56" name="Text 54"/>
          <p:cNvSpPr txBox="1"/>
          <p:nvPr/>
        </p:nvSpPr>
        <p:spPr>
          <a:xfrm>
            <a:off x="6903720" y="6080760"/>
            <a:ext cx="457200" cy="320040"/>
          </a:xfrm>
          <a:prstGeom prst="rect">
            <a:avLst/>
          </a:prstGeom>
          <a:noFill/>
          <a:ln/>
        </p:spPr>
        <p:txBody>
          <a:bodyPr wrap="square" lIns="0" tIns="0" rIns="0" bIns="0" rtlCol="0" anchor="t"/>
          <a:lstStyle/>
          <a:p>
            <a:pPr algn="ctr" indent="0" marL="0">
              <a:buNone/>
            </a:pPr>
            <a:r>
              <a:rPr lang="en-US" sz="1500" b="1" dirty="0">
                <a:solidFill>
                  <a:srgbClr val="C45A0C"/>
                </a:solidFill>
                <a:latin typeface="Calibri" pitchFamily="34" charset="0"/>
                <a:ea typeface="Calibri" pitchFamily="34" charset="-122"/>
                <a:cs typeface="Calibri" pitchFamily="34" charset="-120"/>
              </a:rPr>
              <a:t>y</a:t>
            </a:r>
            <a:endParaRPr lang="en-US" sz="1500" dirty="0"/>
          </a:p>
        </p:txBody>
      </p:sp>
      <p:sp>
        <p:nvSpPr>
          <p:cNvPr id="57" name="Shape 55"/>
          <p:cNvSpPr/>
          <p:nvPr/>
        </p:nvSpPr>
        <p:spPr>
          <a:xfrm>
            <a:off x="3246120" y="3291840"/>
            <a:ext cx="548640" cy="1792224"/>
          </a:xfrm>
          <a:prstGeom prst="rect">
            <a:avLst/>
          </a:prstGeom>
          <a:solidFill>
            <a:srgbClr val="14213D">
              <a:alpha val="15000"/>
            </a:srgbClr>
          </a:solidFill>
          <a:ln w="12700">
            <a:solidFill>
              <a:srgbClr val="14213D"/>
            </a:solidFill>
            <a:prstDash val="dash"/>
          </a:ln>
        </p:spPr>
      </p:sp>
      <p:sp>
        <p:nvSpPr>
          <p:cNvPr id="58" name="Text 56"/>
          <p:cNvSpPr txBox="1"/>
          <p:nvPr/>
        </p:nvSpPr>
        <p:spPr>
          <a:xfrm>
            <a:off x="3154680" y="4023360"/>
            <a:ext cx="731520" cy="731520"/>
          </a:xfrm>
          <a:prstGeom prst="rect">
            <a:avLst/>
          </a:prstGeom>
          <a:noFill/>
          <a:ln/>
        </p:spPr>
        <p:txBody>
          <a:bodyPr wrap="square" lIns="0" tIns="0" rIns="0" bIns="0" rtlCol="0" anchor="t"/>
          <a:lstStyle/>
          <a:p>
            <a:pPr algn="ctr" indent="0" marL="0">
              <a:buNone/>
            </a:pPr>
            <a:r>
              <a:rPr lang="en-US" sz="1100" b="1" dirty="0">
                <a:solidFill>
                  <a:srgbClr val="14213D"/>
                </a:solidFill>
                <a:latin typeface="Calibri" pitchFamily="34" charset="0"/>
                <a:ea typeface="Calibri" pitchFamily="34" charset="-122"/>
                <a:cs typeface="Calibri" pitchFamily="34" charset="-120"/>
              </a:rPr>
              <a:t>n</a:t>
            </a:r>
            <a:endParaRPr lang="en-US" sz="1100" dirty="0"/>
          </a:p>
          <a:p>
            <a:pPr algn="ctr" indent="0" marL="0">
              <a:buNone/>
            </a:pPr>
            <a:r>
              <a:rPr lang="en-US" sz="1100" b="1" dirty="0">
                <a:solidFill>
                  <a:srgbClr val="14213D"/>
                </a:solidFill>
                <a:latin typeface="Calibri" pitchFamily="34" charset="0"/>
                <a:ea typeface="Calibri" pitchFamily="34" charset="-122"/>
                <a:cs typeface="Calibri" pitchFamily="34" charset="-120"/>
              </a:rPr>
              <a:t>matched</a:t>
            </a:r>
            <a:endParaRPr lang="en-US" sz="1100" dirty="0"/>
          </a:p>
        </p:txBody>
      </p:sp>
      <p:sp>
        <p:nvSpPr>
          <p:cNvPr id="59" name="Shape 57"/>
          <p:cNvSpPr/>
          <p:nvPr/>
        </p:nvSpPr>
        <p:spPr>
          <a:xfrm>
            <a:off x="7955280" y="1417320"/>
            <a:ext cx="3657600" cy="4663440"/>
          </a:xfrm>
          <a:prstGeom prst="roundRect">
            <a:avLst>
              <a:gd name="adj" fmla="val 2000"/>
            </a:avLst>
          </a:prstGeom>
          <a:solidFill>
            <a:srgbClr val="EEF2F7"/>
          </a:solidFill>
          <a:ln w="12700">
            <a:solidFill>
              <a:srgbClr val="EEF2F7"/>
            </a:solidFill>
            <a:prstDash val="solid"/>
          </a:ln>
        </p:spPr>
      </p:sp>
      <p:sp>
        <p:nvSpPr>
          <p:cNvPr id="60" name="Text 58"/>
          <p:cNvSpPr txBox="1"/>
          <p:nvPr/>
        </p:nvSpPr>
        <p:spPr>
          <a:xfrm>
            <a:off x="8229600" y="1645920"/>
            <a:ext cx="3200400" cy="36576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Goal</a:t>
            </a:r>
            <a:endParaRPr lang="en-US" sz="2000" dirty="0"/>
          </a:p>
        </p:txBody>
      </p:sp>
      <p:sp>
        <p:nvSpPr>
          <p:cNvPr id="61" name="Text 59"/>
          <p:cNvSpPr txBox="1"/>
          <p:nvPr/>
        </p:nvSpPr>
        <p:spPr>
          <a:xfrm>
            <a:off x="8229600" y="214884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Fit y on [X</a:t>
            </a:r>
            <a:r>
              <a:rPr lang="en-US" sz="1500" baseline="-25000" dirty="0">
                <a:solidFill>
                  <a:srgbClr val="1F2937"/>
                </a:solidFill>
                <a:latin typeface="Calibri" pitchFamily="34" charset="0"/>
                <a:ea typeface="Calibri" pitchFamily="34" charset="-122"/>
                <a:cs typeface="Calibri" pitchFamily="34" charset="-120"/>
              </a:rPr>
              <a:t>R</a:t>
            </a:r>
            <a:r>
              <a:rPr lang="en-US" sz="1500" dirty="0">
                <a:solidFill>
                  <a:srgbClr val="1F2937"/>
                </a:solidFill>
                <a:latin typeface="Calibri" pitchFamily="34" charset="0"/>
                <a:ea typeface="Calibri" pitchFamily="34" charset="-122"/>
                <a:cs typeface="Calibri" pitchFamily="34" charset="-120"/>
              </a:rPr>
              <a:t> | X</a:t>
            </a:r>
            <a:r>
              <a:rPr lang="en-US" sz="1500" baseline="-25000" dirty="0">
                <a:solidFill>
                  <a:srgbClr val="1F2937"/>
                </a:solidFill>
                <a:latin typeface="Calibri" pitchFamily="34" charset="0"/>
                <a:ea typeface="Calibri" pitchFamily="34" charset="-122"/>
                <a:cs typeface="Calibri" pitchFamily="34" charset="-120"/>
              </a:rPr>
              <a:t>O</a:t>
            </a:r>
            <a:r>
              <a:rPr lang="en-US" sz="1500" dirty="0">
                <a:solidFill>
                  <a:srgbClr val="1F2937"/>
                </a:solidFill>
                <a:latin typeface="Calibri" pitchFamily="34" charset="0"/>
                <a:ea typeface="Calibri" pitchFamily="34" charset="-122"/>
                <a:cs typeface="Calibri" pitchFamily="34" charset="-120"/>
              </a:rPr>
              <a:t>] over the n matched people</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Neither party sees the other's records</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O must not learn who is in R's cohort</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The released model must not expose any individual</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has to be computed</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Least squares needs only a few sums over the matched rows, and those sums span both parties</a:t>
            </a:r>
            <a:endParaRPr lang="en-US" sz="1600" dirty="0"/>
          </a:p>
        </p:txBody>
      </p:sp>
      <p:pic>
        <p:nvPicPr>
          <p:cNvPr id="4" name="Image 0" descr="/home/user/VerticalFederatedRegression/slides/assets/eq/ols_I.png">    </p:cNvPr>
          <p:cNvPicPr>
            <a:picLocks noChangeAspect="1"/>
          </p:cNvPicPr>
          <p:nvPr/>
        </p:nvPicPr>
        <p:blipFill>
          <a:blip r:embed="rId1"/>
          <a:stretch>
            <a:fillRect/>
          </a:stretch>
        </p:blipFill>
        <p:spPr>
          <a:xfrm>
            <a:off x="548640" y="1627632"/>
            <a:ext cx="6026579" cy="527627"/>
          </a:xfrm>
          <a:prstGeom prst="rect">
            <a:avLst/>
          </a:prstGeom>
        </p:spPr>
      </p:pic>
      <p:sp>
        <p:nvSpPr>
          <p:cNvPr id="5" name="Shape 2"/>
          <p:cNvSpPr/>
          <p:nvPr/>
        </p:nvSpPr>
        <p:spPr>
          <a:xfrm>
            <a:off x="822960" y="2468880"/>
            <a:ext cx="1417320" cy="1417320"/>
          </a:xfrm>
          <a:prstGeom prst="rect">
            <a:avLst/>
          </a:prstGeom>
          <a:solidFill>
            <a:srgbClr val="C9DCF5"/>
          </a:solidFill>
          <a:ln w="25400">
            <a:solidFill>
              <a:srgbClr val="FFFFFF"/>
            </a:solidFill>
            <a:prstDash val="solid"/>
          </a:ln>
        </p:spPr>
      </p:sp>
      <p:sp>
        <p:nvSpPr>
          <p:cNvPr id="6" name="Text 3"/>
          <p:cNvSpPr txBox="1"/>
          <p:nvPr/>
        </p:nvSpPr>
        <p:spPr>
          <a:xfrm>
            <a:off x="822960" y="246888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14213D"/>
                </a:solidFill>
                <a:latin typeface="Cambria" pitchFamily="34" charset="0"/>
                <a:ea typeface="Cambria" pitchFamily="34" charset="-122"/>
                <a:cs typeface="Cambria" pitchFamily="34" charset="-120"/>
              </a:rPr>
              <a:t>A</a:t>
            </a:r>
            <a:r>
              <a:rPr lang="en-US" sz="2400" b="1" baseline="30000" dirty="0">
                <a:solidFill>
                  <a:srgbClr val="14213D"/>
                </a:solidFill>
                <a:latin typeface="Cambria" pitchFamily="34" charset="0"/>
                <a:ea typeface="Cambria" pitchFamily="34" charset="-122"/>
                <a:cs typeface="Cambria" pitchFamily="34" charset="-120"/>
              </a:rPr>
              <a:t>I</a:t>
            </a:r>
            <a:endParaRPr lang="en-US" sz="2400" dirty="0"/>
          </a:p>
          <a:p>
            <a:pPr algn="ctr" indent="0" marL="0">
              <a:buNone/>
            </a:pPr>
            <a:r>
              <a:rPr lang="en-US" sz="1400" dirty="0">
                <a:solidFill>
                  <a:srgbClr val="14213D"/>
                </a:solidFill>
                <a:latin typeface="Calibri" pitchFamily="34" charset="0"/>
                <a:ea typeface="Calibri" pitchFamily="34" charset="-122"/>
                <a:cs typeface="Calibri" pitchFamily="34" charset="-120"/>
              </a:rPr>
              <a:t>X</a:t>
            </a:r>
            <a:r>
              <a:rPr lang="en-US" sz="1400" baseline="-25000" dirty="0">
                <a:solidFill>
                  <a:srgbClr val="14213D"/>
                </a:solidFill>
                <a:latin typeface="Calibri" pitchFamily="34" charset="0"/>
                <a:ea typeface="Calibri" pitchFamily="34" charset="-122"/>
                <a:cs typeface="Calibri" pitchFamily="34" charset="-120"/>
              </a:rPr>
              <a:t>R</a:t>
            </a:r>
            <a:r>
              <a:rPr lang="en-US" sz="1400" baseline="30000" dirty="0">
                <a:solidFill>
                  <a:srgbClr val="14213D"/>
                </a:solidFill>
                <a:latin typeface="Calibri" pitchFamily="34" charset="0"/>
                <a:ea typeface="Calibri" pitchFamily="34" charset="-122"/>
                <a:cs typeface="Calibri" pitchFamily="34" charset="-120"/>
              </a:rPr>
              <a:t>I⊤</a:t>
            </a:r>
            <a:r>
              <a:rPr lang="en-US" sz="1400" dirty="0">
                <a:solidFill>
                  <a:srgbClr val="14213D"/>
                </a:solidFill>
                <a:latin typeface="Calibri" pitchFamily="34" charset="0"/>
                <a:ea typeface="Calibri" pitchFamily="34" charset="-122"/>
                <a:cs typeface="Calibri" pitchFamily="34" charset="-120"/>
              </a:rPr>
              <a:t> X</a:t>
            </a:r>
            <a:r>
              <a:rPr lang="en-US" sz="1400" baseline="-25000" dirty="0">
                <a:solidFill>
                  <a:srgbClr val="14213D"/>
                </a:solidFill>
                <a:latin typeface="Calibri" pitchFamily="34" charset="0"/>
                <a:ea typeface="Calibri" pitchFamily="34" charset="-122"/>
                <a:cs typeface="Calibri" pitchFamily="34" charset="-120"/>
              </a:rPr>
              <a:t>R</a:t>
            </a:r>
            <a:r>
              <a:rPr lang="en-US" sz="1400" baseline="30000" dirty="0">
                <a:solidFill>
                  <a:srgbClr val="14213D"/>
                </a:solidFill>
                <a:latin typeface="Calibri" pitchFamily="34" charset="0"/>
                <a:ea typeface="Calibri" pitchFamily="34" charset="-122"/>
                <a:cs typeface="Calibri" pitchFamily="34" charset="-120"/>
              </a:rPr>
              <a:t>I</a:t>
            </a:r>
            <a:endParaRPr lang="en-US" sz="2400" dirty="0"/>
          </a:p>
        </p:txBody>
      </p:sp>
      <p:sp>
        <p:nvSpPr>
          <p:cNvPr id="7" name="Shape 4"/>
          <p:cNvSpPr/>
          <p:nvPr/>
        </p:nvSpPr>
        <p:spPr>
          <a:xfrm>
            <a:off x="2240280" y="2468880"/>
            <a:ext cx="1417320" cy="1417320"/>
          </a:xfrm>
          <a:prstGeom prst="rect">
            <a:avLst/>
          </a:prstGeom>
          <a:solidFill>
            <a:srgbClr val="C45A0C"/>
          </a:solidFill>
          <a:ln w="25400">
            <a:solidFill>
              <a:srgbClr val="FFFFFF"/>
            </a:solidFill>
            <a:prstDash val="solid"/>
          </a:ln>
        </p:spPr>
      </p:sp>
      <p:sp>
        <p:nvSpPr>
          <p:cNvPr id="8" name="Text 5"/>
          <p:cNvSpPr txBox="1"/>
          <p:nvPr/>
        </p:nvSpPr>
        <p:spPr>
          <a:xfrm>
            <a:off x="2240280" y="246888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C</a:t>
            </a:r>
            <a:r>
              <a:rPr lang="en-US" sz="2400" b="1" baseline="30000" dirty="0">
                <a:solidFill>
                  <a:srgbClr val="FFFFFF"/>
                </a:solidFill>
                <a:latin typeface="Cambria" pitchFamily="34" charset="0"/>
                <a:ea typeface="Cambria" pitchFamily="34" charset="-122"/>
                <a:cs typeface="Cambria" pitchFamily="34" charset="-120"/>
              </a:rPr>
              <a:t>I</a:t>
            </a:r>
            <a:endParaRPr lang="en-US" sz="2400" dirty="0"/>
          </a:p>
          <a:p>
            <a:pPr algn="ctr" indent="0" marL="0">
              <a:buNone/>
            </a:pPr>
            <a:r>
              <a:rPr lang="en-US" sz="1400" dirty="0">
                <a:solidFill>
                  <a:srgbClr val="FFFFFF"/>
                </a:solidFill>
                <a:latin typeface="Calibri" pitchFamily="34" charset="0"/>
                <a:ea typeface="Calibri" pitchFamily="34" charset="-122"/>
                <a:cs typeface="Calibri" pitchFamily="34" charset="-120"/>
              </a:rPr>
              <a:t>X</a:t>
            </a:r>
            <a:r>
              <a:rPr lang="en-US" sz="1400" baseline="-25000" dirty="0">
                <a:solidFill>
                  <a:srgbClr val="FFFFFF"/>
                </a:solidFill>
                <a:latin typeface="Calibri" pitchFamily="34" charset="0"/>
                <a:ea typeface="Calibri" pitchFamily="34" charset="-122"/>
                <a:cs typeface="Calibri" pitchFamily="34" charset="-120"/>
              </a:rPr>
              <a:t>R</a:t>
            </a:r>
            <a:r>
              <a:rPr lang="en-US" sz="1400" baseline="30000" dirty="0">
                <a:solidFill>
                  <a:srgbClr val="FFFFFF"/>
                </a:solidFill>
                <a:latin typeface="Calibri" pitchFamily="34" charset="0"/>
                <a:ea typeface="Calibri" pitchFamily="34" charset="-122"/>
                <a:cs typeface="Calibri" pitchFamily="34" charset="-120"/>
              </a:rPr>
              <a:t>I⊤</a:t>
            </a:r>
            <a:r>
              <a:rPr lang="en-US" sz="1400" dirty="0">
                <a:solidFill>
                  <a:srgbClr val="FFFFFF"/>
                </a:solidFill>
                <a:latin typeface="Calibri" pitchFamily="34" charset="0"/>
                <a:ea typeface="Calibri" pitchFamily="34" charset="-122"/>
                <a:cs typeface="Calibri" pitchFamily="34" charset="-120"/>
              </a:rPr>
              <a:t> X</a:t>
            </a:r>
            <a:r>
              <a:rPr lang="en-US" sz="1400" baseline="-25000" dirty="0">
                <a:solidFill>
                  <a:srgbClr val="FFFFFF"/>
                </a:solidFill>
                <a:latin typeface="Calibri" pitchFamily="34" charset="0"/>
                <a:ea typeface="Calibri" pitchFamily="34" charset="-122"/>
                <a:cs typeface="Calibri" pitchFamily="34" charset="-120"/>
              </a:rPr>
              <a:t>O</a:t>
            </a:r>
            <a:r>
              <a:rPr lang="en-US" sz="1400" baseline="30000" dirty="0">
                <a:solidFill>
                  <a:srgbClr val="FFFFFF"/>
                </a:solidFill>
                <a:latin typeface="Calibri" pitchFamily="34" charset="0"/>
                <a:ea typeface="Calibri" pitchFamily="34" charset="-122"/>
                <a:cs typeface="Calibri" pitchFamily="34" charset="-120"/>
              </a:rPr>
              <a:t>I</a:t>
            </a:r>
            <a:endParaRPr lang="en-US" sz="2400" dirty="0"/>
          </a:p>
        </p:txBody>
      </p:sp>
      <p:sp>
        <p:nvSpPr>
          <p:cNvPr id="9" name="Shape 6"/>
          <p:cNvSpPr/>
          <p:nvPr/>
        </p:nvSpPr>
        <p:spPr>
          <a:xfrm>
            <a:off x="822960" y="3886200"/>
            <a:ext cx="1417320" cy="1417320"/>
          </a:xfrm>
          <a:prstGeom prst="rect">
            <a:avLst/>
          </a:prstGeom>
          <a:solidFill>
            <a:srgbClr val="C45A0C"/>
          </a:solidFill>
          <a:ln w="25400">
            <a:solidFill>
              <a:srgbClr val="FFFFFF"/>
            </a:solidFill>
            <a:prstDash val="solid"/>
          </a:ln>
        </p:spPr>
      </p:sp>
      <p:sp>
        <p:nvSpPr>
          <p:cNvPr id="10" name="Text 7"/>
          <p:cNvSpPr txBox="1"/>
          <p:nvPr/>
        </p:nvSpPr>
        <p:spPr>
          <a:xfrm>
            <a:off x="822960" y="388620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C</a:t>
            </a:r>
            <a:r>
              <a:rPr lang="en-US" sz="2400" b="1" baseline="30000" dirty="0">
                <a:solidFill>
                  <a:srgbClr val="FFFFFF"/>
                </a:solidFill>
                <a:latin typeface="Cambria" pitchFamily="34" charset="0"/>
                <a:ea typeface="Cambria" pitchFamily="34" charset="-122"/>
                <a:cs typeface="Cambria" pitchFamily="34" charset="-120"/>
              </a:rPr>
              <a:t>I⊤</a:t>
            </a:r>
            <a:endParaRPr lang="en-US" sz="2400" dirty="0"/>
          </a:p>
        </p:txBody>
      </p:sp>
      <p:sp>
        <p:nvSpPr>
          <p:cNvPr id="11" name="Shape 8"/>
          <p:cNvSpPr/>
          <p:nvPr/>
        </p:nvSpPr>
        <p:spPr>
          <a:xfrm>
            <a:off x="2240280" y="3886200"/>
            <a:ext cx="1417320" cy="1417320"/>
          </a:xfrm>
          <a:prstGeom prst="rect">
            <a:avLst/>
          </a:prstGeom>
          <a:solidFill>
            <a:srgbClr val="F3D2BC"/>
          </a:solidFill>
          <a:ln w="25400">
            <a:solidFill>
              <a:srgbClr val="FFFFFF"/>
            </a:solidFill>
            <a:prstDash val="solid"/>
          </a:ln>
        </p:spPr>
      </p:sp>
      <p:sp>
        <p:nvSpPr>
          <p:cNvPr id="12" name="Text 9"/>
          <p:cNvSpPr txBox="1"/>
          <p:nvPr/>
        </p:nvSpPr>
        <p:spPr>
          <a:xfrm>
            <a:off x="2240280" y="388620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14213D"/>
                </a:solidFill>
                <a:latin typeface="Cambria" pitchFamily="34" charset="0"/>
                <a:ea typeface="Cambria" pitchFamily="34" charset="-122"/>
                <a:cs typeface="Cambria" pitchFamily="34" charset="-120"/>
              </a:rPr>
              <a:t>B</a:t>
            </a:r>
            <a:r>
              <a:rPr lang="en-US" sz="2400" b="1" baseline="30000" dirty="0">
                <a:solidFill>
                  <a:srgbClr val="14213D"/>
                </a:solidFill>
                <a:latin typeface="Cambria" pitchFamily="34" charset="0"/>
                <a:ea typeface="Cambria" pitchFamily="34" charset="-122"/>
                <a:cs typeface="Cambria" pitchFamily="34" charset="-120"/>
              </a:rPr>
              <a:t>I</a:t>
            </a:r>
            <a:endParaRPr lang="en-US" sz="2400" dirty="0"/>
          </a:p>
          <a:p>
            <a:pPr algn="ctr" indent="0" marL="0">
              <a:buNone/>
            </a:pPr>
            <a:r>
              <a:rPr lang="en-US" sz="1400" dirty="0">
                <a:solidFill>
                  <a:srgbClr val="14213D"/>
                </a:solidFill>
                <a:latin typeface="Calibri" pitchFamily="34" charset="0"/>
                <a:ea typeface="Calibri" pitchFamily="34" charset="-122"/>
                <a:cs typeface="Calibri" pitchFamily="34" charset="-120"/>
              </a:rPr>
              <a:t>X</a:t>
            </a:r>
            <a:r>
              <a:rPr lang="en-US" sz="1400" baseline="-25000" dirty="0">
                <a:solidFill>
                  <a:srgbClr val="14213D"/>
                </a:solidFill>
                <a:latin typeface="Calibri" pitchFamily="34" charset="0"/>
                <a:ea typeface="Calibri" pitchFamily="34" charset="-122"/>
                <a:cs typeface="Calibri" pitchFamily="34" charset="-120"/>
              </a:rPr>
              <a:t>O</a:t>
            </a:r>
            <a:r>
              <a:rPr lang="en-US" sz="1400" baseline="30000" dirty="0">
                <a:solidFill>
                  <a:srgbClr val="14213D"/>
                </a:solidFill>
                <a:latin typeface="Calibri" pitchFamily="34" charset="0"/>
                <a:ea typeface="Calibri" pitchFamily="34" charset="-122"/>
                <a:cs typeface="Calibri" pitchFamily="34" charset="-120"/>
              </a:rPr>
              <a:t>I⊤</a:t>
            </a:r>
            <a:r>
              <a:rPr lang="en-US" sz="1400" dirty="0">
                <a:solidFill>
                  <a:srgbClr val="14213D"/>
                </a:solidFill>
                <a:latin typeface="Calibri" pitchFamily="34" charset="0"/>
                <a:ea typeface="Calibri" pitchFamily="34" charset="-122"/>
                <a:cs typeface="Calibri" pitchFamily="34" charset="-120"/>
              </a:rPr>
              <a:t> X</a:t>
            </a:r>
            <a:r>
              <a:rPr lang="en-US" sz="1400" baseline="-25000" dirty="0">
                <a:solidFill>
                  <a:srgbClr val="14213D"/>
                </a:solidFill>
                <a:latin typeface="Calibri" pitchFamily="34" charset="0"/>
                <a:ea typeface="Calibri" pitchFamily="34" charset="-122"/>
                <a:cs typeface="Calibri" pitchFamily="34" charset="-120"/>
              </a:rPr>
              <a:t>O</a:t>
            </a:r>
            <a:r>
              <a:rPr lang="en-US" sz="1400" baseline="30000" dirty="0">
                <a:solidFill>
                  <a:srgbClr val="14213D"/>
                </a:solidFill>
                <a:latin typeface="Calibri" pitchFamily="34" charset="0"/>
                <a:ea typeface="Calibri" pitchFamily="34" charset="-122"/>
                <a:cs typeface="Calibri" pitchFamily="34" charset="-120"/>
              </a:rPr>
              <a:t>I</a:t>
            </a:r>
            <a:endParaRPr lang="en-US" sz="2400" dirty="0"/>
          </a:p>
        </p:txBody>
      </p:sp>
      <p:sp>
        <p:nvSpPr>
          <p:cNvPr id="13" name="Shape 10"/>
          <p:cNvSpPr/>
          <p:nvPr/>
        </p:nvSpPr>
        <p:spPr>
          <a:xfrm>
            <a:off x="4023360" y="2468880"/>
            <a:ext cx="1417320" cy="1417320"/>
          </a:xfrm>
          <a:prstGeom prst="rect">
            <a:avLst/>
          </a:prstGeom>
          <a:solidFill>
            <a:srgbClr val="C45A0C"/>
          </a:solidFill>
          <a:ln w="25400">
            <a:solidFill>
              <a:srgbClr val="FFFFFF"/>
            </a:solidFill>
            <a:prstDash val="solid"/>
          </a:ln>
        </p:spPr>
      </p:sp>
      <p:sp>
        <p:nvSpPr>
          <p:cNvPr id="14" name="Text 11"/>
          <p:cNvSpPr txBox="1"/>
          <p:nvPr/>
        </p:nvSpPr>
        <p:spPr>
          <a:xfrm>
            <a:off x="4023360" y="246888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c</a:t>
            </a:r>
            <a:r>
              <a:rPr lang="en-US" sz="2400" b="1" baseline="-25000" dirty="0">
                <a:solidFill>
                  <a:srgbClr val="FFFFFF"/>
                </a:solidFill>
                <a:latin typeface="Cambria" pitchFamily="34" charset="0"/>
                <a:ea typeface="Cambria" pitchFamily="34" charset="-122"/>
                <a:cs typeface="Cambria" pitchFamily="34" charset="-120"/>
              </a:rPr>
              <a:t>R</a:t>
            </a:r>
            <a:r>
              <a:rPr lang="en-US" sz="2400" b="1" baseline="30000" dirty="0">
                <a:solidFill>
                  <a:srgbClr val="FFFFFF"/>
                </a:solidFill>
                <a:latin typeface="Cambria" pitchFamily="34" charset="0"/>
                <a:ea typeface="Cambria" pitchFamily="34" charset="-122"/>
                <a:cs typeface="Cambria" pitchFamily="34" charset="-120"/>
              </a:rPr>
              <a:t>I</a:t>
            </a:r>
            <a:endParaRPr lang="en-US" sz="2400" dirty="0"/>
          </a:p>
          <a:p>
            <a:pPr algn="ctr" indent="0" marL="0">
              <a:buNone/>
            </a:pPr>
            <a:r>
              <a:rPr lang="en-US" sz="1400" dirty="0">
                <a:solidFill>
                  <a:srgbClr val="FFFFFF"/>
                </a:solidFill>
                <a:latin typeface="Calibri" pitchFamily="34" charset="0"/>
                <a:ea typeface="Calibri" pitchFamily="34" charset="-122"/>
                <a:cs typeface="Calibri" pitchFamily="34" charset="-120"/>
              </a:rPr>
              <a:t>X</a:t>
            </a:r>
            <a:r>
              <a:rPr lang="en-US" sz="1400" baseline="-25000" dirty="0">
                <a:solidFill>
                  <a:srgbClr val="FFFFFF"/>
                </a:solidFill>
                <a:latin typeface="Calibri" pitchFamily="34" charset="0"/>
                <a:ea typeface="Calibri" pitchFamily="34" charset="-122"/>
                <a:cs typeface="Calibri" pitchFamily="34" charset="-120"/>
              </a:rPr>
              <a:t>R</a:t>
            </a:r>
            <a:r>
              <a:rPr lang="en-US" sz="1400" baseline="30000" dirty="0">
                <a:solidFill>
                  <a:srgbClr val="FFFFFF"/>
                </a:solidFill>
                <a:latin typeface="Calibri" pitchFamily="34" charset="0"/>
                <a:ea typeface="Calibri" pitchFamily="34" charset="-122"/>
                <a:cs typeface="Calibri" pitchFamily="34" charset="-120"/>
              </a:rPr>
              <a:t>I⊤</a:t>
            </a:r>
            <a:r>
              <a:rPr lang="en-US" sz="1400" dirty="0">
                <a:solidFill>
                  <a:srgbClr val="FFFFFF"/>
                </a:solidFill>
                <a:latin typeface="Calibri" pitchFamily="34" charset="0"/>
                <a:ea typeface="Calibri" pitchFamily="34" charset="-122"/>
                <a:cs typeface="Calibri" pitchFamily="34" charset="-120"/>
              </a:rPr>
              <a:t> y</a:t>
            </a:r>
            <a:r>
              <a:rPr lang="en-US" sz="1400" baseline="30000" dirty="0">
                <a:solidFill>
                  <a:srgbClr val="FFFFFF"/>
                </a:solidFill>
                <a:latin typeface="Calibri" pitchFamily="34" charset="0"/>
                <a:ea typeface="Calibri" pitchFamily="34" charset="-122"/>
                <a:cs typeface="Calibri" pitchFamily="34" charset="-120"/>
              </a:rPr>
              <a:t>I</a:t>
            </a:r>
            <a:endParaRPr lang="en-US" sz="2400" dirty="0"/>
          </a:p>
        </p:txBody>
      </p:sp>
      <p:sp>
        <p:nvSpPr>
          <p:cNvPr id="15" name="Shape 12"/>
          <p:cNvSpPr/>
          <p:nvPr/>
        </p:nvSpPr>
        <p:spPr>
          <a:xfrm>
            <a:off x="4023360" y="3886200"/>
            <a:ext cx="1417320" cy="1417320"/>
          </a:xfrm>
          <a:prstGeom prst="rect">
            <a:avLst/>
          </a:prstGeom>
          <a:solidFill>
            <a:srgbClr val="F3D2BC"/>
          </a:solidFill>
          <a:ln w="25400">
            <a:solidFill>
              <a:srgbClr val="FFFFFF"/>
            </a:solidFill>
            <a:prstDash val="solid"/>
          </a:ln>
        </p:spPr>
      </p:sp>
      <p:sp>
        <p:nvSpPr>
          <p:cNvPr id="16" name="Text 13"/>
          <p:cNvSpPr txBox="1"/>
          <p:nvPr/>
        </p:nvSpPr>
        <p:spPr>
          <a:xfrm>
            <a:off x="4023360" y="388620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14213D"/>
                </a:solidFill>
                <a:latin typeface="Cambria" pitchFamily="34" charset="0"/>
                <a:ea typeface="Cambria" pitchFamily="34" charset="-122"/>
                <a:cs typeface="Cambria" pitchFamily="34" charset="-120"/>
              </a:rPr>
              <a:t>c</a:t>
            </a:r>
            <a:r>
              <a:rPr lang="en-US" sz="2400" b="1" baseline="-25000" dirty="0">
                <a:solidFill>
                  <a:srgbClr val="14213D"/>
                </a:solidFill>
                <a:latin typeface="Cambria" pitchFamily="34" charset="0"/>
                <a:ea typeface="Cambria" pitchFamily="34" charset="-122"/>
                <a:cs typeface="Cambria" pitchFamily="34" charset="-120"/>
              </a:rPr>
              <a:t>O</a:t>
            </a:r>
            <a:r>
              <a:rPr lang="en-US" sz="2400" b="1" baseline="30000" dirty="0">
                <a:solidFill>
                  <a:srgbClr val="14213D"/>
                </a:solidFill>
                <a:latin typeface="Cambria" pitchFamily="34" charset="0"/>
                <a:ea typeface="Cambria" pitchFamily="34" charset="-122"/>
                <a:cs typeface="Cambria" pitchFamily="34" charset="-120"/>
              </a:rPr>
              <a:t>I</a:t>
            </a:r>
            <a:endParaRPr lang="en-US" sz="2400" dirty="0"/>
          </a:p>
          <a:p>
            <a:pPr algn="ctr" indent="0" marL="0">
              <a:buNone/>
            </a:pPr>
            <a:r>
              <a:rPr lang="en-US" sz="1400" dirty="0">
                <a:solidFill>
                  <a:srgbClr val="14213D"/>
                </a:solidFill>
                <a:latin typeface="Calibri" pitchFamily="34" charset="0"/>
                <a:ea typeface="Calibri" pitchFamily="34" charset="-122"/>
                <a:cs typeface="Calibri" pitchFamily="34" charset="-120"/>
              </a:rPr>
              <a:t>X</a:t>
            </a:r>
            <a:r>
              <a:rPr lang="en-US" sz="1400" baseline="-25000" dirty="0">
                <a:solidFill>
                  <a:srgbClr val="14213D"/>
                </a:solidFill>
                <a:latin typeface="Calibri" pitchFamily="34" charset="0"/>
                <a:ea typeface="Calibri" pitchFamily="34" charset="-122"/>
                <a:cs typeface="Calibri" pitchFamily="34" charset="-120"/>
              </a:rPr>
              <a:t>O</a:t>
            </a:r>
            <a:r>
              <a:rPr lang="en-US" sz="1400" baseline="30000" dirty="0">
                <a:solidFill>
                  <a:srgbClr val="14213D"/>
                </a:solidFill>
                <a:latin typeface="Calibri" pitchFamily="34" charset="0"/>
                <a:ea typeface="Calibri" pitchFamily="34" charset="-122"/>
                <a:cs typeface="Calibri" pitchFamily="34" charset="-120"/>
              </a:rPr>
              <a:t>I⊤</a:t>
            </a:r>
            <a:r>
              <a:rPr lang="en-US" sz="1400" dirty="0">
                <a:solidFill>
                  <a:srgbClr val="14213D"/>
                </a:solidFill>
                <a:latin typeface="Calibri" pitchFamily="34" charset="0"/>
                <a:ea typeface="Calibri" pitchFamily="34" charset="-122"/>
                <a:cs typeface="Calibri" pitchFamily="34" charset="-120"/>
              </a:rPr>
              <a:t> y</a:t>
            </a:r>
            <a:r>
              <a:rPr lang="en-US" sz="1400" baseline="30000" dirty="0">
                <a:solidFill>
                  <a:srgbClr val="14213D"/>
                </a:solidFill>
                <a:latin typeface="Calibri" pitchFamily="34" charset="0"/>
                <a:ea typeface="Calibri" pitchFamily="34" charset="-122"/>
                <a:cs typeface="Calibri" pitchFamily="34" charset="-120"/>
              </a:rPr>
              <a:t>I</a:t>
            </a:r>
            <a:endParaRPr lang="en-US" sz="2400" dirty="0"/>
          </a:p>
        </p:txBody>
      </p:sp>
      <p:sp>
        <p:nvSpPr>
          <p:cNvPr id="17" name="Text 14"/>
          <p:cNvSpPr txBox="1"/>
          <p:nvPr/>
        </p:nvSpPr>
        <p:spPr>
          <a:xfrm>
            <a:off x="822960" y="5394960"/>
            <a:ext cx="2834640" cy="365760"/>
          </a:xfrm>
          <a:prstGeom prst="rect">
            <a:avLst/>
          </a:prstGeom>
          <a:noFill/>
          <a:ln/>
        </p:spPr>
        <p:txBody>
          <a:bodyPr wrap="square" lIns="0" tIns="0" rIns="0" bIns="0" rtlCol="0" anchor="t"/>
          <a:lstStyle/>
          <a:p>
            <a:pPr algn="ctr" indent="0" marL="0">
              <a:buNone/>
            </a:pPr>
            <a:r>
              <a:rPr lang="en-US" sz="1600" dirty="0">
                <a:solidFill>
                  <a:srgbClr val="5B6576"/>
                </a:solidFill>
                <a:latin typeface="Cambria" pitchFamily="34" charset="0"/>
                <a:ea typeface="Cambria" pitchFamily="34" charset="-122"/>
                <a:cs typeface="Cambria" pitchFamily="34" charset="-120"/>
              </a:rPr>
              <a:t>G</a:t>
            </a:r>
            <a:r>
              <a:rPr lang="en-US" sz="1600" baseline="30000" dirty="0">
                <a:solidFill>
                  <a:srgbClr val="5B6576"/>
                </a:solidFill>
                <a:latin typeface="Cambria" pitchFamily="34" charset="0"/>
                <a:ea typeface="Cambria" pitchFamily="34" charset="-122"/>
                <a:cs typeface="Cambria" pitchFamily="34" charset="-120"/>
              </a:rPr>
              <a:t>I</a:t>
            </a:r>
            <a:r>
              <a:rPr lang="en-US" sz="1600" dirty="0">
                <a:solidFill>
                  <a:srgbClr val="5B6576"/>
                </a:solidFill>
                <a:latin typeface="Cambria" pitchFamily="34" charset="0"/>
                <a:ea typeface="Cambria" pitchFamily="34" charset="-122"/>
                <a:cs typeface="Cambria" pitchFamily="34" charset="-120"/>
              </a:rPr>
              <a:t> = Z</a:t>
            </a:r>
            <a:r>
              <a:rPr lang="en-US" sz="1600" baseline="30000" dirty="0">
                <a:solidFill>
                  <a:srgbClr val="5B6576"/>
                </a:solidFill>
                <a:latin typeface="Cambria" pitchFamily="34" charset="0"/>
                <a:ea typeface="Cambria" pitchFamily="34" charset="-122"/>
                <a:cs typeface="Cambria" pitchFamily="34" charset="-120"/>
              </a:rPr>
              <a:t>T</a:t>
            </a:r>
            <a:r>
              <a:rPr lang="en-US" sz="1600" dirty="0">
                <a:solidFill>
                  <a:srgbClr val="5B6576"/>
                </a:solidFill>
                <a:latin typeface="Cambria" pitchFamily="34" charset="0"/>
                <a:ea typeface="Cambria" pitchFamily="34" charset="-122"/>
                <a:cs typeface="Cambria" pitchFamily="34" charset="-120"/>
              </a:rPr>
              <a:t>Z</a:t>
            </a:r>
            <a:endParaRPr lang="en-US" sz="1600" dirty="0"/>
          </a:p>
        </p:txBody>
      </p:sp>
      <p:sp>
        <p:nvSpPr>
          <p:cNvPr id="18" name="Text 15"/>
          <p:cNvSpPr txBox="1"/>
          <p:nvPr/>
        </p:nvSpPr>
        <p:spPr>
          <a:xfrm>
            <a:off x="4023360" y="5394960"/>
            <a:ext cx="1417320" cy="365760"/>
          </a:xfrm>
          <a:prstGeom prst="rect">
            <a:avLst/>
          </a:prstGeom>
          <a:noFill/>
          <a:ln/>
        </p:spPr>
        <p:txBody>
          <a:bodyPr wrap="square" lIns="0" tIns="0" rIns="0" bIns="0" rtlCol="0" anchor="t"/>
          <a:lstStyle/>
          <a:p>
            <a:pPr algn="ctr" indent="0" marL="0">
              <a:buNone/>
            </a:pPr>
            <a:r>
              <a:rPr lang="en-US" sz="1600" dirty="0">
                <a:solidFill>
                  <a:srgbClr val="5B6576"/>
                </a:solidFill>
                <a:latin typeface="Cambria" pitchFamily="34" charset="0"/>
                <a:ea typeface="Cambria" pitchFamily="34" charset="-122"/>
                <a:cs typeface="Cambria" pitchFamily="34" charset="-120"/>
              </a:rPr>
              <a:t>c</a:t>
            </a:r>
            <a:r>
              <a:rPr lang="en-US" sz="1600" baseline="30000" dirty="0">
                <a:solidFill>
                  <a:srgbClr val="5B6576"/>
                </a:solidFill>
                <a:latin typeface="Cambria" pitchFamily="34" charset="0"/>
                <a:ea typeface="Cambria" pitchFamily="34" charset="-122"/>
                <a:cs typeface="Cambria" pitchFamily="34" charset="-120"/>
              </a:rPr>
              <a:t>I</a:t>
            </a:r>
            <a:r>
              <a:rPr lang="en-US" sz="1600" dirty="0">
                <a:solidFill>
                  <a:srgbClr val="5B6576"/>
                </a:solidFill>
                <a:latin typeface="Cambria" pitchFamily="34" charset="0"/>
                <a:ea typeface="Cambria" pitchFamily="34" charset="-122"/>
                <a:cs typeface="Cambria" pitchFamily="34" charset="-120"/>
              </a:rPr>
              <a:t> = Z</a:t>
            </a:r>
            <a:r>
              <a:rPr lang="en-US" sz="1600" baseline="30000" dirty="0">
                <a:solidFill>
                  <a:srgbClr val="5B6576"/>
                </a:solidFill>
                <a:latin typeface="Cambria" pitchFamily="34" charset="0"/>
                <a:ea typeface="Cambria" pitchFamily="34" charset="-122"/>
                <a:cs typeface="Cambria" pitchFamily="34" charset="-120"/>
              </a:rPr>
              <a:t>T</a:t>
            </a:r>
            <a:r>
              <a:rPr lang="en-US" sz="1600" dirty="0">
                <a:solidFill>
                  <a:srgbClr val="5B6576"/>
                </a:solidFill>
                <a:latin typeface="Cambria" pitchFamily="34" charset="0"/>
                <a:ea typeface="Cambria" pitchFamily="34" charset="-122"/>
                <a:cs typeface="Cambria" pitchFamily="34" charset="-120"/>
              </a:rPr>
              <a:t>y</a:t>
            </a:r>
            <a:r>
              <a:rPr lang="en-US" sz="1600" baseline="30000" dirty="0">
                <a:solidFill>
                  <a:srgbClr val="5B6576"/>
                </a:solidFill>
                <a:latin typeface="Cambria" pitchFamily="34" charset="0"/>
                <a:ea typeface="Cambria" pitchFamily="34" charset="-122"/>
                <a:cs typeface="Cambria" pitchFamily="34" charset="-120"/>
              </a:rPr>
              <a:t>I</a:t>
            </a:r>
            <a:endParaRPr lang="en-US" sz="1600" dirty="0"/>
          </a:p>
        </p:txBody>
      </p:sp>
      <p:sp>
        <p:nvSpPr>
          <p:cNvPr id="19" name="Shape 16"/>
          <p:cNvSpPr/>
          <p:nvPr/>
        </p:nvSpPr>
        <p:spPr>
          <a:xfrm>
            <a:off x="6126480" y="2487168"/>
            <a:ext cx="365760" cy="365760"/>
          </a:xfrm>
          <a:prstGeom prst="rect">
            <a:avLst/>
          </a:prstGeom>
          <a:solidFill>
            <a:srgbClr val="C9DCF5"/>
          </a:solidFill>
          <a:ln w="12700">
            <a:solidFill>
              <a:srgbClr val="C9DCF5"/>
            </a:solidFill>
            <a:prstDash val="solid"/>
          </a:ln>
        </p:spPr>
      </p:sp>
      <p:sp>
        <p:nvSpPr>
          <p:cNvPr id="20" name="Text 17"/>
          <p:cNvSpPr txBox="1"/>
          <p:nvPr/>
        </p:nvSpPr>
        <p:spPr>
          <a:xfrm>
            <a:off x="6629400" y="2468880"/>
            <a:ext cx="4983480" cy="59436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R's rows in I only: R computes it exactly, and it never leaves R</a:t>
            </a:r>
            <a:endParaRPr lang="en-US" sz="1450" dirty="0"/>
          </a:p>
        </p:txBody>
      </p:sp>
      <p:sp>
        <p:nvSpPr>
          <p:cNvPr id="21" name="Shape 18"/>
          <p:cNvSpPr/>
          <p:nvPr/>
        </p:nvSpPr>
        <p:spPr>
          <a:xfrm>
            <a:off x="6126480" y="3145536"/>
            <a:ext cx="365760" cy="365760"/>
          </a:xfrm>
          <a:prstGeom prst="rect">
            <a:avLst/>
          </a:prstGeom>
          <a:solidFill>
            <a:srgbClr val="F3D2BC"/>
          </a:solidFill>
          <a:ln w="12700">
            <a:solidFill>
              <a:srgbClr val="F3D2BC"/>
            </a:solidFill>
            <a:prstDash val="solid"/>
          </a:ln>
        </p:spPr>
      </p:sp>
      <p:sp>
        <p:nvSpPr>
          <p:cNvPr id="22" name="Text 19"/>
          <p:cNvSpPr txBox="1"/>
          <p:nvPr/>
        </p:nvSpPr>
        <p:spPr>
          <a:xfrm>
            <a:off x="6629400" y="3127248"/>
            <a:ext cx="4983480" cy="59436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O's rows π(I) only, as is (y</a:t>
            </a:r>
            <a:r>
              <a:rPr lang="en-US" sz="1450" baseline="30000" dirty="0">
                <a:solidFill>
                  <a:srgbClr val="1F2937"/>
                </a:solidFill>
                <a:latin typeface="Calibri" pitchFamily="34" charset="0"/>
                <a:ea typeface="Calibri" pitchFamily="34" charset="-122"/>
                <a:cs typeface="Calibri" pitchFamily="34" charset="-120"/>
              </a:rPr>
              <a:t>T</a:t>
            </a:r>
            <a:r>
              <a:rPr lang="en-US" sz="1450" dirty="0">
                <a:solidFill>
                  <a:srgbClr val="1F2937"/>
                </a:solidFill>
                <a:latin typeface="Calibri" pitchFamily="34" charset="0"/>
                <a:ea typeface="Calibri" pitchFamily="34" charset="-122"/>
                <a:cs typeface="Calibri" pitchFamily="34" charset="-120"/>
              </a:rPr>
              <a:t>y)</a:t>
            </a:r>
            <a:r>
              <a:rPr lang="en-US" sz="1450" baseline="30000" dirty="0">
                <a:solidFill>
                  <a:srgbClr val="1F2937"/>
                </a:solidFill>
                <a:latin typeface="Calibri" pitchFamily="34" charset="0"/>
                <a:ea typeface="Calibri" pitchFamily="34" charset="-122"/>
                <a:cs typeface="Calibri" pitchFamily="34" charset="-120"/>
              </a:rPr>
              <a:t>I</a:t>
            </a:r>
            <a:r>
              <a:rPr lang="en-US" sz="1450" dirty="0">
                <a:solidFill>
                  <a:srgbClr val="1F2937"/>
                </a:solidFill>
                <a:latin typeface="Calibri" pitchFamily="34" charset="0"/>
                <a:ea typeface="Calibri" pitchFamily="34" charset="-122"/>
                <a:cs typeface="Calibri" pitchFamily="34" charset="-120"/>
              </a:rPr>
              <a:t>: depends on which rows match, not on how they pair</a:t>
            </a:r>
            <a:endParaRPr lang="en-US" sz="1450" dirty="0"/>
          </a:p>
        </p:txBody>
      </p:sp>
      <p:sp>
        <p:nvSpPr>
          <p:cNvPr id="23" name="Shape 20"/>
          <p:cNvSpPr/>
          <p:nvPr/>
        </p:nvSpPr>
        <p:spPr>
          <a:xfrm>
            <a:off x="6126480" y="3803904"/>
            <a:ext cx="365760" cy="365760"/>
          </a:xfrm>
          <a:prstGeom prst="rect">
            <a:avLst/>
          </a:prstGeom>
          <a:solidFill>
            <a:srgbClr val="C45A0C"/>
          </a:solidFill>
          <a:ln w="12700">
            <a:solidFill>
              <a:srgbClr val="C45A0C"/>
            </a:solidFill>
            <a:prstDash val="solid"/>
          </a:ln>
        </p:spPr>
      </p:sp>
      <p:sp>
        <p:nvSpPr>
          <p:cNvPr id="24" name="Text 21"/>
          <p:cNvSpPr txBox="1"/>
          <p:nvPr/>
        </p:nvSpPr>
        <p:spPr>
          <a:xfrm>
            <a:off x="6629400" y="3785616"/>
            <a:ext cx="4983480" cy="59436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Cross-party: pairs R's row i with O's row π(i), so it depends on the bijection π</a:t>
            </a:r>
            <a:endParaRPr lang="en-US" sz="1450" dirty="0"/>
          </a:p>
        </p:txBody>
      </p:sp>
      <p:sp>
        <p:nvSpPr>
          <p:cNvPr id="25" name="Shape 22"/>
          <p:cNvSpPr/>
          <p:nvPr/>
        </p:nvSpPr>
        <p:spPr>
          <a:xfrm>
            <a:off x="6126480" y="4526280"/>
            <a:ext cx="5486400" cy="1691640"/>
          </a:xfrm>
          <a:prstGeom prst="roundRect">
            <a:avLst>
              <a:gd name="adj" fmla="val 4324"/>
            </a:avLst>
          </a:prstGeom>
          <a:solidFill>
            <a:srgbClr val="F6E3D6"/>
          </a:solidFill>
          <a:ln w="12700">
            <a:solidFill>
              <a:srgbClr val="F6E3D6"/>
            </a:solidFill>
            <a:prstDash val="solid"/>
          </a:ln>
        </p:spPr>
      </p:sp>
      <p:sp>
        <p:nvSpPr>
          <p:cNvPr id="26" name="Text 23"/>
          <p:cNvSpPr txBox="1"/>
          <p:nvPr/>
        </p:nvSpPr>
        <p:spPr>
          <a:xfrm>
            <a:off x="6355080" y="4636008"/>
            <a:ext cx="5074920" cy="1508760"/>
          </a:xfrm>
          <a:prstGeom prst="rect">
            <a:avLst/>
          </a:prstGeom>
          <a:noFill/>
          <a:ln/>
        </p:spPr>
        <p:txBody>
          <a:bodyPr wrap="square" lIns="0" tIns="0" rIns="0" bIns="0" rtlCol="0" anchor="ctr"/>
          <a:lstStyle/>
          <a:p>
            <a:pPr indent="0" marL="0">
              <a:buNone/>
            </a:pPr>
            <a:r>
              <a:rPr lang="en-US" sz="1350" b="1" dirty="0">
                <a:solidFill>
                  <a:srgbClr val="14213D"/>
                </a:solidFill>
                <a:latin typeface="Calibri" pitchFamily="34" charset="0"/>
                <a:ea typeface="Calibri" pitchFamily="34" charset="-122"/>
                <a:cs typeface="Calibri" pitchFamily="34" charset="-120"/>
              </a:rPr>
              <a:t>I</a:t>
            </a:r>
            <a:r>
              <a:rPr lang="en-US" sz="1350" dirty="0">
                <a:solidFill>
                  <a:srgbClr val="14213D"/>
                </a:solidFill>
                <a:latin typeface="Calibri" pitchFamily="34" charset="0"/>
                <a:ea typeface="Calibri" pitchFamily="34" charset="-122"/>
                <a:cs typeface="Calibri" pitchFamily="34" charset="-120"/>
              </a:rPr>
              <a:t> = the cohort members found in O's register. </a:t>
            </a:r>
            <a:r>
              <a:rPr lang="en-US" sz="1350" b="1" dirty="0">
                <a:solidFill>
                  <a:srgbClr val="14213D"/>
                </a:solidFill>
                <a:latin typeface="Calibri" pitchFamily="34" charset="0"/>
                <a:ea typeface="Calibri" pitchFamily="34" charset="-122"/>
                <a:cs typeface="Calibri" pitchFamily="34" charset="-120"/>
              </a:rPr>
              <a:t>π</a:t>
            </a:r>
            <a:r>
              <a:rPr lang="en-US" sz="1350" dirty="0">
                <a:solidFill>
                  <a:srgbClr val="14213D"/>
                </a:solidFill>
                <a:latin typeface="Calibri" pitchFamily="34" charset="0"/>
                <a:ea typeface="Calibri" pitchFamily="34" charset="-122"/>
                <a:cs typeface="Calibri" pitchFamily="34" charset="-120"/>
              </a:rPr>
              <a:t> = the bijection from I to O's matching rows; X</a:t>
            </a:r>
            <a:r>
              <a:rPr lang="en-US" sz="1350" baseline="-25000" dirty="0">
                <a:solidFill>
                  <a:srgbClr val="14213D"/>
                </a:solidFill>
                <a:latin typeface="Calibri" pitchFamily="34" charset="0"/>
                <a:ea typeface="Calibri" pitchFamily="34" charset="-122"/>
                <a:cs typeface="Calibri" pitchFamily="34" charset="-120"/>
              </a:rPr>
              <a:t>O</a:t>
            </a:r>
            <a:r>
              <a:rPr lang="en-US" sz="1350" baseline="30000" dirty="0">
                <a:solidFill>
                  <a:srgbClr val="14213D"/>
                </a:solidFill>
                <a:latin typeface="Calibri" pitchFamily="34" charset="0"/>
                <a:ea typeface="Calibri" pitchFamily="34" charset="-122"/>
                <a:cs typeface="Calibri" pitchFamily="34" charset="-120"/>
              </a:rPr>
              <a:t>I</a:t>
            </a:r>
            <a:r>
              <a:rPr lang="en-US" sz="1350" dirty="0">
                <a:solidFill>
                  <a:srgbClr val="14213D"/>
                </a:solidFill>
                <a:latin typeface="Calibri" pitchFamily="34" charset="0"/>
                <a:ea typeface="Calibri" pitchFamily="34" charset="-122"/>
                <a:cs typeface="Calibri" pitchFamily="34" charset="-120"/>
              </a:rPr>
              <a:t> and y</a:t>
            </a:r>
            <a:r>
              <a:rPr lang="en-US" sz="1350" baseline="30000" dirty="0">
                <a:solidFill>
                  <a:srgbClr val="14213D"/>
                </a:solidFill>
                <a:latin typeface="Calibri" pitchFamily="34" charset="0"/>
                <a:ea typeface="Calibri" pitchFamily="34" charset="-122"/>
                <a:cs typeface="Calibri" pitchFamily="34" charset="-120"/>
              </a:rPr>
              <a:t>I</a:t>
            </a:r>
            <a:r>
              <a:rPr lang="en-US" sz="1350" dirty="0">
                <a:solidFill>
                  <a:srgbClr val="14213D"/>
                </a:solidFill>
                <a:latin typeface="Calibri" pitchFamily="34" charset="0"/>
                <a:ea typeface="Calibri" pitchFamily="34" charset="-122"/>
                <a:cs typeface="Calibri" pitchFamily="34" charset="-120"/>
              </a:rPr>
              <a:t> list O's rows π(i) in the order of I. Everything that touches O's data is computed under encryption and released to R only with noise. From here on we drop the superscript I.</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Three requirements</a:t>
            </a:r>
            <a:endParaRPr lang="en-US" sz="3200" dirty="0"/>
          </a:p>
        </p:txBody>
      </p:sp>
      <p:sp>
        <p:nvSpPr>
          <p:cNvPr id="3" name="Shape 1"/>
          <p:cNvSpPr/>
          <p:nvPr/>
        </p:nvSpPr>
        <p:spPr>
          <a:xfrm>
            <a:off x="548640" y="1417320"/>
            <a:ext cx="3566160" cy="3154680"/>
          </a:xfrm>
          <a:prstGeom prst="roundRect">
            <a:avLst>
              <a:gd name="adj" fmla="val 2319"/>
            </a:avLst>
          </a:prstGeom>
          <a:solidFill>
            <a:srgbClr val="EEF2F7"/>
          </a:solidFill>
          <a:ln w="12700">
            <a:solidFill>
              <a:srgbClr val="EEF2F7"/>
            </a:solidFill>
            <a:prstDash val="solid"/>
          </a:ln>
        </p:spPr>
      </p:sp>
      <p:sp>
        <p:nvSpPr>
          <p:cNvPr id="4" name="Shape 2"/>
          <p:cNvSpPr/>
          <p:nvPr/>
        </p:nvSpPr>
        <p:spPr>
          <a:xfrm>
            <a:off x="822960" y="1691640"/>
            <a:ext cx="777240" cy="77724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1009498" y="1878178"/>
            <a:ext cx="404165" cy="404165"/>
          </a:xfrm>
          <a:prstGeom prst="rect">
            <a:avLst/>
          </a:prstGeom>
        </p:spPr>
      </p:pic>
      <p:sp>
        <p:nvSpPr>
          <p:cNvPr id="6" name="Text 3"/>
          <p:cNvSpPr txBox="1"/>
          <p:nvPr/>
        </p:nvSpPr>
        <p:spPr>
          <a:xfrm>
            <a:off x="822960" y="2651760"/>
            <a:ext cx="3017520" cy="457200"/>
          </a:xfrm>
          <a:prstGeom prst="rect">
            <a:avLst/>
          </a:prstGeom>
          <a:noFill/>
          <a:ln/>
        </p:spPr>
        <p:txBody>
          <a:bodyPr wrap="square" lIns="0" tIns="0" rIns="0" bIns="0" rtlCol="0" anchor="t"/>
          <a:lstStyle/>
          <a:p>
            <a:pPr indent="0" marL="0">
              <a:buNone/>
            </a:pPr>
            <a:r>
              <a:rPr lang="en-US" sz="2100" b="1" dirty="0">
                <a:solidFill>
                  <a:srgbClr val="14213D"/>
                </a:solidFill>
                <a:latin typeface="Cambria" pitchFamily="34" charset="0"/>
                <a:ea typeface="Cambria" pitchFamily="34" charset="-122"/>
                <a:cs typeface="Cambria" pitchFamily="34" charset="-120"/>
              </a:rPr>
              <a:t>Input privacy</a:t>
            </a:r>
            <a:endParaRPr lang="en-US" sz="2100" dirty="0"/>
          </a:p>
        </p:txBody>
      </p:sp>
      <p:sp>
        <p:nvSpPr>
          <p:cNvPr id="7" name="Text 4"/>
          <p:cNvSpPr txBox="1"/>
          <p:nvPr/>
        </p:nvSpPr>
        <p:spPr>
          <a:xfrm>
            <a:off x="822960" y="3154680"/>
            <a:ext cx="3063240" cy="137160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O learns nothing about R's features. Its whole view can be simulated from public sizes.</a:t>
            </a:r>
            <a:endParaRPr lang="en-US" sz="1500" dirty="0"/>
          </a:p>
        </p:txBody>
      </p:sp>
      <p:sp>
        <p:nvSpPr>
          <p:cNvPr id="8" name="Shape 5"/>
          <p:cNvSpPr/>
          <p:nvPr/>
        </p:nvSpPr>
        <p:spPr>
          <a:xfrm>
            <a:off x="4343400" y="1417320"/>
            <a:ext cx="3566160" cy="3154680"/>
          </a:xfrm>
          <a:prstGeom prst="roundRect">
            <a:avLst>
              <a:gd name="adj" fmla="val 2319"/>
            </a:avLst>
          </a:prstGeom>
          <a:solidFill>
            <a:srgbClr val="EEF2F7"/>
          </a:solidFill>
          <a:ln w="12700">
            <a:solidFill>
              <a:srgbClr val="EEF2F7"/>
            </a:solidFill>
            <a:prstDash val="solid"/>
          </a:ln>
        </p:spPr>
      </p:sp>
      <p:sp>
        <p:nvSpPr>
          <p:cNvPr id="9" name="Shape 6"/>
          <p:cNvSpPr/>
          <p:nvPr/>
        </p:nvSpPr>
        <p:spPr>
          <a:xfrm>
            <a:off x="4617720" y="1691640"/>
            <a:ext cx="777240" cy="777240"/>
          </a:xfrm>
          <a:prstGeom prst="ellipse">
            <a:avLst/>
          </a:prstGeom>
          <a:solidFill>
            <a:srgbClr val="1B8A7A"/>
          </a:solidFill>
          <a:ln w="12700">
            <a:solidFill>
              <a:srgbClr val="1B8A7A"/>
            </a:solidFill>
            <a:prstDash val="solid"/>
          </a:ln>
        </p:spPr>
      </p:sp>
      <p:pic>
        <p:nvPicPr>
          <p:cNvPr id="10" name="Image 1" descr="preencoded.png">    </p:cNvPr>
          <p:cNvPicPr>
            <a:picLocks noChangeAspect="1"/>
          </p:cNvPicPr>
          <p:nvPr/>
        </p:nvPicPr>
        <p:blipFill>
          <a:blip r:embed="rId2"/>
          <a:stretch>
            <a:fillRect/>
          </a:stretch>
        </p:blipFill>
        <p:spPr>
          <a:xfrm>
            <a:off x="4804258" y="1878178"/>
            <a:ext cx="404165" cy="404165"/>
          </a:xfrm>
          <a:prstGeom prst="rect">
            <a:avLst/>
          </a:prstGeom>
        </p:spPr>
      </p:pic>
      <p:sp>
        <p:nvSpPr>
          <p:cNvPr id="11" name="Text 7"/>
          <p:cNvSpPr txBox="1"/>
          <p:nvPr/>
        </p:nvSpPr>
        <p:spPr>
          <a:xfrm>
            <a:off x="4617720" y="2651760"/>
            <a:ext cx="3017520" cy="457200"/>
          </a:xfrm>
          <a:prstGeom prst="rect">
            <a:avLst/>
          </a:prstGeom>
          <a:noFill/>
          <a:ln/>
        </p:spPr>
        <p:txBody>
          <a:bodyPr wrap="square" lIns="0" tIns="0" rIns="0" bIns="0" rtlCol="0" anchor="t"/>
          <a:lstStyle/>
          <a:p>
            <a:pPr indent="0" marL="0">
              <a:buNone/>
            </a:pPr>
            <a:r>
              <a:rPr lang="en-US" sz="2100" b="1" dirty="0">
                <a:solidFill>
                  <a:srgbClr val="14213D"/>
                </a:solidFill>
                <a:latin typeface="Cambria" pitchFamily="34" charset="0"/>
                <a:ea typeface="Cambria" pitchFamily="34" charset="-122"/>
                <a:cs typeface="Cambria" pitchFamily="34" charset="-120"/>
              </a:rPr>
              <a:t>Cohort privacy</a:t>
            </a:r>
            <a:endParaRPr lang="en-US" sz="2100" dirty="0"/>
          </a:p>
        </p:txBody>
      </p:sp>
      <p:sp>
        <p:nvSpPr>
          <p:cNvPr id="12" name="Text 8"/>
          <p:cNvSpPr txBox="1"/>
          <p:nvPr/>
        </p:nvSpPr>
        <p:spPr>
          <a:xfrm>
            <a:off x="4617720" y="3154680"/>
            <a:ext cx="3063240" cy="137160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O learns nothing about who is in R's cohort, not even its exact size.</a:t>
            </a:r>
            <a:endParaRPr lang="en-US" sz="1500" dirty="0"/>
          </a:p>
        </p:txBody>
      </p:sp>
      <p:sp>
        <p:nvSpPr>
          <p:cNvPr id="13" name="Shape 9"/>
          <p:cNvSpPr/>
          <p:nvPr/>
        </p:nvSpPr>
        <p:spPr>
          <a:xfrm>
            <a:off x="8138160" y="1417320"/>
            <a:ext cx="3566160" cy="3154680"/>
          </a:xfrm>
          <a:prstGeom prst="roundRect">
            <a:avLst>
              <a:gd name="adj" fmla="val 2319"/>
            </a:avLst>
          </a:prstGeom>
          <a:solidFill>
            <a:srgbClr val="EEF2F7"/>
          </a:solidFill>
          <a:ln w="12700">
            <a:solidFill>
              <a:srgbClr val="EEF2F7"/>
            </a:solidFill>
            <a:prstDash val="solid"/>
          </a:ln>
        </p:spPr>
      </p:sp>
      <p:sp>
        <p:nvSpPr>
          <p:cNvPr id="14" name="Shape 10"/>
          <p:cNvSpPr/>
          <p:nvPr/>
        </p:nvSpPr>
        <p:spPr>
          <a:xfrm>
            <a:off x="8412480" y="1691640"/>
            <a:ext cx="777240" cy="777240"/>
          </a:xfrm>
          <a:prstGeom prst="ellipse">
            <a:avLst/>
          </a:prstGeom>
          <a:solidFill>
            <a:srgbClr val="C45A0C"/>
          </a:solidFill>
          <a:ln w="12700">
            <a:solidFill>
              <a:srgbClr val="C45A0C"/>
            </a:solidFill>
            <a:prstDash val="solid"/>
          </a:ln>
        </p:spPr>
      </p:sp>
      <p:pic>
        <p:nvPicPr>
          <p:cNvPr id="15" name="Image 2" descr="preencoded.png">    </p:cNvPr>
          <p:cNvPicPr>
            <a:picLocks noChangeAspect="1"/>
          </p:cNvPicPr>
          <p:nvPr/>
        </p:nvPicPr>
        <p:blipFill>
          <a:blip r:embed="rId3"/>
          <a:stretch>
            <a:fillRect/>
          </a:stretch>
        </p:blipFill>
        <p:spPr>
          <a:xfrm>
            <a:off x="8599018" y="1878178"/>
            <a:ext cx="404165" cy="404165"/>
          </a:xfrm>
          <a:prstGeom prst="rect">
            <a:avLst/>
          </a:prstGeom>
        </p:spPr>
      </p:pic>
      <p:sp>
        <p:nvSpPr>
          <p:cNvPr id="16" name="Text 11"/>
          <p:cNvSpPr txBox="1"/>
          <p:nvPr/>
        </p:nvSpPr>
        <p:spPr>
          <a:xfrm>
            <a:off x="8412480" y="2651760"/>
            <a:ext cx="3017520" cy="457200"/>
          </a:xfrm>
          <a:prstGeom prst="rect">
            <a:avLst/>
          </a:prstGeom>
          <a:noFill/>
          <a:ln/>
        </p:spPr>
        <p:txBody>
          <a:bodyPr wrap="square" lIns="0" tIns="0" rIns="0" bIns="0" rtlCol="0" anchor="t"/>
          <a:lstStyle/>
          <a:p>
            <a:pPr indent="0" marL="0">
              <a:buNone/>
            </a:pPr>
            <a:r>
              <a:rPr lang="en-US" sz="2100" b="1" dirty="0">
                <a:solidFill>
                  <a:srgbClr val="14213D"/>
                </a:solidFill>
                <a:latin typeface="Cambria" pitchFamily="34" charset="0"/>
                <a:ea typeface="Cambria" pitchFamily="34" charset="-122"/>
                <a:cs typeface="Cambria" pitchFamily="34" charset="-120"/>
              </a:rPr>
              <a:t>Output privacy</a:t>
            </a:r>
            <a:endParaRPr lang="en-US" sz="2100" dirty="0"/>
          </a:p>
        </p:txBody>
      </p:sp>
      <p:sp>
        <p:nvSpPr>
          <p:cNvPr id="17" name="Text 12"/>
          <p:cNvSpPr txBox="1"/>
          <p:nvPr/>
        </p:nvSpPr>
        <p:spPr>
          <a:xfrm>
            <a:off x="8412480" y="3154680"/>
            <a:ext cx="3063240" cy="137160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Everything R receives is differentially private for each person's O-side data (x</a:t>
            </a:r>
            <a:r>
              <a:rPr lang="en-US" sz="1500" baseline="-25000" dirty="0">
                <a:solidFill>
                  <a:srgbClr val="1F2937"/>
                </a:solidFill>
                <a:latin typeface="Calibri" pitchFamily="34" charset="0"/>
                <a:ea typeface="Calibri" pitchFamily="34" charset="-122"/>
                <a:cs typeface="Calibri" pitchFamily="34" charset="-120"/>
              </a:rPr>
              <a:t>O</a:t>
            </a:r>
            <a:r>
              <a:rPr lang="en-US" sz="1500" dirty="0">
                <a:solidFill>
                  <a:srgbClr val="1F2937"/>
                </a:solidFill>
                <a:latin typeface="Calibri" pitchFamily="34" charset="0"/>
                <a:ea typeface="Calibri" pitchFamily="34" charset="-122"/>
                <a:cs typeface="Calibri" pitchFamily="34" charset="-120"/>
              </a:rPr>
              <a:t>, y).</a:t>
            </a:r>
            <a:endParaRPr lang="en-US" sz="1500" dirty="0"/>
          </a:p>
        </p:txBody>
      </p:sp>
      <p:sp>
        <p:nvSpPr>
          <p:cNvPr id="18" name="Shape 13"/>
          <p:cNvSpPr/>
          <p:nvPr/>
        </p:nvSpPr>
        <p:spPr>
          <a:xfrm>
            <a:off x="548640" y="4846320"/>
            <a:ext cx="11064240" cy="1371600"/>
          </a:xfrm>
          <a:prstGeom prst="roundRect">
            <a:avLst>
              <a:gd name="adj" fmla="val 5333"/>
            </a:avLst>
          </a:prstGeom>
          <a:solidFill>
            <a:srgbClr val="F7F9FC"/>
          </a:solidFill>
          <a:ln w="12700">
            <a:solidFill>
              <a:srgbClr val="F7F9FC"/>
            </a:solidFill>
            <a:prstDash val="solid"/>
          </a:ln>
        </p:spPr>
      </p:sp>
      <p:sp>
        <p:nvSpPr>
          <p:cNvPr id="19" name="Shape 14"/>
          <p:cNvSpPr/>
          <p:nvPr/>
        </p:nvSpPr>
        <p:spPr>
          <a:xfrm>
            <a:off x="777240" y="5138928"/>
            <a:ext cx="731520" cy="731520"/>
          </a:xfrm>
          <a:prstGeom prst="ellipse">
            <a:avLst/>
          </a:prstGeom>
          <a:solidFill>
            <a:srgbClr val="14213D"/>
          </a:solidFill>
          <a:ln w="12700">
            <a:solidFill>
              <a:srgbClr val="14213D"/>
            </a:solidFill>
            <a:prstDash val="solid"/>
          </a:ln>
        </p:spPr>
      </p:sp>
      <p:pic>
        <p:nvPicPr>
          <p:cNvPr id="20" name="Image 3" descr="preencoded.png">    </p:cNvPr>
          <p:cNvPicPr>
            <a:picLocks noChangeAspect="1"/>
          </p:cNvPicPr>
          <p:nvPr/>
        </p:nvPicPr>
        <p:blipFill>
          <a:blip r:embed="rId4"/>
          <a:stretch>
            <a:fillRect/>
          </a:stretch>
        </p:blipFill>
        <p:spPr>
          <a:xfrm>
            <a:off x="952805" y="5314493"/>
            <a:ext cx="380390" cy="380390"/>
          </a:xfrm>
          <a:prstGeom prst="rect">
            <a:avLst/>
          </a:prstGeom>
        </p:spPr>
      </p:pic>
      <p:sp>
        <p:nvSpPr>
          <p:cNvPr id="21" name="Text 15"/>
          <p:cNvSpPr txBox="1"/>
          <p:nvPr/>
        </p:nvSpPr>
        <p:spPr>
          <a:xfrm>
            <a:off x="1737360" y="4983480"/>
            <a:ext cx="9692640" cy="1097280"/>
          </a:xfrm>
          <a:prstGeom prst="rect">
            <a:avLst/>
          </a:prstGeom>
          <a:noFill/>
          <a:ln/>
        </p:spPr>
        <p:txBody>
          <a:bodyPr wrap="square" lIns="0" tIns="0" rIns="0" bIns="0" rtlCol="0" anchor="ctr"/>
          <a:lstStyle/>
          <a:p>
            <a:pPr indent="0" marL="0">
              <a:buNone/>
            </a:pPr>
            <a:r>
              <a:rPr lang="en-US" sz="1550" b="1" dirty="0">
                <a:solidFill>
                  <a:srgbClr val="14213D"/>
                </a:solidFill>
                <a:latin typeface="Calibri" pitchFamily="34" charset="0"/>
                <a:ea typeface="Calibri" pitchFamily="34" charset="-122"/>
                <a:cs typeface="Calibri" pitchFamily="34" charset="-120"/>
              </a:rPr>
              <a:t>Honest-but-curious parties. </a:t>
            </a:r>
            <a:r>
              <a:rPr lang="en-US" sz="1550" dirty="0">
                <a:solidFill>
                  <a:srgbClr val="14213D"/>
                </a:solidFill>
                <a:latin typeface="Calibri" pitchFamily="34" charset="0"/>
                <a:ea typeface="Calibri" pitchFamily="34" charset="-122"/>
                <a:cs typeface="Calibri" pitchFamily="34" charset="-120"/>
              </a:rPr>
              <a:t>Both follow the protocol but analyse everything they receive. R and O each hold a share of the decryption key. By design, R learns which members of its cohort are in the register.</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Where this work sits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9144000" cy="914400"/>
        </p:xfrm>
        <a:graphic>
          <a:graphicData uri="http://schemas.openxmlformats.org/drawingml/2006/table">
            <a:tbl>
              <a:tblPr/>
              <a:tblGrid>
                <a:gridCol w="2651760"/>
                <a:gridCol w="2286000"/>
                <a:gridCol w="2057400"/>
                <a:gridCol w="2057400"/>
                <a:gridCol w="2011680"/>
              </a:tblGrid>
              <a:tr h="56692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Approach</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Where the data sit</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Record linkage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Output privacy</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Gap for this setting</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56692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Central DP regression (e.g. AdaSSP)</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One trusted curator holds the joined table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Not needed</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Differential privacy</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Assumes the pooled data exist</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6692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Federated learning with encryption</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Split across parties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Assumed, or a separate step</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Usually none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The model can leak individuals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6692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Private set intersection</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Split across parties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Not applicable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Linkage only, no model</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66928">
                <a:tc>
                  <a:txBody>
                    <a:bodyPr/>
                    <a:lstStyle/>
                    <a:p>
                      <a:pPr indent="0" marL="0">
                        <a:buNone/>
                      </a:pPr>
                      <a:r>
                        <a:rPr lang="en-US" sz="1350" b="1" dirty="0">
                          <a:solidFill>
                            <a:srgbClr val="C45A0C"/>
                          </a:solidFill>
                          <a:latin typeface="Calibri" pitchFamily="34" charset="0"/>
                          <a:ea typeface="Calibri" pitchFamily="34" charset="-122"/>
                          <a:cs typeface="Calibri" pitchFamily="34" charset="-120"/>
                        </a:rPr>
                        <a:t>This protocol</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Split, never pooled</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Labeled PSI: O learns nothing</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DP on all R receives; budget enforced by O</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5B6576"/>
                          </a:solidFill>
                          <a:latin typeface="Calibri" pitchFamily="34" charset="0"/>
                          <a:ea typeface="Calibri" pitchFamily="34" charset="-122"/>
                          <a:cs typeface="Calibri" pitchFamily="34" charset="-120"/>
                        </a:rPr>
                        <a:t>Protects O's side; R learns which of its cohort match</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4" name="Shape 1"/>
          <p:cNvSpPr/>
          <p:nvPr/>
        </p:nvSpPr>
        <p:spPr>
          <a:xfrm>
            <a:off x="548640" y="4892040"/>
            <a:ext cx="11064240" cy="1234440"/>
          </a:xfrm>
          <a:prstGeom prst="roundRect">
            <a:avLst>
              <a:gd name="adj" fmla="val 5926"/>
            </a:avLst>
          </a:prstGeom>
          <a:solidFill>
            <a:srgbClr val="F6E3D6"/>
          </a:solidFill>
          <a:ln w="12700">
            <a:solidFill>
              <a:srgbClr val="F6E3D6"/>
            </a:solidFill>
            <a:prstDash val="solid"/>
          </a:ln>
        </p:spPr>
      </p:sp>
      <p:sp>
        <p:nvSpPr>
          <p:cNvPr id="5" name="Text 2"/>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50" dirty="0">
                <a:solidFill>
                  <a:srgbClr val="14213D"/>
                </a:solidFill>
                <a:latin typeface="Calibri" pitchFamily="34" charset="0"/>
                <a:ea typeface="Calibri" pitchFamily="34" charset="-122"/>
                <a:cs typeface="Calibri" pitchFamily="34" charset="-120"/>
              </a:rPr>
              <a:t>The statistical engine is the classic one for DP regression: perturb the sufficient statistics, then solve a ridge regression. What is new is doing it without pooling, with R's own block kept exact.</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2</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Building blocks</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Differential privacy, homomorphic encryption, private set intersection</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Differential privacy in one slide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A release is private if no single person's data changes it by much</a:t>
            </a:r>
            <a:endParaRPr lang="en-US" sz="1600" dirty="0"/>
          </a:p>
        </p:txBody>
      </p:sp>
      <p:pic>
        <p:nvPicPr>
          <p:cNvPr id="4" name="Image 0" descr="/home/user/VerticalFederatedRegression/slides/assets/eq/dp_def.png">    </p:cNvPr>
          <p:cNvPicPr>
            <a:picLocks noChangeAspect="1"/>
          </p:cNvPicPr>
          <p:nvPr/>
        </p:nvPicPr>
        <p:blipFill>
          <a:blip r:embed="rId1"/>
          <a:stretch>
            <a:fillRect/>
          </a:stretch>
        </p:blipFill>
        <p:spPr>
          <a:xfrm>
            <a:off x="548640" y="1645920"/>
            <a:ext cx="4785611" cy="332602"/>
          </a:xfrm>
          <a:prstGeom prst="rect">
            <a:avLst/>
          </a:prstGeom>
        </p:spPr>
      </p:pic>
      <p:sp>
        <p:nvSpPr>
          <p:cNvPr id="5" name="Text 2"/>
          <p:cNvSpPr txBox="1"/>
          <p:nvPr/>
        </p:nvSpPr>
        <p:spPr>
          <a:xfrm>
            <a:off x="548640" y="2331720"/>
            <a:ext cx="5943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D and D′ differ in one person's O-side data (x</a:t>
            </a:r>
            <a:r>
              <a:rPr lang="en-US" sz="1500" baseline="-25000" dirty="0">
                <a:solidFill>
                  <a:srgbClr val="1F2937"/>
                </a:solidFill>
                <a:latin typeface="Calibri" pitchFamily="34" charset="0"/>
                <a:ea typeface="Calibri" pitchFamily="34" charset="-122"/>
                <a:cs typeface="Calibri" pitchFamily="34" charset="-120"/>
              </a:rPr>
              <a:t>O</a:t>
            </a:r>
            <a:r>
              <a:rPr lang="en-US" sz="1500" dirty="0">
                <a:solidFill>
                  <a:srgbClr val="1F2937"/>
                </a:solidFill>
                <a:latin typeface="Calibri" pitchFamily="34" charset="0"/>
                <a:ea typeface="Calibri" pitchFamily="34" charset="-122"/>
                <a:cs typeface="Calibri" pitchFamily="34" charset="-120"/>
              </a:rPr>
              <a:t>, y): replace-one adjacency</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ε caps how much one person can shift the odds of any outcome (a factor e</a:t>
            </a:r>
            <a:r>
              <a:rPr lang="en-US" sz="1500" baseline="30000" dirty="0">
                <a:solidFill>
                  <a:srgbClr val="1F2937"/>
                </a:solidFill>
                <a:latin typeface="Calibri" pitchFamily="34" charset="0"/>
                <a:ea typeface="Calibri" pitchFamily="34" charset="-122"/>
                <a:cs typeface="Calibri" pitchFamily="34" charset="-120"/>
              </a:rPr>
              <a:t>ε</a:t>
            </a:r>
            <a:r>
              <a:rPr lang="en-US" sz="1500" dirty="0">
                <a:solidFill>
                  <a:srgbClr val="1F2937"/>
                </a:solidFill>
                <a:latin typeface="Calibri" pitchFamily="34" charset="0"/>
                <a:ea typeface="Calibri" pitchFamily="34" charset="-122"/>
                <a:cs typeface="Calibri" pitchFamily="34" charset="-120"/>
              </a:rPr>
              <a:t>)</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δ is a small slack; take δ ≤ 1/(10N) for a register of N people</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Post-processing is free: anything computed from a DP release stays DP</a:t>
            </a:r>
            <a:endParaRPr lang="en-US" sz="1500" dirty="0"/>
          </a:p>
        </p:txBody>
      </p:sp>
      <p:sp>
        <p:nvSpPr>
          <p:cNvPr id="6" name="Shape 3"/>
          <p:cNvSpPr/>
          <p:nvPr/>
        </p:nvSpPr>
        <p:spPr>
          <a:xfrm>
            <a:off x="548640" y="4846320"/>
            <a:ext cx="5943600" cy="1371600"/>
          </a:xfrm>
          <a:prstGeom prst="roundRect">
            <a:avLst>
              <a:gd name="adj" fmla="val 5333"/>
            </a:avLst>
          </a:prstGeom>
          <a:solidFill>
            <a:srgbClr val="F6E3D6"/>
          </a:solidFill>
          <a:ln w="12700">
            <a:solidFill>
              <a:srgbClr val="F6E3D6"/>
            </a:solidFill>
            <a:prstDash val="solid"/>
          </a:ln>
        </p:spPr>
      </p:sp>
      <p:sp>
        <p:nvSpPr>
          <p:cNvPr id="7" name="Text 4"/>
          <p:cNvSpPr txBox="1"/>
          <p:nvPr/>
        </p:nvSpPr>
        <p:spPr>
          <a:xfrm>
            <a:off x="777240" y="4937760"/>
            <a:ext cx="5486400" cy="32004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The Gaussian mechanism</a:t>
            </a:r>
            <a:endParaRPr lang="en-US" sz="1500" dirty="0"/>
          </a:p>
        </p:txBody>
      </p:sp>
      <p:pic>
        <p:nvPicPr>
          <p:cNvPr id="8" name="Image 1" descr="/home/user/VerticalFederatedRegression/slides/assets/eq/gauss.png">    </p:cNvPr>
          <p:cNvPicPr>
            <a:picLocks noChangeAspect="1"/>
          </p:cNvPicPr>
          <p:nvPr/>
        </p:nvPicPr>
        <p:blipFill>
          <a:blip r:embed="rId2"/>
          <a:stretch>
            <a:fillRect/>
          </a:stretch>
        </p:blipFill>
        <p:spPr>
          <a:xfrm>
            <a:off x="777240" y="5321808"/>
            <a:ext cx="4444863" cy="282635"/>
          </a:xfrm>
          <a:prstGeom prst="rect">
            <a:avLst/>
          </a:prstGeom>
        </p:spPr>
      </p:pic>
      <p:pic>
        <p:nvPicPr>
          <p:cNvPr id="9" name="Image 2" descr="/home/user/VerticalFederatedRegression/slides/assets/eq/sens.png">    </p:cNvPr>
          <p:cNvPicPr>
            <a:picLocks noChangeAspect="1"/>
          </p:cNvPicPr>
          <p:nvPr/>
        </p:nvPicPr>
        <p:blipFill>
          <a:blip r:embed="rId3"/>
          <a:stretch>
            <a:fillRect/>
          </a:stretch>
        </p:blipFill>
        <p:spPr>
          <a:xfrm>
            <a:off x="777240" y="5760720"/>
            <a:ext cx="2282342" cy="331527"/>
          </a:xfrm>
          <a:prstGeom prst="rect">
            <a:avLst/>
          </a:prstGeom>
        </p:spPr>
      </p:pic>
      <p:graphicFrame>
        <p:nvGraphicFramePr>
          <p:cNvPr id="10" name="Chart 0" descr=""/>
          <p:cNvGraphicFramePr/>
          <p:nvPr/>
        </p:nvGraphicFramePr>
        <p:xfrm>
          <a:off x="6766560" y="1554480"/>
          <a:ext cx="4846320" cy="3291840"/>
        </p:xfrm>
        <a:graphic xmlns:a="http://schemas.openxmlformats.org/drawingml/2006/main">
          <a:graphicData uri="http://schemas.openxmlformats.org/drawingml/2006/chart">
            <c:chart xmlns:c="http://schemas.openxmlformats.org/drawingml/2006/chart" r:id="rId4"/>
          </a:graphicData>
        </a:graphic>
      </p:graphicFrame>
      <p:sp>
        <p:nvSpPr>
          <p:cNvPr id="11" name="Text 5"/>
          <p:cNvSpPr txBox="1"/>
          <p:nvPr/>
        </p:nvSpPr>
        <p:spPr>
          <a:xfrm>
            <a:off x="6949440" y="4983480"/>
            <a:ext cx="4572000" cy="109728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The two curves are shifted by the sensitivity Δ. The wider the noise relative to Δ, the harder it is to tell them apart.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How much one person can move the statistics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The sensitivity Δ sets the noise; it follows from public clipping bounds</a:t>
            </a:r>
            <a:endParaRPr lang="en-US" sz="1600" dirty="0"/>
          </a:p>
        </p:txBody>
      </p:sp>
      <p:sp>
        <p:nvSpPr>
          <p:cNvPr id="4" name="Text 2"/>
          <p:cNvSpPr txBox="1"/>
          <p:nvPr/>
        </p:nvSpPr>
        <p:spPr>
          <a:xfrm>
            <a:off x="548640" y="1600200"/>
            <a:ext cx="11064240" cy="685800"/>
          </a:xfrm>
          <a:prstGeom prst="rect">
            <a:avLst/>
          </a:prstGeom>
          <a:noFill/>
          <a:ln/>
        </p:spPr>
        <p:txBody>
          <a:bodyPr wrap="square" lIns="0" tIns="0" rIns="0" bIns="0" rtlCol="0" anchor="t"/>
          <a:lstStyle/>
          <a:p>
            <a:pPr indent="0" marL="0">
              <a:buNone/>
            </a:pPr>
            <a:r>
              <a:rPr lang="en-US" sz="1550" dirty="0">
                <a:solidFill>
                  <a:srgbClr val="1F2937"/>
                </a:solidFill>
                <a:latin typeface="Calibri" pitchFamily="34" charset="0"/>
                <a:ea typeface="Calibri" pitchFamily="34" charset="-122"/>
                <a:cs typeface="Calibri" pitchFamily="34" charset="-120"/>
              </a:rPr>
              <a:t>Every row is clipped to public bounds: ‖x</a:t>
            </a:r>
            <a:r>
              <a:rPr lang="en-US" sz="1550" baseline="-25000" dirty="0">
                <a:solidFill>
                  <a:srgbClr val="1F2937"/>
                </a:solidFill>
                <a:latin typeface="Calibri" pitchFamily="34" charset="0"/>
                <a:ea typeface="Calibri" pitchFamily="34" charset="-122"/>
                <a:cs typeface="Calibri" pitchFamily="34" charset="-120"/>
              </a:rPr>
              <a:t>R</a:t>
            </a:r>
            <a:r>
              <a:rPr lang="en-US" sz="1550" dirty="0">
                <a:solidFill>
                  <a:srgbClr val="1F2937"/>
                </a:solidFill>
                <a:latin typeface="Calibri" pitchFamily="34" charset="0"/>
                <a:ea typeface="Calibri" pitchFamily="34" charset="-122"/>
                <a:cs typeface="Calibri" pitchFamily="34" charset="-120"/>
              </a:rPr>
              <a:t>‖ ≤ B</a:t>
            </a:r>
            <a:r>
              <a:rPr lang="en-US" sz="1550" baseline="-25000" dirty="0">
                <a:solidFill>
                  <a:srgbClr val="1F2937"/>
                </a:solidFill>
                <a:latin typeface="Calibri" pitchFamily="34" charset="0"/>
                <a:ea typeface="Calibri" pitchFamily="34" charset="-122"/>
                <a:cs typeface="Calibri" pitchFamily="34" charset="-120"/>
              </a:rPr>
              <a:t>R</a:t>
            </a:r>
            <a:r>
              <a:rPr lang="en-US" sz="1550" dirty="0">
                <a:solidFill>
                  <a:srgbClr val="1F2937"/>
                </a:solidFill>
                <a:latin typeface="Calibri" pitchFamily="34" charset="0"/>
                <a:ea typeface="Calibri" pitchFamily="34" charset="-122"/>
                <a:cs typeface="Calibri" pitchFamily="34" charset="-120"/>
              </a:rPr>
              <a:t> (with the intercept), ‖x</a:t>
            </a:r>
            <a:r>
              <a:rPr lang="en-US" sz="1550" baseline="-25000" dirty="0">
                <a:solidFill>
                  <a:srgbClr val="1F2937"/>
                </a:solidFill>
                <a:latin typeface="Calibri" pitchFamily="34" charset="0"/>
                <a:ea typeface="Calibri" pitchFamily="34" charset="-122"/>
                <a:cs typeface="Calibri" pitchFamily="34" charset="-120"/>
              </a:rPr>
              <a:t>O</a:t>
            </a:r>
            <a:r>
              <a:rPr lang="en-US" sz="1550" dirty="0">
                <a:solidFill>
                  <a:srgbClr val="1F2937"/>
                </a:solidFill>
                <a:latin typeface="Calibri" pitchFamily="34" charset="0"/>
                <a:ea typeface="Calibri" pitchFamily="34" charset="-122"/>
                <a:cs typeface="Calibri" pitchFamily="34" charset="-120"/>
              </a:rPr>
              <a:t>‖ ≤ B</a:t>
            </a:r>
            <a:r>
              <a:rPr lang="en-US" sz="1550" baseline="-25000" dirty="0">
                <a:solidFill>
                  <a:srgbClr val="1F2937"/>
                </a:solidFill>
                <a:latin typeface="Calibri" pitchFamily="34" charset="0"/>
                <a:ea typeface="Calibri" pitchFamily="34" charset="-122"/>
                <a:cs typeface="Calibri" pitchFamily="34" charset="-120"/>
              </a:rPr>
              <a:t>O</a:t>
            </a:r>
            <a:r>
              <a:rPr lang="en-US" sz="1550" dirty="0">
                <a:solidFill>
                  <a:srgbClr val="1F2937"/>
                </a:solidFill>
                <a:latin typeface="Calibri" pitchFamily="34" charset="0"/>
                <a:ea typeface="Calibri" pitchFamily="34" charset="-122"/>
                <a:cs typeface="Calibri" pitchFamily="34" charset="-120"/>
              </a:rPr>
              <a:t> and |y| ≤ B</a:t>
            </a:r>
            <a:r>
              <a:rPr lang="en-US" sz="1550" baseline="-25000" dirty="0">
                <a:solidFill>
                  <a:srgbClr val="1F2937"/>
                </a:solidFill>
                <a:latin typeface="Calibri" pitchFamily="34" charset="0"/>
                <a:ea typeface="Calibri" pitchFamily="34" charset="-122"/>
                <a:cs typeface="Calibri" pitchFamily="34" charset="-120"/>
              </a:rPr>
              <a:t>y</a:t>
            </a:r>
            <a:r>
              <a:rPr lang="en-US" sz="1550" dirty="0">
                <a:solidFill>
                  <a:srgbClr val="1F2937"/>
                </a:solidFill>
                <a:latin typeface="Calibri" pitchFamily="34" charset="0"/>
                <a:ea typeface="Calibri" pitchFamily="34" charset="-122"/>
                <a:cs typeface="Calibri" pitchFamily="34" charset="-120"/>
              </a:rPr>
              <a:t>. Replacing one person's (x</a:t>
            </a:r>
            <a:r>
              <a:rPr lang="en-US" sz="1550" baseline="-25000" dirty="0">
                <a:solidFill>
                  <a:srgbClr val="1F2937"/>
                </a:solidFill>
                <a:latin typeface="Calibri" pitchFamily="34" charset="0"/>
                <a:ea typeface="Calibri" pitchFamily="34" charset="-122"/>
                <a:cs typeface="Calibri" pitchFamily="34" charset="-120"/>
              </a:rPr>
              <a:t>O</a:t>
            </a:r>
            <a:r>
              <a:rPr lang="en-US" sz="1550" dirty="0">
                <a:solidFill>
                  <a:srgbClr val="1F2937"/>
                </a:solidFill>
                <a:latin typeface="Calibri" pitchFamily="34" charset="0"/>
                <a:ea typeface="Calibri" pitchFamily="34" charset="-122"/>
                <a:cs typeface="Calibri" pitchFamily="34" charset="-120"/>
              </a:rPr>
              <a:t>, y) changes B, C, c</a:t>
            </a:r>
            <a:r>
              <a:rPr lang="en-US" sz="1550" baseline="-25000" dirty="0">
                <a:solidFill>
                  <a:srgbClr val="1F2937"/>
                </a:solidFill>
                <a:latin typeface="Calibri" pitchFamily="34" charset="0"/>
                <a:ea typeface="Calibri" pitchFamily="34" charset="-122"/>
                <a:cs typeface="Calibri" pitchFamily="34" charset="-120"/>
              </a:rPr>
              <a:t>R</a:t>
            </a:r>
            <a:r>
              <a:rPr lang="en-US" sz="1550" dirty="0">
                <a:solidFill>
                  <a:srgbClr val="1F2937"/>
                </a:solidFill>
                <a:latin typeface="Calibri" pitchFamily="34" charset="0"/>
                <a:ea typeface="Calibri" pitchFamily="34" charset="-122"/>
                <a:cs typeface="Calibri" pitchFamily="34" charset="-120"/>
              </a:rPr>
              <a:t>, c</a:t>
            </a:r>
            <a:r>
              <a:rPr lang="en-US" sz="1550" baseline="-25000" dirty="0">
                <a:solidFill>
                  <a:srgbClr val="1F2937"/>
                </a:solidFill>
                <a:latin typeface="Calibri" pitchFamily="34" charset="0"/>
                <a:ea typeface="Calibri" pitchFamily="34" charset="-122"/>
                <a:cs typeface="Calibri" pitchFamily="34" charset="-120"/>
              </a:rPr>
              <a:t>O</a:t>
            </a:r>
            <a:r>
              <a:rPr lang="en-US" sz="1550" dirty="0">
                <a:solidFill>
                  <a:srgbClr val="1F2937"/>
                </a:solidFill>
                <a:latin typeface="Calibri" pitchFamily="34" charset="0"/>
                <a:ea typeface="Calibri" pitchFamily="34" charset="-122"/>
                <a:cs typeface="Calibri" pitchFamily="34" charset="-120"/>
              </a:rPr>
              <a:t> and y</a:t>
            </a:r>
            <a:r>
              <a:rPr lang="en-US" sz="1550" baseline="30000" dirty="0">
                <a:solidFill>
                  <a:srgbClr val="1F2937"/>
                </a:solidFill>
                <a:latin typeface="Calibri" pitchFamily="34" charset="0"/>
                <a:ea typeface="Calibri" pitchFamily="34" charset="-122"/>
                <a:cs typeface="Calibri" pitchFamily="34" charset="-120"/>
              </a:rPr>
              <a:t>T</a:t>
            </a:r>
            <a:r>
              <a:rPr lang="en-US" sz="1550" dirty="0">
                <a:solidFill>
                  <a:srgbClr val="1F2937"/>
                </a:solidFill>
                <a:latin typeface="Calibri" pitchFamily="34" charset="0"/>
                <a:ea typeface="Calibri" pitchFamily="34" charset="-122"/>
                <a:cs typeface="Calibri" pitchFamily="34" charset="-120"/>
              </a:rPr>
              <a:t>y by at most Δ:</a:t>
            </a:r>
            <a:endParaRPr lang="en-US" sz="1550" dirty="0"/>
          </a:p>
        </p:txBody>
      </p:sp>
      <p:pic>
        <p:nvPicPr>
          <p:cNvPr id="5" name="Image 0" descr="/home/user/VerticalFederatedRegression/slides/assets/eq/delta_rep.png">    </p:cNvPr>
          <p:cNvPicPr>
            <a:picLocks noChangeAspect="1"/>
          </p:cNvPicPr>
          <p:nvPr/>
        </p:nvPicPr>
        <p:blipFill>
          <a:blip r:embed="rId1"/>
          <a:stretch>
            <a:fillRect/>
          </a:stretch>
        </p:blipFill>
        <p:spPr>
          <a:xfrm>
            <a:off x="548640" y="2395728"/>
            <a:ext cx="7180711" cy="384555"/>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9144000" cy="914400"/>
        </p:xfrm>
        <a:graphic>
          <a:graphicData uri="http://schemas.openxmlformats.org/drawingml/2006/table">
            <a:tbl>
              <a:tblPr/>
              <a:tblGrid>
                <a:gridCol w="2377440"/>
                <a:gridCol w="914400"/>
                <a:gridCol w="3749040"/>
              </a:tblGrid>
              <a:tr h="402336">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Bounds (B</a:t>
                      </a:r>
                      <a:r>
                        <a:rPr lang="en-US" sz="1350" b="1" baseline="-25000" dirty="0">
                          <a:solidFill>
                            <a:srgbClr val="FFFFFF"/>
                          </a:solidFill>
                          <a:latin typeface="Calibri" pitchFamily="34" charset="0"/>
                          <a:ea typeface="Calibri" pitchFamily="34" charset="-122"/>
                          <a:cs typeface="Calibri" pitchFamily="34" charset="-120"/>
                        </a:rPr>
                        <a:t>R</a:t>
                      </a:r>
                      <a:r>
                        <a:rPr lang="en-US" sz="1350" b="1" dirty="0">
                          <a:solidFill>
                            <a:srgbClr val="FFFFFF"/>
                          </a:solidFill>
                          <a:latin typeface="Calibri" pitchFamily="34" charset="0"/>
                          <a:ea typeface="Calibri" pitchFamily="34" charset="-122"/>
                          <a:cs typeface="Calibri" pitchFamily="34" charset="-120"/>
                        </a:rPr>
                        <a:t>, B</a:t>
                      </a:r>
                      <a:r>
                        <a:rPr lang="en-US" sz="1350" b="1" baseline="-25000" dirty="0">
                          <a:solidFill>
                            <a:srgbClr val="FFFFFF"/>
                          </a:solidFill>
                          <a:latin typeface="Calibri" pitchFamily="34" charset="0"/>
                          <a:ea typeface="Calibri" pitchFamily="34" charset="-122"/>
                          <a:cs typeface="Calibri" pitchFamily="34" charset="-120"/>
                        </a:rPr>
                        <a:t>O</a:t>
                      </a:r>
                      <a:r>
                        <a:rPr lang="en-US" sz="1350" b="1" dirty="0">
                          <a:solidFill>
                            <a:srgbClr val="FFFFFF"/>
                          </a:solidFill>
                          <a:latin typeface="Calibri" pitchFamily="34" charset="0"/>
                          <a:ea typeface="Calibri" pitchFamily="34" charset="-122"/>
                          <a:cs typeface="Calibri" pitchFamily="34" charset="-120"/>
                        </a:rPr>
                        <a:t>, B</a:t>
                      </a:r>
                      <a:r>
                        <a:rPr lang="en-US" sz="1350" b="1" baseline="-25000" dirty="0">
                          <a:solidFill>
                            <a:srgbClr val="FFFFFF"/>
                          </a:solidFill>
                          <a:latin typeface="Calibri" pitchFamily="34" charset="0"/>
                          <a:ea typeface="Calibri" pitchFamily="34" charset="-122"/>
                          <a:cs typeface="Calibri" pitchFamily="34" charset="-120"/>
                        </a:rPr>
                        <a:t>y</a:t>
                      </a:r>
                      <a:r>
                        <a:rPr lang="en-US" sz="1350" b="1" dirty="0">
                          <a:solidFill>
                            <a:srgbClr val="FFFFFF"/>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Δ</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Comment</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402336">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(1, 1, 1)</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3.16</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unit bounds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02336">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(0.71, 0.71, 1)</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2.03</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one unit row bound split between the parties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02336">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(5.59, 6.24, 2.89)</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86.2</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simulation population (standardized income, age, counts)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7" name="Shape 3"/>
          <p:cNvSpPr/>
          <p:nvPr/>
        </p:nvSpPr>
        <p:spPr>
          <a:xfrm>
            <a:off x="7863840" y="3154680"/>
            <a:ext cx="3749040" cy="3017520"/>
          </a:xfrm>
          <a:prstGeom prst="roundRect">
            <a:avLst>
              <a:gd name="adj" fmla="val 2424"/>
            </a:avLst>
          </a:prstGeom>
          <a:solidFill>
            <a:srgbClr val="F6E3D6"/>
          </a:solidFill>
          <a:ln w="12700">
            <a:solidFill>
              <a:srgbClr val="F6E3D6"/>
            </a:solidFill>
            <a:prstDash val="solid"/>
          </a:ln>
        </p:spPr>
      </p:sp>
      <p:sp>
        <p:nvSpPr>
          <p:cNvPr id="8" name="Text 4"/>
          <p:cNvSpPr txBox="1"/>
          <p:nvPr/>
        </p:nvSpPr>
        <p:spPr>
          <a:xfrm>
            <a:off x="8092440" y="3337560"/>
            <a:ext cx="3383280"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 = X</a:t>
            </a:r>
            <a:r>
              <a:rPr lang="en-US" sz="1400" baseline="-25000" dirty="0">
                <a:solidFill>
                  <a:srgbClr val="1F2937"/>
                </a:solidFill>
                <a:latin typeface="Calibri" pitchFamily="34" charset="0"/>
                <a:ea typeface="Calibri" pitchFamily="34" charset="-122"/>
                <a:cs typeface="Calibri" pitchFamily="34" charset="-120"/>
              </a:rPr>
              <a:t>R</a:t>
            </a:r>
            <a:r>
              <a:rPr lang="en-US" sz="1400" baseline="30000" dirty="0">
                <a:solidFill>
                  <a:srgbClr val="1F2937"/>
                </a:solidFill>
                <a:latin typeface="Calibri" pitchFamily="34" charset="0"/>
                <a:ea typeface="Calibri" pitchFamily="34" charset="-122"/>
                <a:cs typeface="Calibri" pitchFamily="34" charset="-120"/>
              </a:rPr>
              <a:t>T</a:t>
            </a:r>
            <a:r>
              <a:rPr lang="en-US" sz="1400" dirty="0">
                <a:solidFill>
                  <a:srgbClr val="1F2937"/>
                </a:solidFill>
                <a:latin typeface="Calibri" pitchFamily="34" charset="0"/>
                <a:ea typeface="Calibri" pitchFamily="34" charset="-122"/>
                <a:cs typeface="Calibri" pitchFamily="34" charset="-120"/>
              </a:rPr>
              <a:t> X</a:t>
            </a:r>
            <a:r>
              <a:rPr lang="en-US" sz="1400" baseline="-25000" dirty="0">
                <a:solidFill>
                  <a:srgbClr val="1F2937"/>
                </a:solidFill>
                <a:latin typeface="Calibri" pitchFamily="34" charset="0"/>
                <a:ea typeface="Calibri" pitchFamily="34" charset="-122"/>
                <a:cs typeface="Calibri" pitchFamily="34" charset="-120"/>
              </a:rPr>
              <a:t>R</a:t>
            </a:r>
            <a:r>
              <a:rPr lang="en-US" sz="1400" dirty="0">
                <a:solidFill>
                  <a:srgbClr val="1F2937"/>
                </a:solidFill>
                <a:latin typeface="Calibri" pitchFamily="34" charset="0"/>
                <a:ea typeface="Calibri" pitchFamily="34" charset="-122"/>
                <a:cs typeface="Calibri" pitchFamily="34" charset="-120"/>
              </a:rPr>
              <a:t> is computed exactly by R and never released, so it adds nothing to Δ</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y</a:t>
            </a:r>
            <a:r>
              <a:rPr lang="en-US" sz="1400" baseline="30000" dirty="0">
                <a:solidFill>
                  <a:srgbClr val="1F2937"/>
                </a:solidFill>
                <a:latin typeface="Calibri" pitchFamily="34" charset="0"/>
                <a:ea typeface="Calibri" pitchFamily="34" charset="-122"/>
                <a:cs typeface="Calibri" pitchFamily="34" charset="-120"/>
              </a:rPr>
              <a:t>T</a:t>
            </a:r>
            <a:r>
              <a:rPr lang="en-US" sz="1400" dirty="0">
                <a:solidFill>
                  <a:srgbClr val="1F2937"/>
                </a:solidFill>
                <a:latin typeface="Calibri" pitchFamily="34" charset="0"/>
                <a:ea typeface="Calibri" pitchFamily="34" charset="-122"/>
                <a:cs typeface="Calibri" pitchFamily="34" charset="-120"/>
              </a:rPr>
              <a:t>y is free when B</a:t>
            </a:r>
            <a:r>
              <a:rPr lang="en-US" sz="1400" baseline="-25000" dirty="0">
                <a:solidFill>
                  <a:srgbClr val="1F2937"/>
                </a:solidFill>
                <a:latin typeface="Calibri" pitchFamily="34" charset="0"/>
                <a:ea typeface="Calibri" pitchFamily="34" charset="-122"/>
                <a:cs typeface="Calibri" pitchFamily="34" charset="-120"/>
              </a:rPr>
              <a:t>y</a:t>
            </a:r>
            <a:r>
              <a:rPr lang="en-US" sz="1400" baseline="30000" dirty="0">
                <a:solidFill>
                  <a:srgbClr val="1F2937"/>
                </a:solidFill>
                <a:latin typeface="Calibri" pitchFamily="34" charset="0"/>
                <a:ea typeface="Calibri" pitchFamily="34" charset="-122"/>
                <a:cs typeface="Calibri" pitchFamily="34" charset="-120"/>
              </a:rPr>
              <a:t>2</a:t>
            </a:r>
            <a:r>
              <a:rPr lang="en-US" sz="1400" dirty="0">
                <a:solidFill>
                  <a:srgbClr val="1F2937"/>
                </a:solidFill>
                <a:latin typeface="Calibri" pitchFamily="34" charset="0"/>
                <a:ea typeface="Calibri" pitchFamily="34" charset="-122"/>
                <a:cs typeface="Calibri" pitchFamily="34" charset="-120"/>
              </a:rPr>
              <a:t> ≤ 2(B</a:t>
            </a:r>
            <a:r>
              <a:rPr lang="en-US" sz="1400" baseline="-25000" dirty="0">
                <a:solidFill>
                  <a:srgbClr val="1F2937"/>
                </a:solidFill>
                <a:latin typeface="Calibri" pitchFamily="34" charset="0"/>
                <a:ea typeface="Calibri" pitchFamily="34" charset="-122"/>
                <a:cs typeface="Calibri" pitchFamily="34" charset="-120"/>
              </a:rPr>
              <a:t>R</a:t>
            </a:r>
            <a:r>
              <a:rPr lang="en-US" sz="1400" baseline="30000" dirty="0">
                <a:solidFill>
                  <a:srgbClr val="1F2937"/>
                </a:solidFill>
                <a:latin typeface="Calibri" pitchFamily="34" charset="0"/>
                <a:ea typeface="Calibri" pitchFamily="34" charset="-122"/>
                <a:cs typeface="Calibri" pitchFamily="34" charset="-120"/>
              </a:rPr>
              <a:t>2</a:t>
            </a:r>
            <a:r>
              <a:rPr lang="en-US" sz="1400" dirty="0">
                <a:solidFill>
                  <a:srgbClr val="1F2937"/>
                </a:solidFill>
                <a:latin typeface="Calibri" pitchFamily="34" charset="0"/>
                <a:ea typeface="Calibri" pitchFamily="34" charset="-122"/>
                <a:cs typeface="Calibri" pitchFamily="34" charset="-120"/>
              </a:rPr>
              <a:t> + B</a:t>
            </a:r>
            <a:r>
              <a:rPr lang="en-US" sz="1400" baseline="-25000" dirty="0">
                <a:solidFill>
                  <a:srgbClr val="1F2937"/>
                </a:solidFill>
                <a:latin typeface="Calibri" pitchFamily="34" charset="0"/>
                <a:ea typeface="Calibri" pitchFamily="34" charset="-122"/>
                <a:cs typeface="Calibri" pitchFamily="34" charset="-120"/>
              </a:rPr>
              <a:t>O</a:t>
            </a:r>
            <a:r>
              <a:rPr lang="en-US" sz="1400" baseline="30000" dirty="0">
                <a:solidFill>
                  <a:srgbClr val="1F2937"/>
                </a:solidFill>
                <a:latin typeface="Calibri" pitchFamily="34" charset="0"/>
                <a:ea typeface="Calibri" pitchFamily="34" charset="-122"/>
                <a:cs typeface="Calibri" pitchFamily="34" charset="-120"/>
              </a:rPr>
              <a:t>2</a:t>
            </a:r>
            <a:r>
              <a:rPr lang="en-US" sz="1400" dirty="0">
                <a:solidFill>
                  <a:srgbClr val="1F2937"/>
                </a:solidFill>
                <a:latin typeface="Calibri" pitchFamily="34" charset="0"/>
                <a:ea typeface="Calibri" pitchFamily="34" charset="-122"/>
                <a:cs typeface="Calibri" pitchFamily="34" charset="-120"/>
              </a:rPr>
              <a:t>); otherwise it gets its own budget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Δ grows with the squared bounds: tight bounds matter most</a:t>
            </a:r>
            <a:endParaRPr lang="en-US" sz="1400" dirty="0"/>
          </a:p>
        </p:txBody>
      </p:sp>
      <p:sp>
        <p:nvSpPr>
          <p:cNvPr id="9" name="Text 5"/>
          <p:cNvSpPr txBox="1"/>
          <p:nvPr/>
        </p:nvSpPr>
        <p:spPr>
          <a:xfrm>
            <a:off x="548640" y="4983480"/>
            <a:ext cx="7040880" cy="731520"/>
          </a:xfrm>
          <a:prstGeom prst="rect">
            <a:avLst/>
          </a:prstGeom>
          <a:noFill/>
          <a:ln/>
        </p:spPr>
        <p:txBody>
          <a:bodyPr wrap="square" lIns="0" tIns="0" rIns="0" bIns="0" rtlCol="0" anchor="t"/>
          <a:lstStyle/>
          <a:p>
            <a:pPr indent="0" marL="0">
              <a:buNone/>
            </a:pPr>
            <a:r>
              <a:rPr lang="en-US" sz="1350" i="1" dirty="0">
                <a:solidFill>
                  <a:srgbClr val="5B6576"/>
                </a:solidFill>
                <a:latin typeface="Calibri" pitchFamily="34" charset="0"/>
                <a:ea typeface="Calibri" pitchFamily="34" charset="-122"/>
                <a:cs typeface="Calibri" pitchFamily="34" charset="-120"/>
              </a:rPr>
              <a:t>Bounds are chosen from public reference data before any data are seen; values beyond them are clipped.</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Budgets add up, and O keeps the books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Zero-concentrated DP (zCDP) makes the accounting simple</a:t>
            </a:r>
            <a:endParaRPr lang="en-US" sz="1600" dirty="0"/>
          </a:p>
        </p:txBody>
      </p:sp>
      <p:pic>
        <p:nvPicPr>
          <p:cNvPr id="4" name="Image 0" descr="/home/user/VerticalFederatedRegression/slides/assets/eq/zcdp.png">    </p:cNvPr>
          <p:cNvPicPr>
            <a:picLocks noChangeAspect="1"/>
          </p:cNvPicPr>
          <p:nvPr/>
        </p:nvPicPr>
        <p:blipFill>
          <a:blip r:embed="rId1"/>
          <a:stretch>
            <a:fillRect/>
          </a:stretch>
        </p:blipFill>
        <p:spPr>
          <a:xfrm>
            <a:off x="548640" y="1645920"/>
            <a:ext cx="3609652" cy="730324"/>
          </a:xfrm>
          <a:prstGeom prst="rect">
            <a:avLst/>
          </a:prstGeom>
        </p:spPr>
      </p:pic>
      <p:pic>
        <p:nvPicPr>
          <p:cNvPr id="5" name="Image 1" descr="/home/user/VerticalFederatedRegression/slides/assets/eq/zcdp_conv.png">    </p:cNvPr>
          <p:cNvPicPr>
            <a:picLocks noChangeAspect="1"/>
          </p:cNvPicPr>
          <p:nvPr/>
        </p:nvPicPr>
        <p:blipFill>
          <a:blip r:embed="rId2"/>
          <a:stretch>
            <a:fillRect/>
          </a:stretch>
        </p:blipFill>
        <p:spPr>
          <a:xfrm>
            <a:off x="548640" y="2514600"/>
            <a:ext cx="4369316" cy="351840"/>
          </a:xfrm>
          <a:prstGeom prst="rect">
            <a:avLst/>
          </a:prstGeom>
        </p:spPr>
      </p:pic>
      <p:sp>
        <p:nvSpPr>
          <p:cNvPr id="6" name="Text 2"/>
          <p:cNvSpPr txBox="1"/>
          <p:nvPr/>
        </p:nvSpPr>
        <p:spPr>
          <a:xfrm>
            <a:off x="548640" y="3246120"/>
            <a:ext cx="5760720" cy="20116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Each release s costs ρ</a:t>
            </a:r>
            <a:r>
              <a:rPr lang="en-US" sz="1500" baseline="-25000" dirty="0">
                <a:solidFill>
                  <a:srgbClr val="1F2937"/>
                </a:solidFill>
                <a:latin typeface="Calibri" pitchFamily="34" charset="0"/>
                <a:ea typeface="Calibri" pitchFamily="34" charset="-122"/>
                <a:cs typeface="Calibri" pitchFamily="34" charset="-120"/>
              </a:rPr>
              <a:t>s</a:t>
            </a:r>
            <a:r>
              <a:rPr lang="en-US" sz="1500" dirty="0">
                <a:solidFill>
                  <a:srgbClr val="1F2937"/>
                </a:solidFill>
                <a:latin typeface="Calibri" pitchFamily="34" charset="0"/>
                <a:ea typeface="Calibri" pitchFamily="34" charset="-122"/>
                <a:cs typeface="Calibri" pitchFamily="34" charset="-120"/>
              </a:rPr>
              <a:t>; the costs of a run add up</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The run's total converts to (ε, δ); the protocol uses the tight conversion, and the formula above is a close, simple bound</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Doubling ε roughly halves the noise σ</a:t>
            </a:r>
            <a:endParaRPr lang="en-US" sz="1500" dirty="0"/>
          </a:p>
        </p:txBody>
      </p:sp>
      <p:sp>
        <p:nvSpPr>
          <p:cNvPr id="7" name="Text 3"/>
          <p:cNvSpPr txBox="1"/>
          <p:nvPr/>
        </p:nvSpPr>
        <p:spPr>
          <a:xfrm>
            <a:off x="6766560" y="1645920"/>
            <a:ext cx="4846320" cy="365760"/>
          </a:xfrm>
          <a:prstGeom prst="rect">
            <a:avLst/>
          </a:prstGeom>
          <a:noFill/>
          <a:ln/>
        </p:spPr>
        <p:txBody>
          <a:bodyPr wrap="square" lIns="0" tIns="0" rIns="0" bIns="0" rtlCol="0" anchor="t"/>
          <a:lstStyle/>
          <a:p>
            <a:pPr indent="0" marL="0">
              <a:buNone/>
            </a:pPr>
            <a:r>
              <a:rPr lang="en-US" sz="1700" b="1" dirty="0">
                <a:solidFill>
                  <a:srgbClr val="14213D"/>
                </a:solidFill>
                <a:latin typeface="Cambria" pitchFamily="34" charset="0"/>
                <a:ea typeface="Cambria" pitchFamily="34" charset="-122"/>
                <a:cs typeface="Cambria" pitchFamily="34" charset="-120"/>
              </a:rPr>
              <a:t>One run = two releases</a:t>
            </a:r>
            <a:endParaRPr lang="en-US" sz="1700" dirty="0"/>
          </a:p>
        </p:txBody>
      </p:sp>
      <p:sp>
        <p:nvSpPr>
          <p:cNvPr id="8" name="Shape 4"/>
          <p:cNvSpPr/>
          <p:nvPr/>
        </p:nvSpPr>
        <p:spPr>
          <a:xfrm>
            <a:off x="6766560" y="2148840"/>
            <a:ext cx="484632" cy="640080"/>
          </a:xfrm>
          <a:prstGeom prst="rect">
            <a:avLst/>
          </a:prstGeom>
          <a:solidFill>
            <a:srgbClr val="3D5A80"/>
          </a:solidFill>
          <a:ln w="25400">
            <a:solidFill>
              <a:srgbClr val="FFFFFF"/>
            </a:solidFill>
            <a:prstDash val="solid"/>
          </a:ln>
        </p:spPr>
      </p:sp>
      <p:sp>
        <p:nvSpPr>
          <p:cNvPr id="9" name="Shape 5"/>
          <p:cNvSpPr/>
          <p:nvPr/>
        </p:nvSpPr>
        <p:spPr>
          <a:xfrm>
            <a:off x="7251192" y="2148840"/>
            <a:ext cx="4361688" cy="640080"/>
          </a:xfrm>
          <a:prstGeom prst="rect">
            <a:avLst/>
          </a:prstGeom>
          <a:solidFill>
            <a:srgbClr val="C45A0C"/>
          </a:solidFill>
          <a:ln w="25400">
            <a:solidFill>
              <a:srgbClr val="FFFFFF"/>
            </a:solidFill>
            <a:prstDash val="solid"/>
          </a:ln>
        </p:spPr>
      </p:sp>
      <p:sp>
        <p:nvSpPr>
          <p:cNvPr id="10" name="Text 6"/>
          <p:cNvSpPr txBox="1"/>
          <p:nvPr/>
        </p:nvSpPr>
        <p:spPr>
          <a:xfrm>
            <a:off x="7406640" y="2148840"/>
            <a:ext cx="411480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Stage 2: all statistics, 90%</a:t>
            </a:r>
            <a:endParaRPr lang="en-US" sz="1400" dirty="0"/>
          </a:p>
        </p:txBody>
      </p:sp>
      <p:sp>
        <p:nvSpPr>
          <p:cNvPr id="11" name="Text 7"/>
          <p:cNvSpPr txBox="1"/>
          <p:nvPr/>
        </p:nvSpPr>
        <p:spPr>
          <a:xfrm>
            <a:off x="6766560" y="2852928"/>
            <a:ext cx="4846320" cy="45720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Stage 1: B and C only, 10% of ρ, used to choose the ridge</a:t>
            </a:r>
            <a:endParaRPr lang="en-US" sz="1300" dirty="0"/>
          </a:p>
        </p:txBody>
      </p:sp>
      <p:sp>
        <p:nvSpPr>
          <p:cNvPr id="12" name="Shape 8"/>
          <p:cNvSpPr/>
          <p:nvPr/>
        </p:nvSpPr>
        <p:spPr>
          <a:xfrm>
            <a:off x="6766560" y="3566160"/>
            <a:ext cx="4846320" cy="2606040"/>
          </a:xfrm>
          <a:prstGeom prst="roundRect">
            <a:avLst>
              <a:gd name="adj" fmla="val 2807"/>
            </a:avLst>
          </a:prstGeom>
          <a:solidFill>
            <a:srgbClr val="F6E3D6"/>
          </a:solidFill>
          <a:ln w="12700">
            <a:solidFill>
              <a:srgbClr val="F6E3D6"/>
            </a:solidFill>
            <a:prstDash val="solid"/>
          </a:ln>
        </p:spPr>
      </p:sp>
      <p:sp>
        <p:nvSpPr>
          <p:cNvPr id="13" name="Shape 9"/>
          <p:cNvSpPr/>
          <p:nvPr/>
        </p:nvSpPr>
        <p:spPr>
          <a:xfrm>
            <a:off x="6995160" y="3767328"/>
            <a:ext cx="640080" cy="640080"/>
          </a:xfrm>
          <a:prstGeom prst="ellipse">
            <a:avLst/>
          </a:prstGeom>
          <a:solidFill>
            <a:srgbClr val="C45A0C"/>
          </a:solidFill>
          <a:ln w="12700">
            <a:solidFill>
              <a:srgbClr val="C45A0C"/>
            </a:solidFill>
            <a:prstDash val="solid"/>
          </a:ln>
        </p:spPr>
      </p:sp>
      <p:pic>
        <p:nvPicPr>
          <p:cNvPr id="14" name="Image 2" descr="preencoded.png">    </p:cNvPr>
          <p:cNvPicPr>
            <a:picLocks noChangeAspect="1"/>
          </p:cNvPicPr>
          <p:nvPr/>
        </p:nvPicPr>
        <p:blipFill>
          <a:blip r:embed="rId3"/>
          <a:stretch>
            <a:fillRect/>
          </a:stretch>
        </p:blipFill>
        <p:spPr>
          <a:xfrm>
            <a:off x="7148779" y="3920947"/>
            <a:ext cx="332842" cy="332842"/>
          </a:xfrm>
          <a:prstGeom prst="rect">
            <a:avLst/>
          </a:prstGeom>
        </p:spPr>
      </p:pic>
      <p:sp>
        <p:nvSpPr>
          <p:cNvPr id="15" name="Text 10"/>
          <p:cNvSpPr txBox="1"/>
          <p:nvPr/>
        </p:nvSpPr>
        <p:spPr>
          <a:xfrm>
            <a:off x="7818120" y="3840480"/>
            <a:ext cx="3657600" cy="411480"/>
          </a:xfrm>
          <a:prstGeom prst="rect">
            <a:avLst/>
          </a:prstGeom>
          <a:noFill/>
          <a:ln/>
        </p:spPr>
        <p:txBody>
          <a:bodyPr wrap="square" lIns="0" tIns="0" rIns="0" bIns="0" rtlCol="0" anchor="t"/>
          <a:lstStyle/>
          <a:p>
            <a:pPr indent="0" marL="0">
              <a:buNone/>
            </a:pPr>
            <a:r>
              <a:rPr lang="en-US" sz="1700" b="1" dirty="0">
                <a:solidFill>
                  <a:srgbClr val="14213D"/>
                </a:solidFill>
                <a:latin typeface="Calibri" pitchFamily="34" charset="0"/>
                <a:ea typeface="Calibri" pitchFamily="34" charset="-122"/>
                <a:cs typeface="Calibri" pitchFamily="34" charset="-120"/>
              </a:rPr>
              <a:t>Ledger at O</a:t>
            </a:r>
            <a:endParaRPr lang="en-US" sz="1700" dirty="0"/>
          </a:p>
        </p:txBody>
      </p:sp>
      <p:sp>
        <p:nvSpPr>
          <p:cNvPr id="16" name="Text 11"/>
          <p:cNvSpPr txBox="1"/>
          <p:nvPr/>
        </p:nvSpPr>
        <p:spPr>
          <a:xfrm>
            <a:off x="7818120" y="4297680"/>
            <a:ext cx="3611880" cy="17830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One ledger per register, shared by all researchers. O refuses a run once the cap would be passed. Nothing can be decrypted without O's share, so the cap is enforced technically.</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Homomorphic encryption</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Computing on ciphertexts. CKKS: approximate arithmetic on encrypted vectors of real numbers</a:t>
            </a:r>
            <a:endParaRPr lang="en-US" sz="1600" dirty="0"/>
          </a:p>
        </p:txBody>
      </p:sp>
      <p:sp>
        <p:nvSpPr>
          <p:cNvPr id="4" name="Text 2"/>
          <p:cNvSpPr txBox="1"/>
          <p:nvPr/>
        </p:nvSpPr>
        <p:spPr>
          <a:xfrm>
            <a:off x="548640" y="1645920"/>
            <a:ext cx="5669280" cy="26517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A ciphertext holds a whole vector: N/2 slots (N = 2</a:t>
            </a:r>
            <a:r>
              <a:rPr lang="en-US" sz="1500" baseline="30000" dirty="0">
                <a:solidFill>
                  <a:srgbClr val="1F2937"/>
                </a:solidFill>
                <a:latin typeface="Calibri" pitchFamily="34" charset="0"/>
                <a:ea typeface="Calibri" pitchFamily="34" charset="-122"/>
                <a:cs typeface="Calibri" pitchFamily="34" charset="-120"/>
              </a:rPr>
              <a:t>14</a:t>
            </a:r>
            <a:r>
              <a:rPr lang="en-US" sz="1500" dirty="0">
                <a:solidFill>
                  <a:srgbClr val="1F2937"/>
                </a:solidFill>
                <a:latin typeface="Calibri" pitchFamily="34" charset="0"/>
                <a:ea typeface="Calibri" pitchFamily="34" charset="-122"/>
                <a:cs typeface="Calibri" pitchFamily="34" charset="-120"/>
              </a:rPr>
              <a:t> gives 8,192)</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O can add ciphertexts, multiply them by its own plaintext numbers, and rotate slots to sum them</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Values are scaled by Ω and rounded; decryption returns them plus a small error e</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Security rests on the Ring-LWE problem</a:t>
            </a:r>
            <a:endParaRPr lang="en-US" sz="1500" dirty="0"/>
          </a:p>
        </p:txBody>
      </p:sp>
      <p:sp>
        <p:nvSpPr>
          <p:cNvPr id="5" name="Shape 3"/>
          <p:cNvSpPr/>
          <p:nvPr/>
        </p:nvSpPr>
        <p:spPr>
          <a:xfrm>
            <a:off x="548640" y="4434840"/>
            <a:ext cx="5669280" cy="1737360"/>
          </a:xfrm>
          <a:prstGeom prst="roundRect">
            <a:avLst>
              <a:gd name="adj" fmla="val 4211"/>
            </a:avLst>
          </a:prstGeom>
          <a:solidFill>
            <a:srgbClr val="F7F9FC"/>
          </a:solidFill>
          <a:ln w="12700">
            <a:solidFill>
              <a:srgbClr val="F7F9FC"/>
            </a:solidFill>
            <a:prstDash val="solid"/>
          </a:ln>
        </p:spPr>
      </p:sp>
      <p:sp>
        <p:nvSpPr>
          <p:cNvPr id="6" name="Text 4"/>
          <p:cNvSpPr txBox="1"/>
          <p:nvPr/>
        </p:nvSpPr>
        <p:spPr>
          <a:xfrm>
            <a:off x="777240" y="4544568"/>
            <a:ext cx="530352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Decryption with secret key s</a:t>
            </a:r>
            <a:endParaRPr lang="en-US" sz="1500" dirty="0"/>
          </a:p>
        </p:txBody>
      </p:sp>
      <p:pic>
        <p:nvPicPr>
          <p:cNvPr id="7" name="Image 0" descr="/home/user/VerticalFederatedRegression/slides/assets/eq/ckks_dec.png">    </p:cNvPr>
          <p:cNvPicPr>
            <a:picLocks noChangeAspect="1"/>
          </p:cNvPicPr>
          <p:nvPr/>
        </p:nvPicPr>
        <p:blipFill>
          <a:blip r:embed="rId1"/>
          <a:stretch>
            <a:fillRect/>
          </a:stretch>
        </p:blipFill>
        <p:spPr>
          <a:xfrm>
            <a:off x="777240" y="5029200"/>
            <a:ext cx="3760310" cy="318840"/>
          </a:xfrm>
          <a:prstGeom prst="rect">
            <a:avLst/>
          </a:prstGeom>
        </p:spPr>
      </p:pic>
      <p:sp>
        <p:nvSpPr>
          <p:cNvPr id="8" name="Text 5"/>
          <p:cNvSpPr txBox="1"/>
          <p:nvPr/>
        </p:nvSpPr>
        <p:spPr>
          <a:xfrm>
            <a:off x="777240" y="5669280"/>
            <a:ext cx="5303520" cy="365760"/>
          </a:xfrm>
          <a:prstGeom prst="rect">
            <a:avLst/>
          </a:prstGeom>
          <a:noFill/>
          <a:ln/>
        </p:spPr>
        <p:txBody>
          <a:bodyPr wrap="square" lIns="0" tIns="0" rIns="0" bIns="0" rtlCol="0" anchor="t"/>
          <a:lstStyle/>
          <a:p>
            <a:pPr indent="0" marL="0">
              <a:buNone/>
            </a:pPr>
            <a:r>
              <a:rPr lang="en-US" sz="1300" i="1" dirty="0">
                <a:solidFill>
                  <a:srgbClr val="5B6576"/>
                </a:solidFill>
                <a:latin typeface="Calibri" pitchFamily="34" charset="0"/>
                <a:ea typeface="Calibri" pitchFamily="34" charset="-122"/>
                <a:cs typeface="Calibri" pitchFamily="34" charset="-120"/>
              </a:rPr>
              <a:t>A ciphertext is a pair (c</a:t>
            </a:r>
            <a:r>
              <a:rPr lang="en-US" sz="1300" i="1" baseline="-25000" dirty="0">
                <a:solidFill>
                  <a:srgbClr val="5B6576"/>
                </a:solidFill>
                <a:latin typeface="Calibri" pitchFamily="34" charset="0"/>
                <a:ea typeface="Calibri" pitchFamily="34" charset="-122"/>
                <a:cs typeface="Calibri" pitchFamily="34" charset="-120"/>
              </a:rPr>
              <a:t>0</a:t>
            </a:r>
            <a:r>
              <a:rPr lang="en-US" sz="1300" i="1" dirty="0">
                <a:solidFill>
                  <a:srgbClr val="5B6576"/>
                </a:solidFill>
                <a:latin typeface="Calibri" pitchFamily="34" charset="0"/>
                <a:ea typeface="Calibri" pitchFamily="34" charset="-122"/>
                <a:cs typeface="Calibri" pitchFamily="34" charset="-120"/>
              </a:rPr>
              <a:t>, c</a:t>
            </a:r>
            <a:r>
              <a:rPr lang="en-US" sz="1300" i="1" baseline="-25000" dirty="0">
                <a:solidFill>
                  <a:srgbClr val="5B6576"/>
                </a:solidFill>
                <a:latin typeface="Calibri" pitchFamily="34" charset="0"/>
                <a:ea typeface="Calibri" pitchFamily="34" charset="-122"/>
                <a:cs typeface="Calibri" pitchFamily="34" charset="-120"/>
              </a:rPr>
              <a:t>1</a:t>
            </a:r>
            <a:r>
              <a:rPr lang="en-US" sz="1300" i="1" dirty="0">
                <a:solidFill>
                  <a:srgbClr val="5B6576"/>
                </a:solidFill>
                <a:latin typeface="Calibri" pitchFamily="34" charset="0"/>
                <a:ea typeface="Calibri" pitchFamily="34" charset="-122"/>
                <a:cs typeface="Calibri" pitchFamily="34" charset="-120"/>
              </a:rPr>
              <a:t>) of large polynomials.</a:t>
            </a:r>
            <a:endParaRPr lang="en-US" sz="1300" dirty="0"/>
          </a:p>
        </p:txBody>
      </p:sp>
      <p:sp>
        <p:nvSpPr>
          <p:cNvPr id="9" name="Shape 6"/>
          <p:cNvSpPr/>
          <p:nvPr/>
        </p:nvSpPr>
        <p:spPr>
          <a:xfrm>
            <a:off x="6492240" y="1645920"/>
            <a:ext cx="5120640" cy="4526280"/>
          </a:xfrm>
          <a:prstGeom prst="roundRect">
            <a:avLst>
              <a:gd name="adj" fmla="val 1616"/>
            </a:avLst>
          </a:prstGeom>
          <a:solidFill>
            <a:srgbClr val="F6E3D6"/>
          </a:solidFill>
          <a:ln w="12700">
            <a:solidFill>
              <a:srgbClr val="F6E3D6"/>
            </a:solidFill>
            <a:prstDash val="solid"/>
          </a:ln>
        </p:spPr>
      </p:sp>
      <p:sp>
        <p:nvSpPr>
          <p:cNvPr id="10" name="Shape 7"/>
          <p:cNvSpPr/>
          <p:nvPr/>
        </p:nvSpPr>
        <p:spPr>
          <a:xfrm>
            <a:off x="6720840" y="1874520"/>
            <a:ext cx="685800" cy="685800"/>
          </a:xfrm>
          <a:prstGeom prst="ellipse">
            <a:avLst/>
          </a:prstGeom>
          <a:solidFill>
            <a:srgbClr val="C45A0C"/>
          </a:solidFill>
          <a:ln w="12700">
            <a:solidFill>
              <a:srgbClr val="C45A0C"/>
            </a:solidFill>
            <a:prstDash val="solid"/>
          </a:ln>
        </p:spPr>
      </p:sp>
      <p:pic>
        <p:nvPicPr>
          <p:cNvPr id="11" name="Image 1" descr="preencoded.png">    </p:cNvPr>
          <p:cNvPicPr>
            <a:picLocks noChangeAspect="1"/>
          </p:cNvPicPr>
          <p:nvPr/>
        </p:nvPicPr>
        <p:blipFill>
          <a:blip r:embed="rId2"/>
          <a:stretch>
            <a:fillRect/>
          </a:stretch>
        </p:blipFill>
        <p:spPr>
          <a:xfrm>
            <a:off x="6885432" y="2039112"/>
            <a:ext cx="356616" cy="356616"/>
          </a:xfrm>
          <a:prstGeom prst="rect">
            <a:avLst/>
          </a:prstGeom>
        </p:spPr>
      </p:pic>
      <p:sp>
        <p:nvSpPr>
          <p:cNvPr id="12" name="Text 8"/>
          <p:cNvSpPr txBox="1"/>
          <p:nvPr/>
        </p:nvSpPr>
        <p:spPr>
          <a:xfrm>
            <a:off x="7589520" y="1965960"/>
            <a:ext cx="3931920" cy="457200"/>
          </a:xfrm>
          <a:prstGeom prst="rect">
            <a:avLst/>
          </a:prstGeom>
          <a:noFill/>
          <a:ln/>
        </p:spPr>
        <p:txBody>
          <a:bodyPr wrap="square" lIns="0" tIns="0" rIns="0" bIns="0" rtlCol="0" anchor="t"/>
          <a:lstStyle/>
          <a:p>
            <a:pPr indent="0" marL="0">
              <a:buNone/>
            </a:pPr>
            <a:r>
              <a:rPr lang="en-US" sz="1700" b="1" dirty="0">
                <a:solidFill>
                  <a:srgbClr val="14213D"/>
                </a:solidFill>
                <a:latin typeface="Calibri" pitchFamily="34" charset="0"/>
                <a:ea typeface="Calibri" pitchFamily="34" charset="-122"/>
                <a:cs typeface="Calibri" pitchFamily="34" charset="-120"/>
              </a:rPr>
              <a:t>Split key (threshold decryption)</a:t>
            </a:r>
            <a:endParaRPr lang="en-US" sz="1700" dirty="0"/>
          </a:p>
        </p:txBody>
      </p:sp>
      <p:sp>
        <p:nvSpPr>
          <p:cNvPr id="13" name="Text 9"/>
          <p:cNvSpPr txBox="1"/>
          <p:nvPr/>
        </p:nvSpPr>
        <p:spPr>
          <a:xfrm>
            <a:off x="6720840" y="2743200"/>
            <a:ext cx="4663440" cy="64008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The secret key is the sum of two shares, one per party. Decrypting needs both:</a:t>
            </a:r>
            <a:endParaRPr lang="en-US" sz="1450" dirty="0"/>
          </a:p>
        </p:txBody>
      </p:sp>
      <p:pic>
        <p:nvPicPr>
          <p:cNvPr id="14" name="Image 2" descr="/home/user/VerticalFederatedRegression/slides/assets/eq/thresh.png">    </p:cNvPr>
          <p:cNvPicPr>
            <a:picLocks noChangeAspect="1"/>
          </p:cNvPicPr>
          <p:nvPr/>
        </p:nvPicPr>
        <p:blipFill>
          <a:blip r:embed="rId3"/>
          <a:stretch>
            <a:fillRect/>
          </a:stretch>
        </p:blipFill>
        <p:spPr>
          <a:xfrm>
            <a:off x="6720840" y="3520440"/>
            <a:ext cx="4638589" cy="541081"/>
          </a:xfrm>
          <a:prstGeom prst="rect">
            <a:avLst/>
          </a:prstGeom>
        </p:spPr>
      </p:pic>
      <p:sp>
        <p:nvSpPr>
          <p:cNvPr id="15" name="Text 10"/>
          <p:cNvSpPr txBox="1"/>
          <p:nvPr/>
        </p:nvSpPr>
        <p:spPr>
          <a:xfrm>
            <a:off x="6720840" y="4892040"/>
            <a:ext cx="4663440" cy="109728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So neither party can decrypt alone, and O can attach its noise to its own part of every decryption.</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Private set intersection</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Linking without revealing. Labeled PSI (Chen, Laine and Rindal): R learns its matches, O learns nothing</a:t>
            </a:r>
            <a:endParaRPr lang="en-US" sz="1600" dirty="0"/>
          </a:p>
        </p:txBody>
      </p:sp>
      <p:sp>
        <p:nvSpPr>
          <p:cNvPr id="4" name="Shape 2"/>
          <p:cNvSpPr/>
          <p:nvPr/>
        </p:nvSpPr>
        <p:spPr>
          <a:xfrm>
            <a:off x="548640" y="1691640"/>
            <a:ext cx="3566160" cy="2743200"/>
          </a:xfrm>
          <a:prstGeom prst="roundRect">
            <a:avLst>
              <a:gd name="adj" fmla="val 2667"/>
            </a:avLst>
          </a:prstGeom>
          <a:solidFill>
            <a:srgbClr val="EEF2F7"/>
          </a:solidFill>
          <a:ln w="12700">
            <a:solidFill>
              <a:srgbClr val="EEF2F7"/>
            </a:solidFill>
            <a:prstDash val="solid"/>
          </a:ln>
        </p:spPr>
      </p:sp>
      <p:sp>
        <p:nvSpPr>
          <p:cNvPr id="5" name="Shape 3"/>
          <p:cNvSpPr/>
          <p:nvPr/>
        </p:nvSpPr>
        <p:spPr>
          <a:xfrm>
            <a:off x="822960" y="1901952"/>
            <a:ext cx="594360" cy="594360"/>
          </a:xfrm>
          <a:prstGeom prst="ellipse">
            <a:avLst/>
          </a:prstGeom>
          <a:solidFill>
            <a:srgbClr val="14213D"/>
          </a:solidFill>
          <a:ln w="12700">
            <a:solidFill>
              <a:srgbClr val="14213D"/>
            </a:solidFill>
            <a:prstDash val="solid"/>
          </a:ln>
        </p:spPr>
      </p:sp>
      <p:sp>
        <p:nvSpPr>
          <p:cNvPr id="6" name="Text 4"/>
          <p:cNvSpPr txBox="1"/>
          <p:nvPr/>
        </p:nvSpPr>
        <p:spPr>
          <a:xfrm>
            <a:off x="822960" y="190195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554480" y="1965960"/>
            <a:ext cx="2468880" cy="45720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Blind the identifiers</a:t>
            </a:r>
            <a:endParaRPr lang="en-US" sz="1800" dirty="0"/>
          </a:p>
        </p:txBody>
      </p:sp>
      <p:sp>
        <p:nvSpPr>
          <p:cNvPr id="8" name="Text 6"/>
          <p:cNvSpPr txBox="1"/>
          <p:nvPr/>
        </p:nvSpPr>
        <p:spPr>
          <a:xfrm>
            <a:off x="822960" y="2651760"/>
            <a:ext cx="3063240" cy="169164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R gets a keyed hash F</a:t>
            </a:r>
            <a:r>
              <a:rPr lang="en-US" sz="1450" baseline="-25000" dirty="0">
                <a:solidFill>
                  <a:srgbClr val="1F2937"/>
                </a:solidFill>
                <a:latin typeface="Calibri" pitchFamily="34" charset="0"/>
                <a:ea typeface="Calibri" pitchFamily="34" charset="-122"/>
                <a:cs typeface="Calibri" pitchFamily="34" charset="-120"/>
              </a:rPr>
              <a:t>k</a:t>
            </a:r>
            <a:r>
              <a:rPr lang="en-US" sz="1450" dirty="0">
                <a:solidFill>
                  <a:srgbClr val="1F2937"/>
                </a:solidFill>
                <a:latin typeface="Calibri" pitchFamily="34" charset="0"/>
                <a:ea typeface="Calibri" pitchFamily="34" charset="-122"/>
                <a:cs typeface="Calibri" pitchFamily="34" charset="-120"/>
              </a:rPr>
              <a:t>(id) of each cohort id from O (an OPRF), without O seeing the ids. R pads to a public cap n</a:t>
            </a:r>
            <a:r>
              <a:rPr lang="en-US" sz="1450" baseline="-25000" dirty="0">
                <a:solidFill>
                  <a:srgbClr val="1F2937"/>
                </a:solidFill>
                <a:latin typeface="Calibri" pitchFamily="34" charset="0"/>
                <a:ea typeface="Calibri" pitchFamily="34" charset="-122"/>
                <a:cs typeface="Calibri" pitchFamily="34" charset="-120"/>
              </a:rPr>
              <a:t>R</a:t>
            </a:r>
            <a:r>
              <a:rPr lang="en-US" sz="1450" baseline="30000" dirty="0">
                <a:solidFill>
                  <a:srgbClr val="1F2937"/>
                </a:solidFill>
                <a:latin typeface="Calibri" pitchFamily="34" charset="0"/>
                <a:ea typeface="Calibri" pitchFamily="34" charset="-122"/>
                <a:cs typeface="Calibri" pitchFamily="34" charset="-120"/>
              </a:rPr>
              <a:t>max</a:t>
            </a:r>
            <a:r>
              <a:rPr lang="en-US" sz="1450" dirty="0">
                <a:solidFill>
                  <a:srgbClr val="1F2937"/>
                </a:solidFill>
                <a:latin typeface="Calibri" pitchFamily="34" charset="0"/>
                <a:ea typeface="Calibri" pitchFamily="34" charset="-122"/>
                <a:cs typeface="Calibri" pitchFamily="34" charset="-120"/>
              </a:rPr>
              <a:t>.</a:t>
            </a:r>
            <a:endParaRPr lang="en-US" sz="1450" dirty="0"/>
          </a:p>
        </p:txBody>
      </p:sp>
      <p:sp>
        <p:nvSpPr>
          <p:cNvPr id="9" name="Shape 7"/>
          <p:cNvSpPr/>
          <p:nvPr/>
        </p:nvSpPr>
        <p:spPr>
          <a:xfrm>
            <a:off x="4343400" y="1691640"/>
            <a:ext cx="3566160" cy="2743200"/>
          </a:xfrm>
          <a:prstGeom prst="roundRect">
            <a:avLst>
              <a:gd name="adj" fmla="val 2667"/>
            </a:avLst>
          </a:prstGeom>
          <a:solidFill>
            <a:srgbClr val="EEF2F7"/>
          </a:solidFill>
          <a:ln w="12700">
            <a:solidFill>
              <a:srgbClr val="EEF2F7"/>
            </a:solidFill>
            <a:prstDash val="solid"/>
          </a:ln>
        </p:spPr>
      </p:sp>
      <p:sp>
        <p:nvSpPr>
          <p:cNvPr id="10" name="Shape 8"/>
          <p:cNvSpPr/>
          <p:nvPr/>
        </p:nvSpPr>
        <p:spPr>
          <a:xfrm>
            <a:off x="4617720" y="1901952"/>
            <a:ext cx="594360" cy="594360"/>
          </a:xfrm>
          <a:prstGeom prst="ellipse">
            <a:avLst/>
          </a:prstGeom>
          <a:solidFill>
            <a:srgbClr val="14213D"/>
          </a:solidFill>
          <a:ln w="12700">
            <a:solidFill>
              <a:srgbClr val="14213D"/>
            </a:solidFill>
            <a:prstDash val="solid"/>
          </a:ln>
        </p:spPr>
      </p:sp>
      <p:sp>
        <p:nvSpPr>
          <p:cNvPr id="11" name="Text 9"/>
          <p:cNvSpPr txBox="1"/>
          <p:nvPr/>
        </p:nvSpPr>
        <p:spPr>
          <a:xfrm>
            <a:off x="4617720" y="190195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txBox="1"/>
          <p:nvPr/>
        </p:nvSpPr>
        <p:spPr>
          <a:xfrm>
            <a:off x="5349240" y="1965960"/>
            <a:ext cx="2468880" cy="45720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Match under encryption</a:t>
            </a:r>
            <a:endParaRPr lang="en-US" sz="1800" dirty="0"/>
          </a:p>
        </p:txBody>
      </p:sp>
      <p:sp>
        <p:nvSpPr>
          <p:cNvPr id="13" name="Text 11"/>
          <p:cNvSpPr txBox="1"/>
          <p:nvPr/>
        </p:nvSpPr>
        <p:spPr>
          <a:xfrm>
            <a:off x="4617720" y="2651760"/>
            <a:ext cx="3063240" cy="169164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R sends encrypted queries; O evaluates polynomials built from its own hashed register and returns encrypted answers.</a:t>
            </a:r>
            <a:endParaRPr lang="en-US" sz="1450" dirty="0"/>
          </a:p>
        </p:txBody>
      </p:sp>
      <p:sp>
        <p:nvSpPr>
          <p:cNvPr id="14" name="Shape 12"/>
          <p:cNvSpPr/>
          <p:nvPr/>
        </p:nvSpPr>
        <p:spPr>
          <a:xfrm>
            <a:off x="8138160" y="1691640"/>
            <a:ext cx="3566160" cy="2743200"/>
          </a:xfrm>
          <a:prstGeom prst="roundRect">
            <a:avLst>
              <a:gd name="adj" fmla="val 2667"/>
            </a:avLst>
          </a:prstGeom>
          <a:solidFill>
            <a:srgbClr val="EEF2F7"/>
          </a:solidFill>
          <a:ln w="12700">
            <a:solidFill>
              <a:srgbClr val="EEF2F7"/>
            </a:solidFill>
            <a:prstDash val="solid"/>
          </a:ln>
        </p:spPr>
      </p:sp>
      <p:sp>
        <p:nvSpPr>
          <p:cNvPr id="15" name="Shape 13"/>
          <p:cNvSpPr/>
          <p:nvPr/>
        </p:nvSpPr>
        <p:spPr>
          <a:xfrm>
            <a:off x="8412480" y="1901952"/>
            <a:ext cx="594360" cy="594360"/>
          </a:xfrm>
          <a:prstGeom prst="ellipse">
            <a:avLst/>
          </a:prstGeom>
          <a:solidFill>
            <a:srgbClr val="C45A0C"/>
          </a:solidFill>
          <a:ln w="12700">
            <a:solidFill>
              <a:srgbClr val="C45A0C"/>
            </a:solidFill>
            <a:prstDash val="solid"/>
          </a:ln>
        </p:spPr>
      </p:sp>
      <p:sp>
        <p:nvSpPr>
          <p:cNvPr id="16" name="Text 14"/>
          <p:cNvSpPr txBox="1"/>
          <p:nvPr/>
        </p:nvSpPr>
        <p:spPr>
          <a:xfrm>
            <a:off x="8412480" y="190195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txBox="1"/>
          <p:nvPr/>
        </p:nvSpPr>
        <p:spPr>
          <a:xfrm>
            <a:off x="9144000" y="1965960"/>
            <a:ext cx="2468880" cy="45720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Read the result</a:t>
            </a:r>
            <a:endParaRPr lang="en-US" sz="1800" dirty="0"/>
          </a:p>
        </p:txBody>
      </p:sp>
      <p:sp>
        <p:nvSpPr>
          <p:cNvPr id="18" name="Text 16"/>
          <p:cNvSpPr txBox="1"/>
          <p:nvPr/>
        </p:nvSpPr>
        <p:spPr>
          <a:xfrm>
            <a:off x="8412480" y="2651760"/>
            <a:ext cx="3063240" cy="169164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R decrypts: which ids match, and a label for each match, here the row's position in O's secretly shuffled register.</a:t>
            </a:r>
            <a:endParaRPr lang="en-US" sz="1450" dirty="0"/>
          </a:p>
        </p:txBody>
      </p:sp>
      <p:sp>
        <p:nvSpPr>
          <p:cNvPr id="19" name="Shape 17"/>
          <p:cNvSpPr/>
          <p:nvPr/>
        </p:nvSpPr>
        <p:spPr>
          <a:xfrm>
            <a:off x="548640" y="4709160"/>
            <a:ext cx="5440680" cy="1463040"/>
          </a:xfrm>
          <a:prstGeom prst="roundRect">
            <a:avLst>
              <a:gd name="adj" fmla="val 5000"/>
            </a:avLst>
          </a:prstGeom>
          <a:solidFill>
            <a:srgbClr val="E3EEFB"/>
          </a:solidFill>
          <a:ln w="12700">
            <a:solidFill>
              <a:srgbClr val="E3EEFB"/>
            </a:solidFill>
            <a:prstDash val="solid"/>
          </a:ln>
        </p:spPr>
      </p:sp>
      <p:sp>
        <p:nvSpPr>
          <p:cNvPr id="20" name="Text 18"/>
          <p:cNvSpPr txBox="1"/>
          <p:nvPr/>
        </p:nvSpPr>
        <p:spPr>
          <a:xfrm>
            <a:off x="777240" y="4818888"/>
            <a:ext cx="5029200" cy="365760"/>
          </a:xfrm>
          <a:prstGeom prst="rect">
            <a:avLst/>
          </a:prstGeom>
          <a:noFill/>
          <a:ln/>
        </p:spPr>
        <p:txBody>
          <a:bodyPr wrap="square" lIns="0" tIns="0" rIns="0" bIns="0" rtlCol="0" anchor="t"/>
          <a:lstStyle/>
          <a:p>
            <a:pPr indent="0" marL="0">
              <a:buNone/>
            </a:pPr>
            <a:r>
              <a:rPr lang="en-US" sz="1500" b="1" dirty="0">
                <a:solidFill>
                  <a:srgbClr val="2A78D6"/>
                </a:solidFill>
                <a:latin typeface="Calibri" pitchFamily="34" charset="0"/>
                <a:ea typeface="Calibri" pitchFamily="34" charset="-122"/>
                <a:cs typeface="Calibri" pitchFamily="34" charset="-120"/>
              </a:rPr>
              <a:t>R learns</a:t>
            </a:r>
            <a:endParaRPr lang="en-US" sz="1500" dirty="0"/>
          </a:p>
        </p:txBody>
      </p:sp>
      <p:sp>
        <p:nvSpPr>
          <p:cNvPr id="21" name="Text 19"/>
          <p:cNvSpPr txBox="1"/>
          <p:nvPr/>
        </p:nvSpPr>
        <p:spPr>
          <a:xfrm>
            <a:off x="777240" y="5193792"/>
            <a:ext cx="5029200" cy="91440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The match set I and each match's position in O's shuffled order: enough to line its data up with O's rows later.</a:t>
            </a:r>
            <a:endParaRPr lang="en-US" sz="1400" dirty="0"/>
          </a:p>
        </p:txBody>
      </p:sp>
      <p:sp>
        <p:nvSpPr>
          <p:cNvPr id="22" name="Shape 20"/>
          <p:cNvSpPr/>
          <p:nvPr/>
        </p:nvSpPr>
        <p:spPr>
          <a:xfrm>
            <a:off x="6172200" y="4709160"/>
            <a:ext cx="5440680" cy="1463040"/>
          </a:xfrm>
          <a:prstGeom prst="roundRect">
            <a:avLst>
              <a:gd name="adj" fmla="val 5000"/>
            </a:avLst>
          </a:prstGeom>
          <a:solidFill>
            <a:srgbClr val="F6E3D6"/>
          </a:solidFill>
          <a:ln w="12700">
            <a:solidFill>
              <a:srgbClr val="F6E3D6"/>
            </a:solidFill>
            <a:prstDash val="solid"/>
          </a:ln>
        </p:spPr>
      </p:sp>
      <p:sp>
        <p:nvSpPr>
          <p:cNvPr id="23" name="Text 21"/>
          <p:cNvSpPr txBox="1"/>
          <p:nvPr/>
        </p:nvSpPr>
        <p:spPr>
          <a:xfrm>
            <a:off x="6400800" y="4818888"/>
            <a:ext cx="502920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O learns</a:t>
            </a:r>
            <a:endParaRPr lang="en-US" sz="1500" dirty="0"/>
          </a:p>
        </p:txBody>
      </p:sp>
      <p:sp>
        <p:nvSpPr>
          <p:cNvPr id="24" name="Text 22"/>
          <p:cNvSpPr txBox="1"/>
          <p:nvPr/>
        </p:nvSpPr>
        <p:spPr>
          <a:xfrm>
            <a:off x="6400800" y="5193792"/>
            <a:ext cx="5029200" cy="91440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Only the padded sizes n</a:t>
            </a:r>
            <a:r>
              <a:rPr lang="en-US" sz="1400" baseline="-25000" dirty="0">
                <a:solidFill>
                  <a:srgbClr val="1F2937"/>
                </a:solidFill>
                <a:latin typeface="Calibri" pitchFamily="34" charset="0"/>
                <a:ea typeface="Calibri" pitchFamily="34" charset="-122"/>
                <a:cs typeface="Calibri" pitchFamily="34" charset="-120"/>
              </a:rPr>
              <a:t>R</a:t>
            </a:r>
            <a:r>
              <a:rPr lang="en-US" sz="1400" baseline="30000" dirty="0">
                <a:solidFill>
                  <a:srgbClr val="1F2937"/>
                </a:solidFill>
                <a:latin typeface="Calibri" pitchFamily="34" charset="0"/>
                <a:ea typeface="Calibri" pitchFamily="34" charset="-122"/>
                <a:cs typeface="Calibri" pitchFamily="34" charset="-120"/>
              </a:rPr>
              <a:t>max</a:t>
            </a:r>
            <a:r>
              <a:rPr lang="en-US" sz="1400" dirty="0">
                <a:solidFill>
                  <a:srgbClr val="1F2937"/>
                </a:solidFill>
                <a:latin typeface="Calibri" pitchFamily="34" charset="0"/>
                <a:ea typeface="Calibri" pitchFamily="34" charset="-122"/>
                <a:cs typeface="Calibri" pitchFamily="34" charset="-120"/>
              </a:rPr>
              <a:t> and n̄</a:t>
            </a:r>
            <a:r>
              <a:rPr lang="en-US" sz="1400" baseline="-25000" dirty="0">
                <a:solidFill>
                  <a:srgbClr val="1F2937"/>
                </a:solidFill>
                <a:latin typeface="Calibri" pitchFamily="34" charset="0"/>
                <a:ea typeface="Calibri" pitchFamily="34" charset="-122"/>
                <a:cs typeface="Calibri" pitchFamily="34" charset="-120"/>
              </a:rPr>
              <a:t>O</a:t>
            </a:r>
            <a:r>
              <a:rPr lang="en-US" sz="1400" dirty="0">
                <a:solidFill>
                  <a:srgbClr val="1F2937"/>
                </a:solidFill>
                <a:latin typeface="Calibri" pitchFamily="34" charset="0"/>
                <a:ea typeface="Calibri" pitchFamily="34" charset="-122"/>
                <a:cs typeface="Calibri" pitchFamily="34" charset="-120"/>
              </a:rPr>
              <a:t>. Its shuffle is fresh for every run, so positions reveal nothing.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3</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protocol</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Six phases, from setup to confidence intervals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The protocol at a glance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What each party does, and what crosses the wire</a:t>
            </a:r>
            <a:endParaRPr lang="en-US" sz="1600" dirty="0"/>
          </a:p>
        </p:txBody>
      </p:sp>
      <p:sp>
        <p:nvSpPr>
          <p:cNvPr id="4" name="Text 2"/>
          <p:cNvSpPr txBox="1"/>
          <p:nvPr/>
        </p:nvSpPr>
        <p:spPr>
          <a:xfrm>
            <a:off x="548640" y="2057400"/>
            <a:ext cx="914400" cy="457200"/>
          </a:xfrm>
          <a:prstGeom prst="rect">
            <a:avLst/>
          </a:prstGeom>
          <a:noFill/>
          <a:ln/>
        </p:spPr>
        <p:txBody>
          <a:bodyPr wrap="square" lIns="0" tIns="0" rIns="0" bIns="0" rtlCol="0" anchor="t"/>
          <a:lstStyle/>
          <a:p>
            <a:pPr algn="ctr" indent="0" marL="0">
              <a:buNone/>
            </a:pPr>
            <a:r>
              <a:rPr lang="en-US" sz="2400" b="1" dirty="0">
                <a:solidFill>
                  <a:srgbClr val="2A78D6"/>
                </a:solidFill>
                <a:latin typeface="Cambria" pitchFamily="34" charset="0"/>
                <a:ea typeface="Cambria" pitchFamily="34" charset="-122"/>
                <a:cs typeface="Cambria" pitchFamily="34" charset="-120"/>
              </a:rPr>
              <a:t>R</a:t>
            </a:r>
            <a:endParaRPr lang="en-US" sz="2400" dirty="0"/>
          </a:p>
        </p:txBody>
      </p:sp>
      <p:sp>
        <p:nvSpPr>
          <p:cNvPr id="5" name="Text 3"/>
          <p:cNvSpPr txBox="1"/>
          <p:nvPr/>
        </p:nvSpPr>
        <p:spPr>
          <a:xfrm>
            <a:off x="548640" y="4892040"/>
            <a:ext cx="914400" cy="457200"/>
          </a:xfrm>
          <a:prstGeom prst="rect">
            <a:avLst/>
          </a:prstGeom>
          <a:noFill/>
          <a:ln/>
        </p:spPr>
        <p:txBody>
          <a:bodyPr wrap="square" lIns="0" tIns="0" rIns="0" bIns="0" rtlCol="0" anchor="t"/>
          <a:lstStyle/>
          <a:p>
            <a:pPr algn="ctr" indent="0" marL="0">
              <a:buNone/>
            </a:pPr>
            <a:r>
              <a:rPr lang="en-US" sz="2400" b="1" dirty="0">
                <a:solidFill>
                  <a:srgbClr val="C45A0C"/>
                </a:solidFill>
                <a:latin typeface="Cambria" pitchFamily="34" charset="0"/>
                <a:ea typeface="Cambria" pitchFamily="34" charset="-122"/>
                <a:cs typeface="Cambria" pitchFamily="34" charset="-120"/>
              </a:rPr>
              <a:t>O</a:t>
            </a:r>
            <a:endParaRPr lang="en-US" sz="2400" dirty="0"/>
          </a:p>
        </p:txBody>
      </p:sp>
      <p:sp>
        <p:nvSpPr>
          <p:cNvPr id="6" name="Shape 4"/>
          <p:cNvSpPr/>
          <p:nvPr/>
        </p:nvSpPr>
        <p:spPr>
          <a:xfrm>
            <a:off x="2203704" y="1417320"/>
            <a:ext cx="457200" cy="457200"/>
          </a:xfrm>
          <a:prstGeom prst="ellipse">
            <a:avLst/>
          </a:prstGeom>
          <a:solidFill>
            <a:srgbClr val="14213D"/>
          </a:solidFill>
          <a:ln w="12700">
            <a:solidFill>
              <a:srgbClr val="14213D"/>
            </a:solidFill>
            <a:prstDash val="solid"/>
          </a:ln>
        </p:spPr>
      </p:sp>
      <p:sp>
        <p:nvSpPr>
          <p:cNvPr id="7" name="Text 5"/>
          <p:cNvSpPr txBox="1"/>
          <p:nvPr/>
        </p:nvSpPr>
        <p:spPr>
          <a:xfrm>
            <a:off x="2203704" y="1417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8" name="Shape 6"/>
          <p:cNvSpPr/>
          <p:nvPr/>
        </p:nvSpPr>
        <p:spPr>
          <a:xfrm>
            <a:off x="1600200" y="1965960"/>
            <a:ext cx="1664208" cy="1325880"/>
          </a:xfrm>
          <a:prstGeom prst="roundRect">
            <a:avLst>
              <a:gd name="adj" fmla="val 5517"/>
            </a:avLst>
          </a:prstGeom>
          <a:solidFill>
            <a:srgbClr val="E3EEFB"/>
          </a:solidFill>
          <a:ln w="12700">
            <a:solidFill>
              <a:srgbClr val="E3EEFB"/>
            </a:solidFill>
            <a:prstDash val="solid"/>
          </a:ln>
        </p:spPr>
      </p:sp>
      <p:sp>
        <p:nvSpPr>
          <p:cNvPr id="9" name="Text 7"/>
          <p:cNvSpPr txBox="1"/>
          <p:nvPr/>
        </p:nvSpPr>
        <p:spPr>
          <a:xfrm>
            <a:off x="1691640" y="2029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Agree public parameters; key share s</a:t>
            </a:r>
            <a:r>
              <a:rPr lang="en-US" sz="1250" baseline="-25000" dirty="0">
                <a:solidFill>
                  <a:srgbClr val="14213D"/>
                </a:solidFill>
                <a:latin typeface="Calibri" pitchFamily="34" charset="0"/>
                <a:ea typeface="Calibri" pitchFamily="34" charset="-122"/>
                <a:cs typeface="Calibri" pitchFamily="34" charset="-120"/>
              </a:rPr>
              <a:t>R</a:t>
            </a:r>
            <a:endParaRPr lang="en-US" sz="1250" dirty="0"/>
          </a:p>
        </p:txBody>
      </p:sp>
      <p:sp>
        <p:nvSpPr>
          <p:cNvPr id="10" name="Shape 8"/>
          <p:cNvSpPr/>
          <p:nvPr/>
        </p:nvSpPr>
        <p:spPr>
          <a:xfrm>
            <a:off x="1600200" y="4251960"/>
            <a:ext cx="1664208" cy="1325880"/>
          </a:xfrm>
          <a:prstGeom prst="roundRect">
            <a:avLst>
              <a:gd name="adj" fmla="val 5517"/>
            </a:avLst>
          </a:prstGeom>
          <a:solidFill>
            <a:srgbClr val="F6E3D6"/>
          </a:solidFill>
          <a:ln w="12700">
            <a:solidFill>
              <a:srgbClr val="F6E3D6"/>
            </a:solidFill>
            <a:prstDash val="solid"/>
          </a:ln>
        </p:spPr>
      </p:sp>
      <p:sp>
        <p:nvSpPr>
          <p:cNvPr id="11" name="Text 9"/>
          <p:cNvSpPr txBox="1"/>
          <p:nvPr/>
        </p:nvSpPr>
        <p:spPr>
          <a:xfrm>
            <a:off x="1691640" y="4315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Bounds → Δ, σ, Ω; ledger check; key share s</a:t>
            </a:r>
            <a:r>
              <a:rPr lang="en-US" sz="1250" baseline="-25000" dirty="0">
                <a:solidFill>
                  <a:srgbClr val="14213D"/>
                </a:solidFill>
                <a:latin typeface="Calibri" pitchFamily="34" charset="0"/>
                <a:ea typeface="Calibri" pitchFamily="34" charset="-122"/>
                <a:cs typeface="Calibri" pitchFamily="34" charset="-120"/>
              </a:rPr>
              <a:t>O</a:t>
            </a:r>
            <a:endParaRPr lang="en-US" sz="1250" dirty="0"/>
          </a:p>
        </p:txBody>
      </p:sp>
      <p:sp>
        <p:nvSpPr>
          <p:cNvPr id="12" name="Shape 10"/>
          <p:cNvSpPr/>
          <p:nvPr/>
        </p:nvSpPr>
        <p:spPr>
          <a:xfrm>
            <a:off x="2322576" y="3383280"/>
            <a:ext cx="0" cy="777240"/>
          </a:xfrm>
          <a:prstGeom prst="line">
            <a:avLst/>
          </a:prstGeom>
          <a:noFill/>
          <a:ln w="25400">
            <a:solidFill>
              <a:srgbClr val="2A78D6"/>
            </a:solidFill>
            <a:prstDash val="solid"/>
            <a:tailEnd type="triangle"/>
          </a:ln>
        </p:spPr>
      </p:sp>
      <p:sp>
        <p:nvSpPr>
          <p:cNvPr id="13" name="Shape 11"/>
          <p:cNvSpPr/>
          <p:nvPr/>
        </p:nvSpPr>
        <p:spPr>
          <a:xfrm>
            <a:off x="2542032" y="3383280"/>
            <a:ext cx="0" cy="777240"/>
          </a:xfrm>
          <a:prstGeom prst="line">
            <a:avLst/>
          </a:prstGeom>
          <a:noFill/>
          <a:ln w="25400">
            <a:solidFill>
              <a:srgbClr val="C45A0C"/>
            </a:solidFill>
            <a:prstDash val="solid"/>
            <a:headEnd type="triangle"/>
          </a:ln>
        </p:spPr>
      </p:sp>
      <p:sp>
        <p:nvSpPr>
          <p:cNvPr id="14" name="Text 12"/>
          <p:cNvSpPr txBox="1"/>
          <p:nvPr/>
        </p:nvSpPr>
        <p:spPr>
          <a:xfrm>
            <a:off x="1618488" y="3474720"/>
            <a:ext cx="676656" cy="64008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setup and key shares</a:t>
            </a:r>
            <a:endParaRPr lang="en-US" sz="1000" dirty="0"/>
          </a:p>
        </p:txBody>
      </p:sp>
      <p:sp>
        <p:nvSpPr>
          <p:cNvPr id="15" name="Text 13"/>
          <p:cNvSpPr txBox="1"/>
          <p:nvPr/>
        </p:nvSpPr>
        <p:spPr>
          <a:xfrm>
            <a:off x="1600200" y="5669280"/>
            <a:ext cx="1664208" cy="365760"/>
          </a:xfrm>
          <a:prstGeom prst="rect">
            <a:avLst/>
          </a:prstGeom>
          <a:noFill/>
          <a:ln/>
        </p:spPr>
        <p:txBody>
          <a:bodyPr wrap="square" lIns="0" tIns="0" rIns="0" bIns="0" rtlCol="0" anchor="t"/>
          <a:lstStyle/>
          <a:p>
            <a:pPr algn="ctr" indent="0" marL="0">
              <a:buNone/>
            </a:pPr>
            <a:r>
              <a:rPr lang="en-US" sz="1400" b="1" dirty="0">
                <a:solidFill>
                  <a:srgbClr val="14213D"/>
                </a:solidFill>
                <a:latin typeface="Cambria" pitchFamily="34" charset="0"/>
                <a:ea typeface="Cambria" pitchFamily="34" charset="-122"/>
                <a:cs typeface="Cambria" pitchFamily="34" charset="-120"/>
              </a:rPr>
              <a:t>Setup</a:t>
            </a:r>
            <a:endParaRPr lang="en-US" sz="1400" dirty="0"/>
          </a:p>
        </p:txBody>
      </p:sp>
      <p:sp>
        <p:nvSpPr>
          <p:cNvPr id="16" name="Shape 14"/>
          <p:cNvSpPr/>
          <p:nvPr/>
        </p:nvSpPr>
        <p:spPr>
          <a:xfrm>
            <a:off x="3904488" y="1417320"/>
            <a:ext cx="457200" cy="457200"/>
          </a:xfrm>
          <a:prstGeom prst="ellipse">
            <a:avLst/>
          </a:prstGeom>
          <a:solidFill>
            <a:srgbClr val="14213D"/>
          </a:solidFill>
          <a:ln w="12700">
            <a:solidFill>
              <a:srgbClr val="14213D"/>
            </a:solidFill>
            <a:prstDash val="solid"/>
          </a:ln>
        </p:spPr>
      </p:sp>
      <p:sp>
        <p:nvSpPr>
          <p:cNvPr id="17" name="Text 15"/>
          <p:cNvSpPr txBox="1"/>
          <p:nvPr/>
        </p:nvSpPr>
        <p:spPr>
          <a:xfrm>
            <a:off x="3904488" y="1417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Shape 16"/>
          <p:cNvSpPr/>
          <p:nvPr/>
        </p:nvSpPr>
        <p:spPr>
          <a:xfrm>
            <a:off x="3300984" y="1965960"/>
            <a:ext cx="1664208" cy="1325880"/>
          </a:xfrm>
          <a:prstGeom prst="roundRect">
            <a:avLst>
              <a:gd name="adj" fmla="val 5517"/>
            </a:avLst>
          </a:prstGeom>
          <a:solidFill>
            <a:srgbClr val="E3EEFB"/>
          </a:solidFill>
          <a:ln w="12700">
            <a:solidFill>
              <a:srgbClr val="E3EEFB"/>
            </a:solidFill>
            <a:prstDash val="solid"/>
          </a:ln>
        </p:spPr>
      </p:sp>
      <p:sp>
        <p:nvSpPr>
          <p:cNvPr id="19" name="Text 17"/>
          <p:cNvSpPr txBox="1"/>
          <p:nvPr/>
        </p:nvSpPr>
        <p:spPr>
          <a:xfrm>
            <a:off x="3392424" y="2029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Learns matches and positions; computes A</a:t>
            </a:r>
            <a:endParaRPr lang="en-US" sz="1250" dirty="0"/>
          </a:p>
        </p:txBody>
      </p:sp>
      <p:sp>
        <p:nvSpPr>
          <p:cNvPr id="20" name="Shape 18"/>
          <p:cNvSpPr/>
          <p:nvPr/>
        </p:nvSpPr>
        <p:spPr>
          <a:xfrm>
            <a:off x="3300984" y="4251960"/>
            <a:ext cx="1664208" cy="1325880"/>
          </a:xfrm>
          <a:prstGeom prst="roundRect">
            <a:avLst>
              <a:gd name="adj" fmla="val 5517"/>
            </a:avLst>
          </a:prstGeom>
          <a:solidFill>
            <a:srgbClr val="F6E3D6"/>
          </a:solidFill>
          <a:ln w="12700">
            <a:solidFill>
              <a:srgbClr val="F6E3D6"/>
            </a:solidFill>
            <a:prstDash val="solid"/>
          </a:ln>
        </p:spPr>
      </p:sp>
      <p:sp>
        <p:nvSpPr>
          <p:cNvPr id="21" name="Text 19"/>
          <p:cNvSpPr txBox="1"/>
          <p:nvPr/>
        </p:nvSpPr>
        <p:spPr>
          <a:xfrm>
            <a:off x="3392424" y="4315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Answers PSI over its padded register</a:t>
            </a:r>
            <a:endParaRPr lang="en-US" sz="1250" dirty="0"/>
          </a:p>
        </p:txBody>
      </p:sp>
      <p:sp>
        <p:nvSpPr>
          <p:cNvPr id="22" name="Shape 20"/>
          <p:cNvSpPr/>
          <p:nvPr/>
        </p:nvSpPr>
        <p:spPr>
          <a:xfrm>
            <a:off x="4023360" y="3383280"/>
            <a:ext cx="0" cy="777240"/>
          </a:xfrm>
          <a:prstGeom prst="line">
            <a:avLst/>
          </a:prstGeom>
          <a:noFill/>
          <a:ln w="25400">
            <a:solidFill>
              <a:srgbClr val="2A78D6"/>
            </a:solidFill>
            <a:prstDash val="solid"/>
            <a:tailEnd type="triangle"/>
          </a:ln>
        </p:spPr>
      </p:sp>
      <p:sp>
        <p:nvSpPr>
          <p:cNvPr id="23" name="Shape 21"/>
          <p:cNvSpPr/>
          <p:nvPr/>
        </p:nvSpPr>
        <p:spPr>
          <a:xfrm>
            <a:off x="4242816" y="3383280"/>
            <a:ext cx="0" cy="777240"/>
          </a:xfrm>
          <a:prstGeom prst="line">
            <a:avLst/>
          </a:prstGeom>
          <a:noFill/>
          <a:ln w="25400">
            <a:solidFill>
              <a:srgbClr val="C45A0C"/>
            </a:solidFill>
            <a:prstDash val="solid"/>
            <a:headEnd type="triangle"/>
          </a:ln>
        </p:spPr>
      </p:sp>
      <p:sp>
        <p:nvSpPr>
          <p:cNvPr id="24" name="Text 22"/>
          <p:cNvSpPr txBox="1"/>
          <p:nvPr/>
        </p:nvSpPr>
        <p:spPr>
          <a:xfrm>
            <a:off x="3319272" y="3474720"/>
            <a:ext cx="676656" cy="64008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OPRF and PSI</a:t>
            </a:r>
            <a:endParaRPr lang="en-US" sz="1000" dirty="0"/>
          </a:p>
        </p:txBody>
      </p:sp>
      <p:sp>
        <p:nvSpPr>
          <p:cNvPr id="25" name="Text 23"/>
          <p:cNvSpPr txBox="1"/>
          <p:nvPr/>
        </p:nvSpPr>
        <p:spPr>
          <a:xfrm>
            <a:off x="3300984" y="5669280"/>
            <a:ext cx="1664208" cy="365760"/>
          </a:xfrm>
          <a:prstGeom prst="rect">
            <a:avLst/>
          </a:prstGeom>
          <a:noFill/>
          <a:ln/>
        </p:spPr>
        <p:txBody>
          <a:bodyPr wrap="square" lIns="0" tIns="0" rIns="0" bIns="0" rtlCol="0" anchor="t"/>
          <a:lstStyle/>
          <a:p>
            <a:pPr algn="ctr" indent="0" marL="0">
              <a:buNone/>
            </a:pPr>
            <a:r>
              <a:rPr lang="en-US" sz="1400" b="1" dirty="0">
                <a:solidFill>
                  <a:srgbClr val="14213D"/>
                </a:solidFill>
                <a:latin typeface="Cambria" pitchFamily="34" charset="0"/>
                <a:ea typeface="Cambria" pitchFamily="34" charset="-122"/>
                <a:cs typeface="Cambria" pitchFamily="34" charset="-120"/>
              </a:rPr>
              <a:t>Link</a:t>
            </a:r>
            <a:endParaRPr lang="en-US" sz="1400" dirty="0"/>
          </a:p>
        </p:txBody>
      </p:sp>
      <p:sp>
        <p:nvSpPr>
          <p:cNvPr id="26" name="Shape 24"/>
          <p:cNvSpPr/>
          <p:nvPr/>
        </p:nvSpPr>
        <p:spPr>
          <a:xfrm>
            <a:off x="5605272" y="1417320"/>
            <a:ext cx="457200" cy="457200"/>
          </a:xfrm>
          <a:prstGeom prst="ellipse">
            <a:avLst/>
          </a:prstGeom>
          <a:solidFill>
            <a:srgbClr val="14213D"/>
          </a:solidFill>
          <a:ln w="12700">
            <a:solidFill>
              <a:srgbClr val="14213D"/>
            </a:solidFill>
            <a:prstDash val="solid"/>
          </a:ln>
        </p:spPr>
      </p:sp>
      <p:sp>
        <p:nvSpPr>
          <p:cNvPr id="27" name="Text 25"/>
          <p:cNvSpPr txBox="1"/>
          <p:nvPr/>
        </p:nvSpPr>
        <p:spPr>
          <a:xfrm>
            <a:off x="5605272" y="1417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8" name="Shape 26"/>
          <p:cNvSpPr/>
          <p:nvPr/>
        </p:nvSpPr>
        <p:spPr>
          <a:xfrm>
            <a:off x="5001768" y="1965960"/>
            <a:ext cx="1664208" cy="1325880"/>
          </a:xfrm>
          <a:prstGeom prst="roundRect">
            <a:avLst>
              <a:gd name="adj" fmla="val 5517"/>
            </a:avLst>
          </a:prstGeom>
          <a:solidFill>
            <a:srgbClr val="E3EEFB"/>
          </a:solidFill>
          <a:ln w="12700">
            <a:solidFill>
              <a:srgbClr val="E3EEFB"/>
            </a:solidFill>
            <a:prstDash val="solid"/>
          </a:ln>
        </p:spPr>
      </p:sp>
      <p:sp>
        <p:nvSpPr>
          <p:cNvPr id="29" name="Text 27"/>
          <p:cNvSpPr txBox="1"/>
          <p:nvPr/>
        </p:nvSpPr>
        <p:spPr>
          <a:xfrm>
            <a:off x="5093208" y="2029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Encrypts its features in O's row order</a:t>
            </a:r>
            <a:endParaRPr lang="en-US" sz="1250" dirty="0"/>
          </a:p>
        </p:txBody>
      </p:sp>
      <p:sp>
        <p:nvSpPr>
          <p:cNvPr id="30" name="Shape 28"/>
          <p:cNvSpPr/>
          <p:nvPr/>
        </p:nvSpPr>
        <p:spPr>
          <a:xfrm>
            <a:off x="5001768" y="4251960"/>
            <a:ext cx="1664208" cy="1325880"/>
          </a:xfrm>
          <a:prstGeom prst="roundRect">
            <a:avLst>
              <a:gd name="adj" fmla="val 5517"/>
            </a:avLst>
          </a:prstGeom>
          <a:solidFill>
            <a:srgbClr val="F6E3D6"/>
          </a:solidFill>
          <a:ln w="12700">
            <a:solidFill>
              <a:srgbClr val="F6E3D6"/>
            </a:solidFill>
            <a:prstDash val="solid"/>
          </a:ln>
        </p:spPr>
      </p:sp>
      <p:sp>
        <p:nvSpPr>
          <p:cNvPr id="31" name="Text 29"/>
          <p:cNvSpPr txBox="1"/>
          <p:nvPr/>
        </p:nvSpPr>
        <p:spPr>
          <a:xfrm>
            <a:off x="5093208" y="4315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Converts them to the joint key</a:t>
            </a:r>
            <a:endParaRPr lang="en-US" sz="1250" dirty="0"/>
          </a:p>
        </p:txBody>
      </p:sp>
      <p:sp>
        <p:nvSpPr>
          <p:cNvPr id="32" name="Shape 30"/>
          <p:cNvSpPr/>
          <p:nvPr/>
        </p:nvSpPr>
        <p:spPr>
          <a:xfrm>
            <a:off x="5833872" y="3383280"/>
            <a:ext cx="0" cy="777240"/>
          </a:xfrm>
          <a:prstGeom prst="line">
            <a:avLst/>
          </a:prstGeom>
          <a:noFill/>
          <a:ln w="25400">
            <a:solidFill>
              <a:srgbClr val="2A78D6"/>
            </a:solidFill>
            <a:prstDash val="solid"/>
            <a:tailEnd type="triangle"/>
          </a:ln>
        </p:spPr>
      </p:sp>
      <p:sp>
        <p:nvSpPr>
          <p:cNvPr id="33" name="Text 31"/>
          <p:cNvSpPr txBox="1"/>
          <p:nvPr/>
        </p:nvSpPr>
        <p:spPr>
          <a:xfrm>
            <a:off x="5020056" y="3474720"/>
            <a:ext cx="676656" cy="64008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encrypted vectors</a:t>
            </a:r>
            <a:endParaRPr lang="en-US" sz="1000" dirty="0"/>
          </a:p>
        </p:txBody>
      </p:sp>
      <p:sp>
        <p:nvSpPr>
          <p:cNvPr id="34" name="Text 32"/>
          <p:cNvSpPr txBox="1"/>
          <p:nvPr/>
        </p:nvSpPr>
        <p:spPr>
          <a:xfrm>
            <a:off x="5001768" y="5669280"/>
            <a:ext cx="1664208" cy="365760"/>
          </a:xfrm>
          <a:prstGeom prst="rect">
            <a:avLst/>
          </a:prstGeom>
          <a:noFill/>
          <a:ln/>
        </p:spPr>
        <p:txBody>
          <a:bodyPr wrap="square" lIns="0" tIns="0" rIns="0" bIns="0" rtlCol="0" anchor="t"/>
          <a:lstStyle/>
          <a:p>
            <a:pPr algn="ctr" indent="0" marL="0">
              <a:buNone/>
            </a:pPr>
            <a:r>
              <a:rPr lang="en-US" sz="1400" b="1" dirty="0">
                <a:solidFill>
                  <a:srgbClr val="14213D"/>
                </a:solidFill>
                <a:latin typeface="Cambria" pitchFamily="34" charset="0"/>
                <a:ea typeface="Cambria" pitchFamily="34" charset="-122"/>
                <a:cs typeface="Cambria" pitchFamily="34" charset="-120"/>
              </a:rPr>
              <a:t>Upload</a:t>
            </a:r>
            <a:endParaRPr lang="en-US" sz="1400" dirty="0"/>
          </a:p>
        </p:txBody>
      </p:sp>
      <p:sp>
        <p:nvSpPr>
          <p:cNvPr id="35" name="Shape 33"/>
          <p:cNvSpPr/>
          <p:nvPr/>
        </p:nvSpPr>
        <p:spPr>
          <a:xfrm>
            <a:off x="7306056" y="1417320"/>
            <a:ext cx="457200" cy="457200"/>
          </a:xfrm>
          <a:prstGeom prst="ellipse">
            <a:avLst/>
          </a:prstGeom>
          <a:solidFill>
            <a:srgbClr val="14213D"/>
          </a:solidFill>
          <a:ln w="12700">
            <a:solidFill>
              <a:srgbClr val="14213D"/>
            </a:solidFill>
            <a:prstDash val="solid"/>
          </a:ln>
        </p:spPr>
      </p:sp>
      <p:sp>
        <p:nvSpPr>
          <p:cNvPr id="36" name="Text 34"/>
          <p:cNvSpPr txBox="1"/>
          <p:nvPr/>
        </p:nvSpPr>
        <p:spPr>
          <a:xfrm>
            <a:off x="7306056" y="1417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7" name="Shape 35"/>
          <p:cNvSpPr/>
          <p:nvPr/>
        </p:nvSpPr>
        <p:spPr>
          <a:xfrm>
            <a:off x="6702552" y="4251960"/>
            <a:ext cx="1664208" cy="1325880"/>
          </a:xfrm>
          <a:prstGeom prst="roundRect">
            <a:avLst>
              <a:gd name="adj" fmla="val 5517"/>
            </a:avLst>
          </a:prstGeom>
          <a:solidFill>
            <a:srgbClr val="F6E3D6"/>
          </a:solidFill>
          <a:ln w="12700">
            <a:solidFill>
              <a:srgbClr val="F6E3D6"/>
            </a:solidFill>
            <a:prstDash val="solid"/>
          </a:ln>
        </p:spPr>
      </p:sp>
      <p:sp>
        <p:nvSpPr>
          <p:cNvPr id="38" name="Text 36"/>
          <p:cNvSpPr txBox="1"/>
          <p:nvPr/>
        </p:nvSpPr>
        <p:spPr>
          <a:xfrm>
            <a:off x="6793992" y="4315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Computes B, C, c</a:t>
            </a:r>
            <a:r>
              <a:rPr lang="en-US" sz="1250" baseline="-25000" dirty="0">
                <a:solidFill>
                  <a:srgbClr val="14213D"/>
                </a:solidFill>
                <a:latin typeface="Calibri" pitchFamily="34" charset="0"/>
                <a:ea typeface="Calibri" pitchFamily="34" charset="-122"/>
                <a:cs typeface="Calibri" pitchFamily="34" charset="-120"/>
              </a:rPr>
              <a:t>R</a:t>
            </a:r>
            <a:r>
              <a:rPr lang="en-US" sz="1250" dirty="0">
                <a:solidFill>
                  <a:srgbClr val="14213D"/>
                </a:solidFill>
                <a:latin typeface="Calibri" pitchFamily="34" charset="0"/>
                <a:ea typeface="Calibri" pitchFamily="34" charset="-122"/>
                <a:cs typeface="Calibri" pitchFamily="34" charset="-120"/>
              </a:rPr>
              <a:t>, c</a:t>
            </a:r>
            <a:r>
              <a:rPr lang="en-US" sz="1250" baseline="-25000" dirty="0">
                <a:solidFill>
                  <a:srgbClr val="14213D"/>
                </a:solidFill>
                <a:latin typeface="Calibri" pitchFamily="34" charset="0"/>
                <a:ea typeface="Calibri" pitchFamily="34" charset="-122"/>
                <a:cs typeface="Calibri" pitchFamily="34" charset="-120"/>
              </a:rPr>
              <a:t>O</a:t>
            </a:r>
            <a:r>
              <a:rPr lang="en-US" sz="1250" dirty="0">
                <a:solidFill>
                  <a:srgbClr val="14213D"/>
                </a:solidFill>
                <a:latin typeface="Calibri" pitchFamily="34" charset="0"/>
                <a:ea typeface="Calibri" pitchFamily="34" charset="-122"/>
                <a:cs typeface="Calibri" pitchFamily="34" charset="-120"/>
              </a:rPr>
              <a:t>, y</a:t>
            </a:r>
            <a:r>
              <a:rPr lang="en-US" sz="1250" baseline="30000" dirty="0">
                <a:solidFill>
                  <a:srgbClr val="14213D"/>
                </a:solidFill>
                <a:latin typeface="Calibri" pitchFamily="34" charset="0"/>
                <a:ea typeface="Calibri" pitchFamily="34" charset="-122"/>
                <a:cs typeface="Calibri" pitchFamily="34" charset="-120"/>
              </a:rPr>
              <a:t>T</a:t>
            </a:r>
            <a:r>
              <a:rPr lang="en-US" sz="1250" dirty="0">
                <a:solidFill>
                  <a:srgbClr val="14213D"/>
                </a:solidFill>
                <a:latin typeface="Calibri" pitchFamily="34" charset="0"/>
                <a:ea typeface="Calibri" pitchFamily="34" charset="-122"/>
                <a:cs typeface="Calibri" pitchFamily="34" charset="-120"/>
              </a:rPr>
              <a:t>y under encryption</a:t>
            </a:r>
            <a:endParaRPr lang="en-US" sz="1250" dirty="0"/>
          </a:p>
        </p:txBody>
      </p:sp>
      <p:sp>
        <p:nvSpPr>
          <p:cNvPr id="39" name="Text 37"/>
          <p:cNvSpPr txBox="1"/>
          <p:nvPr/>
        </p:nvSpPr>
        <p:spPr>
          <a:xfrm>
            <a:off x="6702552" y="5669280"/>
            <a:ext cx="1664208" cy="365760"/>
          </a:xfrm>
          <a:prstGeom prst="rect">
            <a:avLst/>
          </a:prstGeom>
          <a:noFill/>
          <a:ln/>
        </p:spPr>
        <p:txBody>
          <a:bodyPr wrap="square" lIns="0" tIns="0" rIns="0" bIns="0" rtlCol="0" anchor="t"/>
          <a:lstStyle/>
          <a:p>
            <a:pPr algn="ctr" indent="0" marL="0">
              <a:buNone/>
            </a:pPr>
            <a:r>
              <a:rPr lang="en-US" sz="1400" b="1" dirty="0">
                <a:solidFill>
                  <a:srgbClr val="14213D"/>
                </a:solidFill>
                <a:latin typeface="Cambria" pitchFamily="34" charset="0"/>
                <a:ea typeface="Cambria" pitchFamily="34" charset="-122"/>
                <a:cs typeface="Cambria" pitchFamily="34" charset="-120"/>
              </a:rPr>
              <a:t>Aggregate</a:t>
            </a:r>
            <a:endParaRPr lang="en-US" sz="1400" dirty="0"/>
          </a:p>
        </p:txBody>
      </p:sp>
      <p:sp>
        <p:nvSpPr>
          <p:cNvPr id="40" name="Shape 38"/>
          <p:cNvSpPr/>
          <p:nvPr/>
        </p:nvSpPr>
        <p:spPr>
          <a:xfrm>
            <a:off x="9006840" y="1417320"/>
            <a:ext cx="457200" cy="457200"/>
          </a:xfrm>
          <a:prstGeom prst="ellipse">
            <a:avLst/>
          </a:prstGeom>
          <a:solidFill>
            <a:srgbClr val="C45A0C"/>
          </a:solidFill>
          <a:ln w="12700">
            <a:solidFill>
              <a:srgbClr val="C45A0C"/>
            </a:solidFill>
            <a:prstDash val="solid"/>
          </a:ln>
        </p:spPr>
      </p:sp>
      <p:sp>
        <p:nvSpPr>
          <p:cNvPr id="41" name="Text 39"/>
          <p:cNvSpPr txBox="1"/>
          <p:nvPr/>
        </p:nvSpPr>
        <p:spPr>
          <a:xfrm>
            <a:off x="9006840" y="1417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42" name="Shape 40"/>
          <p:cNvSpPr/>
          <p:nvPr/>
        </p:nvSpPr>
        <p:spPr>
          <a:xfrm>
            <a:off x="8403336" y="1965960"/>
            <a:ext cx="1664208" cy="1325880"/>
          </a:xfrm>
          <a:prstGeom prst="roundRect">
            <a:avLst>
              <a:gd name="adj" fmla="val 5517"/>
            </a:avLst>
          </a:prstGeom>
          <a:solidFill>
            <a:srgbClr val="E3EEFB"/>
          </a:solidFill>
          <a:ln w="12700">
            <a:solidFill>
              <a:srgbClr val="E3EEFB"/>
            </a:solidFill>
            <a:prstDash val="solid"/>
          </a:ln>
        </p:spPr>
      </p:sp>
      <p:sp>
        <p:nvSpPr>
          <p:cNvPr id="43" name="Text 41"/>
          <p:cNvSpPr txBox="1"/>
          <p:nvPr/>
        </p:nvSpPr>
        <p:spPr>
          <a:xfrm>
            <a:off x="8494776" y="2029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Adds its share; decodes noisy statistics</a:t>
            </a:r>
            <a:endParaRPr lang="en-US" sz="1250" dirty="0"/>
          </a:p>
        </p:txBody>
      </p:sp>
      <p:sp>
        <p:nvSpPr>
          <p:cNvPr id="44" name="Shape 42"/>
          <p:cNvSpPr/>
          <p:nvPr/>
        </p:nvSpPr>
        <p:spPr>
          <a:xfrm>
            <a:off x="8403336" y="4251960"/>
            <a:ext cx="1664208" cy="1325880"/>
          </a:xfrm>
          <a:prstGeom prst="roundRect">
            <a:avLst>
              <a:gd name="adj" fmla="val 5517"/>
            </a:avLst>
          </a:prstGeom>
          <a:solidFill>
            <a:srgbClr val="F6E3D6"/>
          </a:solidFill>
          <a:ln w="12700">
            <a:solidFill>
              <a:srgbClr val="F6E3D6"/>
            </a:solidFill>
            <a:prstDash val="solid"/>
          </a:ln>
        </p:spPr>
      </p:sp>
      <p:sp>
        <p:nvSpPr>
          <p:cNvPr id="45" name="Text 43"/>
          <p:cNvSpPr txBox="1"/>
          <p:nvPr/>
        </p:nvSpPr>
        <p:spPr>
          <a:xfrm>
            <a:off x="8494776" y="4315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Re-randomizes; adds noise in its decryption share</a:t>
            </a:r>
            <a:endParaRPr lang="en-US" sz="1250" dirty="0"/>
          </a:p>
        </p:txBody>
      </p:sp>
      <p:sp>
        <p:nvSpPr>
          <p:cNvPr id="46" name="Shape 44"/>
          <p:cNvSpPr/>
          <p:nvPr/>
        </p:nvSpPr>
        <p:spPr>
          <a:xfrm>
            <a:off x="9235440" y="3383280"/>
            <a:ext cx="0" cy="777240"/>
          </a:xfrm>
          <a:prstGeom prst="line">
            <a:avLst/>
          </a:prstGeom>
          <a:noFill/>
          <a:ln w="25400">
            <a:solidFill>
              <a:srgbClr val="C45A0C"/>
            </a:solidFill>
            <a:prstDash val="solid"/>
            <a:headEnd type="triangle"/>
          </a:ln>
        </p:spPr>
      </p:sp>
      <p:sp>
        <p:nvSpPr>
          <p:cNvPr id="47" name="Text 45"/>
          <p:cNvSpPr txBox="1"/>
          <p:nvPr/>
        </p:nvSpPr>
        <p:spPr>
          <a:xfrm>
            <a:off x="8421624" y="3474720"/>
            <a:ext cx="676656" cy="64008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(c</a:t>
            </a:r>
            <a:r>
              <a:rPr lang="en-US" sz="1000" baseline="-25000" dirty="0">
                <a:solidFill>
                  <a:srgbClr val="5B6576"/>
                </a:solidFill>
                <a:latin typeface="Calibri" pitchFamily="34" charset="0"/>
                <a:ea typeface="Calibri" pitchFamily="34" charset="-122"/>
                <a:cs typeface="Calibri" pitchFamily="34" charset="-120"/>
              </a:rPr>
              <a:t>1</a:t>
            </a:r>
            <a:r>
              <a:rPr lang="en-US" sz="1000" dirty="0">
                <a:solidFill>
                  <a:srgbClr val="5B6576"/>
                </a:solidFill>
                <a:latin typeface="Calibri" pitchFamily="34" charset="0"/>
                <a:ea typeface="Calibri" pitchFamily="34" charset="-122"/>
                <a:cs typeface="Calibri" pitchFamily="34" charset="-120"/>
              </a:rPr>
              <a:t>′, h</a:t>
            </a:r>
            <a:r>
              <a:rPr lang="en-US" sz="1000" baseline="-25000" dirty="0">
                <a:solidFill>
                  <a:srgbClr val="5B6576"/>
                </a:solidFill>
                <a:latin typeface="Calibri" pitchFamily="34" charset="0"/>
                <a:ea typeface="Calibri" pitchFamily="34" charset="-122"/>
                <a:cs typeface="Calibri" pitchFamily="34" charset="-120"/>
              </a:rPr>
              <a:t>O</a:t>
            </a:r>
            <a:r>
              <a:rPr lang="en-US" sz="1000" dirty="0">
                <a:solidFill>
                  <a:srgbClr val="5B6576"/>
                </a:solidFill>
                <a:latin typeface="Calibri" pitchFamily="34" charset="0"/>
                <a:ea typeface="Calibri" pitchFamily="34" charset="-122"/>
                <a:cs typeface="Calibri" pitchFamily="34" charset="-120"/>
              </a:rPr>
              <a:t>)</a:t>
            </a:r>
            <a:endParaRPr lang="en-US" sz="1000" dirty="0"/>
          </a:p>
        </p:txBody>
      </p:sp>
      <p:sp>
        <p:nvSpPr>
          <p:cNvPr id="48" name="Text 46"/>
          <p:cNvSpPr txBox="1"/>
          <p:nvPr/>
        </p:nvSpPr>
        <p:spPr>
          <a:xfrm>
            <a:off x="8403336" y="5669280"/>
            <a:ext cx="1664208" cy="365760"/>
          </a:xfrm>
          <a:prstGeom prst="rect">
            <a:avLst/>
          </a:prstGeom>
          <a:noFill/>
          <a:ln/>
        </p:spPr>
        <p:txBody>
          <a:bodyPr wrap="square" lIns="0" tIns="0" rIns="0" bIns="0" rtlCol="0" anchor="t"/>
          <a:lstStyle/>
          <a:p>
            <a:pPr algn="ctr" indent="0" marL="0">
              <a:buNone/>
            </a:pPr>
            <a:r>
              <a:rPr lang="en-US" sz="1400" b="1" dirty="0">
                <a:solidFill>
                  <a:srgbClr val="14213D"/>
                </a:solidFill>
                <a:latin typeface="Cambria" pitchFamily="34" charset="0"/>
                <a:ea typeface="Cambria" pitchFamily="34" charset="-122"/>
                <a:cs typeface="Cambria" pitchFamily="34" charset="-120"/>
              </a:rPr>
              <a:t>Release ×2</a:t>
            </a:r>
            <a:endParaRPr lang="en-US" sz="1400" dirty="0"/>
          </a:p>
        </p:txBody>
      </p:sp>
      <p:sp>
        <p:nvSpPr>
          <p:cNvPr id="49" name="Shape 47"/>
          <p:cNvSpPr/>
          <p:nvPr/>
        </p:nvSpPr>
        <p:spPr>
          <a:xfrm>
            <a:off x="10707624" y="1417320"/>
            <a:ext cx="457200" cy="457200"/>
          </a:xfrm>
          <a:prstGeom prst="ellipse">
            <a:avLst/>
          </a:prstGeom>
          <a:solidFill>
            <a:srgbClr val="14213D"/>
          </a:solidFill>
          <a:ln w="12700">
            <a:solidFill>
              <a:srgbClr val="14213D"/>
            </a:solidFill>
            <a:prstDash val="solid"/>
          </a:ln>
        </p:spPr>
      </p:sp>
      <p:sp>
        <p:nvSpPr>
          <p:cNvPr id="50" name="Text 48"/>
          <p:cNvSpPr txBox="1"/>
          <p:nvPr/>
        </p:nvSpPr>
        <p:spPr>
          <a:xfrm>
            <a:off x="10707624" y="1417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51" name="Shape 49"/>
          <p:cNvSpPr/>
          <p:nvPr/>
        </p:nvSpPr>
        <p:spPr>
          <a:xfrm>
            <a:off x="10104120" y="1965960"/>
            <a:ext cx="1664208" cy="1325880"/>
          </a:xfrm>
          <a:prstGeom prst="roundRect">
            <a:avLst>
              <a:gd name="adj" fmla="val 5517"/>
            </a:avLst>
          </a:prstGeom>
          <a:solidFill>
            <a:srgbClr val="E3EEFB"/>
          </a:solidFill>
          <a:ln w="12700">
            <a:solidFill>
              <a:srgbClr val="E3EEFB"/>
            </a:solidFill>
            <a:prstDash val="solid"/>
          </a:ln>
        </p:spPr>
      </p:sp>
      <p:sp>
        <p:nvSpPr>
          <p:cNvPr id="52" name="Text 50"/>
          <p:cNvSpPr txBox="1"/>
          <p:nvPr/>
        </p:nvSpPr>
        <p:spPr>
          <a:xfrm>
            <a:off x="10195560" y="2029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Ridge from release 1; estimate and intervals from release 2</a:t>
            </a:r>
            <a:endParaRPr lang="en-US" sz="1250" dirty="0"/>
          </a:p>
        </p:txBody>
      </p:sp>
      <p:sp>
        <p:nvSpPr>
          <p:cNvPr id="53" name="Text 51"/>
          <p:cNvSpPr txBox="1"/>
          <p:nvPr/>
        </p:nvSpPr>
        <p:spPr>
          <a:xfrm>
            <a:off x="10104120" y="5669280"/>
            <a:ext cx="1664208" cy="365760"/>
          </a:xfrm>
          <a:prstGeom prst="rect">
            <a:avLst/>
          </a:prstGeom>
          <a:noFill/>
          <a:ln/>
        </p:spPr>
        <p:txBody>
          <a:bodyPr wrap="square" lIns="0" tIns="0" rIns="0" bIns="0" rtlCol="0" anchor="t"/>
          <a:lstStyle/>
          <a:p>
            <a:pPr algn="ctr" indent="0" marL="0">
              <a:buNone/>
            </a:pPr>
            <a:r>
              <a:rPr lang="en-US" sz="1400" b="1" dirty="0">
                <a:solidFill>
                  <a:srgbClr val="14213D"/>
                </a:solidFill>
                <a:latin typeface="Cambria" pitchFamily="34" charset="0"/>
                <a:ea typeface="Cambria" pitchFamily="34" charset="-122"/>
                <a:cs typeface="Cambria" pitchFamily="34" charset="-120"/>
              </a:rPr>
              <a:t>Solve</a:t>
            </a:r>
            <a:endParaRPr lang="en-US" sz="1400" dirty="0"/>
          </a:p>
        </p:txBody>
      </p:sp>
      <p:sp>
        <p:nvSpPr>
          <p:cNvPr id="54" name="Text 52"/>
          <p:cNvSpPr txBox="1"/>
          <p:nvPr/>
        </p:nvSpPr>
        <p:spPr>
          <a:xfrm>
            <a:off x="548640" y="6172200"/>
            <a:ext cx="11064240" cy="365760"/>
          </a:xfrm>
          <a:prstGeom prst="rect">
            <a:avLst/>
          </a:prstGeom>
          <a:noFill/>
          <a:ln/>
        </p:spPr>
        <p:txBody>
          <a:bodyPr wrap="square" lIns="0" tIns="0" rIns="0" bIns="0" rtlCol="0" anchor="t"/>
          <a:lstStyle/>
          <a:p>
            <a:pPr indent="0" marL="0">
              <a:buNone/>
            </a:pPr>
            <a:r>
              <a:rPr lang="en-US" sz="1300" i="1" dirty="0">
                <a:solidFill>
                  <a:srgbClr val="5B6576"/>
                </a:solidFill>
                <a:latin typeface="Calibri" pitchFamily="34" charset="0"/>
                <a:ea typeface="Calibri" pitchFamily="34" charset="-122"/>
                <a:cs typeface="Calibri" pitchFamily="34" charset="-120"/>
              </a:rPr>
              <a:t>O never receives a decryption share from R; R never receives the part of a ciphertext that would expose O's key share.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0: setup</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Everything that sets the noise is public and fixed before any data are touched</a:t>
            </a:r>
            <a:endParaRPr lang="en-US" sz="1600" dirty="0"/>
          </a:p>
        </p:txBody>
      </p:sp>
      <p:sp>
        <p:nvSpPr>
          <p:cNvPr id="4" name="Shape 2"/>
          <p:cNvSpPr/>
          <p:nvPr/>
        </p:nvSpPr>
        <p:spPr>
          <a:xfrm>
            <a:off x="548640" y="1600200"/>
            <a:ext cx="5440680" cy="4572000"/>
          </a:xfrm>
          <a:prstGeom prst="roundRect">
            <a:avLst>
              <a:gd name="adj" fmla="val 1600"/>
            </a:avLst>
          </a:prstGeom>
          <a:solidFill>
            <a:srgbClr val="EEF2F7"/>
          </a:solidFill>
          <a:ln w="12700">
            <a:solidFill>
              <a:srgbClr val="EEF2F7"/>
            </a:solidFill>
            <a:prstDash val="solid"/>
          </a:ln>
        </p:spPr>
      </p:sp>
      <p:sp>
        <p:nvSpPr>
          <p:cNvPr id="5" name="Shape 3"/>
          <p:cNvSpPr/>
          <p:nvPr/>
        </p:nvSpPr>
        <p:spPr>
          <a:xfrm>
            <a:off x="822960" y="1801368"/>
            <a:ext cx="685800" cy="292608"/>
          </a:xfrm>
          <a:prstGeom prst="roundRect">
            <a:avLst>
              <a:gd name="adj" fmla="val 25000"/>
            </a:avLst>
          </a:prstGeom>
          <a:solidFill>
            <a:srgbClr val="3D5A80"/>
          </a:solidFill>
          <a:ln w="12700">
            <a:solidFill>
              <a:srgbClr val="3D5A80"/>
            </a:solidFill>
            <a:prstDash val="solid"/>
          </a:ln>
        </p:spPr>
      </p:sp>
      <p:sp>
        <p:nvSpPr>
          <p:cNvPr id="6" name="Text 4"/>
          <p:cNvSpPr txBox="1"/>
          <p:nvPr/>
        </p:nvSpPr>
        <p:spPr>
          <a:xfrm>
            <a:off x="822960" y="1801368"/>
            <a:ext cx="685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 + O</a:t>
            </a:r>
            <a:endParaRPr lang="en-US" sz="1100" dirty="0"/>
          </a:p>
        </p:txBody>
      </p:sp>
      <p:sp>
        <p:nvSpPr>
          <p:cNvPr id="7" name="Text 5"/>
          <p:cNvSpPr txBox="1"/>
          <p:nvPr/>
        </p:nvSpPr>
        <p:spPr>
          <a:xfrm>
            <a:off x="1645920" y="1755648"/>
            <a:ext cx="4114800" cy="41148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Agreed in public</a:t>
            </a:r>
            <a:endParaRPr lang="en-US" sz="1900" dirty="0"/>
          </a:p>
        </p:txBody>
      </p:sp>
      <p:sp>
        <p:nvSpPr>
          <p:cNvPr id="8" name="Text 6"/>
          <p:cNvSpPr txBox="1"/>
          <p:nvPr/>
        </p:nvSpPr>
        <p:spPr>
          <a:xfrm>
            <a:off x="868680" y="2377440"/>
            <a:ext cx="4892040" cy="365760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Study scope Φ, on public attributes only (province, birth-year band)</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Caps: cohort n</a:t>
            </a:r>
            <a:r>
              <a:rPr lang="en-US" sz="1450" baseline="-25000" dirty="0">
                <a:solidFill>
                  <a:srgbClr val="1F2937"/>
                </a:solidFill>
                <a:latin typeface="Calibri" pitchFamily="34" charset="0"/>
                <a:ea typeface="Calibri" pitchFamily="34" charset="-122"/>
                <a:cs typeface="Calibri" pitchFamily="34" charset="-120"/>
              </a:rPr>
              <a:t>R</a:t>
            </a:r>
            <a:r>
              <a:rPr lang="en-US" sz="1450" baseline="30000" dirty="0">
                <a:solidFill>
                  <a:srgbClr val="1F2937"/>
                </a:solidFill>
                <a:latin typeface="Calibri" pitchFamily="34" charset="0"/>
                <a:ea typeface="Calibri" pitchFamily="34" charset="-122"/>
                <a:cs typeface="Calibri" pitchFamily="34" charset="-120"/>
              </a:rPr>
              <a:t>max</a:t>
            </a:r>
            <a:r>
              <a:rPr lang="en-US" sz="1450" dirty="0">
                <a:solidFill>
                  <a:srgbClr val="1F2937"/>
                </a:solidFill>
                <a:latin typeface="Calibri" pitchFamily="34" charset="0"/>
                <a:ea typeface="Calibri" pitchFamily="34" charset="-122"/>
                <a:cs typeface="Calibri" pitchFamily="34" charset="-120"/>
              </a:rPr>
              <a:t>; register padded to n̄</a:t>
            </a:r>
            <a:r>
              <a:rPr lang="en-US" sz="1450" baseline="-25000" dirty="0">
                <a:solidFill>
                  <a:srgbClr val="1F2937"/>
                </a:solidFill>
                <a:latin typeface="Calibri" pitchFamily="34" charset="0"/>
                <a:ea typeface="Calibri" pitchFamily="34" charset="-122"/>
                <a:cs typeface="Calibri" pitchFamily="34" charset="-120"/>
              </a:rPr>
              <a:t>O</a:t>
            </a:r>
            <a:r>
              <a:rPr lang="en-US" sz="1450" dirty="0">
                <a:solidFill>
                  <a:srgbClr val="1F2937"/>
                </a:solidFill>
                <a:latin typeface="Calibri" pitchFamily="34" charset="0"/>
                <a:ea typeface="Calibri" pitchFamily="34" charset="-122"/>
                <a:cs typeface="Calibri" pitchFamily="34" charset="-120"/>
              </a:rPr>
              <a:t> with dummy rows</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Clipping bounds B</a:t>
            </a:r>
            <a:r>
              <a:rPr lang="en-US" sz="1450" baseline="-25000" dirty="0">
                <a:solidFill>
                  <a:srgbClr val="1F2937"/>
                </a:solidFill>
                <a:latin typeface="Calibri" pitchFamily="34" charset="0"/>
                <a:ea typeface="Calibri" pitchFamily="34" charset="-122"/>
                <a:cs typeface="Calibri" pitchFamily="34" charset="-120"/>
              </a:rPr>
              <a:t>R</a:t>
            </a:r>
            <a:r>
              <a:rPr lang="en-US" sz="1450" dirty="0">
                <a:solidFill>
                  <a:srgbClr val="1F2937"/>
                </a:solidFill>
                <a:latin typeface="Calibri" pitchFamily="34" charset="0"/>
                <a:ea typeface="Calibri" pitchFamily="34" charset="-122"/>
                <a:cs typeface="Calibri" pitchFamily="34" charset="-120"/>
              </a:rPr>
              <a:t> (with the intercept), B</a:t>
            </a:r>
            <a:r>
              <a:rPr lang="en-US" sz="1450" baseline="-25000" dirty="0">
                <a:solidFill>
                  <a:srgbClr val="1F2937"/>
                </a:solidFill>
                <a:latin typeface="Calibri" pitchFamily="34" charset="0"/>
                <a:ea typeface="Calibri" pitchFamily="34" charset="-122"/>
                <a:cs typeface="Calibri" pitchFamily="34" charset="-120"/>
              </a:rPr>
              <a:t>O</a:t>
            </a:r>
            <a:r>
              <a:rPr lang="en-US" sz="1450" dirty="0">
                <a:solidFill>
                  <a:srgbClr val="1F2937"/>
                </a:solidFill>
                <a:latin typeface="Calibri" pitchFamily="34" charset="0"/>
                <a:ea typeface="Calibri" pitchFamily="34" charset="-122"/>
                <a:cs typeface="Calibri" pitchFamily="34" charset="-120"/>
              </a:rPr>
              <a:t>, B</a:t>
            </a:r>
            <a:r>
              <a:rPr lang="en-US" sz="1450" baseline="-25000" dirty="0">
                <a:solidFill>
                  <a:srgbClr val="1F2937"/>
                </a:solidFill>
                <a:latin typeface="Calibri" pitchFamily="34" charset="0"/>
                <a:ea typeface="Calibri" pitchFamily="34" charset="-122"/>
                <a:cs typeface="Calibri" pitchFamily="34" charset="-120"/>
              </a:rPr>
              <a:t>y</a:t>
            </a:r>
            <a:r>
              <a:rPr lang="en-US" sz="1450" dirty="0">
                <a:solidFill>
                  <a:srgbClr val="1F2937"/>
                </a:solidFill>
                <a:latin typeface="Calibri" pitchFamily="34" charset="0"/>
                <a:ea typeface="Calibri" pitchFamily="34" charset="-122"/>
                <a:cs typeface="Calibri" pitchFamily="34" charset="-120"/>
              </a:rPr>
              <a:t>, from public reference data</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Budget (ε, δ); stage-1 share f</a:t>
            </a:r>
            <a:r>
              <a:rPr lang="en-US" sz="1450" baseline="-25000" dirty="0">
                <a:solidFill>
                  <a:srgbClr val="1F2937"/>
                </a:solidFill>
                <a:latin typeface="Calibri" pitchFamily="34" charset="0"/>
                <a:ea typeface="Calibri" pitchFamily="34" charset="-122"/>
                <a:cs typeface="Calibri" pitchFamily="34" charset="-120"/>
              </a:rPr>
              <a:t>1</a:t>
            </a:r>
            <a:r>
              <a:rPr lang="en-US" sz="1450" dirty="0">
                <a:solidFill>
                  <a:srgbClr val="1F2937"/>
                </a:solidFill>
                <a:latin typeface="Calibri" pitchFamily="34" charset="0"/>
                <a:ea typeface="Calibri" pitchFamily="34" charset="-122"/>
                <a:cs typeface="Calibri" pitchFamily="34" charset="-120"/>
              </a:rPr>
              <a:t> = 0.1; validity target ϑ</a:t>
            </a:r>
            <a:r>
              <a:rPr lang="en-US" sz="1450" baseline="30000" dirty="0">
                <a:solidFill>
                  <a:srgbClr val="1F2937"/>
                </a:solidFill>
                <a:latin typeface="Calibri" pitchFamily="34" charset="0"/>
                <a:ea typeface="Calibri" pitchFamily="34" charset="-122"/>
                <a:cs typeface="Calibri" pitchFamily="34" charset="-120"/>
              </a:rPr>
              <a:t>*</a:t>
            </a:r>
            <a:r>
              <a:rPr lang="en-US" sz="1450" dirty="0">
                <a:solidFill>
                  <a:srgbClr val="1F2937"/>
                </a:solidFill>
                <a:latin typeface="Calibri" pitchFamily="34" charset="0"/>
                <a:ea typeface="Calibri" pitchFamily="34" charset="-122"/>
                <a:cs typeface="Calibri" pitchFamily="34" charset="-120"/>
              </a:rPr>
              <a:t> = 2.5; error level α</a:t>
            </a:r>
            <a:endParaRPr lang="en-US" sz="1450" dirty="0"/>
          </a:p>
        </p:txBody>
      </p:sp>
      <p:sp>
        <p:nvSpPr>
          <p:cNvPr id="9" name="Shape 7"/>
          <p:cNvSpPr/>
          <p:nvPr/>
        </p:nvSpPr>
        <p:spPr>
          <a:xfrm>
            <a:off x="6172200" y="1600200"/>
            <a:ext cx="5440680" cy="2468880"/>
          </a:xfrm>
          <a:prstGeom prst="roundRect">
            <a:avLst>
              <a:gd name="adj" fmla="val 2963"/>
            </a:avLst>
          </a:prstGeom>
          <a:solidFill>
            <a:srgbClr val="F6E3D6"/>
          </a:solidFill>
          <a:ln w="12700">
            <a:solidFill>
              <a:srgbClr val="F6E3D6"/>
            </a:solidFill>
            <a:prstDash val="solid"/>
          </a:ln>
        </p:spPr>
      </p:sp>
      <p:sp>
        <p:nvSpPr>
          <p:cNvPr id="10" name="Shape 8"/>
          <p:cNvSpPr/>
          <p:nvPr/>
        </p:nvSpPr>
        <p:spPr>
          <a:xfrm>
            <a:off x="6446520" y="1801368"/>
            <a:ext cx="384048" cy="292608"/>
          </a:xfrm>
          <a:prstGeom prst="roundRect">
            <a:avLst>
              <a:gd name="adj" fmla="val 25000"/>
            </a:avLst>
          </a:prstGeom>
          <a:solidFill>
            <a:srgbClr val="C45A0C"/>
          </a:solidFill>
          <a:ln w="12700">
            <a:solidFill>
              <a:srgbClr val="C45A0C"/>
            </a:solidFill>
            <a:prstDash val="solid"/>
          </a:ln>
        </p:spPr>
      </p:sp>
      <p:sp>
        <p:nvSpPr>
          <p:cNvPr id="11" name="Text 9"/>
          <p:cNvSpPr txBox="1"/>
          <p:nvPr/>
        </p:nvSpPr>
        <p:spPr>
          <a:xfrm>
            <a:off x="6446520" y="1801368"/>
            <a:ext cx="38404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a:t>
            </a:r>
            <a:endParaRPr lang="en-US" sz="1100" dirty="0"/>
          </a:p>
        </p:txBody>
      </p:sp>
      <p:sp>
        <p:nvSpPr>
          <p:cNvPr id="12" name="Text 10"/>
          <p:cNvSpPr txBox="1"/>
          <p:nvPr/>
        </p:nvSpPr>
        <p:spPr>
          <a:xfrm>
            <a:off x="6995160" y="1755648"/>
            <a:ext cx="4114800" cy="41148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Derived by O</a:t>
            </a:r>
            <a:endParaRPr lang="en-US" sz="1900" dirty="0"/>
          </a:p>
        </p:txBody>
      </p:sp>
      <p:sp>
        <p:nvSpPr>
          <p:cNvPr id="13" name="Text 11"/>
          <p:cNvSpPr txBox="1"/>
          <p:nvPr/>
        </p:nvSpPr>
        <p:spPr>
          <a:xfrm>
            <a:off x="6446520" y="2331720"/>
            <a:ext cx="4937760" cy="16916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Sensitivities Δ and Δ</a:t>
            </a:r>
            <a:r>
              <a:rPr lang="en-US" sz="1400" baseline="-25000" dirty="0">
                <a:solidFill>
                  <a:srgbClr val="1F2937"/>
                </a:solidFill>
                <a:latin typeface="Calibri" pitchFamily="34" charset="0"/>
                <a:ea typeface="Calibri" pitchFamily="34" charset="-122"/>
                <a:cs typeface="Calibri" pitchFamily="34" charset="-120"/>
              </a:rPr>
              <a:t>G</a:t>
            </a:r>
            <a:r>
              <a:rPr lang="en-US" sz="1400" dirty="0">
                <a:solidFill>
                  <a:srgbClr val="1F2937"/>
                </a:solidFill>
                <a:latin typeface="Calibri" pitchFamily="34" charset="0"/>
                <a:ea typeface="Calibri" pitchFamily="34" charset="-122"/>
                <a:cs typeface="Calibri" pitchFamily="34" charset="-120"/>
              </a:rPr>
              <a:t> from the bounds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Noise σ</a:t>
            </a:r>
            <a:r>
              <a:rPr lang="en-US" sz="1400" baseline="-25000" dirty="0">
                <a:solidFill>
                  <a:srgbClr val="1F2937"/>
                </a:solidFill>
                <a:latin typeface="Calibri" pitchFamily="34" charset="0"/>
                <a:ea typeface="Calibri" pitchFamily="34" charset="-122"/>
                <a:cs typeface="Calibri" pitchFamily="34" charset="-120"/>
              </a:rPr>
              <a:t>1</a:t>
            </a:r>
            <a:r>
              <a:rPr lang="en-US" sz="1400" dirty="0">
                <a:solidFill>
                  <a:srgbClr val="1F2937"/>
                </a:solidFill>
                <a:latin typeface="Calibri" pitchFamily="34" charset="0"/>
                <a:ea typeface="Calibri" pitchFamily="34" charset="-122"/>
                <a:cs typeface="Calibri" pitchFamily="34" charset="-120"/>
              </a:rPr>
              <a:t>, σ</a:t>
            </a:r>
            <a:r>
              <a:rPr lang="en-US" sz="1400" baseline="-25000" dirty="0">
                <a:solidFill>
                  <a:srgbClr val="1F2937"/>
                </a:solidFill>
                <a:latin typeface="Calibri" pitchFamily="34" charset="0"/>
                <a:ea typeface="Calibri" pitchFamily="34" charset="-122"/>
                <a:cs typeface="Calibri" pitchFamily="34" charset="-120"/>
              </a:rPr>
              <a:t>2</a:t>
            </a:r>
            <a:r>
              <a:rPr lang="en-US" sz="1400" dirty="0">
                <a:solidFill>
                  <a:srgbClr val="1F2937"/>
                </a:solidFill>
                <a:latin typeface="Calibri" pitchFamily="34" charset="0"/>
                <a:ea typeface="Calibri" pitchFamily="34" charset="-122"/>
                <a:cs typeface="Calibri" pitchFamily="34" charset="-120"/>
              </a:rPr>
              <a:t> and the CKKS scale Ω (Calibrate)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Ledger check: refuse if the run would pass the cap</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 fresh secret shuffle τ of its rows and a fresh OPRF key</a:t>
            </a:r>
            <a:endParaRPr lang="en-US" sz="1400" dirty="0"/>
          </a:p>
        </p:txBody>
      </p:sp>
      <p:sp>
        <p:nvSpPr>
          <p:cNvPr id="14" name="Shape 12"/>
          <p:cNvSpPr/>
          <p:nvPr/>
        </p:nvSpPr>
        <p:spPr>
          <a:xfrm>
            <a:off x="6172200" y="4251960"/>
            <a:ext cx="5440680" cy="1920240"/>
          </a:xfrm>
          <a:prstGeom prst="roundRect">
            <a:avLst>
              <a:gd name="adj" fmla="val 3810"/>
            </a:avLst>
          </a:prstGeom>
          <a:solidFill>
            <a:srgbClr val="F7F9FC"/>
          </a:solidFill>
          <a:ln w="12700">
            <a:solidFill>
              <a:srgbClr val="F7F9FC"/>
            </a:solidFill>
            <a:prstDash val="solid"/>
          </a:ln>
        </p:spPr>
      </p:sp>
      <p:sp>
        <p:nvSpPr>
          <p:cNvPr id="15" name="Shape 13"/>
          <p:cNvSpPr/>
          <p:nvPr/>
        </p:nvSpPr>
        <p:spPr>
          <a:xfrm>
            <a:off x="6446520" y="4453128"/>
            <a:ext cx="685800" cy="292608"/>
          </a:xfrm>
          <a:prstGeom prst="roundRect">
            <a:avLst>
              <a:gd name="adj" fmla="val 25000"/>
            </a:avLst>
          </a:prstGeom>
          <a:solidFill>
            <a:srgbClr val="3D5A80"/>
          </a:solidFill>
          <a:ln w="12700">
            <a:solidFill>
              <a:srgbClr val="3D5A80"/>
            </a:solidFill>
            <a:prstDash val="solid"/>
          </a:ln>
        </p:spPr>
      </p:sp>
      <p:sp>
        <p:nvSpPr>
          <p:cNvPr id="16" name="Text 14"/>
          <p:cNvSpPr txBox="1"/>
          <p:nvPr/>
        </p:nvSpPr>
        <p:spPr>
          <a:xfrm>
            <a:off x="6446520" y="4453128"/>
            <a:ext cx="685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 + O</a:t>
            </a:r>
            <a:endParaRPr lang="en-US" sz="1100" dirty="0"/>
          </a:p>
        </p:txBody>
      </p:sp>
      <p:sp>
        <p:nvSpPr>
          <p:cNvPr id="17" name="Text 15"/>
          <p:cNvSpPr txBox="1"/>
          <p:nvPr/>
        </p:nvSpPr>
        <p:spPr>
          <a:xfrm>
            <a:off x="7269480" y="4407408"/>
            <a:ext cx="4114800" cy="41148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Split key generation</a:t>
            </a:r>
            <a:endParaRPr lang="en-US" sz="1900" dirty="0"/>
          </a:p>
        </p:txBody>
      </p:sp>
      <p:sp>
        <p:nvSpPr>
          <p:cNvPr id="18" name="Text 16"/>
          <p:cNvSpPr txBox="1"/>
          <p:nvPr/>
        </p:nvSpPr>
        <p:spPr>
          <a:xfrm>
            <a:off x="6446520" y="4983480"/>
            <a:ext cx="493776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Joint public key, secret s = s</a:t>
            </a:r>
            <a:r>
              <a:rPr lang="en-US" sz="1400" baseline="-25000" dirty="0">
                <a:solidFill>
                  <a:srgbClr val="1F2937"/>
                </a:solidFill>
                <a:latin typeface="Calibri" pitchFamily="34" charset="0"/>
                <a:ea typeface="Calibri" pitchFamily="34" charset="-122"/>
                <a:cs typeface="Calibri" pitchFamily="34" charset="-120"/>
              </a:rPr>
              <a:t>R</a:t>
            </a:r>
            <a:r>
              <a:rPr lang="en-US" sz="1400" dirty="0">
                <a:solidFill>
                  <a:srgbClr val="1F2937"/>
                </a:solidFill>
                <a:latin typeface="Calibri" pitchFamily="34" charset="0"/>
                <a:ea typeface="Calibri" pitchFamily="34" charset="-122"/>
                <a:cs typeface="Calibri" pitchFamily="34" charset="-120"/>
              </a:rPr>
              <a:t> + s</a:t>
            </a:r>
            <a:r>
              <a:rPr lang="en-US" sz="1400" baseline="-25000" dirty="0">
                <a:solidFill>
                  <a:srgbClr val="1F2937"/>
                </a:solidFill>
                <a:latin typeface="Calibri" pitchFamily="34" charset="0"/>
                <a:ea typeface="Calibri" pitchFamily="34" charset="-122"/>
                <a:cs typeface="Calibri" pitchFamily="34" charset="-120"/>
              </a:rPr>
              <a:t>O</a:t>
            </a:r>
            <a:r>
              <a:rPr lang="en-US" sz="1400" dirty="0">
                <a:solidFill>
                  <a:srgbClr val="1F2937"/>
                </a:solidFill>
                <a:latin typeface="Calibri" pitchFamily="34" charset="0"/>
                <a:ea typeface="Calibri" pitchFamily="34" charset="-122"/>
                <a:cs typeface="Calibri" pitchFamily="34" charset="-120"/>
              </a:rPr>
              <a:t>, and rotation keys only. Neither party can decrypt alone.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1: link</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Labeled PSI tells R which cohort members are in the register, and where</a:t>
            </a:r>
            <a:endParaRPr lang="en-US" sz="1600" dirty="0"/>
          </a:p>
        </p:txBody>
      </p:sp>
      <p:sp>
        <p:nvSpPr>
          <p:cNvPr id="4" name="Shape 2"/>
          <p:cNvSpPr/>
          <p:nvPr/>
        </p:nvSpPr>
        <p:spPr>
          <a:xfrm>
            <a:off x="548640" y="1709928"/>
            <a:ext cx="384048" cy="292608"/>
          </a:xfrm>
          <a:prstGeom prst="roundRect">
            <a:avLst>
              <a:gd name="adj" fmla="val 25000"/>
            </a:avLst>
          </a:prstGeom>
          <a:solidFill>
            <a:srgbClr val="2A78D6"/>
          </a:solidFill>
          <a:ln w="12700">
            <a:solidFill>
              <a:srgbClr val="2A78D6"/>
            </a:solidFill>
            <a:prstDash val="solid"/>
          </a:ln>
        </p:spPr>
      </p:sp>
      <p:sp>
        <p:nvSpPr>
          <p:cNvPr id="5" name="Text 3"/>
          <p:cNvSpPr txBox="1"/>
          <p:nvPr/>
        </p:nvSpPr>
        <p:spPr>
          <a:xfrm>
            <a:off x="548640" y="1709928"/>
            <a:ext cx="38404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t>
            </a:r>
            <a:endParaRPr lang="en-US" sz="1100" dirty="0"/>
          </a:p>
        </p:txBody>
      </p:sp>
      <p:sp>
        <p:nvSpPr>
          <p:cNvPr id="6" name="Text 4"/>
          <p:cNvSpPr txBox="1"/>
          <p:nvPr/>
        </p:nvSpPr>
        <p:spPr>
          <a:xfrm>
            <a:off x="1417320" y="1645920"/>
            <a:ext cx="5760720" cy="64008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Pad the cohort identifiers with random dummies to exactly n</a:t>
            </a:r>
            <a:r>
              <a:rPr lang="en-US" sz="1500" baseline="-25000" dirty="0">
                <a:solidFill>
                  <a:srgbClr val="1F2937"/>
                </a:solidFill>
                <a:latin typeface="Calibri" pitchFamily="34" charset="0"/>
                <a:ea typeface="Calibri" pitchFamily="34" charset="-122"/>
                <a:cs typeface="Calibri" pitchFamily="34" charset="-120"/>
              </a:rPr>
              <a:t>R</a:t>
            </a:r>
            <a:r>
              <a:rPr lang="en-US" sz="1500" baseline="30000" dirty="0">
                <a:solidFill>
                  <a:srgbClr val="1F2937"/>
                </a:solidFill>
                <a:latin typeface="Calibri" pitchFamily="34" charset="0"/>
                <a:ea typeface="Calibri" pitchFamily="34" charset="-122"/>
                <a:cs typeface="Calibri" pitchFamily="34" charset="-120"/>
              </a:rPr>
              <a:t>max</a:t>
            </a:r>
            <a:endParaRPr lang="en-US" sz="1500" dirty="0"/>
          </a:p>
        </p:txBody>
      </p:sp>
      <p:sp>
        <p:nvSpPr>
          <p:cNvPr id="7" name="Shape 5"/>
          <p:cNvSpPr/>
          <p:nvPr/>
        </p:nvSpPr>
        <p:spPr>
          <a:xfrm>
            <a:off x="548640" y="2423160"/>
            <a:ext cx="685800" cy="292608"/>
          </a:xfrm>
          <a:prstGeom prst="roundRect">
            <a:avLst>
              <a:gd name="adj" fmla="val 25000"/>
            </a:avLst>
          </a:prstGeom>
          <a:solidFill>
            <a:srgbClr val="3D5A80"/>
          </a:solidFill>
          <a:ln w="12700">
            <a:solidFill>
              <a:srgbClr val="3D5A80"/>
            </a:solidFill>
            <a:prstDash val="solid"/>
          </a:ln>
        </p:spPr>
      </p:sp>
      <p:sp>
        <p:nvSpPr>
          <p:cNvPr id="8" name="Text 6"/>
          <p:cNvSpPr txBox="1"/>
          <p:nvPr/>
        </p:nvSpPr>
        <p:spPr>
          <a:xfrm>
            <a:off x="548640" y="2423160"/>
            <a:ext cx="685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 + O</a:t>
            </a:r>
            <a:endParaRPr lang="en-US" sz="1100" dirty="0"/>
          </a:p>
        </p:txBody>
      </p:sp>
      <p:sp>
        <p:nvSpPr>
          <p:cNvPr id="9" name="Text 7"/>
          <p:cNvSpPr txBox="1"/>
          <p:nvPr/>
        </p:nvSpPr>
        <p:spPr>
          <a:xfrm>
            <a:off x="1417320" y="2359152"/>
            <a:ext cx="5760720" cy="64008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OPRF: R gets F</a:t>
            </a:r>
            <a:r>
              <a:rPr lang="en-US" sz="1500" baseline="-25000" dirty="0">
                <a:solidFill>
                  <a:srgbClr val="1F2937"/>
                </a:solidFill>
                <a:latin typeface="Calibri" pitchFamily="34" charset="0"/>
                <a:ea typeface="Calibri" pitchFamily="34" charset="-122"/>
                <a:cs typeface="Calibri" pitchFamily="34" charset="-120"/>
              </a:rPr>
              <a:t>k</a:t>
            </a:r>
            <a:r>
              <a:rPr lang="en-US" sz="1500" dirty="0">
                <a:solidFill>
                  <a:srgbClr val="1F2937"/>
                </a:solidFill>
                <a:latin typeface="Calibri" pitchFamily="34" charset="0"/>
                <a:ea typeface="Calibri" pitchFamily="34" charset="-122"/>
                <a:cs typeface="Calibri" pitchFamily="34" charset="-120"/>
              </a:rPr>
              <a:t>(id) for each padded id; O evaluates exactly n</a:t>
            </a:r>
            <a:r>
              <a:rPr lang="en-US" sz="1500" baseline="-25000" dirty="0">
                <a:solidFill>
                  <a:srgbClr val="1F2937"/>
                </a:solidFill>
                <a:latin typeface="Calibri" pitchFamily="34" charset="0"/>
                <a:ea typeface="Calibri" pitchFamily="34" charset="-122"/>
                <a:cs typeface="Calibri" pitchFamily="34" charset="-120"/>
              </a:rPr>
              <a:t>R</a:t>
            </a:r>
            <a:r>
              <a:rPr lang="en-US" sz="1500" baseline="30000" dirty="0">
                <a:solidFill>
                  <a:srgbClr val="1F2937"/>
                </a:solidFill>
                <a:latin typeface="Calibri" pitchFamily="34" charset="0"/>
                <a:ea typeface="Calibri" pitchFamily="34" charset="-122"/>
                <a:cs typeface="Calibri" pitchFamily="34" charset="-120"/>
              </a:rPr>
              <a:t>max</a:t>
            </a:r>
            <a:r>
              <a:rPr lang="en-US" sz="1500" dirty="0">
                <a:solidFill>
                  <a:srgbClr val="1F2937"/>
                </a:solidFill>
                <a:latin typeface="Calibri" pitchFamily="34" charset="0"/>
                <a:ea typeface="Calibri" pitchFamily="34" charset="-122"/>
                <a:cs typeface="Calibri" pitchFamily="34" charset="-120"/>
              </a:rPr>
              <a:t> calls</a:t>
            </a:r>
            <a:endParaRPr lang="en-US" sz="1500" dirty="0"/>
          </a:p>
        </p:txBody>
      </p:sp>
      <p:sp>
        <p:nvSpPr>
          <p:cNvPr id="10" name="Shape 8"/>
          <p:cNvSpPr/>
          <p:nvPr/>
        </p:nvSpPr>
        <p:spPr>
          <a:xfrm>
            <a:off x="548640" y="3136392"/>
            <a:ext cx="384048" cy="292608"/>
          </a:xfrm>
          <a:prstGeom prst="roundRect">
            <a:avLst>
              <a:gd name="adj" fmla="val 25000"/>
            </a:avLst>
          </a:prstGeom>
          <a:solidFill>
            <a:srgbClr val="2A78D6"/>
          </a:solidFill>
          <a:ln w="12700">
            <a:solidFill>
              <a:srgbClr val="2A78D6"/>
            </a:solidFill>
            <a:prstDash val="solid"/>
          </a:ln>
        </p:spPr>
      </p:sp>
      <p:sp>
        <p:nvSpPr>
          <p:cNvPr id="11" name="Text 9"/>
          <p:cNvSpPr txBox="1"/>
          <p:nvPr/>
        </p:nvSpPr>
        <p:spPr>
          <a:xfrm>
            <a:off x="548640" y="3136392"/>
            <a:ext cx="38404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t>
            </a:r>
            <a:endParaRPr lang="en-US" sz="1100" dirty="0"/>
          </a:p>
        </p:txBody>
      </p:sp>
      <p:sp>
        <p:nvSpPr>
          <p:cNvPr id="12" name="Text 10"/>
          <p:cNvSpPr txBox="1"/>
          <p:nvPr/>
        </p:nvSpPr>
        <p:spPr>
          <a:xfrm>
            <a:off x="1417320" y="3072384"/>
            <a:ext cx="5760720" cy="64008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Cuckoo-hash the hashed ids; send encrypted queries under R's own key</a:t>
            </a:r>
            <a:endParaRPr lang="en-US" sz="1500" dirty="0"/>
          </a:p>
        </p:txBody>
      </p:sp>
      <p:sp>
        <p:nvSpPr>
          <p:cNvPr id="13" name="Shape 11"/>
          <p:cNvSpPr/>
          <p:nvPr/>
        </p:nvSpPr>
        <p:spPr>
          <a:xfrm>
            <a:off x="548640" y="3849624"/>
            <a:ext cx="384048" cy="292608"/>
          </a:xfrm>
          <a:prstGeom prst="roundRect">
            <a:avLst>
              <a:gd name="adj" fmla="val 25000"/>
            </a:avLst>
          </a:prstGeom>
          <a:solidFill>
            <a:srgbClr val="C45A0C"/>
          </a:solidFill>
          <a:ln w="12700">
            <a:solidFill>
              <a:srgbClr val="C45A0C"/>
            </a:solidFill>
            <a:prstDash val="solid"/>
          </a:ln>
        </p:spPr>
      </p:sp>
      <p:sp>
        <p:nvSpPr>
          <p:cNvPr id="14" name="Text 12"/>
          <p:cNvSpPr txBox="1"/>
          <p:nvPr/>
        </p:nvSpPr>
        <p:spPr>
          <a:xfrm>
            <a:off x="548640" y="3849624"/>
            <a:ext cx="38404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a:t>
            </a:r>
            <a:endParaRPr lang="en-US" sz="1100" dirty="0"/>
          </a:p>
        </p:txBody>
      </p:sp>
      <p:sp>
        <p:nvSpPr>
          <p:cNvPr id="15" name="Text 13"/>
          <p:cNvSpPr txBox="1"/>
          <p:nvPr/>
        </p:nvSpPr>
        <p:spPr>
          <a:xfrm>
            <a:off x="1417320" y="3785616"/>
            <a:ext cx="5760720" cy="64008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Evaluate membership and label polynomials over its padded register; reply</a:t>
            </a:r>
            <a:endParaRPr lang="en-US" sz="1500" dirty="0"/>
          </a:p>
        </p:txBody>
      </p:sp>
      <p:sp>
        <p:nvSpPr>
          <p:cNvPr id="16" name="Shape 14"/>
          <p:cNvSpPr/>
          <p:nvPr/>
        </p:nvSpPr>
        <p:spPr>
          <a:xfrm>
            <a:off x="548640" y="4562856"/>
            <a:ext cx="384048" cy="292608"/>
          </a:xfrm>
          <a:prstGeom prst="roundRect">
            <a:avLst>
              <a:gd name="adj" fmla="val 25000"/>
            </a:avLst>
          </a:prstGeom>
          <a:solidFill>
            <a:srgbClr val="2A78D6"/>
          </a:solidFill>
          <a:ln w="12700">
            <a:solidFill>
              <a:srgbClr val="2A78D6"/>
            </a:solidFill>
            <a:prstDash val="solid"/>
          </a:ln>
        </p:spPr>
      </p:sp>
      <p:sp>
        <p:nvSpPr>
          <p:cNvPr id="17" name="Text 15"/>
          <p:cNvSpPr txBox="1"/>
          <p:nvPr/>
        </p:nvSpPr>
        <p:spPr>
          <a:xfrm>
            <a:off x="548640" y="4562856"/>
            <a:ext cx="38404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t>
            </a:r>
            <a:endParaRPr lang="en-US" sz="1100" dirty="0"/>
          </a:p>
        </p:txBody>
      </p:sp>
      <p:sp>
        <p:nvSpPr>
          <p:cNvPr id="18" name="Text 16"/>
          <p:cNvSpPr txBox="1"/>
          <p:nvPr/>
        </p:nvSpPr>
        <p:spPr>
          <a:xfrm>
            <a:off x="1417320" y="4498848"/>
            <a:ext cx="5760720" cy="64008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Decrypt: match set I, and positions π(i) = τ(j) in O's shuffled order</a:t>
            </a:r>
            <a:endParaRPr lang="en-US" sz="1500" dirty="0"/>
          </a:p>
        </p:txBody>
      </p:sp>
      <p:sp>
        <p:nvSpPr>
          <p:cNvPr id="19" name="Shape 17"/>
          <p:cNvSpPr/>
          <p:nvPr/>
        </p:nvSpPr>
        <p:spPr>
          <a:xfrm>
            <a:off x="548640" y="5276088"/>
            <a:ext cx="384048" cy="292608"/>
          </a:xfrm>
          <a:prstGeom prst="roundRect">
            <a:avLst>
              <a:gd name="adj" fmla="val 25000"/>
            </a:avLst>
          </a:prstGeom>
          <a:solidFill>
            <a:srgbClr val="2A78D6"/>
          </a:solidFill>
          <a:ln w="12700">
            <a:solidFill>
              <a:srgbClr val="2A78D6"/>
            </a:solidFill>
            <a:prstDash val="solid"/>
          </a:ln>
        </p:spPr>
      </p:sp>
      <p:sp>
        <p:nvSpPr>
          <p:cNvPr id="20" name="Text 18"/>
          <p:cNvSpPr txBox="1"/>
          <p:nvPr/>
        </p:nvSpPr>
        <p:spPr>
          <a:xfrm>
            <a:off x="548640" y="5276088"/>
            <a:ext cx="38404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t>
            </a:r>
            <a:endParaRPr lang="en-US" sz="1100" dirty="0"/>
          </a:p>
        </p:txBody>
      </p:sp>
      <p:sp>
        <p:nvSpPr>
          <p:cNvPr id="21" name="Text 19"/>
          <p:cNvSpPr txBox="1"/>
          <p:nvPr/>
        </p:nvSpPr>
        <p:spPr>
          <a:xfrm>
            <a:off x="1417320" y="5212080"/>
            <a:ext cx="5760720" cy="64008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Compute its own block A = Σ</a:t>
            </a:r>
            <a:r>
              <a:rPr lang="en-US" sz="1500" baseline="-25000" dirty="0">
                <a:solidFill>
                  <a:srgbClr val="1F2937"/>
                </a:solidFill>
                <a:latin typeface="Calibri" pitchFamily="34" charset="0"/>
                <a:ea typeface="Calibri" pitchFamily="34" charset="-122"/>
                <a:cs typeface="Calibri" pitchFamily="34" charset="-120"/>
              </a:rPr>
              <a:t>i∈I</a:t>
            </a:r>
            <a:r>
              <a:rPr lang="en-US" sz="1500" dirty="0">
                <a:solidFill>
                  <a:srgbClr val="1F2937"/>
                </a:solidFill>
                <a:latin typeface="Calibri" pitchFamily="34" charset="0"/>
                <a:ea typeface="Calibri" pitchFamily="34" charset="-122"/>
                <a:cs typeface="Calibri" pitchFamily="34" charset="-120"/>
              </a:rPr>
              <a:t> ẋ</a:t>
            </a:r>
            <a:r>
              <a:rPr lang="en-US" sz="1500" baseline="-25000" dirty="0">
                <a:solidFill>
                  <a:srgbClr val="1F2937"/>
                </a:solidFill>
                <a:latin typeface="Calibri" pitchFamily="34" charset="0"/>
                <a:ea typeface="Calibri" pitchFamily="34" charset="-122"/>
                <a:cs typeface="Calibri" pitchFamily="34" charset="-120"/>
              </a:rPr>
              <a:t>i</a:t>
            </a:r>
            <a:r>
              <a:rPr lang="en-US" sz="1500" dirty="0">
                <a:solidFill>
                  <a:srgbClr val="1F2937"/>
                </a:solidFill>
                <a:latin typeface="Calibri" pitchFamily="34" charset="0"/>
                <a:ea typeface="Calibri" pitchFamily="34" charset="-122"/>
                <a:cs typeface="Calibri" pitchFamily="34" charset="-120"/>
              </a:rPr>
              <a:t> ẋ</a:t>
            </a:r>
            <a:r>
              <a:rPr lang="en-US" sz="1500" baseline="-25000" dirty="0">
                <a:solidFill>
                  <a:srgbClr val="1F2937"/>
                </a:solidFill>
                <a:latin typeface="Calibri" pitchFamily="34" charset="0"/>
                <a:ea typeface="Calibri" pitchFamily="34" charset="-122"/>
                <a:cs typeface="Calibri" pitchFamily="34" charset="-120"/>
              </a:rPr>
              <a:t>i</a:t>
            </a:r>
            <a:r>
              <a:rPr lang="en-US" sz="1500" baseline="30000" dirty="0">
                <a:solidFill>
                  <a:srgbClr val="1F2937"/>
                </a:solidFill>
                <a:latin typeface="Calibri" pitchFamily="34" charset="0"/>
                <a:ea typeface="Calibri" pitchFamily="34" charset="-122"/>
                <a:cs typeface="Calibri" pitchFamily="34" charset="-120"/>
              </a:rPr>
              <a:t>T</a:t>
            </a:r>
            <a:r>
              <a:rPr lang="en-US" sz="1500" dirty="0">
                <a:solidFill>
                  <a:srgbClr val="1F2937"/>
                </a:solidFill>
                <a:latin typeface="Calibri" pitchFamily="34" charset="0"/>
                <a:ea typeface="Calibri" pitchFamily="34" charset="-122"/>
                <a:cs typeface="Calibri" pitchFamily="34" charset="-120"/>
              </a:rPr>
              <a:t> exactly, locally</a:t>
            </a:r>
            <a:endParaRPr lang="en-US" sz="1500" dirty="0"/>
          </a:p>
        </p:txBody>
      </p:sp>
      <p:sp>
        <p:nvSpPr>
          <p:cNvPr id="22" name="Shape 20"/>
          <p:cNvSpPr/>
          <p:nvPr/>
        </p:nvSpPr>
        <p:spPr>
          <a:xfrm>
            <a:off x="7589520" y="1600200"/>
            <a:ext cx="4023360" cy="4526280"/>
          </a:xfrm>
          <a:prstGeom prst="roundRect">
            <a:avLst>
              <a:gd name="adj" fmla="val 1818"/>
            </a:avLst>
          </a:prstGeom>
          <a:solidFill>
            <a:srgbClr val="EEF2F7"/>
          </a:solidFill>
          <a:ln w="12700">
            <a:solidFill>
              <a:srgbClr val="EEF2F7"/>
            </a:solidFill>
            <a:prstDash val="solid"/>
          </a:ln>
        </p:spPr>
      </p:sp>
      <p:sp>
        <p:nvSpPr>
          <p:cNvPr id="23" name="Text 21"/>
          <p:cNvSpPr txBox="1"/>
          <p:nvPr/>
        </p:nvSpPr>
        <p:spPr>
          <a:xfrm>
            <a:off x="7818120" y="1783080"/>
            <a:ext cx="3657600" cy="41148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After phase 1</a:t>
            </a:r>
            <a:endParaRPr lang="en-US" sz="1900" dirty="0"/>
          </a:p>
        </p:txBody>
      </p:sp>
      <p:sp>
        <p:nvSpPr>
          <p:cNvPr id="24" name="Text 22"/>
          <p:cNvSpPr txBox="1"/>
          <p:nvPr/>
        </p:nvSpPr>
        <p:spPr>
          <a:xfrm>
            <a:off x="7818120" y="2331720"/>
            <a:ext cx="3611880" cy="3657600"/>
          </a:xfrm>
          <a:prstGeom prst="rect">
            <a:avLst/>
          </a:prstGeom>
          <a:noFill/>
          <a:ln/>
        </p:spPr>
        <p:txBody>
          <a:bodyPr wrap="square" lIns="0" tIns="0" rIns="0" bIns="0" rtlCol="0" anchor="t"/>
          <a:lstStyle/>
          <a:p>
            <a:pPr marL="342900" indent="-342900">
              <a:spcAft>
                <a:spcPts val="600"/>
              </a:spcAft>
              <a:buSzPct val="100000"/>
              <a:buChar char="•"/>
            </a:pPr>
            <a:r>
              <a:rPr lang="en-US" sz="1450" b="1" dirty="0">
                <a:solidFill>
                  <a:srgbClr val="2A78D6"/>
                </a:solidFill>
                <a:latin typeface="Calibri" pitchFamily="34" charset="0"/>
                <a:ea typeface="Calibri" pitchFamily="34" charset="-122"/>
                <a:cs typeface="Calibri" pitchFamily="34" charset="-120"/>
              </a:rPr>
              <a:t>R knows I and the positions τ(j) of its matches</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R has A exactly; it never leaves R</a:t>
            </a:r>
            <a:endParaRPr lang="en-US" sz="1450" dirty="0"/>
          </a:p>
          <a:p>
            <a:pPr marL="342900" indent="-342900">
              <a:spcAft>
                <a:spcPts val="600"/>
              </a:spcAft>
              <a:buSzPct val="100000"/>
              <a:buChar char="•"/>
            </a:pPr>
            <a:r>
              <a:rPr lang="en-US" sz="1450" b="1" dirty="0">
                <a:solidFill>
                  <a:srgbClr val="C45A0C"/>
                </a:solidFill>
                <a:latin typeface="Calibri" pitchFamily="34" charset="0"/>
                <a:ea typeface="Calibri" pitchFamily="34" charset="-122"/>
                <a:cs typeface="Calibri" pitchFamily="34" charset="-120"/>
              </a:rPr>
              <a:t>O knows only n</a:t>
            </a:r>
            <a:r>
              <a:rPr lang="en-US" sz="1450" b="1" baseline="-25000" dirty="0">
                <a:solidFill>
                  <a:srgbClr val="C45A0C"/>
                </a:solidFill>
                <a:latin typeface="Calibri" pitchFamily="34" charset="0"/>
                <a:ea typeface="Calibri" pitchFamily="34" charset="-122"/>
                <a:cs typeface="Calibri" pitchFamily="34" charset="-120"/>
              </a:rPr>
              <a:t>R</a:t>
            </a:r>
            <a:r>
              <a:rPr lang="en-US" sz="1450" b="1" baseline="30000" dirty="0">
                <a:solidFill>
                  <a:srgbClr val="C45A0C"/>
                </a:solidFill>
                <a:latin typeface="Calibri" pitchFamily="34" charset="0"/>
                <a:ea typeface="Calibri" pitchFamily="34" charset="-122"/>
                <a:cs typeface="Calibri" pitchFamily="34" charset="-120"/>
              </a:rPr>
              <a:t>max</a:t>
            </a:r>
            <a:r>
              <a:rPr lang="en-US" sz="1450" b="1" dirty="0">
                <a:solidFill>
                  <a:srgbClr val="C45A0C"/>
                </a:solidFill>
                <a:latin typeface="Calibri" pitchFamily="34" charset="0"/>
                <a:ea typeface="Calibri" pitchFamily="34" charset="-122"/>
                <a:cs typeface="Calibri" pitchFamily="34" charset="-120"/>
              </a:rPr>
              <a:t> and n̄</a:t>
            </a:r>
            <a:r>
              <a:rPr lang="en-US" sz="1450" b="1" baseline="-25000" dirty="0">
                <a:solidFill>
                  <a:srgbClr val="C45A0C"/>
                </a:solidFill>
                <a:latin typeface="Calibri" pitchFamily="34" charset="0"/>
                <a:ea typeface="Calibri" pitchFamily="34" charset="-122"/>
                <a:cs typeface="Calibri" pitchFamily="34" charset="-120"/>
              </a:rPr>
              <a:t>O</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The positions are uniformly random, because τ is fresh every run</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2: upload</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R lines its data up with O's rows, encrypts them, and sends them over</a:t>
            </a:r>
            <a:endParaRPr lang="en-US" sz="1600" dirty="0"/>
          </a:p>
        </p:txBody>
      </p:sp>
      <p:sp>
        <p:nvSpPr>
          <p:cNvPr id="4" name="Shape 2"/>
          <p:cNvSpPr/>
          <p:nvPr/>
        </p:nvSpPr>
        <p:spPr>
          <a:xfrm>
            <a:off x="548640" y="1600200"/>
            <a:ext cx="5486400" cy="2743200"/>
          </a:xfrm>
          <a:prstGeom prst="roundRect">
            <a:avLst>
              <a:gd name="adj" fmla="val 2667"/>
            </a:avLst>
          </a:prstGeom>
          <a:solidFill>
            <a:srgbClr val="E3EEFB"/>
          </a:solidFill>
          <a:ln w="12700">
            <a:solidFill>
              <a:srgbClr val="E3EEFB"/>
            </a:solidFill>
            <a:prstDash val="solid"/>
          </a:ln>
        </p:spPr>
      </p:sp>
      <p:sp>
        <p:nvSpPr>
          <p:cNvPr id="5" name="Shape 3"/>
          <p:cNvSpPr/>
          <p:nvPr/>
        </p:nvSpPr>
        <p:spPr>
          <a:xfrm>
            <a:off x="822960" y="1801368"/>
            <a:ext cx="384048" cy="292608"/>
          </a:xfrm>
          <a:prstGeom prst="roundRect">
            <a:avLst>
              <a:gd name="adj" fmla="val 25000"/>
            </a:avLst>
          </a:prstGeom>
          <a:solidFill>
            <a:srgbClr val="2A78D6"/>
          </a:solidFill>
          <a:ln w="12700">
            <a:solidFill>
              <a:srgbClr val="2A78D6"/>
            </a:solidFill>
            <a:prstDash val="solid"/>
          </a:ln>
        </p:spPr>
      </p:sp>
      <p:sp>
        <p:nvSpPr>
          <p:cNvPr id="6" name="Text 4"/>
          <p:cNvSpPr txBox="1"/>
          <p:nvPr/>
        </p:nvSpPr>
        <p:spPr>
          <a:xfrm>
            <a:off x="822960" y="1801368"/>
            <a:ext cx="38404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t>
            </a:r>
            <a:endParaRPr lang="en-US" sz="1100" dirty="0"/>
          </a:p>
        </p:txBody>
      </p:sp>
      <p:sp>
        <p:nvSpPr>
          <p:cNvPr id="7" name="Text 5"/>
          <p:cNvSpPr txBox="1"/>
          <p:nvPr/>
        </p:nvSpPr>
        <p:spPr>
          <a:xfrm>
            <a:off x="1371600" y="1755648"/>
            <a:ext cx="4572000" cy="41148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Vectors over all n̄</a:t>
            </a:r>
            <a:r>
              <a:rPr lang="en-US" sz="1600" b="1" baseline="-25000" dirty="0">
                <a:solidFill>
                  <a:srgbClr val="14213D"/>
                </a:solidFill>
                <a:latin typeface="Calibri" pitchFamily="34" charset="0"/>
                <a:ea typeface="Calibri" pitchFamily="34" charset="-122"/>
                <a:cs typeface="Calibri" pitchFamily="34" charset="-120"/>
              </a:rPr>
              <a:t>O</a:t>
            </a:r>
            <a:r>
              <a:rPr lang="en-US" sz="1600" b="1" dirty="0">
                <a:solidFill>
                  <a:srgbClr val="14213D"/>
                </a:solidFill>
                <a:latin typeface="Calibri" pitchFamily="34" charset="0"/>
                <a:ea typeface="Calibri" pitchFamily="34" charset="-122"/>
                <a:cs typeface="Calibri" pitchFamily="34" charset="-120"/>
              </a:rPr>
              <a:t> positions</a:t>
            </a:r>
            <a:endParaRPr lang="en-US" sz="1600" dirty="0"/>
          </a:p>
        </p:txBody>
      </p:sp>
      <p:sp>
        <p:nvSpPr>
          <p:cNvPr id="8" name="Text 6"/>
          <p:cNvSpPr txBox="1"/>
          <p:nvPr/>
        </p:nvSpPr>
        <p:spPr>
          <a:xfrm>
            <a:off x="822960" y="2286000"/>
            <a:ext cx="5029200" cy="201168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Selection b: 1 at a matched position, 0 elsewhere</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Features ẋ</a:t>
            </a:r>
            <a:r>
              <a:rPr lang="en-US" sz="1450" baseline="-25000" dirty="0">
                <a:solidFill>
                  <a:srgbClr val="1F2937"/>
                </a:solidFill>
                <a:latin typeface="Calibri" pitchFamily="34" charset="0"/>
                <a:ea typeface="Calibri" pitchFamily="34" charset="-122"/>
                <a:cs typeface="Calibri" pitchFamily="34" charset="-120"/>
              </a:rPr>
              <a:t>j</a:t>
            </a:r>
            <a:r>
              <a:rPr lang="en-US" sz="1450" dirty="0">
                <a:solidFill>
                  <a:srgbClr val="1F2937"/>
                </a:solidFill>
                <a:latin typeface="Calibri" pitchFamily="34" charset="0"/>
                <a:ea typeface="Calibri" pitchFamily="34" charset="-122"/>
                <a:cs typeface="Calibri" pitchFamily="34" charset="-120"/>
              </a:rPr>
              <a:t>: R's clipped feature j (and the intercept) at matched positions, 0 elsewhere</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In O's shuffled order, so O can multiply them by its own columns position by position</a:t>
            </a:r>
            <a:endParaRPr lang="en-US" sz="1450" dirty="0"/>
          </a:p>
        </p:txBody>
      </p:sp>
      <p:sp>
        <p:nvSpPr>
          <p:cNvPr id="9" name="Shape 7"/>
          <p:cNvSpPr/>
          <p:nvPr/>
        </p:nvSpPr>
        <p:spPr>
          <a:xfrm>
            <a:off x="6263640" y="1600200"/>
            <a:ext cx="5349240" cy="2743200"/>
          </a:xfrm>
          <a:prstGeom prst="roundRect">
            <a:avLst>
              <a:gd name="adj" fmla="val 2667"/>
            </a:avLst>
          </a:prstGeom>
          <a:solidFill>
            <a:srgbClr val="F7F9FC"/>
          </a:solidFill>
          <a:ln w="12700">
            <a:solidFill>
              <a:srgbClr val="F7F9FC"/>
            </a:solidFill>
            <a:prstDash val="solid"/>
          </a:ln>
        </p:spPr>
      </p:sp>
      <p:sp>
        <p:nvSpPr>
          <p:cNvPr id="10" name="Text 8"/>
          <p:cNvSpPr txBox="1"/>
          <p:nvPr/>
        </p:nvSpPr>
        <p:spPr>
          <a:xfrm>
            <a:off x="6492240" y="1755648"/>
            <a:ext cx="4937760" cy="41148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Why this hides everything from O</a:t>
            </a:r>
            <a:endParaRPr lang="en-US" sz="1600" dirty="0"/>
          </a:p>
        </p:txBody>
      </p:sp>
      <p:sp>
        <p:nvSpPr>
          <p:cNvPr id="11" name="Text 9"/>
          <p:cNvSpPr txBox="1"/>
          <p:nvPr/>
        </p:nvSpPr>
        <p:spPr>
          <a:xfrm>
            <a:off x="6492240" y="2240280"/>
            <a:ext cx="4937760" cy="201168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O sees only ciphertexts, which look random without R's key share. Matched and unmatched positions are indistinguishable, so O cannot tell who is in the cohort.</a:t>
            </a:r>
            <a:endParaRPr lang="en-US" sz="1450" dirty="0"/>
          </a:p>
        </p:txBody>
      </p:sp>
      <p:sp>
        <p:nvSpPr>
          <p:cNvPr id="12" name="Shape 10"/>
          <p:cNvSpPr/>
          <p:nvPr/>
        </p:nvSpPr>
        <p:spPr>
          <a:xfrm>
            <a:off x="548640" y="4617720"/>
            <a:ext cx="11064240" cy="1554480"/>
          </a:xfrm>
          <a:prstGeom prst="roundRect">
            <a:avLst>
              <a:gd name="adj" fmla="val 4706"/>
            </a:avLst>
          </a:prstGeom>
          <a:solidFill>
            <a:srgbClr val="F6E3D6"/>
          </a:solidFill>
          <a:ln w="12700">
            <a:solidFill>
              <a:srgbClr val="F6E3D6"/>
            </a:solidFill>
            <a:prstDash val="solid"/>
          </a:ln>
        </p:spPr>
      </p:sp>
      <p:pic>
        <p:nvPicPr>
          <p:cNvPr id="13" name="Image 0" descr="/home/user/VerticalFederatedRegression/slides/assets/eq/upload.png">    </p:cNvPr>
          <p:cNvPicPr>
            <a:picLocks noChangeAspect="1"/>
          </p:cNvPicPr>
          <p:nvPr/>
        </p:nvPicPr>
        <p:blipFill>
          <a:blip r:embed="rId1"/>
          <a:stretch>
            <a:fillRect/>
          </a:stretch>
        </p:blipFill>
        <p:spPr>
          <a:xfrm>
            <a:off x="822960" y="4800600"/>
            <a:ext cx="7386020" cy="273291"/>
          </a:xfrm>
          <a:prstGeom prst="rect">
            <a:avLst/>
          </a:prstGeom>
        </p:spPr>
      </p:pic>
      <p:sp>
        <p:nvSpPr>
          <p:cNvPr id="14" name="Text 11"/>
          <p:cNvSpPr txBox="1"/>
          <p:nvPr/>
        </p:nvSpPr>
        <p:spPr>
          <a:xfrm>
            <a:off x="822960" y="5577840"/>
            <a:ext cx="10515600" cy="457200"/>
          </a:xfrm>
          <a:prstGeom prst="rect">
            <a:avLst/>
          </a:prstGeom>
          <a:noFill/>
          <a:ln/>
        </p:spPr>
        <p:txBody>
          <a:bodyPr wrap="square" lIns="0" tIns="0" rIns="0" bIns="0" rtlCol="0" anchor="t"/>
          <a:lstStyle/>
          <a:p>
            <a:pPr indent="0" marL="0">
              <a:buNone/>
            </a:pPr>
            <a:r>
              <a:rPr lang="en-US" sz="1350" dirty="0">
                <a:solidFill>
                  <a:srgbClr val="5B6576"/>
                </a:solidFill>
                <a:latin typeface="Calibri" pitchFamily="34" charset="0"/>
                <a:ea typeface="Calibri" pitchFamily="34" charset="-122"/>
                <a:cs typeface="Calibri" pitchFamily="34" charset="-120"/>
              </a:rPr>
              <a:t>R encrypts with its own share and a short seed (half the upload); O folds in its share to convert to the joint key.</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3: aggregate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O multiplies R's encrypted vectors by its own plaintext columns and sums</a:t>
            </a:r>
            <a:endParaRPr lang="en-US" sz="1600" dirty="0"/>
          </a:p>
        </p:txBody>
      </p:sp>
      <p:sp>
        <p:nvSpPr>
          <p:cNvPr id="4" name="Shape 2"/>
          <p:cNvSpPr/>
          <p:nvPr/>
        </p:nvSpPr>
        <p:spPr>
          <a:xfrm>
            <a:off x="548640" y="1600200"/>
            <a:ext cx="6492240" cy="3200400"/>
          </a:xfrm>
          <a:prstGeom prst="roundRect">
            <a:avLst>
              <a:gd name="adj" fmla="val 2286"/>
            </a:avLst>
          </a:prstGeom>
          <a:solidFill>
            <a:srgbClr val="F7F9FC"/>
          </a:solidFill>
          <a:ln w="12700">
            <a:solidFill>
              <a:srgbClr val="F7F9FC"/>
            </a:solidFill>
            <a:prstDash val="solid"/>
          </a:ln>
        </p:spPr>
      </p:sp>
      <p:pic>
        <p:nvPicPr>
          <p:cNvPr id="5" name="Image 0" descr="/home/user/VerticalFederatedRegression/slides/assets/eq/agg.png">    </p:cNvPr>
          <p:cNvPicPr>
            <a:picLocks noChangeAspect="1"/>
          </p:cNvPicPr>
          <p:nvPr/>
        </p:nvPicPr>
        <p:blipFill>
          <a:blip r:embed="rId1"/>
          <a:stretch>
            <a:fillRect/>
          </a:stretch>
        </p:blipFill>
        <p:spPr>
          <a:xfrm>
            <a:off x="868680" y="1783080"/>
            <a:ext cx="4496077" cy="2226874"/>
          </a:xfrm>
          <a:prstGeom prst="rect">
            <a:avLst/>
          </a:prstGeom>
        </p:spPr>
      </p:pic>
      <p:sp>
        <p:nvSpPr>
          <p:cNvPr id="6" name="Text 3"/>
          <p:cNvSpPr txBox="1"/>
          <p:nvPr/>
        </p:nvSpPr>
        <p:spPr>
          <a:xfrm>
            <a:off x="868680" y="4206240"/>
            <a:ext cx="6035040" cy="457200"/>
          </a:xfrm>
          <a:prstGeom prst="rect">
            <a:avLst/>
          </a:prstGeom>
          <a:noFill/>
          <a:ln/>
        </p:spPr>
        <p:txBody>
          <a:bodyPr wrap="square" lIns="0" tIns="0" rIns="0" bIns="0" rtlCol="0" anchor="t"/>
          <a:lstStyle/>
          <a:p>
            <a:pPr indent="0" marL="0">
              <a:buNone/>
            </a:pPr>
            <a:r>
              <a:rPr lang="en-US" sz="1250" i="1" dirty="0">
                <a:solidFill>
                  <a:srgbClr val="5B6576"/>
                </a:solidFill>
                <a:latin typeface="Calibri" pitchFamily="34" charset="0"/>
                <a:ea typeface="Calibri" pitchFamily="34" charset="-122"/>
                <a:cs typeface="Calibri" pitchFamily="34" charset="-120"/>
              </a:rPr>
              <a:t>b: selection vector;  ẋ</a:t>
            </a:r>
            <a:r>
              <a:rPr lang="en-US" sz="1250" i="1" baseline="-25000" dirty="0">
                <a:solidFill>
                  <a:srgbClr val="5B6576"/>
                </a:solidFill>
                <a:latin typeface="Calibri" pitchFamily="34" charset="0"/>
                <a:ea typeface="Calibri" pitchFamily="34" charset="-122"/>
                <a:cs typeface="Calibri" pitchFamily="34" charset="-120"/>
              </a:rPr>
              <a:t>R</a:t>
            </a:r>
            <a:r>
              <a:rPr lang="en-US" sz="1250" i="1" dirty="0">
                <a:solidFill>
                  <a:srgbClr val="5B6576"/>
                </a:solidFill>
                <a:latin typeface="Calibri" pitchFamily="34" charset="0"/>
                <a:ea typeface="Calibri" pitchFamily="34" charset="-122"/>
                <a:cs typeface="Calibri" pitchFamily="34" charset="-120"/>
              </a:rPr>
              <a:t>: R's features in O's order (zero off the match set)</a:t>
            </a:r>
            <a:endParaRPr lang="en-US" sz="1250" dirty="0"/>
          </a:p>
        </p:txBody>
      </p:sp>
      <p:sp>
        <p:nvSpPr>
          <p:cNvPr id="7" name="Shape 4"/>
          <p:cNvSpPr/>
          <p:nvPr/>
        </p:nvSpPr>
        <p:spPr>
          <a:xfrm>
            <a:off x="7315200" y="1600200"/>
            <a:ext cx="566928" cy="566928"/>
          </a:xfrm>
          <a:prstGeom prst="ellipse">
            <a:avLst/>
          </a:prstGeom>
          <a:solidFill>
            <a:srgbClr val="3D5A80"/>
          </a:solidFill>
          <a:ln w="12700">
            <a:solidFill>
              <a:srgbClr val="3D5A80"/>
            </a:solidFill>
            <a:prstDash val="solid"/>
          </a:ln>
        </p:spPr>
      </p:sp>
      <p:pic>
        <p:nvPicPr>
          <p:cNvPr id="8" name="Image 1" descr="preencoded.png">    </p:cNvPr>
          <p:cNvPicPr>
            <a:picLocks noChangeAspect="1"/>
          </p:cNvPicPr>
          <p:nvPr/>
        </p:nvPicPr>
        <p:blipFill>
          <a:blip r:embed="rId2"/>
          <a:stretch>
            <a:fillRect/>
          </a:stretch>
        </p:blipFill>
        <p:spPr>
          <a:xfrm>
            <a:off x="7451263" y="1736263"/>
            <a:ext cx="294803" cy="294803"/>
          </a:xfrm>
          <a:prstGeom prst="rect">
            <a:avLst/>
          </a:prstGeom>
        </p:spPr>
      </p:pic>
      <p:sp>
        <p:nvSpPr>
          <p:cNvPr id="9" name="Text 5"/>
          <p:cNvSpPr txBox="1"/>
          <p:nvPr/>
        </p:nvSpPr>
        <p:spPr>
          <a:xfrm>
            <a:off x="8046720" y="1581912"/>
            <a:ext cx="356616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Sum chunks, then EvalSum</a:t>
            </a:r>
            <a:endParaRPr lang="en-US" sz="1500" dirty="0"/>
          </a:p>
        </p:txBody>
      </p:sp>
      <p:sp>
        <p:nvSpPr>
          <p:cNvPr id="10" name="Text 6"/>
          <p:cNvSpPr txBox="1"/>
          <p:nvPr/>
        </p:nvSpPr>
        <p:spPr>
          <a:xfrm>
            <a:off x="8046720" y="1947672"/>
            <a:ext cx="3566160" cy="68580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A register longer than one ciphertext is split into chunks; slot sums use rotations.</a:t>
            </a:r>
            <a:endParaRPr lang="en-US" sz="1300" dirty="0"/>
          </a:p>
        </p:txBody>
      </p:sp>
      <p:sp>
        <p:nvSpPr>
          <p:cNvPr id="11" name="Shape 7"/>
          <p:cNvSpPr/>
          <p:nvPr/>
        </p:nvSpPr>
        <p:spPr>
          <a:xfrm>
            <a:off x="7315200" y="2679192"/>
            <a:ext cx="566928" cy="566928"/>
          </a:xfrm>
          <a:prstGeom prst="ellipse">
            <a:avLst/>
          </a:prstGeom>
          <a:solidFill>
            <a:srgbClr val="3D5A80"/>
          </a:solidFill>
          <a:ln w="12700">
            <a:solidFill>
              <a:srgbClr val="3D5A80"/>
            </a:solidFill>
            <a:prstDash val="solid"/>
          </a:ln>
        </p:spPr>
      </p:sp>
      <p:pic>
        <p:nvPicPr>
          <p:cNvPr id="12" name="Image 2" descr="preencoded.png">    </p:cNvPr>
          <p:cNvPicPr>
            <a:picLocks noChangeAspect="1"/>
          </p:cNvPicPr>
          <p:nvPr/>
        </p:nvPicPr>
        <p:blipFill>
          <a:blip r:embed="rId3"/>
          <a:stretch>
            <a:fillRect/>
          </a:stretch>
        </p:blipFill>
        <p:spPr>
          <a:xfrm>
            <a:off x="7451263" y="2815255"/>
            <a:ext cx="294803" cy="294803"/>
          </a:xfrm>
          <a:prstGeom prst="rect">
            <a:avLst/>
          </a:prstGeom>
        </p:spPr>
      </p:pic>
      <p:sp>
        <p:nvSpPr>
          <p:cNvPr id="13" name="Text 8"/>
          <p:cNvSpPr txBox="1"/>
          <p:nvPr/>
        </p:nvSpPr>
        <p:spPr>
          <a:xfrm>
            <a:off x="8046720" y="2660904"/>
            <a:ext cx="356616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Pack: one entry per slot</a:t>
            </a:r>
            <a:endParaRPr lang="en-US" sz="1500" dirty="0"/>
          </a:p>
        </p:txBody>
      </p:sp>
      <p:sp>
        <p:nvSpPr>
          <p:cNvPr id="14" name="Text 9"/>
          <p:cNvSpPr txBox="1"/>
          <p:nvPr/>
        </p:nvSpPr>
        <p:spPr>
          <a:xfrm>
            <a:off x="8046720" y="3026664"/>
            <a:ext cx="3566160" cy="68580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Every released number sits alone in its own slot of a packed ciphertext.</a:t>
            </a:r>
            <a:endParaRPr lang="en-US" sz="1300" dirty="0"/>
          </a:p>
        </p:txBody>
      </p:sp>
      <p:sp>
        <p:nvSpPr>
          <p:cNvPr id="15" name="Shape 10"/>
          <p:cNvSpPr/>
          <p:nvPr/>
        </p:nvSpPr>
        <p:spPr>
          <a:xfrm>
            <a:off x="7315200" y="3758184"/>
            <a:ext cx="566928" cy="566928"/>
          </a:xfrm>
          <a:prstGeom prst="ellipse">
            <a:avLst/>
          </a:prstGeom>
          <a:solidFill>
            <a:srgbClr val="C45A0C"/>
          </a:solidFill>
          <a:ln w="12700">
            <a:solidFill>
              <a:srgbClr val="C45A0C"/>
            </a:solidFill>
            <a:prstDash val="solid"/>
          </a:ln>
        </p:spPr>
      </p:sp>
      <p:pic>
        <p:nvPicPr>
          <p:cNvPr id="16" name="Image 3" descr="preencoded.png">    </p:cNvPr>
          <p:cNvPicPr>
            <a:picLocks noChangeAspect="1"/>
          </p:cNvPicPr>
          <p:nvPr/>
        </p:nvPicPr>
        <p:blipFill>
          <a:blip r:embed="rId4"/>
          <a:stretch>
            <a:fillRect/>
          </a:stretch>
        </p:blipFill>
        <p:spPr>
          <a:xfrm>
            <a:off x="7451263" y="3894247"/>
            <a:ext cx="294803" cy="294803"/>
          </a:xfrm>
          <a:prstGeom prst="rect">
            <a:avLst/>
          </a:prstGeom>
        </p:spPr>
      </p:pic>
      <p:sp>
        <p:nvSpPr>
          <p:cNvPr id="17" name="Text 11"/>
          <p:cNvSpPr txBox="1"/>
          <p:nvPr/>
        </p:nvSpPr>
        <p:spPr>
          <a:xfrm>
            <a:off x="8046720" y="3739896"/>
            <a:ext cx="356616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Two packed ciphertexts</a:t>
            </a:r>
            <a:endParaRPr lang="en-US" sz="1500" dirty="0"/>
          </a:p>
        </p:txBody>
      </p:sp>
      <p:sp>
        <p:nvSpPr>
          <p:cNvPr id="18" name="Text 12"/>
          <p:cNvSpPr txBox="1"/>
          <p:nvPr/>
        </p:nvSpPr>
        <p:spPr>
          <a:xfrm>
            <a:off x="8046720" y="4105656"/>
            <a:ext cx="3566160" cy="68580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M</a:t>
            </a:r>
            <a:r>
              <a:rPr lang="en-US" sz="1300" baseline="-25000" dirty="0">
                <a:solidFill>
                  <a:srgbClr val="5B6576"/>
                </a:solidFill>
                <a:latin typeface="Calibri" pitchFamily="34" charset="0"/>
                <a:ea typeface="Calibri" pitchFamily="34" charset="-122"/>
                <a:cs typeface="Calibri" pitchFamily="34" charset="-120"/>
              </a:rPr>
              <a:t>1</a:t>
            </a:r>
            <a:r>
              <a:rPr lang="en-US" sz="1300" dirty="0">
                <a:solidFill>
                  <a:srgbClr val="5B6576"/>
                </a:solidFill>
                <a:latin typeface="Calibri" pitchFamily="34" charset="0"/>
                <a:ea typeface="Calibri" pitchFamily="34" charset="-122"/>
                <a:cs typeface="Calibri" pitchFamily="34" charset="-120"/>
              </a:rPr>
              <a:t> holds only B and C (for stage 1); M</a:t>
            </a:r>
            <a:r>
              <a:rPr lang="en-US" sz="1300" baseline="-25000" dirty="0">
                <a:solidFill>
                  <a:srgbClr val="5B6576"/>
                </a:solidFill>
                <a:latin typeface="Calibri" pitchFamily="34" charset="0"/>
                <a:ea typeface="Calibri" pitchFamily="34" charset="-122"/>
                <a:cs typeface="Calibri" pitchFamily="34" charset="-120"/>
              </a:rPr>
              <a:t>2</a:t>
            </a:r>
            <a:r>
              <a:rPr lang="en-US" sz="1300" dirty="0">
                <a:solidFill>
                  <a:srgbClr val="5B6576"/>
                </a:solidFill>
                <a:latin typeface="Calibri" pitchFamily="34" charset="0"/>
                <a:ea typeface="Calibri" pitchFamily="34" charset="-122"/>
                <a:cs typeface="Calibri" pitchFamily="34" charset="-120"/>
              </a:rPr>
              <a:t> holds every entry (stage 2).</a:t>
            </a:r>
            <a:endParaRPr lang="en-US" sz="1300" dirty="0"/>
          </a:p>
        </p:txBody>
      </p:sp>
      <p:sp>
        <p:nvSpPr>
          <p:cNvPr id="19" name="Shape 13"/>
          <p:cNvSpPr/>
          <p:nvPr/>
        </p:nvSpPr>
        <p:spPr>
          <a:xfrm>
            <a:off x="548640" y="5074920"/>
            <a:ext cx="11064240" cy="1097280"/>
          </a:xfrm>
          <a:prstGeom prst="roundRect">
            <a:avLst>
              <a:gd name="adj" fmla="val 6667"/>
            </a:avLst>
          </a:prstGeom>
          <a:solidFill>
            <a:srgbClr val="F6E3D6"/>
          </a:solidFill>
          <a:ln w="12700">
            <a:solidFill>
              <a:srgbClr val="F6E3D6"/>
            </a:solidFill>
            <a:prstDash val="solid"/>
          </a:ln>
        </p:spPr>
      </p:sp>
      <p:sp>
        <p:nvSpPr>
          <p:cNvPr id="20" name="Text 14"/>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550" dirty="0">
                <a:solidFill>
                  <a:srgbClr val="14213D"/>
                </a:solidFill>
                <a:latin typeface="Calibri" pitchFamily="34" charset="0"/>
                <a:ea typeface="Calibri" pitchFamily="34" charset="-122"/>
                <a:cs typeface="Calibri" pitchFamily="34" charset="-120"/>
              </a:rPr>
              <a:t>Unmatched positions contribute zero, because b and ẋ</a:t>
            </a:r>
            <a:r>
              <a:rPr lang="en-US" sz="1550" baseline="-25000" dirty="0">
                <a:solidFill>
                  <a:srgbClr val="14213D"/>
                </a:solidFill>
                <a:latin typeface="Calibri" pitchFamily="34" charset="0"/>
                <a:ea typeface="Calibri" pitchFamily="34" charset="-122"/>
                <a:cs typeface="Calibri" pitchFamily="34" charset="-120"/>
              </a:rPr>
              <a:t>R</a:t>
            </a:r>
            <a:r>
              <a:rPr lang="en-US" sz="1550" dirty="0">
                <a:solidFill>
                  <a:srgbClr val="14213D"/>
                </a:solidFill>
                <a:latin typeface="Calibri" pitchFamily="34" charset="0"/>
                <a:ea typeface="Calibri" pitchFamily="34" charset="-122"/>
                <a:cs typeface="Calibri" pitchFamily="34" charset="-120"/>
              </a:rPr>
              <a:t> are zero there. The result is the matched-row statistics, still encrypted. Multiplicative depth is 2.</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4: the release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O adds the privacy noise inside its own share of the decryption</a:t>
            </a:r>
            <a:endParaRPr lang="en-US" sz="1600" dirty="0"/>
          </a:p>
        </p:txBody>
      </p:sp>
      <p:sp>
        <p:nvSpPr>
          <p:cNvPr id="4" name="Shape 2"/>
          <p:cNvSpPr/>
          <p:nvPr/>
        </p:nvSpPr>
        <p:spPr>
          <a:xfrm>
            <a:off x="548640" y="1554480"/>
            <a:ext cx="6583680" cy="3063240"/>
          </a:xfrm>
          <a:prstGeom prst="roundRect">
            <a:avLst>
              <a:gd name="adj" fmla="val 2388"/>
            </a:avLst>
          </a:prstGeom>
          <a:solidFill>
            <a:srgbClr val="F7F9FC"/>
          </a:solidFill>
          <a:ln w="12700">
            <a:solidFill>
              <a:srgbClr val="F7F9FC"/>
            </a:solidFill>
            <a:prstDash val="solid"/>
          </a:ln>
        </p:spPr>
      </p:sp>
      <p:pic>
        <p:nvPicPr>
          <p:cNvPr id="5" name="Image 0" descr="/home/user/VerticalFederatedRegression/slides/assets/eq/release.png">    </p:cNvPr>
          <p:cNvPicPr>
            <a:picLocks noChangeAspect="1"/>
          </p:cNvPicPr>
          <p:nvPr/>
        </p:nvPicPr>
        <p:blipFill>
          <a:blip r:embed="rId1"/>
          <a:stretch>
            <a:fillRect/>
          </a:stretch>
        </p:blipFill>
        <p:spPr>
          <a:xfrm>
            <a:off x="822960" y="1737360"/>
            <a:ext cx="4921145" cy="1454701"/>
          </a:xfrm>
          <a:prstGeom prst="rect">
            <a:avLst/>
          </a:prstGeom>
        </p:spPr>
      </p:pic>
      <p:sp>
        <p:nvSpPr>
          <p:cNvPr id="6" name="Shape 3"/>
          <p:cNvSpPr/>
          <p:nvPr/>
        </p:nvSpPr>
        <p:spPr>
          <a:xfrm>
            <a:off x="7406640" y="1572768"/>
            <a:ext cx="566928" cy="566928"/>
          </a:xfrm>
          <a:prstGeom prst="ellipse">
            <a:avLst/>
          </a:prstGeom>
          <a:solidFill>
            <a:srgbClr val="3D5A80"/>
          </a:solidFill>
          <a:ln w="12700">
            <a:solidFill>
              <a:srgbClr val="3D5A80"/>
            </a:solidFill>
            <a:prstDash val="solid"/>
          </a:ln>
        </p:spPr>
      </p:sp>
      <p:pic>
        <p:nvPicPr>
          <p:cNvPr id="7" name="Image 1" descr="preencoded.png">    </p:cNvPr>
          <p:cNvPicPr>
            <a:picLocks noChangeAspect="1"/>
          </p:cNvPicPr>
          <p:nvPr/>
        </p:nvPicPr>
        <p:blipFill>
          <a:blip r:embed="rId2"/>
          <a:stretch>
            <a:fillRect/>
          </a:stretch>
        </p:blipFill>
        <p:spPr>
          <a:xfrm>
            <a:off x="7542703" y="1708831"/>
            <a:ext cx="294803" cy="294803"/>
          </a:xfrm>
          <a:prstGeom prst="rect">
            <a:avLst/>
          </a:prstGeom>
        </p:spPr>
      </p:pic>
      <p:sp>
        <p:nvSpPr>
          <p:cNvPr id="8" name="Text 4"/>
          <p:cNvSpPr txBox="1"/>
          <p:nvPr/>
        </p:nvSpPr>
        <p:spPr>
          <a:xfrm>
            <a:off x="8138160" y="1554480"/>
            <a:ext cx="347472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c</a:t>
            </a:r>
            <a:r>
              <a:rPr lang="en-US" sz="1500" b="1" baseline="-25000" dirty="0">
                <a:solidFill>
                  <a:srgbClr val="14213D"/>
                </a:solidFill>
                <a:latin typeface="Calibri" pitchFamily="34" charset="0"/>
                <a:ea typeface="Calibri" pitchFamily="34" charset="-122"/>
                <a:cs typeface="Calibri" pitchFamily="34" charset="-120"/>
              </a:rPr>
              <a:t>0</a:t>
            </a:r>
            <a:r>
              <a:rPr lang="en-US" sz="1500" b="1" dirty="0">
                <a:solidFill>
                  <a:srgbClr val="14213D"/>
                </a:solidFill>
                <a:latin typeface="Calibri" pitchFamily="34" charset="0"/>
                <a:ea typeface="Calibri" pitchFamily="34" charset="-122"/>
                <a:cs typeface="Calibri" pitchFamily="34" charset="-120"/>
              </a:rPr>
              <a:t>′ never leaves O</a:t>
            </a:r>
            <a:endParaRPr lang="en-US" sz="1500" dirty="0"/>
          </a:p>
        </p:txBody>
      </p:sp>
      <p:sp>
        <p:nvSpPr>
          <p:cNvPr id="9" name="Text 5"/>
          <p:cNvSpPr txBox="1"/>
          <p:nvPr/>
        </p:nvSpPr>
        <p:spPr>
          <a:xfrm>
            <a:off x="8138160" y="1920240"/>
            <a:ext cx="3474720" cy="658368"/>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Without it R cannot work out c</a:t>
            </a:r>
            <a:r>
              <a:rPr lang="en-US" sz="1300" baseline="-25000" dirty="0">
                <a:solidFill>
                  <a:srgbClr val="5B6576"/>
                </a:solidFill>
                <a:latin typeface="Calibri" pitchFamily="34" charset="0"/>
                <a:ea typeface="Calibri" pitchFamily="34" charset="-122"/>
                <a:cs typeface="Calibri" pitchFamily="34" charset="-120"/>
              </a:rPr>
              <a:t>1</a:t>
            </a:r>
            <a:r>
              <a:rPr lang="en-US" sz="1300" dirty="0">
                <a:solidFill>
                  <a:srgbClr val="5B6576"/>
                </a:solidFill>
                <a:latin typeface="Calibri" pitchFamily="34" charset="0"/>
                <a:ea typeface="Calibri" pitchFamily="34" charset="-122"/>
                <a:cs typeface="Calibri" pitchFamily="34" charset="-120"/>
              </a:rPr>
              <a:t>′s</a:t>
            </a:r>
            <a:r>
              <a:rPr lang="en-US" sz="1300" baseline="-25000" dirty="0">
                <a:solidFill>
                  <a:srgbClr val="5B6576"/>
                </a:solidFill>
                <a:latin typeface="Calibri" pitchFamily="34" charset="0"/>
                <a:ea typeface="Calibri" pitchFamily="34" charset="-122"/>
                <a:cs typeface="Calibri" pitchFamily="34" charset="-120"/>
              </a:rPr>
              <a:t>O</a:t>
            </a:r>
            <a:r>
              <a:rPr lang="en-US" sz="1300" dirty="0">
                <a:solidFill>
                  <a:srgbClr val="5B6576"/>
                </a:solidFill>
                <a:latin typeface="Calibri" pitchFamily="34" charset="0"/>
                <a:ea typeface="Calibri" pitchFamily="34" charset="-122"/>
                <a:cs typeface="Calibri" pitchFamily="34" charset="-120"/>
              </a:rPr>
              <a:t>, so O's key share stays hidden.</a:t>
            </a:r>
            <a:endParaRPr lang="en-US" sz="1300" dirty="0"/>
          </a:p>
        </p:txBody>
      </p:sp>
      <p:sp>
        <p:nvSpPr>
          <p:cNvPr id="10" name="Shape 6"/>
          <p:cNvSpPr/>
          <p:nvPr/>
        </p:nvSpPr>
        <p:spPr>
          <a:xfrm>
            <a:off x="7406640" y="2596896"/>
            <a:ext cx="566928" cy="566928"/>
          </a:xfrm>
          <a:prstGeom prst="ellipse">
            <a:avLst/>
          </a:prstGeom>
          <a:solidFill>
            <a:srgbClr val="C45A0C"/>
          </a:solidFill>
          <a:ln w="12700">
            <a:solidFill>
              <a:srgbClr val="C45A0C"/>
            </a:solidFill>
            <a:prstDash val="solid"/>
          </a:ln>
        </p:spPr>
      </p:sp>
      <p:pic>
        <p:nvPicPr>
          <p:cNvPr id="11" name="Image 2" descr="preencoded.png">    </p:cNvPr>
          <p:cNvPicPr>
            <a:picLocks noChangeAspect="1"/>
          </p:cNvPicPr>
          <p:nvPr/>
        </p:nvPicPr>
        <p:blipFill>
          <a:blip r:embed="rId3"/>
          <a:stretch>
            <a:fillRect/>
          </a:stretch>
        </p:blipFill>
        <p:spPr>
          <a:xfrm>
            <a:off x="7542703" y="2732959"/>
            <a:ext cx="294803" cy="294803"/>
          </a:xfrm>
          <a:prstGeom prst="rect">
            <a:avLst/>
          </a:prstGeom>
        </p:spPr>
      </p:pic>
      <p:sp>
        <p:nvSpPr>
          <p:cNvPr id="12" name="Text 7"/>
          <p:cNvSpPr txBox="1"/>
          <p:nvPr/>
        </p:nvSpPr>
        <p:spPr>
          <a:xfrm>
            <a:off x="8138160" y="2578608"/>
            <a:ext cx="347472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η does two jobs</a:t>
            </a:r>
            <a:endParaRPr lang="en-US" sz="1500" dirty="0"/>
          </a:p>
        </p:txBody>
      </p:sp>
      <p:sp>
        <p:nvSpPr>
          <p:cNvPr id="13" name="Text 8"/>
          <p:cNvSpPr txBox="1"/>
          <p:nvPr/>
        </p:nvSpPr>
        <p:spPr>
          <a:xfrm>
            <a:off x="8138160" y="2944368"/>
            <a:ext cx="3474720" cy="658368"/>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It is the DP noise on the statistics, and it hides every encryption error statistically (to 2</a:t>
            </a:r>
            <a:r>
              <a:rPr lang="en-US" sz="1300" baseline="30000" dirty="0">
                <a:solidFill>
                  <a:srgbClr val="5B6576"/>
                </a:solidFill>
                <a:latin typeface="Calibri" pitchFamily="34" charset="0"/>
                <a:ea typeface="Calibri" pitchFamily="34" charset="-122"/>
                <a:cs typeface="Calibri" pitchFamily="34" charset="-120"/>
              </a:rPr>
              <a:t>−40</a:t>
            </a:r>
            <a:r>
              <a:rPr lang="en-US" sz="1300" dirty="0">
                <a:solidFill>
                  <a:srgbClr val="5B6576"/>
                </a:solidFill>
                <a:latin typeface="Calibri" pitchFamily="34" charset="0"/>
                <a:ea typeface="Calibri" pitchFamily="34" charset="-122"/>
                <a:cs typeface="Calibri" pitchFamily="34" charset="-120"/>
              </a:rPr>
              <a:t>).</a:t>
            </a:r>
            <a:endParaRPr lang="en-US" sz="1300" dirty="0"/>
          </a:p>
        </p:txBody>
      </p:sp>
      <p:sp>
        <p:nvSpPr>
          <p:cNvPr id="14" name="Shape 9"/>
          <p:cNvSpPr/>
          <p:nvPr/>
        </p:nvSpPr>
        <p:spPr>
          <a:xfrm>
            <a:off x="7406640" y="3621024"/>
            <a:ext cx="566928" cy="566928"/>
          </a:xfrm>
          <a:prstGeom prst="ellipse">
            <a:avLst/>
          </a:prstGeom>
          <a:solidFill>
            <a:srgbClr val="3D5A80"/>
          </a:solidFill>
          <a:ln w="12700">
            <a:solidFill>
              <a:srgbClr val="3D5A80"/>
            </a:solidFill>
            <a:prstDash val="solid"/>
          </a:ln>
        </p:spPr>
      </p:sp>
      <p:pic>
        <p:nvPicPr>
          <p:cNvPr id="15" name="Image 3" descr="preencoded.png">    </p:cNvPr>
          <p:cNvPicPr>
            <a:picLocks noChangeAspect="1"/>
          </p:cNvPicPr>
          <p:nvPr/>
        </p:nvPicPr>
        <p:blipFill>
          <a:blip r:embed="rId4"/>
          <a:stretch>
            <a:fillRect/>
          </a:stretch>
        </p:blipFill>
        <p:spPr>
          <a:xfrm>
            <a:off x="7542703" y="3757087"/>
            <a:ext cx="294803" cy="294803"/>
          </a:xfrm>
          <a:prstGeom prst="rect">
            <a:avLst/>
          </a:prstGeom>
        </p:spPr>
      </p:pic>
      <p:sp>
        <p:nvSpPr>
          <p:cNvPr id="16" name="Text 10"/>
          <p:cNvSpPr txBox="1"/>
          <p:nvPr/>
        </p:nvSpPr>
        <p:spPr>
          <a:xfrm>
            <a:off x="8138160" y="3602736"/>
            <a:ext cx="347472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Fresh every time</a:t>
            </a:r>
            <a:endParaRPr lang="en-US" sz="1500" dirty="0"/>
          </a:p>
        </p:txBody>
      </p:sp>
      <p:sp>
        <p:nvSpPr>
          <p:cNvPr id="17" name="Text 11"/>
          <p:cNvSpPr txBox="1"/>
          <p:nvPr/>
        </p:nvSpPr>
        <p:spPr>
          <a:xfrm>
            <a:off x="8138160" y="3968496"/>
            <a:ext cx="3474720" cy="658368"/>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New u, e</a:t>
            </a:r>
            <a:r>
              <a:rPr lang="en-US" sz="1300" baseline="-25000" dirty="0">
                <a:solidFill>
                  <a:srgbClr val="5B6576"/>
                </a:solidFill>
                <a:latin typeface="Calibri" pitchFamily="34" charset="0"/>
                <a:ea typeface="Calibri" pitchFamily="34" charset="-122"/>
                <a:cs typeface="Calibri" pitchFamily="34" charset="-120"/>
              </a:rPr>
              <a:t>0</a:t>
            </a:r>
            <a:r>
              <a:rPr lang="en-US" sz="1300" dirty="0">
                <a:solidFill>
                  <a:srgbClr val="5B6576"/>
                </a:solidFill>
                <a:latin typeface="Calibri" pitchFamily="34" charset="0"/>
                <a:ea typeface="Calibri" pitchFamily="34" charset="-122"/>
                <a:cs typeface="Calibri" pitchFamily="34" charset="-120"/>
              </a:rPr>
              <a:t>, e</a:t>
            </a:r>
            <a:r>
              <a:rPr lang="en-US" sz="1300" baseline="-25000" dirty="0">
                <a:solidFill>
                  <a:srgbClr val="5B6576"/>
                </a:solidFill>
                <a:latin typeface="Calibri" pitchFamily="34" charset="0"/>
                <a:ea typeface="Calibri" pitchFamily="34" charset="-122"/>
                <a:cs typeface="Calibri" pitchFamily="34" charset="-120"/>
              </a:rPr>
              <a:t>1</a:t>
            </a:r>
            <a:r>
              <a:rPr lang="en-US" sz="1300" dirty="0">
                <a:solidFill>
                  <a:srgbClr val="5B6576"/>
                </a:solidFill>
                <a:latin typeface="Calibri" pitchFamily="34" charset="0"/>
                <a:ea typeface="Calibri" pitchFamily="34" charset="-122"/>
                <a:cs typeface="Calibri" pitchFamily="34" charset="-120"/>
              </a:rPr>
              <a:t> and η for each release; O charges the ledger before sending.</a:t>
            </a:r>
            <a:endParaRPr lang="en-US" sz="1300" dirty="0"/>
          </a:p>
        </p:txBody>
      </p:sp>
      <p:sp>
        <p:nvSpPr>
          <p:cNvPr id="18" name="Shape 12"/>
          <p:cNvSpPr/>
          <p:nvPr/>
        </p:nvSpPr>
        <p:spPr>
          <a:xfrm>
            <a:off x="548640" y="4846320"/>
            <a:ext cx="11064240" cy="1325880"/>
          </a:xfrm>
          <a:prstGeom prst="roundRect">
            <a:avLst>
              <a:gd name="adj" fmla="val 5517"/>
            </a:avLst>
          </a:prstGeom>
          <a:solidFill>
            <a:srgbClr val="F6E3D6"/>
          </a:solidFill>
          <a:ln w="12700">
            <a:solidFill>
              <a:srgbClr val="F6E3D6"/>
            </a:solidFill>
            <a:prstDash val="solid"/>
          </a:ln>
        </p:spPr>
      </p:sp>
      <p:sp>
        <p:nvSpPr>
          <p:cNvPr id="19" name="Text 13"/>
          <p:cNvSpPr txBox="1"/>
          <p:nvPr/>
        </p:nvSpPr>
        <p:spPr>
          <a:xfrm>
            <a:off x="822960" y="4937760"/>
            <a:ext cx="10515600" cy="1143000"/>
          </a:xfrm>
          <a:prstGeom prst="rect">
            <a:avLst/>
          </a:prstGeom>
          <a:noFill/>
          <a:ln/>
        </p:spPr>
        <p:txBody>
          <a:bodyPr wrap="square" lIns="0" tIns="0" rIns="0" bIns="0" rtlCol="0" anchor="ctr"/>
          <a:lstStyle/>
          <a:p>
            <a:pPr indent="0" marL="0">
              <a:buNone/>
            </a:pPr>
            <a:r>
              <a:rPr lang="en-US" sz="1550" b="1" dirty="0">
                <a:solidFill>
                  <a:srgbClr val="14213D"/>
                </a:solidFill>
                <a:latin typeface="Calibri" pitchFamily="34" charset="0"/>
                <a:ea typeface="Calibri" pitchFamily="34" charset="-122"/>
                <a:cs typeface="Calibri" pitchFamily="34" charset="-120"/>
              </a:rPr>
              <a:t>What R ends up with: </a:t>
            </a:r>
            <a:r>
              <a:rPr lang="en-US" sz="1550" dirty="0">
                <a:solidFill>
                  <a:srgbClr val="14213D"/>
                </a:solidFill>
                <a:latin typeface="Calibri" pitchFamily="34" charset="0"/>
                <a:ea typeface="Calibri" pitchFamily="34" charset="-122"/>
                <a:cs typeface="Calibri" pitchFamily="34" charset="-120"/>
              </a:rPr>
              <a:t>the statistics plus discrete-Gaussian noise of the planned size, and a c</a:t>
            </a:r>
            <a:r>
              <a:rPr lang="en-US" sz="1550" baseline="-25000" dirty="0">
                <a:solidFill>
                  <a:srgbClr val="14213D"/>
                </a:solidFill>
                <a:latin typeface="Calibri" pitchFamily="34" charset="0"/>
                <a:ea typeface="Calibri" pitchFamily="34" charset="-122"/>
                <a:cs typeface="Calibri" pitchFamily="34" charset="-120"/>
              </a:rPr>
              <a:t>1</a:t>
            </a:r>
            <a:r>
              <a:rPr lang="en-US" sz="1550" dirty="0">
                <a:solidFill>
                  <a:srgbClr val="14213D"/>
                </a:solidFill>
                <a:latin typeface="Calibri" pitchFamily="34" charset="0"/>
                <a:ea typeface="Calibri" pitchFamily="34" charset="-122"/>
                <a:cs typeface="Calibri" pitchFamily="34" charset="-120"/>
              </a:rPr>
              <a:t>′ that looks random. R's view can be simulated from the noisy statistics alone, which is exactly the DP guarantee.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Why the noise must cover the whole ciphertext</a:t>
            </a:r>
            <a:endParaRPr lang="en-US" sz="3200" dirty="0"/>
          </a:p>
        </p:txBody>
      </p:sp>
      <p:sp>
        <p:nvSpPr>
          <p:cNvPr id="3" name="Text 1"/>
          <p:cNvSpPr txBox="1"/>
          <p:nvPr/>
        </p:nvSpPr>
        <p:spPr>
          <a:xfrm>
            <a:off x="548640" y="1417320"/>
            <a:ext cx="3108960" cy="1097280"/>
          </a:xfrm>
          <a:prstGeom prst="rect">
            <a:avLst/>
          </a:prstGeom>
          <a:noFill/>
          <a:ln/>
        </p:spPr>
        <p:txBody>
          <a:bodyPr wrap="square" lIns="0" tIns="0" rIns="0" bIns="0" rtlCol="0" anchor="t"/>
          <a:lstStyle/>
          <a:p>
            <a:pPr indent="0" marL="0">
              <a:buNone/>
            </a:pPr>
            <a:r>
              <a:rPr lang="en-US" sz="6400" b="1" dirty="0">
                <a:solidFill>
                  <a:srgbClr val="C45A0C"/>
                </a:solidFill>
                <a:latin typeface="Cambria" pitchFamily="34" charset="0"/>
                <a:ea typeface="Cambria" pitchFamily="34" charset="-122"/>
                <a:cs typeface="Cambria" pitchFamily="34" charset="-120"/>
              </a:rPr>
              <a:t>100%</a:t>
            </a:r>
            <a:endParaRPr lang="en-US" sz="6400" dirty="0"/>
          </a:p>
        </p:txBody>
      </p:sp>
      <p:sp>
        <p:nvSpPr>
          <p:cNvPr id="4" name="Text 2"/>
          <p:cNvSpPr txBox="1"/>
          <p:nvPr/>
        </p:nvSpPr>
        <p:spPr>
          <a:xfrm>
            <a:off x="548640" y="2560320"/>
            <a:ext cx="3383280" cy="137160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of trials in which R picked the true dataset out of two candidates (20 of 20, real OpenFHE), when O added the noise only to the plaintext value.</a:t>
            </a:r>
            <a:endParaRPr lang="en-US" sz="1450" dirty="0"/>
          </a:p>
        </p:txBody>
      </p:sp>
      <p:sp>
        <p:nvSpPr>
          <p:cNvPr id="5" name="Text 3"/>
          <p:cNvSpPr txBox="1"/>
          <p:nvPr/>
        </p:nvSpPr>
        <p:spPr>
          <a:xfrm>
            <a:off x="548640" y="3977640"/>
            <a:ext cx="3108960" cy="914400"/>
          </a:xfrm>
          <a:prstGeom prst="rect">
            <a:avLst/>
          </a:prstGeom>
          <a:noFill/>
          <a:ln/>
        </p:spPr>
        <p:txBody>
          <a:bodyPr wrap="square" lIns="0" tIns="0" rIns="0" bIns="0" rtlCol="0" anchor="t"/>
          <a:lstStyle/>
          <a:p>
            <a:pPr indent="0" marL="0">
              <a:buNone/>
            </a:pPr>
            <a:r>
              <a:rPr lang="en-US" sz="4800" b="1" dirty="0">
                <a:solidFill>
                  <a:srgbClr val="3D5A80"/>
                </a:solidFill>
                <a:latin typeface="Cambria" pitchFamily="34" charset="0"/>
                <a:ea typeface="Cambria" pitchFamily="34" charset="-122"/>
                <a:cs typeface="Cambria" pitchFamily="34" charset="-120"/>
              </a:rPr>
              <a:t>73%</a:t>
            </a:r>
            <a:endParaRPr lang="en-US" sz="4800" dirty="0"/>
          </a:p>
        </p:txBody>
      </p:sp>
      <p:sp>
        <p:nvSpPr>
          <p:cNvPr id="6" name="Text 4"/>
          <p:cNvSpPr txBox="1"/>
          <p:nvPr/>
        </p:nvSpPr>
        <p:spPr>
          <a:xfrm>
            <a:off x="548640" y="4892040"/>
            <a:ext cx="3291840" cy="73152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the most that ε = 1 differential privacy allows.</a:t>
            </a:r>
            <a:endParaRPr lang="en-US" sz="1450" dirty="0"/>
          </a:p>
        </p:txBody>
      </p:sp>
      <p:sp>
        <p:nvSpPr>
          <p:cNvPr id="7" name="Shape 5"/>
          <p:cNvSpPr/>
          <p:nvPr/>
        </p:nvSpPr>
        <p:spPr>
          <a:xfrm>
            <a:off x="4297680" y="1417320"/>
            <a:ext cx="3520440" cy="4343400"/>
          </a:xfrm>
          <a:prstGeom prst="roundRect">
            <a:avLst>
              <a:gd name="adj" fmla="val 2078"/>
            </a:avLst>
          </a:prstGeom>
          <a:solidFill>
            <a:srgbClr val="EEF2F7"/>
          </a:solidFill>
          <a:ln w="12700">
            <a:solidFill>
              <a:srgbClr val="EEF2F7"/>
            </a:solidFill>
            <a:prstDash val="solid"/>
          </a:ln>
        </p:spPr>
      </p:sp>
      <p:sp>
        <p:nvSpPr>
          <p:cNvPr id="8" name="Text 6"/>
          <p:cNvSpPr txBox="1"/>
          <p:nvPr/>
        </p:nvSpPr>
        <p:spPr>
          <a:xfrm>
            <a:off x="4526280" y="1600200"/>
            <a:ext cx="310896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What went wrong</a:t>
            </a:r>
            <a:endParaRPr lang="en-US" sz="2000" dirty="0"/>
          </a:p>
        </p:txBody>
      </p:sp>
      <p:sp>
        <p:nvSpPr>
          <p:cNvPr id="9" name="Text 7"/>
          <p:cNvSpPr txBox="1"/>
          <p:nvPr/>
        </p:nvSpPr>
        <p:spPr>
          <a:xfrm>
            <a:off x="4526280" y="2103120"/>
            <a:ext cx="3108960" cy="35661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Adding noise to the plaintext changes only c</a:t>
            </a:r>
            <a:r>
              <a:rPr lang="en-US" sz="1450" baseline="-25000" dirty="0">
                <a:solidFill>
                  <a:srgbClr val="1F2937"/>
                </a:solidFill>
                <a:latin typeface="Calibri" pitchFamily="34" charset="0"/>
                <a:ea typeface="Calibri" pitchFamily="34" charset="-122"/>
                <a:cs typeface="Calibri" pitchFamily="34" charset="-120"/>
              </a:rPr>
              <a:t>0</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c</a:t>
            </a:r>
            <a:r>
              <a:rPr lang="en-US" sz="1450" baseline="-25000" dirty="0">
                <a:solidFill>
                  <a:srgbClr val="1F2937"/>
                </a:solidFill>
                <a:latin typeface="Calibri" pitchFamily="34" charset="0"/>
                <a:ea typeface="Calibri" pitchFamily="34" charset="-122"/>
                <a:cs typeface="Calibri" pitchFamily="34" charset="-120"/>
              </a:rPr>
              <a:t>1</a:t>
            </a:r>
            <a:r>
              <a:rPr lang="en-US" sz="1450" dirty="0">
                <a:solidFill>
                  <a:srgbClr val="1F2937"/>
                </a:solidFill>
                <a:latin typeface="Calibri" pitchFamily="34" charset="0"/>
                <a:ea typeface="Calibri" pitchFamily="34" charset="-122"/>
                <a:cs typeface="Calibri" pitchFamily="34" charset="-120"/>
              </a:rPr>
              <a:t> stays a deterministic function of R's ciphertexts and O's data</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Holding a key, R can recompute c</a:t>
            </a:r>
            <a:r>
              <a:rPr lang="en-US" sz="1450" baseline="-25000" dirty="0">
                <a:solidFill>
                  <a:srgbClr val="1F2937"/>
                </a:solidFill>
                <a:latin typeface="Calibri" pitchFamily="34" charset="0"/>
                <a:ea typeface="Calibri" pitchFamily="34" charset="-122"/>
                <a:cs typeface="Calibri" pitchFamily="34" charset="-120"/>
              </a:rPr>
              <a:t>1</a:t>
            </a:r>
            <a:r>
              <a:rPr lang="en-US" sz="1450" dirty="0">
                <a:solidFill>
                  <a:srgbClr val="1F2937"/>
                </a:solidFill>
                <a:latin typeface="Calibri" pitchFamily="34" charset="0"/>
                <a:ea typeface="Calibri" pitchFamily="34" charset="-122"/>
                <a:cs typeface="Calibri" pitchFamily="34" charset="-120"/>
              </a:rPr>
              <a:t> for each candidate dataset and compare</a:t>
            </a:r>
            <a:endParaRPr lang="en-US" sz="1450" dirty="0"/>
          </a:p>
        </p:txBody>
      </p:sp>
      <p:sp>
        <p:nvSpPr>
          <p:cNvPr id="10" name="Shape 8"/>
          <p:cNvSpPr/>
          <p:nvPr/>
        </p:nvSpPr>
        <p:spPr>
          <a:xfrm>
            <a:off x="8092440" y="1417320"/>
            <a:ext cx="3520440" cy="4343400"/>
          </a:xfrm>
          <a:prstGeom prst="roundRect">
            <a:avLst>
              <a:gd name="adj" fmla="val 2078"/>
            </a:avLst>
          </a:prstGeom>
          <a:solidFill>
            <a:srgbClr val="F6E3D6"/>
          </a:solidFill>
          <a:ln w="12700">
            <a:solidFill>
              <a:srgbClr val="F6E3D6"/>
            </a:solidFill>
            <a:prstDash val="solid"/>
          </a:ln>
        </p:spPr>
      </p:sp>
      <p:sp>
        <p:nvSpPr>
          <p:cNvPr id="11" name="Text 9"/>
          <p:cNvSpPr txBox="1"/>
          <p:nvPr/>
        </p:nvSpPr>
        <p:spPr>
          <a:xfrm>
            <a:off x="8321040" y="1600200"/>
            <a:ext cx="3108960" cy="411480"/>
          </a:xfrm>
          <a:prstGeom prst="rect">
            <a:avLst/>
          </a:prstGeom>
          <a:noFill/>
          <a:ln/>
        </p:spPr>
        <p:txBody>
          <a:bodyPr wrap="square" lIns="0" tIns="0" rIns="0" bIns="0" rtlCol="0" anchor="t"/>
          <a:lstStyle/>
          <a:p>
            <a:pPr indent="0" marL="0">
              <a:buNone/>
            </a:pPr>
            <a:r>
              <a:rPr lang="en-US" sz="2000" b="1" dirty="0">
                <a:solidFill>
                  <a:srgbClr val="C45A0C"/>
                </a:solidFill>
                <a:latin typeface="Cambria" pitchFamily="34" charset="0"/>
                <a:ea typeface="Cambria" pitchFamily="34" charset="-122"/>
                <a:cs typeface="Cambria" pitchFamily="34" charset="-120"/>
              </a:rPr>
              <a:t>How we avoid it</a:t>
            </a:r>
            <a:endParaRPr lang="en-US" sz="2000" dirty="0"/>
          </a:p>
        </p:txBody>
      </p:sp>
      <p:sp>
        <p:nvSpPr>
          <p:cNvPr id="12" name="Text 10"/>
          <p:cNvSpPr txBox="1"/>
          <p:nvPr/>
        </p:nvSpPr>
        <p:spPr>
          <a:xfrm>
            <a:off x="8321040" y="2103120"/>
            <a:ext cx="3108960" cy="35661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O re-randomizes c</a:t>
            </a:r>
            <a:r>
              <a:rPr lang="en-US" sz="1450" baseline="-25000" dirty="0">
                <a:solidFill>
                  <a:srgbClr val="1F2937"/>
                </a:solidFill>
                <a:latin typeface="Calibri" pitchFamily="34" charset="0"/>
                <a:ea typeface="Calibri" pitchFamily="34" charset="-122"/>
                <a:cs typeface="Calibri" pitchFamily="34" charset="-120"/>
              </a:rPr>
              <a:t>1</a:t>
            </a:r>
            <a:r>
              <a:rPr lang="en-US" sz="1450" dirty="0">
                <a:solidFill>
                  <a:srgbClr val="1F2937"/>
                </a:solidFill>
                <a:latin typeface="Calibri" pitchFamily="34" charset="0"/>
                <a:ea typeface="Calibri" pitchFamily="34" charset="-122"/>
                <a:cs typeface="Calibri" pitchFamily="34" charset="-120"/>
              </a:rPr>
              <a:t> before releasing, so c</a:t>
            </a:r>
            <a:r>
              <a:rPr lang="en-US" sz="1450" baseline="-25000" dirty="0">
                <a:solidFill>
                  <a:srgbClr val="1F2937"/>
                </a:solidFill>
                <a:latin typeface="Calibri" pitchFamily="34" charset="0"/>
                <a:ea typeface="Calibri" pitchFamily="34" charset="-122"/>
                <a:cs typeface="Calibri" pitchFamily="34" charset="-120"/>
              </a:rPr>
              <a:t>1</a:t>
            </a:r>
            <a:r>
              <a:rPr lang="en-US" sz="1450" dirty="0">
                <a:solidFill>
                  <a:srgbClr val="1F2937"/>
                </a:solidFill>
                <a:latin typeface="Calibri" pitchFamily="34" charset="0"/>
                <a:ea typeface="Calibri" pitchFamily="34" charset="-122"/>
                <a:cs typeface="Calibri" pitchFamily="34" charset="-120"/>
              </a:rPr>
              <a:t>′ looks random</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The noise sits in O's decryption share, so it covers everything R can compute</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The error terms are hidden statistically by the same noise</a:t>
            </a:r>
            <a:endParaRPr lang="en-US" sz="1450" dirty="0"/>
          </a:p>
        </p:txBody>
      </p:sp>
      <p:sp>
        <p:nvSpPr>
          <p:cNvPr id="13" name="Text 11"/>
          <p:cNvSpPr txBox="1"/>
          <p:nvPr/>
        </p:nvSpPr>
        <p:spPr>
          <a:xfrm>
            <a:off x="548640" y="5989320"/>
            <a:ext cx="11064240" cy="411480"/>
          </a:xfrm>
          <a:prstGeom prst="rect">
            <a:avLst/>
          </a:prstGeom>
          <a:noFill/>
          <a:ln/>
        </p:spPr>
        <p:txBody>
          <a:bodyPr wrap="square" lIns="0" tIns="0" rIns="0" bIns="0" rtlCol="0" anchor="t"/>
          <a:lstStyle/>
          <a:p>
            <a:pPr indent="0" marL="0">
              <a:buNone/>
            </a:pPr>
            <a:r>
              <a:rPr lang="en-US" sz="1500" i="1" dirty="0">
                <a:solidFill>
                  <a:srgbClr val="14213D"/>
                </a:solidFill>
                <a:latin typeface="Calibri" pitchFamily="34" charset="0"/>
                <a:ea typeface="Calibri" pitchFamily="34" charset="-122"/>
                <a:cs typeface="Calibri" pitchFamily="34" charset="-120"/>
              </a:rPr>
              <a:t>Lesson: DP must hold for everything a party sees, not only for the decrypted number.</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Two releases: pick the ridge, then estimate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The ridge must not depend on the noise in the release it is applied to</a:t>
            </a:r>
            <a:endParaRPr lang="en-US" sz="1600" dirty="0"/>
          </a:p>
        </p:txBody>
      </p:sp>
      <p:sp>
        <p:nvSpPr>
          <p:cNvPr id="4" name="Shape 2"/>
          <p:cNvSpPr/>
          <p:nvPr/>
        </p:nvSpPr>
        <p:spPr>
          <a:xfrm>
            <a:off x="548640" y="1600200"/>
            <a:ext cx="2514600" cy="1463040"/>
          </a:xfrm>
          <a:prstGeom prst="roundRect">
            <a:avLst>
              <a:gd name="adj" fmla="val 5000"/>
            </a:avLst>
          </a:prstGeom>
          <a:solidFill>
            <a:srgbClr val="DCE4EF"/>
          </a:solidFill>
          <a:ln w="12700">
            <a:solidFill>
              <a:srgbClr val="DCE4EF"/>
            </a:solidFill>
            <a:prstDash val="solid"/>
          </a:ln>
        </p:spPr>
      </p:sp>
      <p:sp>
        <p:nvSpPr>
          <p:cNvPr id="5" name="Text 3"/>
          <p:cNvSpPr txBox="1"/>
          <p:nvPr/>
        </p:nvSpPr>
        <p:spPr>
          <a:xfrm>
            <a:off x="731520" y="1709928"/>
            <a:ext cx="214884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Stage 1 (10%)</a:t>
            </a:r>
            <a:endParaRPr lang="en-US" sz="1500" dirty="0"/>
          </a:p>
        </p:txBody>
      </p:sp>
      <p:sp>
        <p:nvSpPr>
          <p:cNvPr id="6" name="Text 4"/>
          <p:cNvSpPr txBox="1"/>
          <p:nvPr/>
        </p:nvSpPr>
        <p:spPr>
          <a:xfrm>
            <a:off x="731520" y="2075688"/>
            <a:ext cx="2148840" cy="914400"/>
          </a:xfrm>
          <a:prstGeom prst="rect">
            <a:avLst/>
          </a:prstGeom>
          <a:noFill/>
          <a:ln/>
        </p:spPr>
        <p:txBody>
          <a:bodyPr wrap="square" lIns="0" tIns="0" rIns="0" bIns="0" rtlCol="0" anchor="t"/>
          <a:lstStyle/>
          <a:p>
            <a:pPr indent="0" marL="0">
              <a:buNone/>
            </a:pPr>
            <a:r>
              <a:rPr lang="en-US" sz="1300" dirty="0">
                <a:solidFill>
                  <a:srgbClr val="14213D"/>
                </a:solidFill>
                <a:latin typeface="Calibri" pitchFamily="34" charset="0"/>
                <a:ea typeface="Calibri" pitchFamily="34" charset="-122"/>
                <a:cs typeface="Calibri" pitchFamily="34" charset="-120"/>
              </a:rPr>
              <a:t>Release of B and C only, noise σ</a:t>
            </a:r>
            <a:r>
              <a:rPr lang="en-US" sz="1300" baseline="-25000" dirty="0">
                <a:solidFill>
                  <a:srgbClr val="14213D"/>
                </a:solidFill>
                <a:latin typeface="Calibri" pitchFamily="34" charset="0"/>
                <a:ea typeface="Calibri" pitchFamily="34" charset="-122"/>
                <a:cs typeface="Calibri" pitchFamily="34" charset="-120"/>
              </a:rPr>
              <a:t>1</a:t>
            </a:r>
            <a:endParaRPr lang="en-US" sz="1300" dirty="0"/>
          </a:p>
        </p:txBody>
      </p:sp>
      <p:sp>
        <p:nvSpPr>
          <p:cNvPr id="7" name="Shape 5"/>
          <p:cNvSpPr/>
          <p:nvPr/>
        </p:nvSpPr>
        <p:spPr>
          <a:xfrm>
            <a:off x="3108960" y="2331720"/>
            <a:ext cx="411480" cy="0"/>
          </a:xfrm>
          <a:prstGeom prst="line">
            <a:avLst/>
          </a:prstGeom>
          <a:noFill/>
          <a:ln w="25400">
            <a:solidFill>
              <a:srgbClr val="5B6576"/>
            </a:solidFill>
            <a:prstDash val="solid"/>
            <a:tailEnd type="triangle"/>
          </a:ln>
        </p:spPr>
      </p:sp>
      <p:sp>
        <p:nvSpPr>
          <p:cNvPr id="8" name="Shape 6"/>
          <p:cNvSpPr/>
          <p:nvPr/>
        </p:nvSpPr>
        <p:spPr>
          <a:xfrm>
            <a:off x="3566160" y="1600200"/>
            <a:ext cx="2514600" cy="1463040"/>
          </a:xfrm>
          <a:prstGeom prst="roundRect">
            <a:avLst>
              <a:gd name="adj" fmla="val 5000"/>
            </a:avLst>
          </a:prstGeom>
          <a:solidFill>
            <a:srgbClr val="EEF2F7"/>
          </a:solidFill>
          <a:ln w="12700">
            <a:solidFill>
              <a:srgbClr val="EEF2F7"/>
            </a:solidFill>
            <a:prstDash val="solid"/>
          </a:ln>
        </p:spPr>
      </p:sp>
      <p:sp>
        <p:nvSpPr>
          <p:cNvPr id="9" name="Text 7"/>
          <p:cNvSpPr txBox="1"/>
          <p:nvPr/>
        </p:nvSpPr>
        <p:spPr>
          <a:xfrm>
            <a:off x="3749040" y="1709928"/>
            <a:ext cx="214884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Ĝ</a:t>
            </a:r>
            <a:r>
              <a:rPr lang="en-US" sz="1500" b="1" baseline="-25000" dirty="0">
                <a:solidFill>
                  <a:srgbClr val="14213D"/>
                </a:solidFill>
                <a:latin typeface="Calibri" pitchFamily="34" charset="0"/>
                <a:ea typeface="Calibri" pitchFamily="34" charset="-122"/>
                <a:cs typeface="Calibri" pitchFamily="34" charset="-120"/>
              </a:rPr>
              <a:t>1</a:t>
            </a:r>
            <a:r>
              <a:rPr lang="en-US" sz="1500" b="1" dirty="0">
                <a:solidFill>
                  <a:srgbClr val="14213D"/>
                </a:solidFill>
                <a:latin typeface="Calibri" pitchFamily="34" charset="0"/>
                <a:ea typeface="Calibri" pitchFamily="34" charset="-122"/>
                <a:cs typeface="Calibri" pitchFamily="34" charset="-120"/>
              </a:rPr>
              <a:t> = A ⊕ noisy B, C</a:t>
            </a:r>
            <a:endParaRPr lang="en-US" sz="1500" dirty="0"/>
          </a:p>
        </p:txBody>
      </p:sp>
      <p:sp>
        <p:nvSpPr>
          <p:cNvPr id="10" name="Text 8"/>
          <p:cNvSpPr txBox="1"/>
          <p:nvPr/>
        </p:nvSpPr>
        <p:spPr>
          <a:xfrm>
            <a:off x="3749040" y="2075688"/>
            <a:ext cx="2148840" cy="914400"/>
          </a:xfrm>
          <a:prstGeom prst="rect">
            <a:avLst/>
          </a:prstGeom>
          <a:noFill/>
          <a:ln/>
        </p:spPr>
        <p:txBody>
          <a:bodyPr wrap="square" lIns="0" tIns="0" rIns="0" bIns="0" rtlCol="0" anchor="t"/>
          <a:lstStyle/>
          <a:p>
            <a:pPr indent="0" marL="0">
              <a:buNone/>
            </a:pPr>
            <a:r>
              <a:rPr lang="en-US" sz="1300" dirty="0">
                <a:solidFill>
                  <a:srgbClr val="14213D"/>
                </a:solidFill>
                <a:latin typeface="Calibri" pitchFamily="34" charset="0"/>
                <a:ea typeface="Calibri" pitchFamily="34" charset="-122"/>
                <a:cs typeface="Calibri" pitchFamily="34" charset="-120"/>
              </a:rPr>
              <a:t>R adds its exact block A; finds a lower bound on λ</a:t>
            </a:r>
            <a:r>
              <a:rPr lang="en-US" sz="1300" baseline="-25000" dirty="0">
                <a:solidFill>
                  <a:srgbClr val="14213D"/>
                </a:solidFill>
                <a:latin typeface="Calibri" pitchFamily="34" charset="0"/>
                <a:ea typeface="Calibri" pitchFamily="34" charset="-122"/>
                <a:cs typeface="Calibri" pitchFamily="34" charset="-120"/>
              </a:rPr>
              <a:t>min</a:t>
            </a:r>
            <a:r>
              <a:rPr lang="en-US" sz="1300" dirty="0">
                <a:solidFill>
                  <a:srgbClr val="14213D"/>
                </a:solidFill>
                <a:latin typeface="Calibri" pitchFamily="34" charset="0"/>
                <a:ea typeface="Calibri" pitchFamily="34" charset="-122"/>
                <a:cs typeface="Calibri" pitchFamily="34" charset="-120"/>
              </a:rPr>
              <a:t>(G)</a:t>
            </a:r>
            <a:endParaRPr lang="en-US" sz="1300" dirty="0"/>
          </a:p>
        </p:txBody>
      </p:sp>
      <p:sp>
        <p:nvSpPr>
          <p:cNvPr id="11" name="Shape 9"/>
          <p:cNvSpPr/>
          <p:nvPr/>
        </p:nvSpPr>
        <p:spPr>
          <a:xfrm>
            <a:off x="6126480" y="2331720"/>
            <a:ext cx="411480" cy="0"/>
          </a:xfrm>
          <a:prstGeom prst="line">
            <a:avLst/>
          </a:prstGeom>
          <a:noFill/>
          <a:ln w="25400">
            <a:solidFill>
              <a:srgbClr val="5B6576"/>
            </a:solidFill>
            <a:prstDash val="solid"/>
            <a:tailEnd type="triangle"/>
          </a:ln>
        </p:spPr>
      </p:sp>
      <p:sp>
        <p:nvSpPr>
          <p:cNvPr id="12" name="Shape 10"/>
          <p:cNvSpPr/>
          <p:nvPr/>
        </p:nvSpPr>
        <p:spPr>
          <a:xfrm>
            <a:off x="6583680" y="1600200"/>
            <a:ext cx="2514600" cy="1463040"/>
          </a:xfrm>
          <a:prstGeom prst="roundRect">
            <a:avLst>
              <a:gd name="adj" fmla="val 5000"/>
            </a:avLst>
          </a:prstGeom>
          <a:solidFill>
            <a:srgbClr val="EEF2F7"/>
          </a:solidFill>
          <a:ln w="12700">
            <a:solidFill>
              <a:srgbClr val="EEF2F7"/>
            </a:solidFill>
            <a:prstDash val="solid"/>
          </a:ln>
        </p:spPr>
      </p:sp>
      <p:sp>
        <p:nvSpPr>
          <p:cNvPr id="13" name="Text 11"/>
          <p:cNvSpPr txBox="1"/>
          <p:nvPr/>
        </p:nvSpPr>
        <p:spPr>
          <a:xfrm>
            <a:off x="6766560" y="1709928"/>
            <a:ext cx="214884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Choose (λ, Ψ)</a:t>
            </a:r>
            <a:endParaRPr lang="en-US" sz="1500" dirty="0"/>
          </a:p>
        </p:txBody>
      </p:sp>
      <p:sp>
        <p:nvSpPr>
          <p:cNvPr id="14" name="Text 12"/>
          <p:cNvSpPr txBox="1"/>
          <p:nvPr/>
        </p:nvSpPr>
        <p:spPr>
          <a:xfrm>
            <a:off x="6766560" y="2075688"/>
            <a:ext cx="2148840" cy="914400"/>
          </a:xfrm>
          <a:prstGeom prst="rect">
            <a:avLst/>
          </a:prstGeom>
          <a:noFill/>
          <a:ln/>
        </p:spPr>
        <p:txBody>
          <a:bodyPr wrap="square" lIns="0" tIns="0" rIns="0" bIns="0" rtlCol="0" anchor="t"/>
          <a:lstStyle/>
          <a:p>
            <a:pPr indent="0" marL="0">
              <a:buNone/>
            </a:pPr>
            <a:r>
              <a:rPr lang="en-US" sz="1300" dirty="0">
                <a:solidFill>
                  <a:srgbClr val="14213D"/>
                </a:solidFill>
                <a:latin typeface="Calibri" pitchFamily="34" charset="0"/>
                <a:ea typeface="Calibri" pitchFamily="34" charset="-122"/>
                <a:cs typeface="Calibri" pitchFamily="34" charset="-120"/>
              </a:rPr>
              <a:t>Ridge just large enough that ϑ ≥ 2.5; Ψ ridges only O's block if that suffices</a:t>
            </a:r>
            <a:endParaRPr lang="en-US" sz="1300" dirty="0"/>
          </a:p>
        </p:txBody>
      </p:sp>
      <p:sp>
        <p:nvSpPr>
          <p:cNvPr id="15" name="Shape 13"/>
          <p:cNvSpPr/>
          <p:nvPr/>
        </p:nvSpPr>
        <p:spPr>
          <a:xfrm>
            <a:off x="9144000" y="2331720"/>
            <a:ext cx="411480" cy="0"/>
          </a:xfrm>
          <a:prstGeom prst="line">
            <a:avLst/>
          </a:prstGeom>
          <a:noFill/>
          <a:ln w="25400">
            <a:solidFill>
              <a:srgbClr val="5B6576"/>
            </a:solidFill>
            <a:prstDash val="solid"/>
            <a:tailEnd type="triangle"/>
          </a:ln>
        </p:spPr>
      </p:sp>
      <p:sp>
        <p:nvSpPr>
          <p:cNvPr id="16" name="Shape 14"/>
          <p:cNvSpPr/>
          <p:nvPr/>
        </p:nvSpPr>
        <p:spPr>
          <a:xfrm>
            <a:off x="9601200" y="1600200"/>
            <a:ext cx="2011680" cy="1463040"/>
          </a:xfrm>
          <a:prstGeom prst="roundRect">
            <a:avLst>
              <a:gd name="adj" fmla="val 5000"/>
            </a:avLst>
          </a:prstGeom>
          <a:solidFill>
            <a:srgbClr val="F6E3D6"/>
          </a:solidFill>
          <a:ln w="12700">
            <a:solidFill>
              <a:srgbClr val="F6E3D6"/>
            </a:solidFill>
            <a:prstDash val="solid"/>
          </a:ln>
        </p:spPr>
      </p:sp>
      <p:sp>
        <p:nvSpPr>
          <p:cNvPr id="17" name="Text 15"/>
          <p:cNvSpPr txBox="1"/>
          <p:nvPr/>
        </p:nvSpPr>
        <p:spPr>
          <a:xfrm>
            <a:off x="9784080" y="1709928"/>
            <a:ext cx="164592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Stage 2 (90%)</a:t>
            </a:r>
            <a:endParaRPr lang="en-US" sz="1500" dirty="0"/>
          </a:p>
        </p:txBody>
      </p:sp>
      <p:sp>
        <p:nvSpPr>
          <p:cNvPr id="18" name="Text 16"/>
          <p:cNvSpPr txBox="1"/>
          <p:nvPr/>
        </p:nvSpPr>
        <p:spPr>
          <a:xfrm>
            <a:off x="9784080" y="2075688"/>
            <a:ext cx="1645920" cy="914400"/>
          </a:xfrm>
          <a:prstGeom prst="rect">
            <a:avLst/>
          </a:prstGeom>
          <a:noFill/>
          <a:ln/>
        </p:spPr>
        <p:txBody>
          <a:bodyPr wrap="square" lIns="0" tIns="0" rIns="0" bIns="0" rtlCol="0" anchor="t"/>
          <a:lstStyle/>
          <a:p>
            <a:pPr indent="0" marL="0">
              <a:buNone/>
            </a:pPr>
            <a:r>
              <a:rPr lang="en-US" sz="1300" dirty="0">
                <a:solidFill>
                  <a:srgbClr val="14213D"/>
                </a:solidFill>
                <a:latin typeface="Calibri" pitchFamily="34" charset="0"/>
                <a:ea typeface="Calibri" pitchFamily="34" charset="-122"/>
                <a:cs typeface="Calibri" pitchFamily="34" charset="-120"/>
              </a:rPr>
              <a:t>All statistics, noise σ</a:t>
            </a:r>
            <a:r>
              <a:rPr lang="en-US" sz="1300" baseline="-25000" dirty="0">
                <a:solidFill>
                  <a:srgbClr val="14213D"/>
                </a:solidFill>
                <a:latin typeface="Calibri" pitchFamily="34" charset="0"/>
                <a:ea typeface="Calibri" pitchFamily="34" charset="-122"/>
                <a:cs typeface="Calibri" pitchFamily="34" charset="-120"/>
              </a:rPr>
              <a:t>2</a:t>
            </a:r>
            <a:r>
              <a:rPr lang="en-US" sz="1300" dirty="0">
                <a:solidFill>
                  <a:srgbClr val="14213D"/>
                </a:solidFill>
                <a:latin typeface="Calibri" pitchFamily="34" charset="0"/>
                <a:ea typeface="Calibri" pitchFamily="34" charset="-122"/>
                <a:cs typeface="Calibri" pitchFamily="34" charset="-120"/>
              </a:rPr>
              <a:t>; gate ϑ̂ ≥ 1</a:t>
            </a:r>
            <a:endParaRPr lang="en-US" sz="1300" dirty="0"/>
          </a:p>
        </p:txBody>
      </p:sp>
      <p:pic>
        <p:nvPicPr>
          <p:cNvPr id="19" name="Image 0" descr="/home/user/VerticalFederatedRegression/slides/assets/eq/lam_rule.png">    </p:cNvPr>
          <p:cNvPicPr>
            <a:picLocks noChangeAspect="1"/>
          </p:cNvPicPr>
          <p:nvPr/>
        </p:nvPicPr>
        <p:blipFill>
          <a:blip r:embed="rId1"/>
          <a:stretch>
            <a:fillRect/>
          </a:stretch>
        </p:blipFill>
        <p:spPr>
          <a:xfrm>
            <a:off x="548640" y="3429000"/>
            <a:ext cx="7389266" cy="349324"/>
          </a:xfrm>
          <a:prstGeom prst="rect">
            <a:avLst/>
          </a:prstGeom>
        </p:spPr>
      </p:pic>
      <p:pic>
        <p:nvPicPr>
          <p:cNvPr id="20" name="Image 1" descr="/home/user/VerticalFederatedRegression/slides/assets/eq/estimate.png">    </p:cNvPr>
          <p:cNvPicPr>
            <a:picLocks noChangeAspect="1"/>
          </p:cNvPicPr>
          <p:nvPr/>
        </p:nvPicPr>
        <p:blipFill>
          <a:blip r:embed="rId2"/>
          <a:stretch>
            <a:fillRect/>
          </a:stretch>
        </p:blipFill>
        <p:spPr>
          <a:xfrm>
            <a:off x="548640" y="4206240"/>
            <a:ext cx="5040904" cy="648310"/>
          </a:xfrm>
          <a:prstGeom prst="rect">
            <a:avLst/>
          </a:prstGeom>
        </p:spPr>
      </p:pic>
      <p:sp>
        <p:nvSpPr>
          <p:cNvPr id="21" name="Shape 17"/>
          <p:cNvSpPr/>
          <p:nvPr/>
        </p:nvSpPr>
        <p:spPr>
          <a:xfrm>
            <a:off x="548640" y="5166360"/>
            <a:ext cx="11064240" cy="1005840"/>
          </a:xfrm>
          <a:prstGeom prst="roundRect">
            <a:avLst>
              <a:gd name="adj" fmla="val 7273"/>
            </a:avLst>
          </a:prstGeom>
          <a:solidFill>
            <a:srgbClr val="F7F9FC"/>
          </a:solidFill>
          <a:ln w="12700">
            <a:solidFill>
              <a:srgbClr val="F7F9FC"/>
            </a:solidFill>
            <a:prstDash val="solid"/>
          </a:ln>
        </p:spPr>
      </p:sp>
      <p:sp>
        <p:nvSpPr>
          <p:cNvPr id="22" name="Text 18"/>
          <p:cNvSpPr txBox="1"/>
          <p:nvPr/>
        </p:nvSpPr>
        <p:spPr>
          <a:xfrm>
            <a:off x="777240" y="5230368"/>
            <a:ext cx="10607040" cy="868680"/>
          </a:xfrm>
          <a:prstGeom prst="rect">
            <a:avLst/>
          </a:prstGeom>
          <a:noFill/>
          <a:ln/>
        </p:spPr>
        <p:txBody>
          <a:bodyPr wrap="square" lIns="0" tIns="0" rIns="0" bIns="0" rtlCol="0" anchor="ctr"/>
          <a:lstStyle/>
          <a:p>
            <a:pPr indent="0" marL="0">
              <a:buNone/>
            </a:pPr>
            <a:r>
              <a:rPr lang="en-US" sz="1450" dirty="0">
                <a:solidFill>
                  <a:srgbClr val="14213D"/>
                </a:solidFill>
                <a:latin typeface="Calibri" pitchFamily="34" charset="0"/>
                <a:ea typeface="Calibri" pitchFamily="34" charset="-122"/>
                <a:cs typeface="Calibri" pitchFamily="34" charset="-120"/>
              </a:rPr>
              <a:t>Because (λ, Ψ) comes from stage 1 and A only, it is independent of the stage-2 noise. That keeps the error analysis and the intervals valid. ϑ measures how far the noisy Gram matrix is from singular.</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5: estimates and intervals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Everything here is post-processing at R: it costs no extra privacy budget</a:t>
            </a:r>
            <a:endParaRPr lang="en-US" sz="1600" dirty="0"/>
          </a:p>
        </p:txBody>
      </p:sp>
      <p:sp>
        <p:nvSpPr>
          <p:cNvPr id="4" name="Text 2"/>
          <p:cNvSpPr txBox="1"/>
          <p:nvPr/>
        </p:nvSpPr>
        <p:spPr>
          <a:xfrm>
            <a:off x="548640" y="1600200"/>
            <a:ext cx="5486400" cy="36576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Two targets</a:t>
            </a:r>
            <a:endParaRPr lang="en-US" sz="1800" dirty="0"/>
          </a:p>
        </p:txBody>
      </p:sp>
      <p:pic>
        <p:nvPicPr>
          <p:cNvPr id="5" name="Image 0" descr="/home/user/VerticalFederatedRegression/slides/assets/eq/estimands.png">    </p:cNvPr>
          <p:cNvPicPr>
            <a:picLocks noChangeAspect="1"/>
          </p:cNvPicPr>
          <p:nvPr/>
        </p:nvPicPr>
        <p:blipFill>
          <a:blip r:embed="rId1"/>
          <a:stretch>
            <a:fillRect/>
          </a:stretch>
        </p:blipFill>
        <p:spPr>
          <a:xfrm>
            <a:off x="548640" y="2057400"/>
            <a:ext cx="4335896" cy="315886"/>
          </a:xfrm>
          <a:prstGeom prst="rect">
            <a:avLst/>
          </a:prstGeom>
        </p:spPr>
      </p:pic>
      <p:sp>
        <p:nvSpPr>
          <p:cNvPr id="6" name="Text 3"/>
          <p:cNvSpPr txBox="1"/>
          <p:nvPr/>
        </p:nvSpPr>
        <p:spPr>
          <a:xfrm>
            <a:off x="548640" y="2606040"/>
            <a:ext cx="5669280" cy="685800"/>
          </a:xfrm>
          <a:prstGeom prst="rect">
            <a:avLst/>
          </a:prstGeom>
          <a:noFill/>
          <a:ln/>
        </p:spPr>
        <p:txBody>
          <a:bodyPr wrap="square" lIns="0" tIns="0" rIns="0" bIns="0" rtlCol="0" anchor="t"/>
          <a:lstStyle/>
          <a:p>
            <a:pPr indent="0" marL="0">
              <a:buNone/>
            </a:pPr>
            <a:r>
              <a:rPr lang="en-US" sz="1350" dirty="0">
                <a:solidFill>
                  <a:srgbClr val="5B6576"/>
                </a:solidFill>
                <a:latin typeface="Calibri" pitchFamily="34" charset="0"/>
                <a:ea typeface="Calibri" pitchFamily="34" charset="-122"/>
                <a:cs typeface="Calibri" pitchFamily="34" charset="-120"/>
              </a:rPr>
              <a:t>θ</a:t>
            </a:r>
            <a:r>
              <a:rPr lang="en-US" sz="1350" baseline="-25000" dirty="0">
                <a:solidFill>
                  <a:srgbClr val="5B6576"/>
                </a:solidFill>
                <a:latin typeface="Calibri" pitchFamily="34" charset="0"/>
                <a:ea typeface="Calibri" pitchFamily="34" charset="-122"/>
                <a:cs typeface="Calibri" pitchFamily="34" charset="-120"/>
              </a:rPr>
              <a:t>λ</a:t>
            </a:r>
            <a:r>
              <a:rPr lang="en-US" sz="1350" dirty="0">
                <a:solidFill>
                  <a:srgbClr val="5B6576"/>
                </a:solidFill>
                <a:latin typeface="Calibri" pitchFamily="34" charset="0"/>
                <a:ea typeface="Calibri" pitchFamily="34" charset="-122"/>
                <a:cs typeface="Calibri" pitchFamily="34" charset="-120"/>
              </a:rPr>
              <a:t> is what the protocol estimates directly (the ridge target on the clipped data); β is the least-squares coefficient.</a:t>
            </a:r>
            <a:endParaRPr lang="en-US" sz="1350" dirty="0"/>
          </a:p>
        </p:txBody>
      </p:sp>
      <p:sp>
        <p:nvSpPr>
          <p:cNvPr id="7" name="Shape 4"/>
          <p:cNvSpPr/>
          <p:nvPr/>
        </p:nvSpPr>
        <p:spPr>
          <a:xfrm>
            <a:off x="548640" y="3429000"/>
            <a:ext cx="5669280" cy="2743200"/>
          </a:xfrm>
          <a:prstGeom prst="roundRect">
            <a:avLst>
              <a:gd name="adj" fmla="val 2667"/>
            </a:avLst>
          </a:prstGeom>
          <a:solidFill>
            <a:srgbClr val="F7F9FC"/>
          </a:solidFill>
          <a:ln w="12700">
            <a:solidFill>
              <a:srgbClr val="F7F9FC"/>
            </a:solidFill>
            <a:prstDash val="solid"/>
          </a:ln>
        </p:spPr>
      </p:sp>
      <p:sp>
        <p:nvSpPr>
          <p:cNvPr id="8" name="Text 5"/>
          <p:cNvSpPr txBox="1"/>
          <p:nvPr/>
        </p:nvSpPr>
        <p:spPr>
          <a:xfrm>
            <a:off x="777240" y="3547872"/>
            <a:ext cx="530352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Parametric bootstrap of the noise</a:t>
            </a:r>
            <a:endParaRPr lang="en-US" sz="1500" dirty="0"/>
          </a:p>
        </p:txBody>
      </p:sp>
      <p:sp>
        <p:nvSpPr>
          <p:cNvPr id="9" name="Text 6"/>
          <p:cNvSpPr txBox="1"/>
          <p:nvPr/>
        </p:nvSpPr>
        <p:spPr>
          <a:xfrm>
            <a:off x="777240" y="3977640"/>
            <a:ext cx="5257800" cy="21488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R knows the noise distribution exactly, so it simulates many fresh noise draws around its release</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This gives the mechanism's covariance V</a:t>
            </a:r>
            <a:r>
              <a:rPr lang="en-US" sz="1350" baseline="-25000" dirty="0">
                <a:solidFill>
                  <a:srgbClr val="1F2937"/>
                </a:solidFill>
                <a:latin typeface="Calibri" pitchFamily="34" charset="0"/>
                <a:ea typeface="Calibri" pitchFamily="34" charset="-122"/>
                <a:cs typeface="Calibri" pitchFamily="34" charset="-120"/>
              </a:rPr>
              <a:t>mech</a:t>
            </a:r>
            <a:r>
              <a:rPr lang="en-US" sz="1350" dirty="0">
                <a:solidFill>
                  <a:srgbClr val="1F2937"/>
                </a:solidFill>
                <a:latin typeface="Calibri" pitchFamily="34" charset="0"/>
                <a:ea typeface="Calibri" pitchFamily="34" charset="-122"/>
                <a:cs typeface="Calibri" pitchFamily="34" charset="-120"/>
              </a:rPr>
              <a:t>, and corrects the residual sum of squares for the noise</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Add the usual sampling variance to get the total V</a:t>
            </a:r>
            <a:endParaRPr lang="en-US" sz="1350" dirty="0"/>
          </a:p>
        </p:txBody>
      </p:sp>
      <p:sp>
        <p:nvSpPr>
          <p:cNvPr id="10" name="Shape 7"/>
          <p:cNvSpPr/>
          <p:nvPr/>
        </p:nvSpPr>
        <p:spPr>
          <a:xfrm>
            <a:off x="6492240" y="1600200"/>
            <a:ext cx="5120640" cy="2148840"/>
          </a:xfrm>
          <a:prstGeom prst="roundRect">
            <a:avLst>
              <a:gd name="adj" fmla="val 3404"/>
            </a:avLst>
          </a:prstGeom>
          <a:solidFill>
            <a:srgbClr val="F6E3D6"/>
          </a:solidFill>
          <a:ln w="12700">
            <a:solidFill>
              <a:srgbClr val="F6E3D6"/>
            </a:solidFill>
            <a:prstDash val="solid"/>
          </a:ln>
        </p:spPr>
      </p:sp>
      <p:sp>
        <p:nvSpPr>
          <p:cNvPr id="11" name="Text 8"/>
          <p:cNvSpPr txBox="1"/>
          <p:nvPr/>
        </p:nvSpPr>
        <p:spPr>
          <a:xfrm>
            <a:off x="6720840" y="1709928"/>
            <a:ext cx="466344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Interval for θ</a:t>
            </a:r>
            <a:r>
              <a:rPr lang="en-US" sz="1500" b="1" baseline="-25000" dirty="0">
                <a:solidFill>
                  <a:srgbClr val="C45A0C"/>
                </a:solidFill>
                <a:latin typeface="Calibri" pitchFamily="34" charset="0"/>
                <a:ea typeface="Calibri" pitchFamily="34" charset="-122"/>
                <a:cs typeface="Calibri" pitchFamily="34" charset="-120"/>
              </a:rPr>
              <a:t>λ</a:t>
            </a:r>
            <a:r>
              <a:rPr lang="en-US" sz="1500" b="1" dirty="0">
                <a:solidFill>
                  <a:srgbClr val="C45A0C"/>
                </a:solidFill>
                <a:latin typeface="Calibri" pitchFamily="34" charset="0"/>
                <a:ea typeface="Calibri" pitchFamily="34" charset="-122"/>
                <a:cs typeface="Calibri" pitchFamily="34" charset="-120"/>
              </a:rPr>
              <a:t> (Wald)</a:t>
            </a:r>
            <a:endParaRPr lang="en-US" sz="1500" dirty="0"/>
          </a:p>
        </p:txBody>
      </p:sp>
      <p:pic>
        <p:nvPicPr>
          <p:cNvPr id="12" name="Image 1" descr="/home/user/VerticalFederatedRegression/slides/assets/eq/ci_theta.png">    </p:cNvPr>
          <p:cNvPicPr>
            <a:picLocks noChangeAspect="1"/>
          </p:cNvPicPr>
          <p:nvPr/>
        </p:nvPicPr>
        <p:blipFill>
          <a:blip r:embed="rId2"/>
          <a:stretch>
            <a:fillRect/>
          </a:stretch>
        </p:blipFill>
        <p:spPr>
          <a:xfrm>
            <a:off x="6720840" y="2240280"/>
            <a:ext cx="2481087" cy="464607"/>
          </a:xfrm>
          <a:prstGeom prst="rect">
            <a:avLst/>
          </a:prstGeom>
        </p:spPr>
      </p:pic>
      <p:sp>
        <p:nvSpPr>
          <p:cNvPr id="13" name="Text 9"/>
          <p:cNvSpPr txBox="1"/>
          <p:nvPr/>
        </p:nvSpPr>
        <p:spPr>
          <a:xfrm>
            <a:off x="6720840" y="3017520"/>
            <a:ext cx="4663440" cy="54864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Covers the protocol's own target at the nominal level.</a:t>
            </a:r>
            <a:endParaRPr lang="en-US" sz="1300" dirty="0"/>
          </a:p>
        </p:txBody>
      </p:sp>
      <p:sp>
        <p:nvSpPr>
          <p:cNvPr id="14" name="Shape 10"/>
          <p:cNvSpPr/>
          <p:nvPr/>
        </p:nvSpPr>
        <p:spPr>
          <a:xfrm>
            <a:off x="6492240" y="3931920"/>
            <a:ext cx="5120640" cy="2240280"/>
          </a:xfrm>
          <a:prstGeom prst="roundRect">
            <a:avLst>
              <a:gd name="adj" fmla="val 3265"/>
            </a:avLst>
          </a:prstGeom>
          <a:solidFill>
            <a:srgbClr val="F6E3D6"/>
          </a:solidFill>
          <a:ln w="12700">
            <a:solidFill>
              <a:srgbClr val="F6E3D6"/>
            </a:solidFill>
            <a:prstDash val="solid"/>
          </a:ln>
        </p:spPr>
      </p:sp>
      <p:sp>
        <p:nvSpPr>
          <p:cNvPr id="15" name="Text 11"/>
          <p:cNvSpPr txBox="1"/>
          <p:nvPr/>
        </p:nvSpPr>
        <p:spPr>
          <a:xfrm>
            <a:off x="6720840" y="4041648"/>
            <a:ext cx="466344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Interval for β (bias-aware)</a:t>
            </a:r>
            <a:endParaRPr lang="en-US" sz="1500" dirty="0"/>
          </a:p>
        </p:txBody>
      </p:sp>
      <p:pic>
        <p:nvPicPr>
          <p:cNvPr id="16" name="Image 2" descr="/home/user/VerticalFederatedRegression/slides/assets/eq/ci_beta.png">    </p:cNvPr>
          <p:cNvPicPr>
            <a:picLocks noChangeAspect="1"/>
          </p:cNvPicPr>
          <p:nvPr/>
        </p:nvPicPr>
        <p:blipFill>
          <a:blip r:embed="rId3"/>
          <a:stretch>
            <a:fillRect/>
          </a:stretch>
        </p:blipFill>
        <p:spPr>
          <a:xfrm>
            <a:off x="6720840" y="4526280"/>
            <a:ext cx="4092912" cy="284150"/>
          </a:xfrm>
          <a:prstGeom prst="rect">
            <a:avLst/>
          </a:prstGeom>
        </p:spPr>
      </p:pic>
      <p:sp>
        <p:nvSpPr>
          <p:cNvPr id="17" name="Text 12"/>
          <p:cNvSpPr txBox="1"/>
          <p:nvPr/>
        </p:nvSpPr>
        <p:spPr>
          <a:xfrm>
            <a:off x="6720840" y="5257800"/>
            <a:ext cx="4663440" cy="82296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Widened for the worst-case ridge bias (Armstrong, Kolesár and Kwon); needs a bound on ‖β‖.</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The whole protocol on one page</a:t>
            </a:r>
            <a:endParaRPr lang="en-US" sz="3200" dirty="0"/>
          </a:p>
        </p:txBody>
      </p:sp>
      <p:pic>
        <p:nvPicPr>
          <p:cNvPr id="3" name="Image 0" descr="/home/user/VerticalFederatedRegression/slides/assets/protocol_v31.png">    </p:cNvPr>
          <p:cNvPicPr>
            <a:picLocks noChangeAspect="1"/>
          </p:cNvPicPr>
          <p:nvPr/>
        </p:nvPicPr>
        <p:blipFill>
          <a:blip r:embed="rId1"/>
          <a:stretch>
            <a:fillRect/>
          </a:stretch>
        </p:blipFill>
        <p:spPr>
          <a:xfrm>
            <a:off x="3148435" y="1097280"/>
            <a:ext cx="5864649" cy="5577840"/>
          </a:xfrm>
          <a:prstGeom prst="rect">
            <a:avLst/>
          </a:prstGeom>
        </p:spPr>
      </p:pic>
      <p:sp>
        <p:nvSpPr>
          <p:cNvPr id="4" name="Text 1"/>
          <p:cNvSpPr txBox="1"/>
          <p:nvPr/>
        </p:nvSpPr>
        <p:spPr>
          <a:xfrm>
            <a:off x="548640" y="1188720"/>
            <a:ext cx="1737360" cy="1097280"/>
          </a:xfrm>
          <a:prstGeom prst="rect">
            <a:avLst/>
          </a:prstGeom>
          <a:noFill/>
          <a:ln/>
        </p:spPr>
        <p:txBody>
          <a:bodyPr wrap="square" lIns="0" tIns="0" rIns="0" bIns="0" rtlCol="0" anchor="t"/>
          <a:lstStyle/>
          <a:p>
            <a:pPr indent="0" marL="0">
              <a:buNone/>
            </a:pPr>
            <a:r>
              <a:rPr lang="en-US" sz="1250" i="1" dirty="0">
                <a:solidFill>
                  <a:srgbClr val="5B6576"/>
                </a:solidFill>
                <a:latin typeface="Calibri" pitchFamily="34" charset="0"/>
                <a:ea typeface="Calibri" pitchFamily="34" charset="-122"/>
                <a:cs typeface="Calibri" pitchFamily="34" charset="-120"/>
              </a:rPr>
              <a:t>Blue arrows: R to O. Orange arrows: O to R.</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4</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Guarantees</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What each party learns, and what is proven</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each party learns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Against honest-but-curious parties</a:t>
            </a:r>
            <a:endParaRPr lang="en-US" sz="1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a:tblGrid>
                <a:gridCol w="640080"/>
                <a:gridCol w="3108960"/>
                <a:gridCol w="3474720"/>
                <a:gridCol w="3840480"/>
              </a:tblGrid>
              <a:tr h="411480">
                <a:tc>
                  <a:txBody>
                    <a:bodyPr/>
                    <a:lstStyle/>
                    <a:p>
                      <a:pPr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Learns</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Does not learn</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914400">
                <a:tc>
                  <a:txBody>
                    <a:bodyPr/>
                    <a:lstStyle/>
                    <a:p>
                      <a:pPr indent="0" marL="0">
                        <a:buNone/>
                      </a:pPr>
                      <a:r>
                        <a:rPr lang="en-US" sz="1400" b="1" dirty="0">
                          <a:solidFill>
                            <a:srgbClr val="C45A0C"/>
                          </a:solidFill>
                          <a:latin typeface="Calibri" pitchFamily="34" charset="0"/>
                          <a:ea typeface="Calibri" pitchFamily="34" charset="-122"/>
                          <a:cs typeface="Calibri" pitchFamily="34" charset="-120"/>
                        </a:rPr>
                        <a:t>O</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The public sizes n</a:t>
                      </a:r>
                      <a:r>
                        <a:rPr lang="en-US" sz="1400" baseline="-25000" dirty="0">
                          <a:solidFill>
                            <a:srgbClr val="1F2937"/>
                          </a:solidFill>
                          <a:latin typeface="Calibri" pitchFamily="34" charset="0"/>
                          <a:ea typeface="Calibri" pitchFamily="34" charset="-122"/>
                          <a:cs typeface="Calibri" pitchFamily="34" charset="-120"/>
                        </a:rPr>
                        <a:t>R</a:t>
                      </a:r>
                      <a:r>
                        <a:rPr lang="en-US" sz="1400" baseline="30000" dirty="0">
                          <a:solidFill>
                            <a:srgbClr val="1F2937"/>
                          </a:solidFill>
                          <a:latin typeface="Calibri" pitchFamily="34" charset="0"/>
                          <a:ea typeface="Calibri" pitchFamily="34" charset="-122"/>
                          <a:cs typeface="Calibri" pitchFamily="34" charset="-120"/>
                        </a:rPr>
                        <a:t>max</a:t>
                      </a:r>
                      <a:r>
                        <a:rPr lang="en-US" sz="1400" dirty="0">
                          <a:solidFill>
                            <a:srgbClr val="1F2937"/>
                          </a:solidFill>
                          <a:latin typeface="Calibri" pitchFamily="34" charset="0"/>
                          <a:ea typeface="Calibri" pitchFamily="34" charset="-122"/>
                          <a:cs typeface="Calibri" pitchFamily="34" charset="-120"/>
                        </a:rPr>
                        <a:t> and n̄</a:t>
                      </a:r>
                      <a:r>
                        <a:rPr lang="en-US" sz="1400" baseline="-25000" dirty="0">
                          <a:solidFill>
                            <a:srgbClr val="1F2937"/>
                          </a:solidFill>
                          <a:latin typeface="Calibri" pitchFamily="34" charset="0"/>
                          <a:ea typeface="Calibri" pitchFamily="34" charset="-122"/>
                          <a:cs typeface="Calibri" pitchFamily="34" charset="-120"/>
                        </a:rPr>
                        <a:t>O</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R's features, who is in the cohort, or which of its rows match</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Ring-LWE in R's key share; PSI security; O never receives a decryption share from R</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914400">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Its own data; which of its cohort match; the DP-noised statistics</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Anything about one person's O-side data beyond (ε, δ)-DP</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Noise in O's decryption share; the release can be simulated from the noisy statistics (SIM-CDP)</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5" name="Shape 2"/>
          <p:cNvSpPr/>
          <p:nvPr/>
        </p:nvSpPr>
        <p:spPr>
          <a:xfrm>
            <a:off x="548640" y="4206240"/>
            <a:ext cx="5440680" cy="1965960"/>
          </a:xfrm>
          <a:prstGeom prst="roundRect">
            <a:avLst>
              <a:gd name="adj" fmla="val 3721"/>
            </a:avLst>
          </a:prstGeom>
          <a:solidFill>
            <a:srgbClr val="F7F9FC"/>
          </a:solidFill>
          <a:ln w="12700">
            <a:solidFill>
              <a:srgbClr val="F7F9FC"/>
            </a:solidFill>
            <a:prstDash val="solid"/>
          </a:ln>
        </p:spPr>
      </p:sp>
      <p:sp>
        <p:nvSpPr>
          <p:cNvPr id="6" name="Text 3"/>
          <p:cNvSpPr txBox="1"/>
          <p:nvPr/>
        </p:nvSpPr>
        <p:spPr>
          <a:xfrm>
            <a:off x="777240" y="4297680"/>
            <a:ext cx="502920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Assumed</a:t>
            </a:r>
            <a:endParaRPr lang="en-US" sz="1500" dirty="0"/>
          </a:p>
        </p:txBody>
      </p:sp>
      <p:sp>
        <p:nvSpPr>
          <p:cNvPr id="7" name="Text 4"/>
          <p:cNvSpPr txBox="1"/>
          <p:nvPr/>
        </p:nvSpPr>
        <p:spPr>
          <a:xfrm>
            <a:off x="777240" y="4709160"/>
            <a:ext cx="5029200" cy="1417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Both parties follow the protocol (honest-but-curious)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Ring-LWE; security of the PSI and of threshold key generation</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Private, authenticated channels</a:t>
            </a:r>
            <a:endParaRPr lang="en-US" sz="1400" dirty="0"/>
          </a:p>
        </p:txBody>
      </p:sp>
      <p:sp>
        <p:nvSpPr>
          <p:cNvPr id="8" name="Shape 5"/>
          <p:cNvSpPr/>
          <p:nvPr/>
        </p:nvSpPr>
        <p:spPr>
          <a:xfrm>
            <a:off x="6172200" y="4206240"/>
            <a:ext cx="5440680" cy="1965960"/>
          </a:xfrm>
          <a:prstGeom prst="roundRect">
            <a:avLst>
              <a:gd name="adj" fmla="val 3721"/>
            </a:avLst>
          </a:prstGeom>
          <a:solidFill>
            <a:srgbClr val="F6E3D6"/>
          </a:solidFill>
          <a:ln w="12700">
            <a:solidFill>
              <a:srgbClr val="F6E3D6"/>
            </a:solidFill>
            <a:prstDash val="solid"/>
          </a:ln>
        </p:spPr>
      </p:sp>
      <p:sp>
        <p:nvSpPr>
          <p:cNvPr id="9" name="Text 6"/>
          <p:cNvSpPr txBox="1"/>
          <p:nvPr/>
        </p:nvSpPr>
        <p:spPr>
          <a:xfrm>
            <a:off x="6400800" y="4297680"/>
            <a:ext cx="502920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Not covered</a:t>
            </a:r>
            <a:endParaRPr lang="en-US" sz="1500" dirty="0"/>
          </a:p>
        </p:txBody>
      </p:sp>
      <p:sp>
        <p:nvSpPr>
          <p:cNvPr id="10" name="Text 7"/>
          <p:cNvSpPr txBox="1"/>
          <p:nvPr/>
        </p:nvSpPr>
        <p:spPr>
          <a:xfrm>
            <a:off x="6400800" y="4709160"/>
            <a:ext cx="5029200" cy="1417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 researcher who deviates, e.g. skips clipping: needs zero-knowledge input proofs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Hiding match status from R: possible with circuit-PSI, at a higher sensitivity</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is proven</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A 47-page proofs appendix: cryptography and DP (part A), sensitivity and statistics (part B)</a:t>
            </a:r>
            <a:endParaRPr lang="en-US" sz="1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a:tblGrid>
                <a:gridCol w="4206240"/>
                <a:gridCol w="118872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Cryptography and DP</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Sensitivity of the encoded statistic</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Noise hides the encryption error (smudging), explicit constants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Worst-case encryption error B</a:t>
                      </a:r>
                      <a:r>
                        <a:rPr lang="en-US" sz="1200" baseline="-25000" dirty="0">
                          <a:solidFill>
                            <a:srgbClr val="1F2937"/>
                          </a:solidFill>
                          <a:latin typeface="Calibri" pitchFamily="34" charset="0"/>
                          <a:ea typeface="Calibri" pitchFamily="34" charset="-122"/>
                          <a:cs typeface="Calibri" pitchFamily="34" charset="-120"/>
                        </a:rPr>
                        <a:t>tot</a:t>
                      </a:r>
                      <a:r>
                        <a:rPr lang="en-US" sz="1200" dirty="0">
                          <a:solidFill>
                            <a:srgbClr val="1F2937"/>
                          </a:solidFill>
                          <a:latin typeface="Calibri" pitchFamily="34" charset="0"/>
                          <a:ea typeface="Calibri" pitchFamily="34" charset="-122"/>
                          <a:cs typeface="Calibri" pitchFamily="34" charset="-120"/>
                        </a:rPr>
                        <a:t> ≈ 2</a:t>
                      </a:r>
                      <a:r>
                        <a:rPr lang="en-US" sz="1200" baseline="30000" dirty="0">
                          <a:solidFill>
                            <a:srgbClr val="1F2937"/>
                          </a:solidFill>
                          <a:latin typeface="Calibri" pitchFamily="34" charset="0"/>
                          <a:ea typeface="Calibri" pitchFamily="34" charset="-122"/>
                          <a:cs typeface="Calibri" pitchFamily="34" charset="-120"/>
                        </a:rPr>
                        <a:t>25.3</a:t>
                      </a:r>
                      <a:r>
                        <a:rPr lang="en-US" sz="1200" dirty="0">
                          <a:solidFill>
                            <a:srgbClr val="1F2937"/>
                          </a:solidFill>
                          <a:latin typeface="Calibri" pitchFamily="34" charset="0"/>
                          <a:ea typeface="Calibri" pitchFamily="34" charset="-122"/>
                          <a:cs typeface="Calibri" pitchFamily="34" charset="-120"/>
                        </a:rPr>
                        <a:t>; OpenFHE measures 6–8 bits below it</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zCDP accounting; ρ</a:t>
                      </a:r>
                      <a:r>
                        <a:rPr lang="en-US" sz="1200" baseline="-25000" dirty="0">
                          <a:solidFill>
                            <a:srgbClr val="1F2937"/>
                          </a:solidFill>
                          <a:latin typeface="Calibri" pitchFamily="34" charset="0"/>
                          <a:ea typeface="Calibri" pitchFamily="34" charset="-122"/>
                          <a:cs typeface="Calibri" pitchFamily="34" charset="-120"/>
                        </a:rPr>
                        <a:t>run</a:t>
                      </a:r>
                      <a:r>
                        <a:rPr lang="en-US" sz="1200" dirty="0">
                          <a:solidFill>
                            <a:srgbClr val="1F2937"/>
                          </a:solidFill>
                          <a:latin typeface="Calibri" pitchFamily="34" charset="0"/>
                          <a:ea typeface="Calibri" pitchFamily="34" charset="-122"/>
                          <a:cs typeface="Calibri" pitchFamily="34" charset="-120"/>
                        </a:rPr>
                        <a:t> = 0.0150 at ε = 1, δ = 10</a:t>
                      </a:r>
                      <a:r>
                        <a:rPr lang="en-US" sz="1200" baseline="30000" dirty="0">
                          <a:solidFill>
                            <a:srgbClr val="1F2937"/>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Output privacy (SIM-CDP), by a sequence of hybrids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Input and cohort privacy; correctness without wraparound</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6217920" y="1600200"/>
          <a:ext cx="9144000" cy="914400"/>
        </p:xfrm>
        <a:graphic>
          <a:graphicData uri="http://schemas.openxmlformats.org/drawingml/2006/table">
            <a:tbl>
              <a:tblPr/>
              <a:tblGrid>
                <a:gridCol w="4206240"/>
                <a:gridCol w="118872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Sensitivity and statistics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Replace-one sensitivity, exact for d</a:t>
                      </a:r>
                      <a:r>
                        <a:rPr lang="en-US" sz="1200" baseline="-25000" dirty="0">
                          <a:solidFill>
                            <a:srgbClr val="1F2937"/>
                          </a:solidFill>
                          <a:latin typeface="Calibri" pitchFamily="34" charset="0"/>
                          <a:ea typeface="Calibri" pitchFamily="34" charset="-122"/>
                          <a:cs typeface="Calibri" pitchFamily="34" charset="-120"/>
                        </a:rPr>
                        <a:t>O</a:t>
                      </a:r>
                      <a:r>
                        <a:rPr lang="en-US" sz="1200" dirty="0">
                          <a:solidFill>
                            <a:srgbClr val="1F2937"/>
                          </a:solidFill>
                          <a:latin typeface="Calibri" pitchFamily="34" charset="0"/>
                          <a:ea typeface="Calibri" pitchFamily="34" charset="-122"/>
                          <a:cs typeface="Calibri" pitchFamily="34" charset="-120"/>
                        </a:rPr>
                        <a:t> ≥ 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When y</a:t>
                      </a:r>
                      <a:r>
                        <a:rPr lang="en-US" sz="1200" baseline="30000" dirty="0">
                          <a:solidFill>
                            <a:srgbClr val="1F2937"/>
                          </a:solidFill>
                          <a:latin typeface="Calibri" pitchFamily="34" charset="0"/>
                          <a:ea typeface="Calibri" pitchFamily="34" charset="-122"/>
                          <a:cs typeface="Calibri" pitchFamily="34" charset="-120"/>
                        </a:rPr>
                        <a:t>T</a:t>
                      </a:r>
                      <a:r>
                        <a:rPr lang="en-US" sz="1200" dirty="0">
                          <a:solidFill>
                            <a:srgbClr val="1F2937"/>
                          </a:solidFill>
                          <a:latin typeface="Calibri" pitchFamily="34" charset="0"/>
                          <a:ea typeface="Calibri" pitchFamily="34" charset="-122"/>
                          <a:cs typeface="Calibri" pitchFamily="34" charset="-120"/>
                        </a:rPr>
                        <a:t>y is free</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Stage-1 ridge choice independent of the stage-2 noise</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Lower bound on λ</a:t>
                      </a:r>
                      <a:r>
                        <a:rPr lang="en-US" sz="1200" baseline="-25000" dirty="0">
                          <a:solidFill>
                            <a:srgbClr val="1F2937"/>
                          </a:solidFill>
                          <a:latin typeface="Calibri" pitchFamily="34" charset="0"/>
                          <a:ea typeface="Calibri" pitchFamily="34" charset="-122"/>
                          <a:cs typeface="Calibri" pitchFamily="34" charset="-120"/>
                        </a:rPr>
                        <a:t>min</a:t>
                      </a:r>
                      <a:r>
                        <a:rPr lang="en-US" sz="1200" dirty="0">
                          <a:solidFill>
                            <a:srgbClr val="1F2937"/>
                          </a:solidFill>
                          <a:latin typeface="Calibri" pitchFamily="34" charset="0"/>
                          <a:ea typeface="Calibri" pitchFamily="34" charset="-122"/>
                          <a:cs typeface="Calibri" pitchFamily="34" charset="-120"/>
                        </a:rPr>
                        <a:t>(G) holds with probability ≥ 1 − α</a:t>
                      </a:r>
                      <a:r>
                        <a:rPr lang="en-US" sz="1200" baseline="-25000" dirty="0">
                          <a:solidFill>
                            <a:srgbClr val="1F2937"/>
                          </a:solidFill>
                          <a:latin typeface="Calibri" pitchFamily="34" charset="0"/>
                          <a:ea typeface="Calibri" pitchFamily="34" charset="-122"/>
                          <a:cs typeface="Calibri" pitchFamily="34" charset="-120"/>
                        </a:rPr>
                        <a:t>L</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Interval coverage (simulated: 0.944–0.962 against 0.955)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B7791F"/>
                          </a:solidFill>
                          <a:latin typeface="Calibri" pitchFamily="34" charset="0"/>
                          <a:ea typeface="Calibri" pitchFamily="34" charset="-122"/>
                          <a:cs typeface="Calibri" pitchFamily="34" charset="-120"/>
                        </a:rPr>
                        <a:t>First order</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Bootstrap correction of the residual sum of squares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B7791F"/>
                          </a:solidFill>
                          <a:latin typeface="Calibri" pitchFamily="34" charset="0"/>
                          <a:ea typeface="Calibri" pitchFamily="34" charset="-122"/>
                          <a:cs typeface="Calibri" pitchFamily="34" charset="-120"/>
                        </a:rPr>
                        <a:t>First order</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6" name="Shape 2"/>
          <p:cNvSpPr/>
          <p:nvPr/>
        </p:nvSpPr>
        <p:spPr>
          <a:xfrm>
            <a:off x="548640" y="5349240"/>
            <a:ext cx="11064240" cy="868680"/>
          </a:xfrm>
          <a:prstGeom prst="roundRect">
            <a:avLst>
              <a:gd name="adj" fmla="val 8421"/>
            </a:avLst>
          </a:prstGeom>
          <a:solidFill>
            <a:srgbClr val="F7F9FC"/>
          </a:solidFill>
          <a:ln w="12700">
            <a:solidFill>
              <a:srgbClr val="F7F9FC"/>
            </a:solidFill>
            <a:prstDash val="solid"/>
          </a:ln>
        </p:spPr>
      </p:sp>
      <p:sp>
        <p:nvSpPr>
          <p:cNvPr id="7" name="Text 3"/>
          <p:cNvSpPr txBox="1"/>
          <p:nvPr/>
        </p:nvSpPr>
        <p:spPr>
          <a:xfrm>
            <a:off x="777240" y="5440680"/>
            <a:ext cx="10607040" cy="685800"/>
          </a:xfrm>
          <a:prstGeom prst="rect">
            <a:avLst/>
          </a:prstGeom>
          <a:noFill/>
          <a:ln/>
        </p:spPr>
        <p:txBody>
          <a:bodyPr wrap="square" lIns="0" tIns="0" rIns="0" bIns="0" rtlCol="0" anchor="ctr"/>
          <a:lstStyle/>
          <a:p>
            <a:pPr indent="0" marL="0">
              <a:buNone/>
            </a:pPr>
            <a:r>
              <a:rPr lang="en-US" sz="1350" b="1" dirty="0">
                <a:solidFill>
                  <a:srgbClr val="C45A0C"/>
                </a:solidFill>
                <a:latin typeface="Calibri" pitchFamily="34" charset="0"/>
                <a:ea typeface="Calibri" pitchFamily="34" charset="-122"/>
                <a:cs typeface="Calibri" pitchFamily="34" charset="-120"/>
              </a:rPr>
              <a:t>Still open:  </a:t>
            </a:r>
            <a:r>
              <a:rPr lang="en-US" sz="1350" dirty="0">
                <a:solidFill>
                  <a:srgbClr val="1F2937"/>
                </a:solidFill>
                <a:latin typeface="Calibri" pitchFamily="34" charset="0"/>
                <a:ea typeface="Calibri" pitchFamily="34" charset="-122"/>
                <a:cs typeface="Calibri" pitchFamily="34" charset="-120"/>
              </a:rPr>
              <a:t>proofs for the improved circuit; composition across adaptive runs; a constant-time exact noise sampler; exact modulus sizes; heteroskedasticity when clipping binds.</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Why the CKKS scale has to be large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Hiding the encryption error statistically costs about 40 extra bits</a:t>
            </a:r>
            <a:endParaRPr lang="en-US" sz="1600" dirty="0"/>
          </a:p>
        </p:txBody>
      </p:sp>
      <p:pic>
        <p:nvPicPr>
          <p:cNvPr id="4" name="Image 0" descr="/home/user/VerticalFederatedRegression/slides/assets/eq/smudge.png">    </p:cNvPr>
          <p:cNvPicPr>
            <a:picLocks noChangeAspect="1"/>
          </p:cNvPicPr>
          <p:nvPr/>
        </p:nvPicPr>
        <p:blipFill>
          <a:blip r:embed="rId1"/>
          <a:stretch>
            <a:fillRect/>
          </a:stretch>
        </p:blipFill>
        <p:spPr>
          <a:xfrm>
            <a:off x="548640" y="1600200"/>
            <a:ext cx="5137716" cy="586153"/>
          </a:xfrm>
          <a:prstGeom prst="rect">
            <a:avLst/>
          </a:prstGeom>
        </p:spPr>
      </p:pic>
      <p:pic>
        <p:nvPicPr>
          <p:cNvPr id="5" name="Image 1" descr="/home/user/VerticalFederatedRegression/slides/assets/eq/sigma_slot.png">    </p:cNvPr>
          <p:cNvPicPr>
            <a:picLocks noChangeAspect="1"/>
          </p:cNvPicPr>
          <p:nvPr/>
        </p:nvPicPr>
        <p:blipFill>
          <a:blip r:embed="rId2"/>
          <a:stretch>
            <a:fillRect/>
          </a:stretch>
        </p:blipFill>
        <p:spPr>
          <a:xfrm>
            <a:off x="548640" y="2377440"/>
            <a:ext cx="1803037" cy="327950"/>
          </a:xfrm>
          <a:prstGeom prst="rect">
            <a:avLst/>
          </a:prstGeom>
        </p:spPr>
      </p:pic>
      <p:sp>
        <p:nvSpPr>
          <p:cNvPr id="6" name="Text 2"/>
          <p:cNvSpPr txBox="1"/>
          <p:nvPr/>
        </p:nvSpPr>
        <p:spPr>
          <a:xfrm>
            <a:off x="548640" y="2880360"/>
            <a:ext cx="6400800" cy="73152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The privacy budget fixes the noise σ</a:t>
            </a:r>
            <a:r>
              <a:rPr lang="en-US" sz="1450" baseline="-25000" dirty="0">
                <a:solidFill>
                  <a:srgbClr val="1F2937"/>
                </a:solidFill>
                <a:latin typeface="Calibri" pitchFamily="34" charset="0"/>
                <a:ea typeface="Calibri" pitchFamily="34" charset="-122"/>
                <a:cs typeface="Calibri" pitchFamily="34" charset="-120"/>
              </a:rPr>
              <a:t>2</a:t>
            </a:r>
            <a:r>
              <a:rPr lang="en-US" sz="1450" dirty="0">
                <a:solidFill>
                  <a:srgbClr val="1F2937"/>
                </a:solidFill>
                <a:latin typeface="Calibri" pitchFamily="34" charset="0"/>
                <a:ea typeface="Calibri" pitchFamily="34" charset="-122"/>
                <a:cs typeface="Calibri" pitchFamily="34" charset="-120"/>
              </a:rPr>
              <a:t> seen in the statistics. So the scale Ω must be large enough that η is also 2</a:t>
            </a:r>
            <a:r>
              <a:rPr lang="en-US" sz="1450" baseline="30000" dirty="0">
                <a:solidFill>
                  <a:srgbClr val="1F2937"/>
                </a:solidFill>
                <a:latin typeface="Calibri" pitchFamily="34" charset="0"/>
                <a:ea typeface="Calibri" pitchFamily="34" charset="-122"/>
                <a:cs typeface="Calibri" pitchFamily="34" charset="-120"/>
              </a:rPr>
              <a:t>40</a:t>
            </a:r>
            <a:r>
              <a:rPr lang="en-US" sz="1450" dirty="0">
                <a:solidFill>
                  <a:srgbClr val="1F2937"/>
                </a:solidFill>
                <a:latin typeface="Calibri" pitchFamily="34" charset="0"/>
                <a:ea typeface="Calibri" pitchFamily="34" charset="-122"/>
                <a:cs typeface="Calibri" pitchFamily="34" charset="-120"/>
              </a:rPr>
              <a:t> times the error:</a:t>
            </a:r>
            <a:endParaRPr lang="en-US" sz="1450" dirty="0"/>
          </a:p>
        </p:txBody>
      </p:sp>
      <p:pic>
        <p:nvPicPr>
          <p:cNvPr id="7" name="Image 2" descr="/home/user/VerticalFederatedRegression/slides/assets/eq/scale.png">    </p:cNvPr>
          <p:cNvPicPr>
            <a:picLocks noChangeAspect="1"/>
          </p:cNvPicPr>
          <p:nvPr/>
        </p:nvPicPr>
        <p:blipFill>
          <a:blip r:embed="rId3"/>
          <a:stretch>
            <a:fillRect/>
          </a:stretch>
        </p:blipFill>
        <p:spPr>
          <a:xfrm>
            <a:off x="548640" y="3703320"/>
            <a:ext cx="5980948" cy="582574"/>
          </a:xfrm>
          <a:prstGeom prst="rect">
            <a:avLst/>
          </a:prstGeom>
        </p:spPr>
      </p:pic>
      <p:sp>
        <p:nvSpPr>
          <p:cNvPr id="8" name="Text 3"/>
          <p:cNvSpPr txBox="1"/>
          <p:nvPr/>
        </p:nvSpPr>
        <p:spPr>
          <a:xfrm>
            <a:off x="548640" y="4526280"/>
            <a:ext cx="6400800" cy="365760"/>
          </a:xfrm>
          <a:prstGeom prst="rect">
            <a:avLst/>
          </a:prstGeom>
          <a:noFill/>
          <a:ln/>
        </p:spPr>
        <p:txBody>
          <a:bodyPr wrap="square" lIns="0" tIns="0" rIns="0" bIns="0" rtlCol="0" anchor="t"/>
          <a:lstStyle/>
          <a:p>
            <a:pPr indent="0" marL="0">
              <a:buNone/>
            </a:pPr>
            <a:r>
              <a:rPr lang="en-US" sz="1250" i="1" dirty="0">
                <a:solidFill>
                  <a:srgbClr val="5B6576"/>
                </a:solidFill>
                <a:latin typeface="Calibri" pitchFamily="34" charset="0"/>
                <a:ea typeface="Calibri" pitchFamily="34" charset="-122"/>
                <a:cs typeface="Calibri" pitchFamily="34" charset="-120"/>
              </a:rPr>
              <a:t>Example: ε = 1, δ = 10</a:t>
            </a:r>
            <a:r>
              <a:rPr lang="en-US" sz="1250" i="1" baseline="30000" dirty="0">
                <a:solidFill>
                  <a:srgbClr val="5B6576"/>
                </a:solidFill>
                <a:latin typeface="Calibri" pitchFamily="34" charset="0"/>
                <a:ea typeface="Calibri" pitchFamily="34" charset="-122"/>
                <a:cs typeface="Calibri" pitchFamily="34" charset="-120"/>
              </a:rPr>
              <a:t>−9</a:t>
            </a:r>
            <a:r>
              <a:rPr lang="en-US" sz="1250" i="1" dirty="0">
                <a:solidFill>
                  <a:srgbClr val="5B6576"/>
                </a:solidFill>
                <a:latin typeface="Calibri" pitchFamily="34" charset="0"/>
                <a:ea typeface="Calibri" pitchFamily="34" charset="-122"/>
                <a:cs typeface="Calibri" pitchFamily="34" charset="-120"/>
              </a:rPr>
              <a:t>, N = 2</a:t>
            </a:r>
            <a:r>
              <a:rPr lang="en-US" sz="1250" i="1" baseline="30000" dirty="0">
                <a:solidFill>
                  <a:srgbClr val="5B6576"/>
                </a:solidFill>
                <a:latin typeface="Calibri" pitchFamily="34" charset="0"/>
                <a:ea typeface="Calibri" pitchFamily="34" charset="-122"/>
                <a:cs typeface="Calibri" pitchFamily="34" charset="-120"/>
              </a:rPr>
              <a:t>14</a:t>
            </a:r>
            <a:r>
              <a:rPr lang="en-US" sz="1250" i="1" dirty="0">
                <a:solidFill>
                  <a:srgbClr val="5B6576"/>
                </a:solidFill>
                <a:latin typeface="Calibri" pitchFamily="34" charset="0"/>
                <a:ea typeface="Calibri" pitchFamily="34" charset="-122"/>
                <a:cs typeface="Calibri" pitchFamily="34" charset="-120"/>
              </a:rPr>
              <a:t>, simulation bounds (σ</a:t>
            </a:r>
            <a:r>
              <a:rPr lang="en-US" sz="1250" i="1" baseline="-25000" dirty="0">
                <a:solidFill>
                  <a:srgbClr val="5B6576"/>
                </a:solidFill>
                <a:latin typeface="Calibri" pitchFamily="34" charset="0"/>
                <a:ea typeface="Calibri" pitchFamily="34" charset="-122"/>
                <a:cs typeface="Calibri" pitchFamily="34" charset="-120"/>
              </a:rPr>
              <a:t>2</a:t>
            </a:r>
            <a:r>
              <a:rPr lang="en-US" sz="1250" i="1" dirty="0">
                <a:solidFill>
                  <a:srgbClr val="5B6576"/>
                </a:solidFill>
                <a:latin typeface="Calibri" pitchFamily="34" charset="0"/>
                <a:ea typeface="Calibri" pitchFamily="34" charset="-122"/>
                <a:cs typeface="Calibri" pitchFamily="34" charset="-120"/>
              </a:rPr>
              <a:t> = 525).</a:t>
            </a:r>
            <a:endParaRPr lang="en-US" sz="12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269480" y="1600200"/>
          <a:ext cx="9144000" cy="914400"/>
        </p:xfrm>
        <a:graphic>
          <a:graphicData uri="http://schemas.openxmlformats.org/drawingml/2006/table">
            <a:tbl>
              <a:tblPr/>
              <a:tblGrid>
                <a:gridCol w="2743200"/>
                <a:gridCol w="822960"/>
                <a:gridCol w="777240"/>
              </a:tblGrid>
              <a:tr h="41148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Circuit</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B</a:t>
                      </a:r>
                      <a:r>
                        <a:rPr lang="en-US" sz="1250" b="1" baseline="-25000" dirty="0">
                          <a:solidFill>
                            <a:srgbClr val="FFFFFF"/>
                          </a:solidFill>
                          <a:latin typeface="Calibri" pitchFamily="34" charset="0"/>
                          <a:ea typeface="Calibri" pitchFamily="34" charset="-122"/>
                          <a:cs typeface="Calibri" pitchFamily="34" charset="-120"/>
                        </a:rPr>
                        <a:t>tot</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log</a:t>
                      </a:r>
                      <a:r>
                        <a:rPr lang="en-US" sz="1250" b="1" baseline="-25000" dirty="0">
                          <a:solidFill>
                            <a:srgbClr val="FFFFFF"/>
                          </a:solidFill>
                          <a:latin typeface="Calibri" pitchFamily="34" charset="0"/>
                          <a:ea typeface="Calibri" pitchFamily="34" charset="-122"/>
                          <a:cs typeface="Calibri" pitchFamily="34" charset="-120"/>
                        </a:rPr>
                        <a:t>2</a:t>
                      </a:r>
                      <a:r>
                        <a:rPr lang="en-US" sz="1250" b="1" dirty="0">
                          <a:solidFill>
                            <a:srgbClr val="FFFFFF"/>
                          </a:solidFill>
                          <a:latin typeface="Calibri" pitchFamily="34" charset="0"/>
                          <a:ea typeface="Calibri" pitchFamily="34" charset="-122"/>
                          <a:cs typeface="Calibri" pitchFamily="34" charset="-120"/>
                        </a:rPr>
                        <a:t> Ω</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41148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As specified</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a:t>
                      </a:r>
                      <a:r>
                        <a:rPr lang="en-US" sz="1250" baseline="30000" dirty="0">
                          <a:solidFill>
                            <a:srgbClr val="1F2937"/>
                          </a:solidFill>
                          <a:latin typeface="Calibri" pitchFamily="34" charset="0"/>
                          <a:ea typeface="Calibri" pitchFamily="34" charset="-122"/>
                          <a:cs typeface="Calibri" pitchFamily="34" charset="-120"/>
                        </a:rPr>
                        <a:t>25.3</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61.5</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1148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Sum before the first rescale; stochastic rounding; one final rescale</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a:t>
                      </a:r>
                      <a:r>
                        <a:rPr lang="en-US" sz="1250" baseline="30000" dirty="0">
                          <a:solidFill>
                            <a:srgbClr val="1F2937"/>
                          </a:solidFill>
                          <a:latin typeface="Calibri" pitchFamily="34" charset="0"/>
                          <a:ea typeface="Calibri" pitchFamily="34" charset="-122"/>
                          <a:cs typeface="Calibri" pitchFamily="34" charset="-120"/>
                        </a:rPr>
                        <a:t>21.1</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57.2</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1148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Same, with R encoding at scale 2</a:t>
                      </a:r>
                      <a:r>
                        <a:rPr lang="en-US" sz="1250" baseline="30000" dirty="0">
                          <a:solidFill>
                            <a:srgbClr val="1F2937"/>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a:t>
                      </a:r>
                      <a:r>
                        <a:rPr lang="en-US" sz="1250" baseline="30000" dirty="0">
                          <a:solidFill>
                            <a:srgbClr val="1F2937"/>
                          </a:solidFill>
                          <a:latin typeface="Calibri" pitchFamily="34" charset="0"/>
                          <a:ea typeface="Calibri" pitchFamily="34" charset="-122"/>
                          <a:cs typeface="Calibri" pitchFamily="34" charset="-120"/>
                        </a:rPr>
                        <a:t>17.6</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53.7</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10" name="Shape 4"/>
          <p:cNvSpPr/>
          <p:nvPr/>
        </p:nvSpPr>
        <p:spPr>
          <a:xfrm>
            <a:off x="7269480" y="3886200"/>
            <a:ext cx="4343400" cy="2286000"/>
          </a:xfrm>
          <a:prstGeom prst="roundRect">
            <a:avLst>
              <a:gd name="adj" fmla="val 3200"/>
            </a:avLst>
          </a:prstGeom>
          <a:solidFill>
            <a:srgbClr val="F6E3D6"/>
          </a:solidFill>
          <a:ln w="12700">
            <a:solidFill>
              <a:srgbClr val="F6E3D6"/>
            </a:solidFill>
            <a:prstDash val="solid"/>
          </a:ln>
        </p:spPr>
      </p:sp>
      <p:sp>
        <p:nvSpPr>
          <p:cNvPr id="11" name="Text 5"/>
          <p:cNvSpPr txBox="1"/>
          <p:nvPr/>
        </p:nvSpPr>
        <p:spPr>
          <a:xfrm>
            <a:off x="7498080" y="3977640"/>
            <a:ext cx="3931920" cy="594360"/>
          </a:xfrm>
          <a:prstGeom prst="rect">
            <a:avLst/>
          </a:prstGeom>
          <a:noFill/>
          <a:ln/>
        </p:spPr>
        <p:txBody>
          <a:bodyPr wrap="square" lIns="0" tIns="0" rIns="0" bIns="0" rtlCol="0" anchor="t"/>
          <a:lstStyle/>
          <a:p>
            <a:pPr indent="0" marL="0">
              <a:buNone/>
            </a:pPr>
            <a:r>
              <a:rPr lang="en-US" sz="2800" b="1" dirty="0">
                <a:solidFill>
                  <a:srgbClr val="C45A0C"/>
                </a:solidFill>
                <a:latin typeface="Cambria" pitchFamily="34" charset="0"/>
                <a:ea typeface="Cambria" pitchFamily="34" charset="-122"/>
                <a:cs typeface="Cambria" pitchFamily="34" charset="-120"/>
              </a:rPr>
              <a:t>2</a:t>
            </a:r>
            <a:r>
              <a:rPr lang="en-US" sz="2800" b="1" baseline="30000" dirty="0">
                <a:solidFill>
                  <a:srgbClr val="C45A0C"/>
                </a:solidFill>
                <a:latin typeface="Cambria" pitchFamily="34" charset="0"/>
                <a:ea typeface="Cambria" pitchFamily="34" charset="-122"/>
                <a:cs typeface="Cambria" pitchFamily="34" charset="-120"/>
              </a:rPr>
              <a:t>14.0</a:t>
            </a:r>
            <a:r>
              <a:rPr lang="en-US" sz="2800" b="1" dirty="0">
                <a:solidFill>
                  <a:srgbClr val="C45A0C"/>
                </a:solidFill>
                <a:latin typeface="Cambria" pitchFamily="34" charset="0"/>
                <a:ea typeface="Cambria" pitchFamily="34" charset="-122"/>
                <a:cs typeface="Cambria" pitchFamily="34" charset="-120"/>
              </a:rPr>
              <a:t>–2</a:t>
            </a:r>
            <a:r>
              <a:rPr lang="en-US" sz="2800" b="1" baseline="30000" dirty="0">
                <a:solidFill>
                  <a:srgbClr val="C45A0C"/>
                </a:solidFill>
                <a:latin typeface="Cambria" pitchFamily="34" charset="0"/>
                <a:ea typeface="Cambria" pitchFamily="34" charset="-122"/>
                <a:cs typeface="Cambria" pitchFamily="34" charset="-120"/>
              </a:rPr>
              <a:t>15.7</a:t>
            </a:r>
            <a:endParaRPr lang="en-US" sz="2800" dirty="0"/>
          </a:p>
        </p:txBody>
      </p:sp>
      <p:sp>
        <p:nvSpPr>
          <p:cNvPr id="12" name="Text 6"/>
          <p:cNvSpPr txBox="1"/>
          <p:nvPr/>
        </p:nvSpPr>
        <p:spPr>
          <a:xfrm>
            <a:off x="7498080" y="4572000"/>
            <a:ext cx="3931920" cy="155448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measured error in OpenFHE for the same circuit shape, against a worst-case bound of 2</a:t>
            </a:r>
            <a:r>
              <a:rPr lang="en-US" sz="1300" baseline="30000" dirty="0">
                <a:solidFill>
                  <a:srgbClr val="1F2937"/>
                </a:solidFill>
                <a:latin typeface="Calibri" pitchFamily="34" charset="0"/>
                <a:ea typeface="Calibri" pitchFamily="34" charset="-122"/>
                <a:cs typeface="Calibri" pitchFamily="34" charset="-120"/>
              </a:rPr>
              <a:t>21.9</a:t>
            </a:r>
            <a:r>
              <a:rPr lang="en-US" sz="1300" dirty="0">
                <a:solidFill>
                  <a:srgbClr val="1F2937"/>
                </a:solidFill>
                <a:latin typeface="Calibri" pitchFamily="34" charset="0"/>
                <a:ea typeface="Calibri" pitchFamily="34" charset="-122"/>
                <a:cs typeface="Calibri" pitchFamily="34" charset="-120"/>
              </a:rPr>
              <a:t>. O must calibrate from the worst-case bound, never from the observed error, which depends on the data.</a:t>
            </a:r>
            <a:endParaRPr lang="en-US" sz="1300" dirty="0"/>
          </a:p>
        </p:txBody>
      </p:sp>
      <p:sp>
        <p:nvSpPr>
          <p:cNvPr id="13" name="Text 7"/>
          <p:cNvSpPr txBox="1"/>
          <p:nvPr/>
        </p:nvSpPr>
        <p:spPr>
          <a:xfrm>
            <a:off x="548640" y="5120640"/>
            <a:ext cx="6400800" cy="731520"/>
          </a:xfrm>
          <a:prstGeom prst="rect">
            <a:avLst/>
          </a:prstGeom>
          <a:noFill/>
          <a:ln/>
        </p:spPr>
        <p:txBody>
          <a:bodyPr wrap="square" lIns="0" tIns="0" rIns="0" bIns="0" rtlCol="0" anchor="t"/>
          <a:lstStyle/>
          <a:p>
            <a:pPr indent="0" marL="0">
              <a:buNone/>
            </a:pPr>
            <a:r>
              <a:rPr lang="en-US" sz="1350" dirty="0">
                <a:solidFill>
                  <a:srgbClr val="14213D"/>
                </a:solidFill>
                <a:latin typeface="Calibri" pitchFamily="34" charset="0"/>
                <a:ea typeface="Calibri" pitchFamily="34" charset="-122"/>
                <a:cs typeface="Calibri" pitchFamily="34" charset="-120"/>
              </a:rPr>
              <a:t>Larger scales mean larger moduli; exact parameter sets are still to be fixed.</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5</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Choosing parameters</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From a privacy budget to noise, ridge and the sample size needed</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From ε to σ and λ</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Every input is public and fixed before any data are seen</a:t>
            </a:r>
            <a:endParaRPr lang="en-US" sz="1600" dirty="0"/>
          </a:p>
        </p:txBody>
      </p:sp>
      <p:sp>
        <p:nvSpPr>
          <p:cNvPr id="4" name="Shape 2"/>
          <p:cNvSpPr/>
          <p:nvPr/>
        </p:nvSpPr>
        <p:spPr>
          <a:xfrm>
            <a:off x="868680" y="1783080"/>
            <a:ext cx="8961120" cy="0"/>
          </a:xfrm>
          <a:prstGeom prst="line">
            <a:avLst/>
          </a:prstGeom>
          <a:noFill/>
          <a:ln w="25400">
            <a:solidFill>
              <a:srgbClr val="C9D3E0"/>
            </a:solidFill>
            <a:prstDash val="solid"/>
          </a:ln>
        </p:spPr>
      </p:sp>
      <p:sp>
        <p:nvSpPr>
          <p:cNvPr id="5" name="Shape 3"/>
          <p:cNvSpPr/>
          <p:nvPr/>
        </p:nvSpPr>
        <p:spPr>
          <a:xfrm>
            <a:off x="548640" y="1463040"/>
            <a:ext cx="640080" cy="640080"/>
          </a:xfrm>
          <a:prstGeom prst="ellipse">
            <a:avLst/>
          </a:prstGeom>
          <a:solidFill>
            <a:srgbClr val="14213D"/>
          </a:solidFill>
          <a:ln w="12700">
            <a:solidFill>
              <a:srgbClr val="14213D"/>
            </a:solidFill>
            <a:prstDash val="solid"/>
          </a:ln>
        </p:spPr>
      </p:sp>
      <p:sp>
        <p:nvSpPr>
          <p:cNvPr id="6" name="Text 4"/>
          <p:cNvSpPr txBox="1"/>
          <p:nvPr/>
        </p:nvSpPr>
        <p:spPr>
          <a:xfrm>
            <a:off x="54864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98448" y="1572768"/>
            <a:ext cx="13716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δ</a:t>
            </a:r>
            <a:endParaRPr lang="en-US" sz="1800" dirty="0"/>
          </a:p>
        </p:txBody>
      </p:sp>
      <p:sp>
        <p:nvSpPr>
          <p:cNvPr id="8" name="Shape 6"/>
          <p:cNvSpPr/>
          <p:nvPr/>
        </p:nvSpPr>
        <p:spPr>
          <a:xfrm>
            <a:off x="548640" y="2286000"/>
            <a:ext cx="2103120" cy="1965960"/>
          </a:xfrm>
          <a:prstGeom prst="roundRect">
            <a:avLst>
              <a:gd name="adj" fmla="val 3721"/>
            </a:avLst>
          </a:prstGeom>
          <a:solidFill>
            <a:srgbClr val="EEF2F7"/>
          </a:solidFill>
          <a:ln w="12700">
            <a:solidFill>
              <a:srgbClr val="EEF2F7"/>
            </a:solidFill>
            <a:prstDash val="solid"/>
          </a:ln>
        </p:spPr>
      </p:sp>
      <p:pic>
        <p:nvPicPr>
          <p:cNvPr id="9" name="Image 0" descr="/home/user/VerticalFederatedRegression/slides/assets/eq/cal_delta.png">    </p:cNvPr>
          <p:cNvPicPr>
            <a:picLocks noChangeAspect="1"/>
          </p:cNvPicPr>
          <p:nvPr/>
        </p:nvPicPr>
        <p:blipFill>
          <a:blip r:embed="rId1"/>
          <a:stretch>
            <a:fillRect/>
          </a:stretch>
        </p:blipFill>
        <p:spPr>
          <a:xfrm>
            <a:off x="685800" y="2423160"/>
            <a:ext cx="1082916" cy="227743"/>
          </a:xfrm>
          <a:prstGeom prst="rect">
            <a:avLst/>
          </a:prstGeom>
        </p:spPr>
      </p:pic>
      <p:sp>
        <p:nvSpPr>
          <p:cNvPr id="10" name="Text 7"/>
          <p:cNvSpPr txBox="1"/>
          <p:nvPr/>
        </p:nvSpPr>
        <p:spPr>
          <a:xfrm>
            <a:off x="685800" y="3337560"/>
            <a:ext cx="1828800" cy="868680"/>
          </a:xfrm>
          <a:prstGeom prst="rect">
            <a:avLst/>
          </a:prstGeom>
          <a:noFill/>
          <a:ln/>
        </p:spPr>
        <p:txBody>
          <a:bodyPr wrap="square" lIns="0" tIns="0" rIns="0" bIns="0" rtlCol="0" anchor="t"/>
          <a:lstStyle/>
          <a:p>
            <a:pPr indent="0" marL="0">
              <a:buNone/>
            </a:pPr>
            <a:r>
              <a:rPr lang="en-US" sz="1150" dirty="0">
                <a:solidFill>
                  <a:srgbClr val="5B6576"/>
                </a:solidFill>
                <a:latin typeface="Calibri" pitchFamily="34" charset="0"/>
                <a:ea typeface="Calibri" pitchFamily="34" charset="-122"/>
                <a:cs typeface="Calibri" pitchFamily="34" charset="-120"/>
              </a:rPr>
              <a:t>N = people O protects. Smaller δ costs little (next slide)</a:t>
            </a:r>
            <a:endParaRPr lang="en-US" sz="1150" dirty="0"/>
          </a:p>
        </p:txBody>
      </p:sp>
      <p:sp>
        <p:nvSpPr>
          <p:cNvPr id="11" name="Shape 8"/>
          <p:cNvSpPr/>
          <p:nvPr/>
        </p:nvSpPr>
        <p:spPr>
          <a:xfrm>
            <a:off x="2788920" y="1463040"/>
            <a:ext cx="640080" cy="640080"/>
          </a:xfrm>
          <a:prstGeom prst="ellipse">
            <a:avLst/>
          </a:prstGeom>
          <a:solidFill>
            <a:srgbClr val="14213D"/>
          </a:solidFill>
          <a:ln w="12700">
            <a:solidFill>
              <a:srgbClr val="14213D"/>
            </a:solidFill>
            <a:prstDash val="solid"/>
          </a:ln>
        </p:spPr>
      </p:sp>
      <p:sp>
        <p:nvSpPr>
          <p:cNvPr id="12" name="Text 9"/>
          <p:cNvSpPr txBox="1"/>
          <p:nvPr/>
        </p:nvSpPr>
        <p:spPr>
          <a:xfrm>
            <a:off x="278892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0"/>
          <p:cNvSpPr txBox="1"/>
          <p:nvPr/>
        </p:nvSpPr>
        <p:spPr>
          <a:xfrm>
            <a:off x="3538728" y="1572768"/>
            <a:ext cx="13716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Budget</a:t>
            </a:r>
            <a:endParaRPr lang="en-US" sz="1800" dirty="0"/>
          </a:p>
        </p:txBody>
      </p:sp>
      <p:sp>
        <p:nvSpPr>
          <p:cNvPr id="14" name="Shape 11"/>
          <p:cNvSpPr/>
          <p:nvPr/>
        </p:nvSpPr>
        <p:spPr>
          <a:xfrm>
            <a:off x="2788920" y="2286000"/>
            <a:ext cx="2103120" cy="1965960"/>
          </a:xfrm>
          <a:prstGeom prst="roundRect">
            <a:avLst>
              <a:gd name="adj" fmla="val 3721"/>
            </a:avLst>
          </a:prstGeom>
          <a:solidFill>
            <a:srgbClr val="EEF2F7"/>
          </a:solidFill>
          <a:ln w="12700">
            <a:solidFill>
              <a:srgbClr val="EEF2F7"/>
            </a:solidFill>
            <a:prstDash val="solid"/>
          </a:ln>
        </p:spPr>
      </p:sp>
      <p:pic>
        <p:nvPicPr>
          <p:cNvPr id="15" name="Image 1" descr="/home/user/VerticalFederatedRegression/slides/assets/eq/c_rho.png">    </p:cNvPr>
          <p:cNvPicPr>
            <a:picLocks noChangeAspect="1"/>
          </p:cNvPicPr>
          <p:nvPr/>
        </p:nvPicPr>
        <p:blipFill>
          <a:blip r:embed="rId2"/>
          <a:stretch>
            <a:fillRect/>
          </a:stretch>
        </p:blipFill>
        <p:spPr>
          <a:xfrm>
            <a:off x="2926080" y="2423160"/>
            <a:ext cx="1828800" cy="531152"/>
          </a:xfrm>
          <a:prstGeom prst="rect">
            <a:avLst/>
          </a:prstGeom>
        </p:spPr>
      </p:pic>
      <p:sp>
        <p:nvSpPr>
          <p:cNvPr id="16" name="Text 12"/>
          <p:cNvSpPr txBox="1"/>
          <p:nvPr/>
        </p:nvSpPr>
        <p:spPr>
          <a:xfrm>
            <a:off x="2926080" y="3337560"/>
            <a:ext cx="1828800" cy="868680"/>
          </a:xfrm>
          <a:prstGeom prst="rect">
            <a:avLst/>
          </a:prstGeom>
          <a:noFill/>
          <a:ln/>
        </p:spPr>
        <p:txBody>
          <a:bodyPr wrap="square" lIns="0" tIns="0" rIns="0" bIns="0" rtlCol="0" anchor="t"/>
          <a:lstStyle/>
          <a:p>
            <a:pPr indent="0" marL="0">
              <a:buNone/>
            </a:pPr>
            <a:r>
              <a:rPr lang="en-US" sz="1150" dirty="0">
                <a:solidFill>
                  <a:srgbClr val="5B6576"/>
                </a:solidFill>
                <a:latin typeface="Calibri" pitchFamily="34" charset="0"/>
                <a:ea typeface="Calibri" pitchFamily="34" charset="-122"/>
                <a:cs typeface="Calibri" pitchFamily="34" charset="-120"/>
              </a:rPr>
              <a:t>L = ln(1/δ). Two releases share ρ</a:t>
            </a:r>
            <a:r>
              <a:rPr lang="en-US" sz="1150" baseline="-25000" dirty="0">
                <a:solidFill>
                  <a:srgbClr val="5B6576"/>
                </a:solidFill>
                <a:latin typeface="Calibri" pitchFamily="34" charset="0"/>
                <a:ea typeface="Calibri" pitchFamily="34" charset="-122"/>
                <a:cs typeface="Calibri" pitchFamily="34" charset="-120"/>
              </a:rPr>
              <a:t>run</a:t>
            </a:r>
            <a:endParaRPr lang="en-US" sz="1150" dirty="0"/>
          </a:p>
        </p:txBody>
      </p:sp>
      <p:sp>
        <p:nvSpPr>
          <p:cNvPr id="17" name="Shape 13"/>
          <p:cNvSpPr/>
          <p:nvPr/>
        </p:nvSpPr>
        <p:spPr>
          <a:xfrm>
            <a:off x="5029200" y="1463040"/>
            <a:ext cx="640080" cy="640080"/>
          </a:xfrm>
          <a:prstGeom prst="ellipse">
            <a:avLst/>
          </a:prstGeom>
          <a:solidFill>
            <a:srgbClr val="14213D"/>
          </a:solidFill>
          <a:ln w="12700">
            <a:solidFill>
              <a:srgbClr val="14213D"/>
            </a:solidFill>
            <a:prstDash val="solid"/>
          </a:ln>
        </p:spPr>
      </p:sp>
      <p:sp>
        <p:nvSpPr>
          <p:cNvPr id="18" name="Text 14"/>
          <p:cNvSpPr txBox="1"/>
          <p:nvPr/>
        </p:nvSpPr>
        <p:spPr>
          <a:xfrm>
            <a:off x="502920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9" name="Text 15"/>
          <p:cNvSpPr txBox="1"/>
          <p:nvPr/>
        </p:nvSpPr>
        <p:spPr>
          <a:xfrm>
            <a:off x="5779008" y="1572768"/>
            <a:ext cx="13716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Δ</a:t>
            </a:r>
            <a:endParaRPr lang="en-US" sz="1800" dirty="0"/>
          </a:p>
        </p:txBody>
      </p:sp>
      <p:sp>
        <p:nvSpPr>
          <p:cNvPr id="20" name="Shape 16"/>
          <p:cNvSpPr/>
          <p:nvPr/>
        </p:nvSpPr>
        <p:spPr>
          <a:xfrm>
            <a:off x="5029200" y="2286000"/>
            <a:ext cx="2103120" cy="1965960"/>
          </a:xfrm>
          <a:prstGeom prst="roundRect">
            <a:avLst>
              <a:gd name="adj" fmla="val 3721"/>
            </a:avLst>
          </a:prstGeom>
          <a:solidFill>
            <a:srgbClr val="EEF2F7"/>
          </a:solidFill>
          <a:ln w="12700">
            <a:solidFill>
              <a:srgbClr val="EEF2F7"/>
            </a:solidFill>
            <a:prstDash val="solid"/>
          </a:ln>
        </p:spPr>
      </p:sp>
      <p:pic>
        <p:nvPicPr>
          <p:cNvPr id="21" name="Image 2" descr="/home/user/VerticalFederatedRegression/slides/assets/eq/cal_Delta.png">    </p:cNvPr>
          <p:cNvPicPr>
            <a:picLocks noChangeAspect="1"/>
          </p:cNvPicPr>
          <p:nvPr/>
        </p:nvPicPr>
        <p:blipFill>
          <a:blip r:embed="rId3"/>
          <a:stretch>
            <a:fillRect/>
          </a:stretch>
        </p:blipFill>
        <p:spPr>
          <a:xfrm>
            <a:off x="5166360" y="2423160"/>
            <a:ext cx="1828800" cy="535549"/>
          </a:xfrm>
          <a:prstGeom prst="rect">
            <a:avLst/>
          </a:prstGeom>
        </p:spPr>
      </p:pic>
      <p:sp>
        <p:nvSpPr>
          <p:cNvPr id="22" name="Text 17"/>
          <p:cNvSpPr txBox="1"/>
          <p:nvPr/>
        </p:nvSpPr>
        <p:spPr>
          <a:xfrm>
            <a:off x="5166360" y="3337560"/>
            <a:ext cx="1828800" cy="868680"/>
          </a:xfrm>
          <a:prstGeom prst="rect">
            <a:avLst/>
          </a:prstGeom>
          <a:noFill/>
          <a:ln/>
        </p:spPr>
        <p:txBody>
          <a:bodyPr wrap="square" lIns="0" tIns="0" rIns="0" bIns="0" rtlCol="0" anchor="t"/>
          <a:lstStyle/>
          <a:p>
            <a:pPr indent="0" marL="0">
              <a:buNone/>
            </a:pPr>
            <a:r>
              <a:rPr lang="en-US" sz="1150" dirty="0">
                <a:solidFill>
                  <a:srgbClr val="5B6576"/>
                </a:solidFill>
                <a:latin typeface="Calibri" pitchFamily="34" charset="0"/>
                <a:ea typeface="Calibri" pitchFamily="34" charset="-122"/>
                <a:cs typeface="Calibri" pitchFamily="34" charset="-120"/>
              </a:rPr>
              <a:t>(R, O, Y) = squared bounds; Δ</a:t>
            </a:r>
            <a:r>
              <a:rPr lang="en-US" sz="1150" baseline="-25000" dirty="0">
                <a:solidFill>
                  <a:srgbClr val="5B6576"/>
                </a:solidFill>
                <a:latin typeface="Calibri" pitchFamily="34" charset="0"/>
                <a:ea typeface="Calibri" pitchFamily="34" charset="-122"/>
                <a:cs typeface="Calibri" pitchFamily="34" charset="-120"/>
              </a:rPr>
              <a:t>G</a:t>
            </a:r>
            <a:r>
              <a:rPr lang="en-US" sz="1150" dirty="0">
                <a:solidFill>
                  <a:srgbClr val="5B6576"/>
                </a:solidFill>
                <a:latin typeface="Calibri" pitchFamily="34" charset="0"/>
                <a:ea typeface="Calibri" pitchFamily="34" charset="-122"/>
                <a:cs typeface="Calibri" pitchFamily="34" charset="-120"/>
              </a:rPr>
              <a:t>: B and C only</a:t>
            </a:r>
            <a:endParaRPr lang="en-US" sz="1150" dirty="0"/>
          </a:p>
        </p:txBody>
      </p:sp>
      <p:sp>
        <p:nvSpPr>
          <p:cNvPr id="23" name="Shape 18"/>
          <p:cNvSpPr/>
          <p:nvPr/>
        </p:nvSpPr>
        <p:spPr>
          <a:xfrm>
            <a:off x="7269480" y="1463040"/>
            <a:ext cx="640080" cy="640080"/>
          </a:xfrm>
          <a:prstGeom prst="ellipse">
            <a:avLst/>
          </a:prstGeom>
          <a:solidFill>
            <a:srgbClr val="C45A0C"/>
          </a:solidFill>
          <a:ln w="12700">
            <a:solidFill>
              <a:srgbClr val="C45A0C"/>
            </a:solidFill>
            <a:prstDash val="solid"/>
          </a:ln>
        </p:spPr>
      </p:sp>
      <p:sp>
        <p:nvSpPr>
          <p:cNvPr id="24" name="Text 19"/>
          <p:cNvSpPr txBox="1"/>
          <p:nvPr/>
        </p:nvSpPr>
        <p:spPr>
          <a:xfrm>
            <a:off x="726948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5" name="Text 20"/>
          <p:cNvSpPr txBox="1"/>
          <p:nvPr/>
        </p:nvSpPr>
        <p:spPr>
          <a:xfrm>
            <a:off x="8019288" y="1572768"/>
            <a:ext cx="13716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σ</a:t>
            </a:r>
            <a:endParaRPr lang="en-US" sz="1800" dirty="0"/>
          </a:p>
        </p:txBody>
      </p:sp>
      <p:sp>
        <p:nvSpPr>
          <p:cNvPr id="26" name="Shape 21"/>
          <p:cNvSpPr/>
          <p:nvPr/>
        </p:nvSpPr>
        <p:spPr>
          <a:xfrm>
            <a:off x="7269480" y="2286000"/>
            <a:ext cx="2103120" cy="1965960"/>
          </a:xfrm>
          <a:prstGeom prst="roundRect">
            <a:avLst>
              <a:gd name="adj" fmla="val 3721"/>
            </a:avLst>
          </a:prstGeom>
          <a:solidFill>
            <a:srgbClr val="EEF2F7"/>
          </a:solidFill>
          <a:ln w="12700">
            <a:solidFill>
              <a:srgbClr val="EEF2F7"/>
            </a:solidFill>
            <a:prstDash val="solid"/>
          </a:ln>
        </p:spPr>
      </p:sp>
      <p:pic>
        <p:nvPicPr>
          <p:cNvPr id="27" name="Image 3" descr="/home/user/VerticalFederatedRegression/slides/assets/eq/c_sigma.png">    </p:cNvPr>
          <p:cNvPicPr>
            <a:picLocks noChangeAspect="1"/>
          </p:cNvPicPr>
          <p:nvPr/>
        </p:nvPicPr>
        <p:blipFill>
          <a:blip r:embed="rId4"/>
          <a:stretch>
            <a:fillRect/>
          </a:stretch>
        </p:blipFill>
        <p:spPr>
          <a:xfrm>
            <a:off x="7406640" y="2423160"/>
            <a:ext cx="1828800" cy="567874"/>
          </a:xfrm>
          <a:prstGeom prst="rect">
            <a:avLst/>
          </a:prstGeom>
        </p:spPr>
      </p:pic>
      <p:sp>
        <p:nvSpPr>
          <p:cNvPr id="28" name="Text 22"/>
          <p:cNvSpPr txBox="1"/>
          <p:nvPr/>
        </p:nvSpPr>
        <p:spPr>
          <a:xfrm>
            <a:off x="7406640" y="3337560"/>
            <a:ext cx="1828800" cy="868680"/>
          </a:xfrm>
          <a:prstGeom prst="rect">
            <a:avLst/>
          </a:prstGeom>
          <a:noFill/>
          <a:ln/>
        </p:spPr>
        <p:txBody>
          <a:bodyPr wrap="square" lIns="0" tIns="0" rIns="0" bIns="0" rtlCol="0" anchor="t"/>
          <a:lstStyle/>
          <a:p>
            <a:pPr indent="0" marL="0">
              <a:buNone/>
            </a:pPr>
            <a:r>
              <a:rPr lang="en-US" sz="1150" dirty="0">
                <a:solidFill>
                  <a:srgbClr val="5B6576"/>
                </a:solidFill>
                <a:latin typeface="Calibri" pitchFamily="34" charset="0"/>
                <a:ea typeface="Calibri" pitchFamily="34" charset="-122"/>
                <a:cs typeface="Calibri" pitchFamily="34" charset="-120"/>
              </a:rPr>
              <a:t>f</a:t>
            </a:r>
            <a:r>
              <a:rPr lang="en-US" sz="1150" baseline="-25000" dirty="0">
                <a:solidFill>
                  <a:srgbClr val="5B6576"/>
                </a:solidFill>
                <a:latin typeface="Calibri" pitchFamily="34" charset="0"/>
                <a:ea typeface="Calibri" pitchFamily="34" charset="-122"/>
                <a:cs typeface="Calibri" pitchFamily="34" charset="-120"/>
              </a:rPr>
              <a:t>1</a:t>
            </a:r>
            <a:r>
              <a:rPr lang="en-US" sz="1150" dirty="0">
                <a:solidFill>
                  <a:srgbClr val="5B6576"/>
                </a:solidFill>
                <a:latin typeface="Calibri" pitchFamily="34" charset="0"/>
                <a:ea typeface="Calibri" pitchFamily="34" charset="-122"/>
                <a:cs typeface="Calibri" pitchFamily="34" charset="-120"/>
              </a:rPr>
              <a:t> = 0.1 is the stage-1 share</a:t>
            </a:r>
            <a:endParaRPr lang="en-US" sz="1150" dirty="0"/>
          </a:p>
        </p:txBody>
      </p:sp>
      <p:sp>
        <p:nvSpPr>
          <p:cNvPr id="29" name="Shape 23"/>
          <p:cNvSpPr/>
          <p:nvPr/>
        </p:nvSpPr>
        <p:spPr>
          <a:xfrm>
            <a:off x="9509760" y="1463040"/>
            <a:ext cx="640080" cy="640080"/>
          </a:xfrm>
          <a:prstGeom prst="ellipse">
            <a:avLst/>
          </a:prstGeom>
          <a:solidFill>
            <a:srgbClr val="14213D"/>
          </a:solidFill>
          <a:ln w="12700">
            <a:solidFill>
              <a:srgbClr val="14213D"/>
            </a:solidFill>
            <a:prstDash val="solid"/>
          </a:ln>
        </p:spPr>
      </p:sp>
      <p:sp>
        <p:nvSpPr>
          <p:cNvPr id="30" name="Text 24"/>
          <p:cNvSpPr txBox="1"/>
          <p:nvPr/>
        </p:nvSpPr>
        <p:spPr>
          <a:xfrm>
            <a:off x="950976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1" name="Text 25"/>
          <p:cNvSpPr txBox="1"/>
          <p:nvPr/>
        </p:nvSpPr>
        <p:spPr>
          <a:xfrm>
            <a:off x="10259568" y="1572768"/>
            <a:ext cx="13716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λ</a:t>
            </a:r>
            <a:endParaRPr lang="en-US" sz="1800" dirty="0"/>
          </a:p>
        </p:txBody>
      </p:sp>
      <p:sp>
        <p:nvSpPr>
          <p:cNvPr id="32" name="Shape 26"/>
          <p:cNvSpPr/>
          <p:nvPr/>
        </p:nvSpPr>
        <p:spPr>
          <a:xfrm>
            <a:off x="9509760" y="2286000"/>
            <a:ext cx="2103120" cy="1965960"/>
          </a:xfrm>
          <a:prstGeom prst="roundRect">
            <a:avLst>
              <a:gd name="adj" fmla="val 3721"/>
            </a:avLst>
          </a:prstGeom>
          <a:solidFill>
            <a:srgbClr val="EEF2F7"/>
          </a:solidFill>
          <a:ln w="12700">
            <a:solidFill>
              <a:srgbClr val="EEF2F7"/>
            </a:solidFill>
            <a:prstDash val="solid"/>
          </a:ln>
        </p:spPr>
      </p:sp>
      <p:pic>
        <p:nvPicPr>
          <p:cNvPr id="33" name="Image 4" descr="/home/user/VerticalFederatedRegression/slides/assets/eq/c_lambda.png">    </p:cNvPr>
          <p:cNvPicPr>
            <a:picLocks noChangeAspect="1"/>
          </p:cNvPicPr>
          <p:nvPr/>
        </p:nvPicPr>
        <p:blipFill>
          <a:blip r:embed="rId5"/>
          <a:stretch>
            <a:fillRect/>
          </a:stretch>
        </p:blipFill>
        <p:spPr>
          <a:xfrm>
            <a:off x="9646920" y="2423160"/>
            <a:ext cx="1828800" cy="548843"/>
          </a:xfrm>
          <a:prstGeom prst="rect">
            <a:avLst/>
          </a:prstGeom>
        </p:spPr>
      </p:pic>
      <p:sp>
        <p:nvSpPr>
          <p:cNvPr id="34" name="Text 27"/>
          <p:cNvSpPr txBox="1"/>
          <p:nvPr/>
        </p:nvSpPr>
        <p:spPr>
          <a:xfrm>
            <a:off x="9646920" y="3337560"/>
            <a:ext cx="1828800" cy="868680"/>
          </a:xfrm>
          <a:prstGeom prst="rect">
            <a:avLst/>
          </a:prstGeom>
          <a:noFill/>
          <a:ln/>
        </p:spPr>
        <p:txBody>
          <a:bodyPr wrap="square" lIns="0" tIns="0" rIns="0" bIns="0" rtlCol="0" anchor="t"/>
          <a:lstStyle/>
          <a:p>
            <a:pPr indent="0" marL="0">
              <a:buNone/>
            </a:pPr>
            <a:r>
              <a:rPr lang="en-US" sz="1150" dirty="0">
                <a:solidFill>
                  <a:srgbClr val="5B6576"/>
                </a:solidFill>
                <a:latin typeface="Calibri" pitchFamily="34" charset="0"/>
                <a:ea typeface="Calibri" pitchFamily="34" charset="-122"/>
                <a:cs typeface="Calibri" pitchFamily="34" charset="-120"/>
              </a:rPr>
              <a:t>Planning value; ℓ = λ</a:t>
            </a:r>
            <a:r>
              <a:rPr lang="en-US" sz="1150" baseline="-25000" dirty="0">
                <a:solidFill>
                  <a:srgbClr val="5B6576"/>
                </a:solidFill>
                <a:latin typeface="Calibri" pitchFamily="34" charset="0"/>
                <a:ea typeface="Calibri" pitchFamily="34" charset="-122"/>
                <a:cs typeface="Calibri" pitchFamily="34" charset="-120"/>
              </a:rPr>
              <a:t>min</a:t>
            </a:r>
            <a:r>
              <a:rPr lang="en-US" sz="1150" dirty="0">
                <a:solidFill>
                  <a:srgbClr val="5B6576"/>
                </a:solidFill>
                <a:latin typeface="Calibri" pitchFamily="34" charset="0"/>
                <a:ea typeface="Calibri" pitchFamily="34" charset="-122"/>
                <a:cs typeface="Calibri" pitchFamily="34" charset="-120"/>
              </a:rPr>
              <a:t>(G)/n from reference data, else 0</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4572000"/>
          <a:ext cx="9144000" cy="914400"/>
        </p:xfrm>
        <a:graphic>
          <a:graphicData uri="http://schemas.openxmlformats.org/drawingml/2006/table">
            <a:tbl>
              <a:tblPr/>
              <a:tblGrid>
                <a:gridCol w="1188720"/>
                <a:gridCol w="758952"/>
                <a:gridCol w="758952"/>
                <a:gridCol w="758952"/>
                <a:gridCol w="758952"/>
                <a:gridCol w="758952"/>
                <a:gridCol w="758952"/>
                <a:gridCol w="758952"/>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σ</a:t>
                      </a:r>
                      <a:r>
                        <a:rPr lang="en-US" sz="1200" b="1" baseline="-25000" dirty="0">
                          <a:solidFill>
                            <a:srgbClr val="FFFFFF"/>
                          </a:solidFill>
                          <a:latin typeface="Calibri" pitchFamily="34" charset="0"/>
                          <a:ea typeface="Calibri" pitchFamily="34" charset="-122"/>
                          <a:cs typeface="Calibri" pitchFamily="34" charset="-120"/>
                        </a:rPr>
                        <a:t>2</a:t>
                      </a:r>
                      <a:r>
                        <a:rPr lang="en-US" sz="1200" b="1" dirty="0">
                          <a:solidFill>
                            <a:srgbClr val="FFFFFF"/>
                          </a:solidFill>
                          <a:latin typeface="Calibri" pitchFamily="34" charset="0"/>
                          <a:ea typeface="Calibri" pitchFamily="34" charset="-122"/>
                          <a:cs typeface="Calibri" pitchFamily="34" charset="-120"/>
                        </a:rPr>
                        <a:t> / Δ   δ \ ε</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δ = 10</a:t>
                      </a:r>
                      <a:r>
                        <a:rPr lang="en-US" sz="1200" baseline="30000" dirty="0">
                          <a:solidFill>
                            <a:srgbClr val="1F2937"/>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41.6</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17.6</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9.15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4.78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2.51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1.34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0.727</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δ = 10</a:t>
                      </a:r>
                      <a:r>
                        <a:rPr lang="en-US" sz="1200" baseline="30000" dirty="0">
                          <a:solidFill>
                            <a:srgbClr val="1F2937"/>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51.6</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21.4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5.68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2.95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1.55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0.825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δ = 10</a:t>
                      </a:r>
                      <a:r>
                        <a:rPr lang="en-US" sz="1200" baseline="30000" dirty="0">
                          <a:solidFill>
                            <a:srgbClr val="1F2937"/>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23.1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11.9</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6.09</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3.15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1.64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0.871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36" name="Shape 28"/>
          <p:cNvSpPr/>
          <p:nvPr/>
        </p:nvSpPr>
        <p:spPr>
          <a:xfrm>
            <a:off x="7223760" y="4526280"/>
            <a:ext cx="4389120" cy="1645920"/>
          </a:xfrm>
          <a:prstGeom prst="roundRect">
            <a:avLst>
              <a:gd name="adj" fmla="val 4444"/>
            </a:avLst>
          </a:prstGeom>
          <a:solidFill>
            <a:srgbClr val="F6E3D6"/>
          </a:solidFill>
          <a:ln w="12700">
            <a:solidFill>
              <a:srgbClr val="F6E3D6"/>
            </a:solidFill>
            <a:prstDash val="solid"/>
          </a:ln>
        </p:spPr>
      </p:sp>
      <p:sp>
        <p:nvSpPr>
          <p:cNvPr id="37" name="Text 29"/>
          <p:cNvSpPr txBox="1"/>
          <p:nvPr/>
        </p:nvSpPr>
        <p:spPr>
          <a:xfrm>
            <a:off x="7452360" y="4617720"/>
            <a:ext cx="4023360" cy="320040"/>
          </a:xfrm>
          <a:prstGeom prst="rect">
            <a:avLst/>
          </a:prstGeom>
          <a:noFill/>
          <a:ln/>
        </p:spPr>
        <p:txBody>
          <a:bodyPr wrap="square" lIns="0" tIns="0" rIns="0" bIns="0" rtlCol="0" anchor="t"/>
          <a:lstStyle/>
          <a:p>
            <a:pPr indent="0" marL="0">
              <a:buNone/>
            </a:pPr>
            <a:r>
              <a:rPr lang="en-US" sz="1400" b="1" dirty="0">
                <a:solidFill>
                  <a:srgbClr val="C45A0C"/>
                </a:solidFill>
                <a:latin typeface="Calibri" pitchFamily="34" charset="0"/>
                <a:ea typeface="Calibri" pitchFamily="34" charset="-122"/>
                <a:cs typeface="Calibri" pitchFamily="34" charset="-120"/>
              </a:rPr>
              <a:t>Planning formula</a:t>
            </a:r>
            <a:endParaRPr lang="en-US" sz="1400" dirty="0"/>
          </a:p>
        </p:txBody>
      </p:sp>
      <p:pic>
        <p:nvPicPr>
          <p:cNvPr id="38" name="Image 5" descr="/home/user/VerticalFederatedRegression/slides/assets/eq/plan2.png">    </p:cNvPr>
          <p:cNvPicPr>
            <a:picLocks noChangeAspect="1"/>
          </p:cNvPicPr>
          <p:nvPr/>
        </p:nvPicPr>
        <p:blipFill>
          <a:blip r:embed="rId6"/>
          <a:stretch>
            <a:fillRect/>
          </a:stretch>
        </p:blipFill>
        <p:spPr>
          <a:xfrm>
            <a:off x="7452360" y="4956048"/>
            <a:ext cx="3099166" cy="553639"/>
          </a:xfrm>
          <a:prstGeom prst="rect">
            <a:avLst/>
          </a:prstGeom>
        </p:spPr>
      </p:pic>
      <p:sp>
        <p:nvSpPr>
          <p:cNvPr id="39" name="Text 30"/>
          <p:cNvSpPr txBox="1"/>
          <p:nvPr/>
        </p:nvSpPr>
        <p:spPr>
          <a:xfrm>
            <a:off x="7452360" y="5669280"/>
            <a:ext cx="4023360" cy="457200"/>
          </a:xfrm>
          <a:prstGeom prst="rect">
            <a:avLst/>
          </a:prstGeom>
          <a:noFill/>
          <a:ln/>
        </p:spPr>
        <p:txBody>
          <a:bodyPr wrap="square" lIns="0" tIns="0" rIns="0" bIns="0" rtlCol="0" anchor="t"/>
          <a:lstStyle/>
          <a:p>
            <a:pPr indent="0" marL="0">
              <a:buNone/>
            </a:pPr>
            <a:r>
              <a:rPr lang="en-US" sz="1150" dirty="0">
                <a:solidFill>
                  <a:srgbClr val="5B6576"/>
                </a:solidFill>
                <a:latin typeface="Calibri" pitchFamily="34" charset="0"/>
                <a:ea typeface="Calibri" pitchFamily="34" charset="-122"/>
                <a:cs typeface="Calibri" pitchFamily="34" charset="-120"/>
              </a:rPr>
              <a:t>Uses the simple zCDP bound, so it overstates σ</a:t>
            </a:r>
            <a:r>
              <a:rPr lang="en-US" sz="1150" baseline="-25000" dirty="0">
                <a:solidFill>
                  <a:srgbClr val="5B6576"/>
                </a:solidFill>
                <a:latin typeface="Calibri" pitchFamily="34" charset="0"/>
                <a:ea typeface="Calibri" pitchFamily="34" charset="-122"/>
                <a:cs typeface="Calibri" pitchFamily="34" charset="-120"/>
              </a:rPr>
              <a:t>2</a:t>
            </a:r>
            <a:r>
              <a:rPr lang="en-US" sz="1150" dirty="0">
                <a:solidFill>
                  <a:srgbClr val="5B6576"/>
                </a:solidFill>
                <a:latin typeface="Calibri" pitchFamily="34" charset="0"/>
                <a:ea typeface="Calibri" pitchFamily="34" charset="-122"/>
                <a:cs typeface="Calibri" pitchFamily="34" charset="-120"/>
              </a:rPr>
              <a:t> by 6–33%. O computes the exact σ for each release.</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From σ to the matched records you need</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Two scaling laws, exact at first order: one pilot figure carries over to any ε</a:t>
            </a:r>
            <a:endParaRPr lang="en-US" sz="1600" dirty="0"/>
          </a:p>
        </p:txBody>
      </p:sp>
      <p:sp>
        <p:nvSpPr>
          <p:cNvPr id="4" name="Shape 2"/>
          <p:cNvSpPr/>
          <p:nvPr/>
        </p:nvSpPr>
        <p:spPr>
          <a:xfrm>
            <a:off x="548640" y="1417320"/>
            <a:ext cx="5440680" cy="1874520"/>
          </a:xfrm>
          <a:prstGeom prst="roundRect">
            <a:avLst>
              <a:gd name="adj" fmla="val 3902"/>
            </a:avLst>
          </a:prstGeom>
          <a:solidFill>
            <a:srgbClr val="EEF2F7"/>
          </a:solidFill>
          <a:ln w="12700">
            <a:solidFill>
              <a:srgbClr val="EEF2F7"/>
            </a:solidFill>
            <a:prstDash val="solid"/>
          </a:ln>
        </p:spPr>
      </p:sp>
      <p:sp>
        <p:nvSpPr>
          <p:cNvPr id="5" name="Text 3"/>
          <p:cNvSpPr txBox="1"/>
          <p:nvPr/>
        </p:nvSpPr>
        <p:spPr>
          <a:xfrm>
            <a:off x="822960" y="1554480"/>
            <a:ext cx="2377440" cy="36576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Prediction</a:t>
            </a:r>
            <a:endParaRPr lang="en-US" sz="1800" dirty="0"/>
          </a:p>
        </p:txBody>
      </p:sp>
      <p:pic>
        <p:nvPicPr>
          <p:cNvPr id="6" name="Image 0" descr="/home/user/VerticalFederatedRegression/slides/assets/eq/law_pred.png">    </p:cNvPr>
          <p:cNvPicPr>
            <a:picLocks noChangeAspect="1"/>
          </p:cNvPicPr>
          <p:nvPr/>
        </p:nvPicPr>
        <p:blipFill>
          <a:blip r:embed="rId1"/>
          <a:stretch>
            <a:fillRect/>
          </a:stretch>
        </p:blipFill>
        <p:spPr>
          <a:xfrm>
            <a:off x="3969860" y="1591056"/>
            <a:ext cx="1836580" cy="334023"/>
          </a:xfrm>
          <a:prstGeom prst="rect">
            <a:avLst/>
          </a:prstGeom>
        </p:spPr>
      </p:pic>
      <p:sp>
        <p:nvSpPr>
          <p:cNvPr id="7" name="Text 4"/>
          <p:cNvSpPr txBox="1"/>
          <p:nvPr/>
        </p:nvSpPr>
        <p:spPr>
          <a:xfrm>
            <a:off x="822960" y="2103120"/>
            <a:ext cx="4937760" cy="109728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The ridge scales with σ, so the excess test error depends on n only through n / σ. Doubling ε roughly halves the records.</a:t>
            </a:r>
            <a:endParaRPr lang="en-US" sz="1350" dirty="0"/>
          </a:p>
        </p:txBody>
      </p:sp>
      <p:sp>
        <p:nvSpPr>
          <p:cNvPr id="8" name="Shape 5"/>
          <p:cNvSpPr/>
          <p:nvPr/>
        </p:nvSpPr>
        <p:spPr>
          <a:xfrm>
            <a:off x="6172200" y="1417320"/>
            <a:ext cx="5440680" cy="1874520"/>
          </a:xfrm>
          <a:prstGeom prst="roundRect">
            <a:avLst>
              <a:gd name="adj" fmla="val 3902"/>
            </a:avLst>
          </a:prstGeom>
          <a:solidFill>
            <a:srgbClr val="F6E3D6"/>
          </a:solidFill>
          <a:ln w="12700">
            <a:solidFill>
              <a:srgbClr val="F6E3D6"/>
            </a:solidFill>
            <a:prstDash val="solid"/>
          </a:ln>
        </p:spPr>
      </p:sp>
      <p:sp>
        <p:nvSpPr>
          <p:cNvPr id="9" name="Text 6"/>
          <p:cNvSpPr txBox="1"/>
          <p:nvPr/>
        </p:nvSpPr>
        <p:spPr>
          <a:xfrm>
            <a:off x="6446520" y="1554480"/>
            <a:ext cx="2377440" cy="36576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Coefficients</a:t>
            </a:r>
            <a:endParaRPr lang="en-US" sz="1800" dirty="0"/>
          </a:p>
        </p:txBody>
      </p:sp>
      <p:pic>
        <p:nvPicPr>
          <p:cNvPr id="10" name="Image 1" descr="/home/user/VerticalFederatedRegression/slides/assets/eq/law_coef.png">    </p:cNvPr>
          <p:cNvPicPr>
            <a:picLocks noChangeAspect="1"/>
          </p:cNvPicPr>
          <p:nvPr/>
        </p:nvPicPr>
        <p:blipFill>
          <a:blip r:embed="rId2"/>
          <a:stretch>
            <a:fillRect/>
          </a:stretch>
        </p:blipFill>
        <p:spPr>
          <a:xfrm>
            <a:off x="9064376" y="1591056"/>
            <a:ext cx="2365624" cy="365763"/>
          </a:xfrm>
          <a:prstGeom prst="rect">
            <a:avLst/>
          </a:prstGeom>
        </p:spPr>
      </p:pic>
      <p:sp>
        <p:nvSpPr>
          <p:cNvPr id="11" name="Text 7"/>
          <p:cNvSpPr txBox="1"/>
          <p:nvPr/>
        </p:nvSpPr>
        <p:spPr>
          <a:xfrm>
            <a:off x="6446520" y="2103120"/>
            <a:ext cx="4937760" cy="109728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Once the ridge is off, DP error / sampling error ≈ σ</a:t>
            </a:r>
            <a:r>
              <a:rPr lang="en-US" sz="1350" baseline="30000" dirty="0">
                <a:solidFill>
                  <a:srgbClr val="1F2937"/>
                </a:solidFill>
                <a:latin typeface="Calibri" pitchFamily="34" charset="0"/>
                <a:ea typeface="Calibri" pitchFamily="34" charset="-122"/>
                <a:cs typeface="Calibri" pitchFamily="34" charset="-120"/>
              </a:rPr>
              <a:t>2</a:t>
            </a:r>
            <a:r>
              <a:rPr lang="en-US" sz="1350" dirty="0">
                <a:solidFill>
                  <a:srgbClr val="1F2937"/>
                </a:solidFill>
                <a:latin typeface="Calibri" pitchFamily="34" charset="0"/>
                <a:ea typeface="Calibri" pitchFamily="34" charset="-122"/>
                <a:cs typeface="Calibri" pitchFamily="34" charset="-120"/>
              </a:rPr>
              <a:t>(1+‖β‖</a:t>
            </a:r>
            <a:r>
              <a:rPr lang="en-US" sz="1350" baseline="30000" dirty="0">
                <a:solidFill>
                  <a:srgbClr val="1F2937"/>
                </a:solidFill>
                <a:latin typeface="Calibri" pitchFamily="34" charset="0"/>
                <a:ea typeface="Calibri" pitchFamily="34" charset="-122"/>
                <a:cs typeface="Calibri" pitchFamily="34" charset="-120"/>
              </a:rPr>
              <a:t>2</a:t>
            </a:r>
            <a:r>
              <a:rPr lang="en-US" sz="1350" dirty="0">
                <a:solidFill>
                  <a:srgbClr val="1F2937"/>
                </a:solidFill>
                <a:latin typeface="Calibri" pitchFamily="34" charset="0"/>
                <a:ea typeface="Calibri" pitchFamily="34" charset="-122"/>
                <a:cs typeface="Calibri" pitchFamily="34" charset="-120"/>
              </a:rPr>
              <a:t>) tr(Σ</a:t>
            </a:r>
            <a:r>
              <a:rPr lang="en-US" sz="1350" baseline="30000" dirty="0">
                <a:solidFill>
                  <a:srgbClr val="1F2937"/>
                </a:solidFill>
                <a:latin typeface="Calibri" pitchFamily="34" charset="0"/>
                <a:ea typeface="Calibri" pitchFamily="34" charset="-122"/>
                <a:cs typeface="Calibri" pitchFamily="34" charset="-120"/>
              </a:rPr>
              <a:t>−2</a:t>
            </a:r>
            <a:r>
              <a:rPr lang="en-US" sz="1350" dirty="0">
                <a:solidFill>
                  <a:srgbClr val="1F2937"/>
                </a:solidFill>
                <a:latin typeface="Calibri" pitchFamily="34" charset="0"/>
                <a:ea typeface="Calibri" pitchFamily="34" charset="-122"/>
                <a:cs typeface="Calibri" pitchFamily="34" charset="-120"/>
              </a:rPr>
              <a:t>) / (n s</a:t>
            </a:r>
            <a:r>
              <a:rPr lang="en-US" sz="1350" baseline="30000" dirty="0">
                <a:solidFill>
                  <a:srgbClr val="1F2937"/>
                </a:solidFill>
                <a:latin typeface="Calibri" pitchFamily="34" charset="0"/>
                <a:ea typeface="Calibri" pitchFamily="34" charset="-122"/>
                <a:cs typeface="Calibri" pitchFamily="34" charset="-120"/>
              </a:rPr>
              <a:t>2</a:t>
            </a:r>
            <a:r>
              <a:rPr lang="en-US" sz="1350" dirty="0">
                <a:solidFill>
                  <a:srgbClr val="1F2937"/>
                </a:solidFill>
                <a:latin typeface="Calibri" pitchFamily="34" charset="0"/>
                <a:ea typeface="Calibri" pitchFamily="34" charset="-122"/>
                <a:cs typeface="Calibri" pitchFamily="34" charset="-120"/>
              </a:rPr>
              <a:t> tr(Σ</a:t>
            </a:r>
            <a:r>
              <a:rPr lang="en-US" sz="1350" baseline="30000" dirty="0">
                <a:solidFill>
                  <a:srgbClr val="1F2937"/>
                </a:solidFill>
                <a:latin typeface="Calibri" pitchFamily="34" charset="0"/>
                <a:ea typeface="Calibri" pitchFamily="34" charset="-122"/>
                <a:cs typeface="Calibri" pitchFamily="34" charset="-120"/>
              </a:rPr>
              <a:t>−1</a:t>
            </a:r>
            <a:r>
              <a:rPr lang="en-US" sz="1350" dirty="0">
                <a:solidFill>
                  <a:srgbClr val="1F2937"/>
                </a:solidFill>
                <a:latin typeface="Calibri" pitchFamily="34" charset="0"/>
                <a:ea typeface="Calibri" pitchFamily="34" charset="-122"/>
                <a:cs typeface="Calibri" pitchFamily="34" charset="-120"/>
              </a:rPr>
              <a:t>)). Doubling ε cuts the records by about 3.5×.</a:t>
            </a:r>
            <a:endParaRPr lang="en-US" sz="13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9144000" cy="914400"/>
        </p:xfrm>
        <a:graphic>
          <a:graphicData uri="http://schemas.openxmlformats.org/drawingml/2006/table">
            <a:tbl>
              <a:tblPr/>
              <a:tblGrid>
                <a:gridCol w="2514600"/>
                <a:gridCol w="3200400"/>
                <a:gridCol w="1828800"/>
                <a:gridCol w="2057400"/>
                <a:gridCol w="146304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Target</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First-order calculator</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Transfer (× σ or × σ</a:t>
                      </a:r>
                      <a:r>
                        <a:rPr lang="en-US" sz="1250" b="1" baseline="30000" dirty="0">
                          <a:solidFill>
                            <a:srgbClr val="FFFFFF"/>
                          </a:solidFill>
                          <a:latin typeface="Calibri" pitchFamily="34" charset="0"/>
                          <a:ea typeface="Calibri" pitchFamily="34" charset="-122"/>
                          <a:cs typeface="Calibri" pitchFamily="34" charset="-120"/>
                        </a:rPr>
                        <a:t>2</a:t>
                      </a:r>
                      <a:r>
                        <a:rPr lang="en-US" sz="1250" b="1" dirty="0">
                          <a:solidFill>
                            <a:srgbClr val="FFFFF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Observed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Prediction within 10%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bike, ε = 2 (from ε = 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5.7k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5.8k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5.9k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Prediction within 10%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pol, ε = 4 (from ε = 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2.8k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2.9k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2.8k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Prediction within 10%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protein, ε = 4 (from ε = 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747</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794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619</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Coefficients within 2× OLS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R</a:t>
                      </a:r>
                      <a:r>
                        <a:rPr lang="en-US" sz="1250" baseline="30000" dirty="0">
                          <a:solidFill>
                            <a:srgbClr val="1F2937"/>
                          </a:solidFill>
                          <a:latin typeface="Calibri" pitchFamily="34" charset="0"/>
                          <a:ea typeface="Calibri" pitchFamily="34" charset="-122"/>
                          <a:cs typeface="Calibri" pitchFamily="34" charset="-120"/>
                        </a:rPr>
                        <a:t>2</a:t>
                      </a:r>
                      <a:r>
                        <a:rPr lang="en-US" sz="1250" dirty="0">
                          <a:solidFill>
                            <a:srgbClr val="1F2937"/>
                          </a:solidFill>
                          <a:latin typeface="Calibri" pitchFamily="34" charset="0"/>
                          <a:ea typeface="Calibri" pitchFamily="34" charset="-122"/>
                          <a:cs typeface="Calibri" pitchFamily="34" charset="-120"/>
                        </a:rPr>
                        <a:t> = 0.5, ε = 4 (from ε = 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11k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10.0k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9.4k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Coefficients within 2× OLS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R</a:t>
                      </a:r>
                      <a:r>
                        <a:rPr lang="en-US" sz="1250" baseline="30000" dirty="0">
                          <a:solidFill>
                            <a:srgbClr val="1F2937"/>
                          </a:solidFill>
                          <a:latin typeface="Calibri" pitchFamily="34" charset="0"/>
                          <a:ea typeface="Calibri" pitchFamily="34" charset="-122"/>
                          <a:cs typeface="Calibri" pitchFamily="34" charset="-120"/>
                        </a:rPr>
                        <a:t>2</a:t>
                      </a:r>
                      <a:r>
                        <a:rPr lang="en-US" sz="1250" dirty="0">
                          <a:solidFill>
                            <a:srgbClr val="1F2937"/>
                          </a:solidFill>
                          <a:latin typeface="Calibri" pitchFamily="34" charset="0"/>
                          <a:ea typeface="Calibri" pitchFamily="34" charset="-122"/>
                          <a:cs typeface="Calibri" pitchFamily="34" charset="-120"/>
                        </a:rPr>
                        <a:t> = 0.5, ε = 8 (from ε = 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3.3k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3.1k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3.2k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Coefficients within 2× OLS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R</a:t>
                      </a:r>
                      <a:r>
                        <a:rPr lang="en-US" sz="1250" baseline="30000" dirty="0">
                          <a:solidFill>
                            <a:srgbClr val="1F2937"/>
                          </a:solidFill>
                          <a:latin typeface="Calibri" pitchFamily="34" charset="0"/>
                          <a:ea typeface="Calibri" pitchFamily="34" charset="-122"/>
                          <a:cs typeface="Calibri" pitchFamily="34" charset="-120"/>
                        </a:rPr>
                        <a:t>2</a:t>
                      </a:r>
                      <a:r>
                        <a:rPr lang="en-US" sz="1250" dirty="0">
                          <a:solidFill>
                            <a:srgbClr val="1F2937"/>
                          </a:solidFill>
                          <a:latin typeface="Calibri" pitchFamily="34" charset="0"/>
                          <a:ea typeface="Calibri" pitchFamily="34" charset="-122"/>
                          <a:cs typeface="Calibri" pitchFamily="34" charset="-120"/>
                        </a:rPr>
                        <a:t> = 0.3, ε = 1 (from ε = 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78k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74k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75k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13" name="Text 8"/>
          <p:cNvSpPr txBox="1"/>
          <p:nvPr/>
        </p:nvSpPr>
        <p:spPr>
          <a:xfrm>
            <a:off x="548640" y="5989320"/>
            <a:ext cx="11064240" cy="594360"/>
          </a:xfrm>
          <a:prstGeom prst="rect">
            <a:avLst/>
          </a:prstGeom>
          <a:noFill/>
          <a:ln/>
        </p:spPr>
        <p:txBody>
          <a:bodyPr wrap="square" lIns="0" tIns="0" rIns="0" bIns="0" rtlCol="0" anchor="t"/>
          <a:lstStyle/>
          <a:p>
            <a:pPr indent="0" marL="0">
              <a:buNone/>
            </a:pPr>
            <a:r>
              <a:rPr lang="en-US" sz="1150" i="1" dirty="0">
                <a:solidFill>
                  <a:srgbClr val="5B6576"/>
                </a:solidFill>
                <a:latin typeface="Calibri" pitchFamily="34" charset="0"/>
                <a:ea typeface="Calibri" pitchFamily="34" charset="-122"/>
                <a:cs typeface="Calibri" pitchFamily="34" charset="-120"/>
              </a:rPr>
              <a:t>Checked on the experiments of part 6 (one release; prediction on real data, coefficients in simulation). The laws carry over to the protocol's σ</a:t>
            </a:r>
            <a:r>
              <a:rPr lang="en-US" sz="1150" i="1" baseline="-25000" dirty="0">
                <a:solidFill>
                  <a:srgbClr val="5B6576"/>
                </a:solidFill>
                <a:latin typeface="Calibri" pitchFamily="34" charset="0"/>
                <a:ea typeface="Calibri" pitchFamily="34" charset="-122"/>
                <a:cs typeface="Calibri" pitchFamily="34" charset="-120"/>
              </a:rPr>
              <a:t>2</a:t>
            </a:r>
            <a:r>
              <a:rPr lang="en-US" sz="1150" i="1" dirty="0">
                <a:solidFill>
                  <a:srgbClr val="5B6576"/>
                </a:solidFill>
                <a:latin typeface="Calibri" pitchFamily="34" charset="0"/>
                <a:ea typeface="Calibri" pitchFamily="34" charset="-122"/>
                <a:cs typeface="Calibri" pitchFamily="34" charset="-120"/>
              </a:rPr>
              <a:t>. They break down for ill-conditioned designs, at high R</a:t>
            </a:r>
            <a:r>
              <a:rPr lang="en-US" sz="1150" i="1" baseline="30000" dirty="0">
                <a:solidFill>
                  <a:srgbClr val="5B6576"/>
                </a:solidFill>
                <a:latin typeface="Calibri" pitchFamily="34" charset="0"/>
                <a:ea typeface="Calibri" pitchFamily="34" charset="-122"/>
                <a:cs typeface="Calibri" pitchFamily="34" charset="-120"/>
              </a:rPr>
              <a:t>2</a:t>
            </a:r>
            <a:r>
              <a:rPr lang="en-US" sz="1150" i="1" dirty="0">
                <a:solidFill>
                  <a:srgbClr val="5B6576"/>
                </a:solidFill>
                <a:latin typeface="Calibri" pitchFamily="34" charset="0"/>
                <a:ea typeface="Calibri" pitchFamily="34" charset="-122"/>
                <a:cs typeface="Calibri" pitchFamily="34" charset="-120"/>
              </a:rPr>
              <a:t> where clipping bias dominates, and at small n.</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each choice costs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Defaults: δ = 10</a:t>
            </a:r>
            <a:r>
              <a:rPr lang="en-US" sz="1600" i="1" baseline="30000" dirty="0">
                <a:solidFill>
                  <a:srgbClr val="5B6576"/>
                </a:solidFill>
                <a:latin typeface="Calibri" pitchFamily="34" charset="0"/>
                <a:ea typeface="Calibri" pitchFamily="34" charset="-122"/>
                <a:cs typeface="Calibri" pitchFamily="34" charset="-120"/>
              </a:rPr>
              <a:t>−9</a:t>
            </a:r>
            <a:r>
              <a:rPr lang="en-US" sz="1600" i="1" dirty="0">
                <a:solidFill>
                  <a:srgbClr val="5B6576"/>
                </a:solidFill>
                <a:latin typeface="Calibri" pitchFamily="34" charset="0"/>
                <a:ea typeface="Calibri" pitchFamily="34" charset="-122"/>
                <a:cs typeface="Calibri" pitchFamily="34" charset="-120"/>
              </a:rPr>
              <a:t>, f</a:t>
            </a:r>
            <a:r>
              <a:rPr lang="en-US" sz="1600" i="1" baseline="-25000" dirty="0">
                <a:solidFill>
                  <a:srgbClr val="5B6576"/>
                </a:solidFill>
                <a:latin typeface="Calibri" pitchFamily="34" charset="0"/>
                <a:ea typeface="Calibri" pitchFamily="34" charset="-122"/>
                <a:cs typeface="Calibri" pitchFamily="34" charset="-120"/>
              </a:rPr>
              <a:t>1</a:t>
            </a:r>
            <a:r>
              <a:rPr lang="en-US" sz="1600" i="1" dirty="0">
                <a:solidFill>
                  <a:srgbClr val="5B6576"/>
                </a:solidFill>
                <a:latin typeface="Calibri" pitchFamily="34" charset="0"/>
                <a:ea typeface="Calibri" pitchFamily="34" charset="-122"/>
                <a:cs typeface="Calibri" pitchFamily="34" charset="-120"/>
              </a:rPr>
              <a:t> = 0.1, ϑ</a:t>
            </a:r>
            <a:r>
              <a:rPr lang="en-US" sz="1600" i="1" baseline="30000" dirty="0">
                <a:solidFill>
                  <a:srgbClr val="5B6576"/>
                </a:solidFill>
                <a:latin typeface="Calibri" pitchFamily="34" charset="0"/>
                <a:ea typeface="Calibri" pitchFamily="34" charset="-122"/>
                <a:cs typeface="Calibri" pitchFamily="34" charset="-120"/>
              </a:rPr>
              <a:t>*</a:t>
            </a:r>
            <a:r>
              <a:rPr lang="en-US" sz="1600" i="1" dirty="0">
                <a:solidFill>
                  <a:srgbClr val="5B6576"/>
                </a:solidFill>
                <a:latin typeface="Calibri" pitchFamily="34" charset="0"/>
                <a:ea typeface="Calibri" pitchFamily="34" charset="-122"/>
                <a:cs typeface="Calibri" pitchFamily="34" charset="-120"/>
              </a:rPr>
              <a:t> = 2.5, tight bounds, one run per budget</a:t>
            </a:r>
            <a:endParaRPr lang="en-US" sz="1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9144000" cy="914400"/>
        </p:xfrm>
        <a:graphic>
          <a:graphicData uri="http://schemas.openxmlformats.org/drawingml/2006/table">
            <a:tbl>
              <a:tblPr/>
              <a:tblGrid>
                <a:gridCol w="5394960"/>
                <a:gridCol w="1737360"/>
                <a:gridCol w="1965960"/>
                <a:gridCol w="1965960"/>
              </a:tblGrid>
              <a:tr h="301752">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Change</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σ</a:t>
                      </a:r>
                      <a:r>
                        <a:rPr lang="en-US" sz="1250" b="1" baseline="-25000" dirty="0">
                          <a:solidFill>
                            <a:srgbClr val="FFFFFF"/>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Records for prediction</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Records for coefficients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01752">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Bounds 2× closer to the data (no extra clipping)</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0.25</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0.25</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0.06</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01752">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Split one unit row bound between the parties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0.64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0.64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0.41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01752">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Double ε</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0.51–0.53</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0.51–0.53</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0.26–0.28</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01752">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δ from 10</a:t>
                      </a:r>
                      <a:r>
                        <a:rPr lang="en-US" sz="1250" b="1" baseline="30000" dirty="0">
                          <a:solidFill>
                            <a:srgbClr val="1F2937"/>
                          </a:solidFill>
                          <a:latin typeface="Calibri" pitchFamily="34" charset="0"/>
                          <a:ea typeface="Calibri" pitchFamily="34" charset="-122"/>
                          <a:cs typeface="Calibri" pitchFamily="34" charset="-120"/>
                        </a:rPr>
                        <a:t>−6</a:t>
                      </a:r>
                      <a:r>
                        <a:rPr lang="en-US" sz="1250" b="1" dirty="0">
                          <a:solidFill>
                            <a:srgbClr val="1F2937"/>
                          </a:solidFill>
                          <a:latin typeface="Calibri" pitchFamily="34" charset="0"/>
                          <a:ea typeface="Calibri" pitchFamily="34" charset="-122"/>
                          <a:cs typeface="Calibri" pitchFamily="34" charset="-120"/>
                        </a:rPr>
                        <a:t> to 10</a:t>
                      </a:r>
                      <a:r>
                        <a:rPr lang="en-US" sz="1250" b="1" baseline="30000" dirty="0">
                          <a:solidFill>
                            <a:srgbClr val="1F2937"/>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1.20–1.32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1.20–1.32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1.44–1.73</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01752">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Stage-1 share 0.2 instead of 0.1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1.06</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1.06</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1.12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01752">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One budget shared by 5 runs (zCDP)</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2.24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2.24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5.00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01752">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One budget shared by 5 runs (naive split of ε, δ)</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4.81–4.97</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4.81–4.97</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23.10–24.70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5" name="Text 2"/>
          <p:cNvSpPr txBox="1"/>
          <p:nvPr/>
        </p:nvSpPr>
        <p:spPr>
          <a:xfrm>
            <a:off x="548640" y="4224528"/>
            <a:ext cx="11064240" cy="365760"/>
          </a:xfrm>
          <a:prstGeom prst="rect">
            <a:avLst/>
          </a:prstGeom>
          <a:noFill/>
          <a:ln/>
        </p:spPr>
        <p:txBody>
          <a:bodyPr wrap="square" lIns="0" tIns="0" rIns="0" bIns="0" rtlCol="0" anchor="t"/>
          <a:lstStyle/>
          <a:p>
            <a:pPr indent="0" marL="0">
              <a:buNone/>
            </a:pPr>
            <a:r>
              <a:rPr lang="en-US" sz="1450" b="1" dirty="0">
                <a:solidFill>
                  <a:srgbClr val="14213D"/>
                </a:solidFill>
                <a:latin typeface="Cambria" pitchFamily="34" charset="0"/>
                <a:ea typeface="Cambria" pitchFamily="34" charset="-122"/>
                <a:cs typeface="Cambria" pitchFamily="34" charset="-120"/>
              </a:rPr>
              <a:t>Worked example: the simulation population, δ = 10</a:t>
            </a:r>
            <a:r>
              <a:rPr lang="en-US" sz="1450" b="1" baseline="30000" dirty="0">
                <a:solidFill>
                  <a:srgbClr val="14213D"/>
                </a:solidFill>
                <a:latin typeface="Cambria" pitchFamily="34" charset="0"/>
                <a:ea typeface="Cambria" pitchFamily="34" charset="-122"/>
                <a:cs typeface="Cambria" pitchFamily="34" charset="-120"/>
              </a:rPr>
              <a:t>−9</a:t>
            </a:r>
            <a:r>
              <a:rPr lang="en-US" sz="1450" b="1" dirty="0">
                <a:solidFill>
                  <a:srgbClr val="14213D"/>
                </a:solidFill>
                <a:latin typeface="Cambria" pitchFamily="34" charset="0"/>
                <a:ea typeface="Cambria" pitchFamily="34" charset="-122"/>
                <a:cs typeface="Cambria" pitchFamily="34" charset="-120"/>
              </a:rPr>
              <a:t> (Δ = 86.2, Δ</a:t>
            </a:r>
            <a:r>
              <a:rPr lang="en-US" sz="1450" b="1" baseline="-25000" dirty="0">
                <a:solidFill>
                  <a:srgbClr val="14213D"/>
                </a:solidFill>
                <a:latin typeface="Cambria" pitchFamily="34" charset="0"/>
                <a:ea typeface="Cambria" pitchFamily="34" charset="-122"/>
                <a:cs typeface="Cambria" pitchFamily="34" charset="-120"/>
              </a:rPr>
              <a:t>G</a:t>
            </a:r>
            <a:r>
              <a:rPr lang="en-US" sz="1450" b="1" dirty="0">
                <a:solidFill>
                  <a:srgbClr val="14213D"/>
                </a:solidFill>
                <a:latin typeface="Cambria" pitchFamily="34" charset="0"/>
                <a:ea typeface="Cambria" pitchFamily="34" charset="-122"/>
                <a:cs typeface="Cambria" pitchFamily="34" charset="-120"/>
              </a:rPr>
              <a:t> = 77.2, p = 11, ℓ = 0.494)</a:t>
            </a:r>
            <a:endParaRPr lang="en-US" sz="145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548640" y="4645152"/>
          <a:ext cx="9144000" cy="914400"/>
        </p:xfrm>
        <a:graphic>
          <a:graphicData uri="http://schemas.openxmlformats.org/drawingml/2006/table">
            <a:tbl>
              <a:tblPr/>
              <a:tblGrid>
                <a:gridCol w="822960"/>
                <a:gridCol w="1188720"/>
                <a:gridCol w="1188720"/>
                <a:gridCol w="1188720"/>
                <a:gridCol w="1737360"/>
                <a:gridCol w="2103120"/>
                <a:gridCol w="2834640"/>
              </a:tblGrid>
              <a:tr h="2743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ε</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ρ</a:t>
                      </a:r>
                      <a:r>
                        <a:rPr lang="en-US" sz="1200" b="1" baseline="-25000" dirty="0">
                          <a:solidFill>
                            <a:srgbClr val="FFFFFF"/>
                          </a:solidFill>
                          <a:latin typeface="Calibri" pitchFamily="34" charset="0"/>
                          <a:ea typeface="Calibri" pitchFamily="34" charset="-122"/>
                          <a:cs typeface="Calibri" pitchFamily="34" charset="-120"/>
                        </a:rPr>
                        <a:t>run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σ</a:t>
                      </a:r>
                      <a:r>
                        <a:rPr lang="en-US" sz="1200" b="1" baseline="-25000" dirty="0">
                          <a:solidFill>
                            <a:srgbClr val="FFFFF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σ</a:t>
                      </a:r>
                      <a:r>
                        <a:rPr lang="en-US" sz="1200" b="1" baseline="-25000" dirty="0">
                          <a:solidFill>
                            <a:srgbClr val="FFFFF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λ at n = 10k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Ridge off from 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…if ℓ were known exactly</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27432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0.0040</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2744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1021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43633</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98k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5B6576"/>
                          </a:solidFill>
                          <a:latin typeface="Calibri" pitchFamily="34" charset="0"/>
                          <a:ea typeface="Calibri" pitchFamily="34" charset="-122"/>
                          <a:cs typeface="Calibri" pitchFamily="34" charset="-120"/>
                        </a:rPr>
                        <a:t>31k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7432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0.0150</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1410</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525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20018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51k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5B6576"/>
                          </a:solidFill>
                          <a:latin typeface="Calibri" pitchFamily="34" charset="0"/>
                          <a:ea typeface="Calibri" pitchFamily="34" charset="-122"/>
                          <a:cs typeface="Calibri" pitchFamily="34" charset="-120"/>
                        </a:rPr>
                        <a:t>16k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7432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0.0561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7951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26k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5B6576"/>
                          </a:solidFill>
                          <a:latin typeface="Calibri" pitchFamily="34" charset="0"/>
                          <a:ea typeface="Calibri" pitchFamily="34" charset="-122"/>
                          <a:cs typeface="Calibri" pitchFamily="34" charset="-120"/>
                        </a:rPr>
                        <a:t>8.2k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7432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0.2063</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380</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1784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14k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5B6576"/>
                          </a:solidFill>
                          <a:latin typeface="Calibri" pitchFamily="34" charset="0"/>
                          <a:ea typeface="Calibri" pitchFamily="34" charset="-122"/>
                          <a:cs typeface="Calibri" pitchFamily="34" charset="-120"/>
                        </a:rPr>
                        <a:t>4.3k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7432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0.7328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202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7.2k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5B6576"/>
                          </a:solidFill>
                          <a:latin typeface="Calibri" pitchFamily="34" charset="0"/>
                          <a:ea typeface="Calibri" pitchFamily="34" charset="-122"/>
                          <a:cs typeface="Calibri" pitchFamily="34" charset="-120"/>
                        </a:rPr>
                        <a:t>2.3k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6</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Results</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Accuracy in simulation and on real data, and what is still to run</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How we evaluated</a:t>
            </a:r>
            <a:endParaRPr lang="en-US" sz="3200" dirty="0"/>
          </a:p>
        </p:txBody>
      </p:sp>
      <p:sp>
        <p:nvSpPr>
          <p:cNvPr id="3" name="Shape 1"/>
          <p:cNvSpPr/>
          <p:nvPr/>
        </p:nvSpPr>
        <p:spPr>
          <a:xfrm>
            <a:off x="548640" y="1325880"/>
            <a:ext cx="3566160" cy="2697480"/>
          </a:xfrm>
          <a:prstGeom prst="roundRect">
            <a:avLst>
              <a:gd name="adj" fmla="val 2712"/>
            </a:avLst>
          </a:prstGeom>
          <a:solidFill>
            <a:srgbClr val="EEF2F7"/>
          </a:solidFill>
          <a:ln w="12700">
            <a:solidFill>
              <a:srgbClr val="EEF2F7"/>
            </a:solidFill>
            <a:prstDash val="solid"/>
          </a:ln>
        </p:spPr>
      </p:sp>
      <p:sp>
        <p:nvSpPr>
          <p:cNvPr id="4" name="Shape 2"/>
          <p:cNvSpPr/>
          <p:nvPr/>
        </p:nvSpPr>
        <p:spPr>
          <a:xfrm>
            <a:off x="822960" y="1536192"/>
            <a:ext cx="640080" cy="640080"/>
          </a:xfrm>
          <a:prstGeom prst="ellipse">
            <a:avLst/>
          </a:prstGeom>
          <a:solidFill>
            <a:srgbClr val="3D5A80"/>
          </a:solidFill>
          <a:ln w="12700">
            <a:solidFill>
              <a:srgbClr val="3D5A80"/>
            </a:solidFill>
            <a:prstDash val="solid"/>
          </a:ln>
        </p:spPr>
      </p:sp>
      <p:pic>
        <p:nvPicPr>
          <p:cNvPr id="5" name="Image 0" descr="preencoded.png">    </p:cNvPr>
          <p:cNvPicPr>
            <a:picLocks noChangeAspect="1"/>
          </p:cNvPicPr>
          <p:nvPr/>
        </p:nvPicPr>
        <p:blipFill>
          <a:blip r:embed="rId1"/>
          <a:stretch>
            <a:fillRect/>
          </a:stretch>
        </p:blipFill>
        <p:spPr>
          <a:xfrm>
            <a:off x="976579" y="1689811"/>
            <a:ext cx="332842" cy="332842"/>
          </a:xfrm>
          <a:prstGeom prst="rect">
            <a:avLst/>
          </a:prstGeom>
        </p:spPr>
      </p:pic>
      <p:sp>
        <p:nvSpPr>
          <p:cNvPr id="6" name="Text 3"/>
          <p:cNvSpPr txBox="1"/>
          <p:nvPr/>
        </p:nvSpPr>
        <p:spPr>
          <a:xfrm>
            <a:off x="1600200" y="1609344"/>
            <a:ext cx="2423160" cy="457200"/>
          </a:xfrm>
          <a:prstGeom prst="rect">
            <a:avLst/>
          </a:prstGeom>
          <a:noFill/>
          <a:ln/>
        </p:spPr>
        <p:txBody>
          <a:bodyPr wrap="square" lIns="0" tIns="0" rIns="0" bIns="0" rtlCol="0" anchor="t"/>
          <a:lstStyle/>
          <a:p>
            <a:pPr indent="0" marL="0">
              <a:buNone/>
            </a:pPr>
            <a:r>
              <a:rPr lang="en-US" sz="1700" b="1" dirty="0">
                <a:solidFill>
                  <a:srgbClr val="14213D"/>
                </a:solidFill>
                <a:latin typeface="Cambria" pitchFamily="34" charset="0"/>
                <a:ea typeface="Cambria" pitchFamily="34" charset="-122"/>
                <a:cs typeface="Cambria" pitchFamily="34" charset="-120"/>
              </a:rPr>
              <a:t>Simulation population</a:t>
            </a:r>
            <a:endParaRPr lang="en-US" sz="1700" dirty="0"/>
          </a:p>
        </p:txBody>
      </p:sp>
      <p:sp>
        <p:nvSpPr>
          <p:cNvPr id="7" name="Text 4"/>
          <p:cNvSpPr txBox="1"/>
          <p:nvPr/>
        </p:nvSpPr>
        <p:spPr>
          <a:xfrm>
            <a:off x="822960" y="2331720"/>
            <a:ext cx="3063240" cy="164592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Features on real-world scales (income, age, binary indicators, counts), correlated. Public standardization constants and 99.5% bounds. R</a:t>
            </a:r>
            <a:r>
              <a:rPr lang="en-US" sz="1350" baseline="30000" dirty="0">
                <a:solidFill>
                  <a:srgbClr val="1F2937"/>
                </a:solidFill>
                <a:latin typeface="Calibri" pitchFamily="34" charset="0"/>
                <a:ea typeface="Calibri" pitchFamily="34" charset="-122"/>
                <a:cs typeface="Calibri" pitchFamily="34" charset="-120"/>
              </a:rPr>
              <a:t>2</a:t>
            </a:r>
            <a:r>
              <a:rPr lang="en-US" sz="1350" dirty="0">
                <a:solidFill>
                  <a:srgbClr val="1F2937"/>
                </a:solidFill>
                <a:latin typeface="Calibri" pitchFamily="34" charset="0"/>
                <a:ea typeface="Calibri" pitchFamily="34" charset="-122"/>
                <a:cs typeface="Calibri" pitchFamily="34" charset="-120"/>
              </a:rPr>
              <a:t> ∈ {0.3, 0.5, 0.9}; n from 100 to 100k; 200 replicates.</a:t>
            </a:r>
            <a:endParaRPr lang="en-US" sz="1350" dirty="0"/>
          </a:p>
        </p:txBody>
      </p:sp>
      <p:sp>
        <p:nvSpPr>
          <p:cNvPr id="8" name="Shape 5"/>
          <p:cNvSpPr/>
          <p:nvPr/>
        </p:nvSpPr>
        <p:spPr>
          <a:xfrm>
            <a:off x="4343400" y="1325880"/>
            <a:ext cx="3566160" cy="2697480"/>
          </a:xfrm>
          <a:prstGeom prst="roundRect">
            <a:avLst>
              <a:gd name="adj" fmla="val 2712"/>
            </a:avLst>
          </a:prstGeom>
          <a:solidFill>
            <a:srgbClr val="EEF2F7"/>
          </a:solidFill>
          <a:ln w="12700">
            <a:solidFill>
              <a:srgbClr val="EEF2F7"/>
            </a:solidFill>
            <a:prstDash val="solid"/>
          </a:ln>
        </p:spPr>
      </p:sp>
      <p:sp>
        <p:nvSpPr>
          <p:cNvPr id="9" name="Shape 6"/>
          <p:cNvSpPr/>
          <p:nvPr/>
        </p:nvSpPr>
        <p:spPr>
          <a:xfrm>
            <a:off x="4617720" y="1536192"/>
            <a:ext cx="640080" cy="640080"/>
          </a:xfrm>
          <a:prstGeom prst="ellipse">
            <a:avLst/>
          </a:prstGeom>
          <a:solidFill>
            <a:srgbClr val="3D5A80"/>
          </a:solidFill>
          <a:ln w="12700">
            <a:solidFill>
              <a:srgbClr val="3D5A80"/>
            </a:solidFill>
            <a:prstDash val="solid"/>
          </a:ln>
        </p:spPr>
      </p:sp>
      <p:pic>
        <p:nvPicPr>
          <p:cNvPr id="10" name="Image 1" descr="preencoded.png">    </p:cNvPr>
          <p:cNvPicPr>
            <a:picLocks noChangeAspect="1"/>
          </p:cNvPicPr>
          <p:nvPr/>
        </p:nvPicPr>
        <p:blipFill>
          <a:blip r:embed="rId2"/>
          <a:stretch>
            <a:fillRect/>
          </a:stretch>
        </p:blipFill>
        <p:spPr>
          <a:xfrm>
            <a:off x="4771339" y="1689811"/>
            <a:ext cx="332842" cy="332842"/>
          </a:xfrm>
          <a:prstGeom prst="rect">
            <a:avLst/>
          </a:prstGeom>
        </p:spPr>
      </p:pic>
      <p:sp>
        <p:nvSpPr>
          <p:cNvPr id="11" name="Text 7"/>
          <p:cNvSpPr txBox="1"/>
          <p:nvPr/>
        </p:nvSpPr>
        <p:spPr>
          <a:xfrm>
            <a:off x="5394960" y="1609344"/>
            <a:ext cx="2423160" cy="457200"/>
          </a:xfrm>
          <a:prstGeom prst="rect">
            <a:avLst/>
          </a:prstGeom>
          <a:noFill/>
          <a:ln/>
        </p:spPr>
        <p:txBody>
          <a:bodyPr wrap="square" lIns="0" tIns="0" rIns="0" bIns="0" rtlCol="0" anchor="t"/>
          <a:lstStyle/>
          <a:p>
            <a:pPr indent="0" marL="0">
              <a:buNone/>
            </a:pPr>
            <a:r>
              <a:rPr lang="en-US" sz="1700" b="1" dirty="0">
                <a:solidFill>
                  <a:srgbClr val="14213D"/>
                </a:solidFill>
                <a:latin typeface="Cambria" pitchFamily="34" charset="0"/>
                <a:ea typeface="Cambria" pitchFamily="34" charset="-122"/>
                <a:cs typeface="Cambria" pitchFamily="34" charset="-120"/>
              </a:rPr>
              <a:t>Real data</a:t>
            </a:r>
            <a:endParaRPr lang="en-US" sz="1700" dirty="0"/>
          </a:p>
        </p:txBody>
      </p:sp>
      <p:sp>
        <p:nvSpPr>
          <p:cNvPr id="12" name="Text 8"/>
          <p:cNvSpPr txBox="1"/>
          <p:nvPr/>
        </p:nvSpPr>
        <p:spPr>
          <a:xfrm>
            <a:off x="4617720" y="2331720"/>
            <a:ext cx="3063240" cy="164592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29 UCI regression datasets from Wang's AdaSSP study, with his preprocessing; 10-fold cross-validation; δ = 10</a:t>
            </a:r>
            <a:r>
              <a:rPr lang="en-US" sz="1350" baseline="30000" dirty="0">
                <a:solidFill>
                  <a:srgbClr val="1F2937"/>
                </a:solidFill>
                <a:latin typeface="Calibri" pitchFamily="34" charset="0"/>
                <a:ea typeface="Calibri" pitchFamily="34" charset="-122"/>
                <a:cs typeface="Calibri" pitchFamily="34" charset="-120"/>
              </a:rPr>
              <a:t>−6</a:t>
            </a:r>
            <a:r>
              <a:rPr lang="en-US" sz="1350" dirty="0">
                <a:solidFill>
                  <a:srgbClr val="1F2937"/>
                </a:solidFill>
                <a:latin typeface="Calibri" pitchFamily="34" charset="0"/>
                <a:ea typeface="Calibri" pitchFamily="34" charset="-122"/>
                <a:cs typeface="Calibri" pitchFamily="34" charset="-120"/>
              </a:rPr>
              <a:t>.</a:t>
            </a:r>
            <a:endParaRPr lang="en-US" sz="1350" dirty="0"/>
          </a:p>
        </p:txBody>
      </p:sp>
      <p:sp>
        <p:nvSpPr>
          <p:cNvPr id="13" name="Shape 9"/>
          <p:cNvSpPr/>
          <p:nvPr/>
        </p:nvSpPr>
        <p:spPr>
          <a:xfrm>
            <a:off x="8138160" y="1325880"/>
            <a:ext cx="3566160" cy="2697480"/>
          </a:xfrm>
          <a:prstGeom prst="roundRect">
            <a:avLst>
              <a:gd name="adj" fmla="val 2712"/>
            </a:avLst>
          </a:prstGeom>
          <a:solidFill>
            <a:srgbClr val="EEF2F7"/>
          </a:solidFill>
          <a:ln w="12700">
            <a:solidFill>
              <a:srgbClr val="EEF2F7"/>
            </a:solidFill>
            <a:prstDash val="solid"/>
          </a:ln>
        </p:spPr>
      </p:sp>
      <p:sp>
        <p:nvSpPr>
          <p:cNvPr id="14" name="Shape 10"/>
          <p:cNvSpPr/>
          <p:nvPr/>
        </p:nvSpPr>
        <p:spPr>
          <a:xfrm>
            <a:off x="8412480" y="1536192"/>
            <a:ext cx="640080" cy="640080"/>
          </a:xfrm>
          <a:prstGeom prst="ellipse">
            <a:avLst/>
          </a:prstGeom>
          <a:solidFill>
            <a:srgbClr val="3D5A80"/>
          </a:solidFill>
          <a:ln w="12700">
            <a:solidFill>
              <a:srgbClr val="3D5A80"/>
            </a:solidFill>
            <a:prstDash val="solid"/>
          </a:ln>
        </p:spPr>
      </p:sp>
      <p:pic>
        <p:nvPicPr>
          <p:cNvPr id="15" name="Image 2" descr="preencoded.png">    </p:cNvPr>
          <p:cNvPicPr>
            <a:picLocks noChangeAspect="1"/>
          </p:cNvPicPr>
          <p:nvPr/>
        </p:nvPicPr>
        <p:blipFill>
          <a:blip r:embed="rId3"/>
          <a:stretch>
            <a:fillRect/>
          </a:stretch>
        </p:blipFill>
        <p:spPr>
          <a:xfrm>
            <a:off x="8566099" y="1689811"/>
            <a:ext cx="332842" cy="332842"/>
          </a:xfrm>
          <a:prstGeom prst="rect">
            <a:avLst/>
          </a:prstGeom>
        </p:spPr>
      </p:pic>
      <p:sp>
        <p:nvSpPr>
          <p:cNvPr id="16" name="Text 11"/>
          <p:cNvSpPr txBox="1"/>
          <p:nvPr/>
        </p:nvSpPr>
        <p:spPr>
          <a:xfrm>
            <a:off x="9189720" y="1609344"/>
            <a:ext cx="2423160" cy="457200"/>
          </a:xfrm>
          <a:prstGeom prst="rect">
            <a:avLst/>
          </a:prstGeom>
          <a:noFill/>
          <a:ln/>
        </p:spPr>
        <p:txBody>
          <a:bodyPr wrap="square" lIns="0" tIns="0" rIns="0" bIns="0" rtlCol="0" anchor="t"/>
          <a:lstStyle/>
          <a:p>
            <a:pPr indent="0" marL="0">
              <a:buNone/>
            </a:pPr>
            <a:r>
              <a:rPr lang="en-US" sz="1700" b="1" dirty="0">
                <a:solidFill>
                  <a:srgbClr val="14213D"/>
                </a:solidFill>
                <a:latin typeface="Cambria" pitchFamily="34" charset="0"/>
                <a:ea typeface="Cambria" pitchFamily="34" charset="-122"/>
                <a:cs typeface="Cambria" pitchFamily="34" charset="-120"/>
              </a:rPr>
              <a:t>Comparisons</a:t>
            </a:r>
            <a:endParaRPr lang="en-US" sz="1700" dirty="0"/>
          </a:p>
        </p:txBody>
      </p:sp>
      <p:sp>
        <p:nvSpPr>
          <p:cNvPr id="17" name="Text 12"/>
          <p:cNvSpPr txBox="1"/>
          <p:nvPr/>
        </p:nvSpPr>
        <p:spPr>
          <a:xfrm>
            <a:off x="8412480" y="2331720"/>
            <a:ext cx="3063240" cy="164592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Non-private least squares (the floor); predicting zero (the trivial baseline); AdaSSP, central DP on pooled data.</a:t>
            </a:r>
            <a:endParaRPr lang="en-US" sz="1350" dirty="0"/>
          </a:p>
        </p:txBody>
      </p:sp>
      <p:sp>
        <p:nvSpPr>
          <p:cNvPr id="18" name="Shape 13"/>
          <p:cNvSpPr/>
          <p:nvPr/>
        </p:nvSpPr>
        <p:spPr>
          <a:xfrm>
            <a:off x="548640" y="4206240"/>
            <a:ext cx="11064240" cy="2057400"/>
          </a:xfrm>
          <a:prstGeom prst="roundRect">
            <a:avLst>
              <a:gd name="adj" fmla="val 3556"/>
            </a:avLst>
          </a:prstGeom>
          <a:solidFill>
            <a:srgbClr val="F6E3D6"/>
          </a:solidFill>
          <a:ln w="12700">
            <a:solidFill>
              <a:srgbClr val="F6E3D6"/>
            </a:solidFill>
            <a:prstDash val="solid"/>
          </a:ln>
        </p:spPr>
      </p:sp>
      <p:sp>
        <p:nvSpPr>
          <p:cNvPr id="19" name="Text 14"/>
          <p:cNvSpPr txBox="1"/>
          <p:nvPr/>
        </p:nvSpPr>
        <p:spPr>
          <a:xfrm>
            <a:off x="777240" y="4297680"/>
            <a:ext cx="1060704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What the experiments simulate</a:t>
            </a:r>
            <a:endParaRPr lang="en-US" sz="1500" dirty="0"/>
          </a:p>
        </p:txBody>
      </p:sp>
      <p:sp>
        <p:nvSpPr>
          <p:cNvPr id="20" name="Text 15"/>
          <p:cNvSpPr txBox="1"/>
          <p:nvPr/>
        </p:nvSpPr>
        <p:spPr>
          <a:xfrm>
            <a:off x="777240" y="4681728"/>
            <a:ext cx="10607040" cy="15087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One DP release of the statistics (analytic-Gaussian σ), then the ridge solve. The protocol's two releases give a σ</a:t>
            </a:r>
            <a:r>
              <a:rPr lang="en-US" sz="1350" baseline="-25000" dirty="0">
                <a:solidFill>
                  <a:srgbClr val="1F2937"/>
                </a:solidFill>
                <a:latin typeface="Calibri" pitchFamily="34" charset="0"/>
                <a:ea typeface="Calibri" pitchFamily="34" charset="-122"/>
                <a:cs typeface="Calibri" pitchFamily="34" charset="-120"/>
              </a:rPr>
              <a:t>2</a:t>
            </a:r>
            <a:r>
              <a:rPr lang="en-US" sz="1350" dirty="0">
                <a:solidFill>
                  <a:srgbClr val="1F2937"/>
                </a:solidFill>
                <a:latin typeface="Calibri" pitchFamily="34" charset="0"/>
                <a:ea typeface="Calibri" pitchFamily="34" charset="-122"/>
                <a:cs typeface="Calibri" pitchFamily="34" charset="-120"/>
              </a:rPr>
              <a:t> that is 1.11–1.16× larger at the same (ε, δ).</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 ridge was set from a known eigenvalue bound in simulation, and from ℓ = 0 on real data. The protocol learns it from stage 1 instead (previous slide).</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 optional bias correction was applied; on real data it changes test MSE by −3.7% to +2.3%. Reruns under the full protocol are next.</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Linkage and aggregation are exact</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A prototype of these two steps, run end to end over sockets (single key, no release step)</a:t>
            </a:r>
            <a:endParaRPr lang="en-US" sz="1600" dirty="0"/>
          </a:p>
        </p:txBody>
      </p:sp>
      <p:sp>
        <p:nvSpPr>
          <p:cNvPr id="4" name="Shape 2"/>
          <p:cNvSpPr/>
          <p:nvPr/>
        </p:nvSpPr>
        <p:spPr>
          <a:xfrm>
            <a:off x="548640" y="1691640"/>
            <a:ext cx="3566160" cy="2148840"/>
          </a:xfrm>
          <a:prstGeom prst="roundRect">
            <a:avLst>
              <a:gd name="adj" fmla="val 3404"/>
            </a:avLst>
          </a:prstGeom>
          <a:solidFill>
            <a:srgbClr val="EEF2F7"/>
          </a:solidFill>
          <a:ln w="12700">
            <a:solidFill>
              <a:srgbClr val="EEF2F7"/>
            </a:solidFill>
            <a:prstDash val="solid"/>
          </a:ln>
        </p:spPr>
      </p:sp>
      <p:sp>
        <p:nvSpPr>
          <p:cNvPr id="5" name="Text 3"/>
          <p:cNvSpPr txBox="1"/>
          <p:nvPr/>
        </p:nvSpPr>
        <p:spPr>
          <a:xfrm>
            <a:off x="822960" y="1810512"/>
            <a:ext cx="3108960" cy="777240"/>
          </a:xfrm>
          <a:prstGeom prst="rect">
            <a:avLst/>
          </a:prstGeom>
          <a:noFill/>
          <a:ln/>
        </p:spPr>
        <p:txBody>
          <a:bodyPr wrap="square" lIns="0" tIns="0" rIns="0" bIns="0" rtlCol="0" anchor="t"/>
          <a:lstStyle/>
          <a:p>
            <a:pPr indent="0" marL="0">
              <a:buNone/>
            </a:pPr>
            <a:r>
              <a:rPr lang="en-US" sz="3800" b="1" dirty="0">
                <a:solidFill>
                  <a:srgbClr val="14213D"/>
                </a:solidFill>
                <a:latin typeface="Cambria" pitchFamily="34" charset="0"/>
                <a:ea typeface="Cambria" pitchFamily="34" charset="-122"/>
                <a:cs typeface="Cambria" pitchFamily="34" charset="-120"/>
              </a:rPr>
              <a:t>0</a:t>
            </a:r>
            <a:endParaRPr lang="en-US" sz="3800" dirty="0"/>
          </a:p>
        </p:txBody>
      </p:sp>
      <p:sp>
        <p:nvSpPr>
          <p:cNvPr id="6" name="Text 4"/>
          <p:cNvSpPr txBox="1"/>
          <p:nvPr/>
        </p:nvSpPr>
        <p:spPr>
          <a:xfrm>
            <a:off x="822960" y="2606040"/>
            <a:ext cx="310896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misaligned rows</a:t>
            </a:r>
            <a:endParaRPr lang="en-US" sz="1500" dirty="0"/>
          </a:p>
        </p:txBody>
      </p:sp>
      <p:sp>
        <p:nvSpPr>
          <p:cNvPr id="7" name="Text 5"/>
          <p:cNvSpPr txBox="1"/>
          <p:nvPr/>
        </p:nvSpPr>
        <p:spPr>
          <a:xfrm>
            <a:off x="822960" y="2990088"/>
            <a:ext cx="3063240" cy="77724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PSI recovered exactly the true match set in all 6 test cohorts, plaintext and OpenFHE</a:t>
            </a:r>
            <a:endParaRPr lang="en-US" sz="1300" dirty="0"/>
          </a:p>
        </p:txBody>
      </p:sp>
      <p:sp>
        <p:nvSpPr>
          <p:cNvPr id="8" name="Shape 6"/>
          <p:cNvSpPr/>
          <p:nvPr/>
        </p:nvSpPr>
        <p:spPr>
          <a:xfrm>
            <a:off x="4343400" y="1691640"/>
            <a:ext cx="3566160" cy="2148840"/>
          </a:xfrm>
          <a:prstGeom prst="roundRect">
            <a:avLst>
              <a:gd name="adj" fmla="val 3404"/>
            </a:avLst>
          </a:prstGeom>
          <a:solidFill>
            <a:srgbClr val="EEF2F7"/>
          </a:solidFill>
          <a:ln w="12700">
            <a:solidFill>
              <a:srgbClr val="EEF2F7"/>
            </a:solidFill>
            <a:prstDash val="solid"/>
          </a:ln>
        </p:spPr>
      </p:sp>
      <p:sp>
        <p:nvSpPr>
          <p:cNvPr id="9" name="Text 7"/>
          <p:cNvSpPr txBox="1"/>
          <p:nvPr/>
        </p:nvSpPr>
        <p:spPr>
          <a:xfrm>
            <a:off x="4617720" y="1810512"/>
            <a:ext cx="3108960" cy="777240"/>
          </a:xfrm>
          <a:prstGeom prst="rect">
            <a:avLst/>
          </a:prstGeom>
          <a:noFill/>
          <a:ln/>
        </p:spPr>
        <p:txBody>
          <a:bodyPr wrap="square" lIns="0" tIns="0" rIns="0" bIns="0" rtlCol="0" anchor="t"/>
          <a:lstStyle/>
          <a:p>
            <a:pPr indent="0" marL="0">
              <a:buNone/>
            </a:pPr>
            <a:r>
              <a:rPr lang="en-US" sz="3800" b="1" dirty="0">
                <a:solidFill>
                  <a:srgbClr val="C45A0C"/>
                </a:solidFill>
                <a:latin typeface="Cambria" pitchFamily="34" charset="0"/>
                <a:ea typeface="Cambria" pitchFamily="34" charset="-122"/>
                <a:cs typeface="Cambria" pitchFamily="34" charset="-120"/>
              </a:rPr>
              <a:t>≈10</a:t>
            </a:r>
            <a:r>
              <a:rPr lang="en-US" sz="3800" b="1" baseline="30000" dirty="0">
                <a:solidFill>
                  <a:srgbClr val="C45A0C"/>
                </a:solidFill>
                <a:latin typeface="Cambria" pitchFamily="34" charset="0"/>
                <a:ea typeface="Cambria" pitchFamily="34" charset="-122"/>
                <a:cs typeface="Cambria" pitchFamily="34" charset="-120"/>
              </a:rPr>
              <a:t>−10</a:t>
            </a:r>
            <a:endParaRPr lang="en-US" sz="3800" dirty="0"/>
          </a:p>
        </p:txBody>
      </p:sp>
      <p:sp>
        <p:nvSpPr>
          <p:cNvPr id="10" name="Text 8"/>
          <p:cNvSpPr txBox="1"/>
          <p:nvPr/>
        </p:nvSpPr>
        <p:spPr>
          <a:xfrm>
            <a:off x="4617720" y="2606040"/>
            <a:ext cx="310896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max |β − plaintext answer|</a:t>
            </a:r>
            <a:endParaRPr lang="en-US" sz="1500" dirty="0"/>
          </a:p>
        </p:txBody>
      </p:sp>
      <p:sp>
        <p:nvSpPr>
          <p:cNvPr id="11" name="Text 9"/>
          <p:cNvSpPr txBox="1"/>
          <p:nvPr/>
        </p:nvSpPr>
        <p:spPr>
          <a:xfrm>
            <a:off x="4617720" y="2990088"/>
            <a:ext cx="3063240" cy="77724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noise switched off: encryption adds no error to the regression</a:t>
            </a:r>
            <a:endParaRPr lang="en-US" sz="1300" dirty="0"/>
          </a:p>
        </p:txBody>
      </p:sp>
      <p:sp>
        <p:nvSpPr>
          <p:cNvPr id="12" name="Shape 10"/>
          <p:cNvSpPr/>
          <p:nvPr/>
        </p:nvSpPr>
        <p:spPr>
          <a:xfrm>
            <a:off x="8138160" y="1691640"/>
            <a:ext cx="3566160" cy="2148840"/>
          </a:xfrm>
          <a:prstGeom prst="roundRect">
            <a:avLst>
              <a:gd name="adj" fmla="val 3404"/>
            </a:avLst>
          </a:prstGeom>
          <a:solidFill>
            <a:srgbClr val="EEF2F7"/>
          </a:solidFill>
          <a:ln w="12700">
            <a:solidFill>
              <a:srgbClr val="EEF2F7"/>
            </a:solidFill>
            <a:prstDash val="solid"/>
          </a:ln>
        </p:spPr>
      </p:sp>
      <p:sp>
        <p:nvSpPr>
          <p:cNvPr id="13" name="Text 11"/>
          <p:cNvSpPr txBox="1"/>
          <p:nvPr/>
        </p:nvSpPr>
        <p:spPr>
          <a:xfrm>
            <a:off x="8412480" y="1810512"/>
            <a:ext cx="3108960" cy="777240"/>
          </a:xfrm>
          <a:prstGeom prst="rect">
            <a:avLst/>
          </a:prstGeom>
          <a:noFill/>
          <a:ln/>
        </p:spPr>
        <p:txBody>
          <a:bodyPr wrap="square" lIns="0" tIns="0" rIns="0" bIns="0" rtlCol="0" anchor="t"/>
          <a:lstStyle/>
          <a:p>
            <a:pPr indent="0" marL="0">
              <a:buNone/>
            </a:pPr>
            <a:r>
              <a:rPr lang="en-US" sz="3800" b="1" dirty="0">
                <a:solidFill>
                  <a:srgbClr val="14213D"/>
                </a:solidFill>
                <a:latin typeface="Cambria" pitchFamily="34" charset="0"/>
                <a:ea typeface="Cambria" pitchFamily="34" charset="-122"/>
                <a:cs typeface="Cambria" pitchFamily="34" charset="-120"/>
              </a:rPr>
              <a:t>≈13 s</a:t>
            </a:r>
            <a:endParaRPr lang="en-US" sz="3800" dirty="0"/>
          </a:p>
        </p:txBody>
      </p:sp>
      <p:sp>
        <p:nvSpPr>
          <p:cNvPr id="14" name="Text 12"/>
          <p:cNvSpPr txBox="1"/>
          <p:nvPr/>
        </p:nvSpPr>
        <p:spPr>
          <a:xfrm>
            <a:off x="8412480" y="2606040"/>
            <a:ext cx="310896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end-to-end on OpenFHE</a:t>
            </a:r>
            <a:endParaRPr lang="en-US" sz="1500" dirty="0"/>
          </a:p>
        </p:txBody>
      </p:sp>
      <p:sp>
        <p:nvSpPr>
          <p:cNvPr id="15" name="Text 13"/>
          <p:cNvSpPr txBox="1"/>
          <p:nvPr/>
        </p:nvSpPr>
        <p:spPr>
          <a:xfrm>
            <a:off x="8412480" y="2990088"/>
            <a:ext cx="3063240" cy="77724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n = 400 matched out of n</a:t>
            </a:r>
            <a:r>
              <a:rPr lang="en-US" sz="1300" baseline="-25000" dirty="0">
                <a:solidFill>
                  <a:srgbClr val="5B6576"/>
                </a:solidFill>
                <a:latin typeface="Calibri" pitchFamily="34" charset="0"/>
                <a:ea typeface="Calibri" pitchFamily="34" charset="-122"/>
                <a:cs typeface="Calibri" pitchFamily="34" charset="-120"/>
              </a:rPr>
              <a:t>O</a:t>
            </a:r>
            <a:r>
              <a:rPr lang="en-US" sz="1300" dirty="0">
                <a:solidFill>
                  <a:srgbClr val="5B6576"/>
                </a:solidFill>
                <a:latin typeface="Calibri" pitchFamily="34" charset="0"/>
                <a:ea typeface="Calibri" pitchFamily="34" charset="-122"/>
                <a:cs typeface="Calibri" pitchFamily="34" charset="-120"/>
              </a:rPr>
              <a:t> = 4,000 records (OpenFHE 1.5.1)</a:t>
            </a:r>
            <a:endParaRPr lang="en-US" sz="1300" dirty="0"/>
          </a:p>
        </p:txBody>
      </p:sp>
      <p:sp>
        <p:nvSpPr>
          <p:cNvPr id="16" name="Text 14"/>
          <p:cNvSpPr txBox="1"/>
          <p:nvPr/>
        </p:nvSpPr>
        <p:spPr>
          <a:xfrm>
            <a:off x="548640" y="4069080"/>
            <a:ext cx="7315200" cy="411480"/>
          </a:xfrm>
          <a:prstGeom prst="rect">
            <a:avLst/>
          </a:prstGeom>
          <a:noFill/>
          <a:ln/>
        </p:spPr>
        <p:txBody>
          <a:bodyPr wrap="square" lIns="0" tIns="0" rIns="0" bIns="0" rtlCol="0" anchor="t"/>
          <a:lstStyle/>
          <a:p>
            <a:pPr indent="0" marL="0">
              <a:buNone/>
            </a:pPr>
            <a:r>
              <a:rPr lang="en-US" sz="1700" b="1" dirty="0">
                <a:solidFill>
                  <a:srgbClr val="14213D"/>
                </a:solidFill>
                <a:latin typeface="Cambria" pitchFamily="34" charset="0"/>
                <a:ea typeface="Cambria" pitchFamily="34" charset="-122"/>
                <a:cs typeface="Cambria" pitchFamily="34" charset="-120"/>
              </a:rPr>
              <a:t>Cost model of the full protocol, per run</a:t>
            </a:r>
            <a:endParaRPr lang="en-US" sz="1700" dirty="0"/>
          </a:p>
        </p:txBody>
      </p:sp>
      <p:sp>
        <p:nvSpPr>
          <p:cNvPr id="17" name="Shape 15"/>
          <p:cNvSpPr/>
          <p:nvPr/>
        </p:nvSpPr>
        <p:spPr>
          <a:xfrm>
            <a:off x="9692640" y="4114800"/>
            <a:ext cx="1920240" cy="292608"/>
          </a:xfrm>
          <a:prstGeom prst="roundRect">
            <a:avLst>
              <a:gd name="adj" fmla="val 25000"/>
            </a:avLst>
          </a:prstGeom>
          <a:solidFill>
            <a:srgbClr val="3D5A80"/>
          </a:solidFill>
          <a:ln w="12700">
            <a:solidFill>
              <a:srgbClr val="3D5A80"/>
            </a:solidFill>
            <a:prstDash val="solid"/>
          </a:ln>
        </p:spPr>
      </p:sp>
      <p:sp>
        <p:nvSpPr>
          <p:cNvPr id="18" name="Text 16"/>
          <p:cNvSpPr txBox="1"/>
          <p:nvPr/>
        </p:nvSpPr>
        <p:spPr>
          <a:xfrm>
            <a:off x="9692640" y="4114800"/>
            <a:ext cx="192024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Benchmarks to be run</a:t>
            </a:r>
            <a:endParaRPr lang="en-US" sz="11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9144000" cy="914400"/>
        </p:xfrm>
        <a:graphic>
          <a:graphicData uri="http://schemas.openxmlformats.org/drawingml/2006/table">
            <a:tbl>
              <a:tblPr/>
              <a:tblGrid>
                <a:gridCol w="1463040"/>
                <a:gridCol w="3200400"/>
                <a:gridCol w="5120640"/>
                <a:gridCol w="12801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Step</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O's computation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Rounds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10896">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Link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a:t>
                      </a:r>
                      <a:r>
                        <a:rPr lang="en-US" sz="1200" baseline="-25000" dirty="0">
                          <a:solidFill>
                            <a:srgbClr val="1F2937"/>
                          </a:solidFill>
                          <a:latin typeface="Calibri" pitchFamily="34" charset="0"/>
                          <a:ea typeface="Calibri" pitchFamily="34" charset="-122"/>
                          <a:cs typeface="Calibri" pitchFamily="34" charset="-120"/>
                        </a:rPr>
                        <a:t>R</a:t>
                      </a:r>
                      <a:r>
                        <a:rPr lang="en-US" sz="1200" baseline="30000" dirty="0">
                          <a:solidFill>
                            <a:srgbClr val="1F2937"/>
                          </a:solidFill>
                          <a:latin typeface="Calibri" pitchFamily="34" charset="0"/>
                          <a:ea typeface="Calibri" pitchFamily="34" charset="-122"/>
                          <a:cs typeface="Calibri" pitchFamily="34" charset="-120"/>
                        </a:rPr>
                        <a:t>max</a:t>
                      </a:r>
                      <a:r>
                        <a:rPr lang="en-US" sz="1200" dirty="0">
                          <a:solidFill>
                            <a:srgbClr val="1F2937"/>
                          </a:solidFill>
                          <a:latin typeface="Calibri" pitchFamily="34" charset="0"/>
                          <a:ea typeface="Calibri" pitchFamily="34" charset="-122"/>
                          <a:cs typeface="Calibri" pitchFamily="34" charset="-120"/>
                        </a:rPr>
                        <a:t> OPRF calls; PSI query and reply</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Preprocessing linear in n̄</a:t>
                      </a:r>
                      <a:r>
                        <a:rPr lang="en-US" sz="1200" baseline="-25000" dirty="0">
                          <a:solidFill>
                            <a:srgbClr val="1F2937"/>
                          </a:solidFill>
                          <a:latin typeface="Calibri" pitchFamily="34" charset="0"/>
                          <a:ea typeface="Calibri" pitchFamily="34" charset="-122"/>
                          <a:cs typeface="Calibri" pitchFamily="34" charset="-120"/>
                        </a:rPr>
                        <a:t>O</a:t>
                      </a:r>
                      <a:r>
                        <a:rPr lang="en-US" sz="1200" dirty="0">
                          <a:solidFill>
                            <a:srgbClr val="1F2937"/>
                          </a:solidFill>
                          <a:latin typeface="Calibri" pitchFamily="34" charset="0"/>
                          <a:ea typeface="Calibri" pitchFamily="34" charset="-122"/>
                          <a:cs typeface="Calibri" pitchFamily="34" charset="-120"/>
                        </a:rPr>
                        <a:t>; per-query evaluation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Upload</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(d</a:t>
                      </a:r>
                      <a:r>
                        <a:rPr lang="en-US" sz="1200" baseline="-25000" dirty="0">
                          <a:solidFill>
                            <a:srgbClr val="1F2937"/>
                          </a:solidFill>
                          <a:latin typeface="Calibri" pitchFamily="34" charset="0"/>
                          <a:ea typeface="Calibri" pitchFamily="34" charset="-122"/>
                          <a:cs typeface="Calibri" pitchFamily="34" charset="-120"/>
                        </a:rPr>
                        <a:t>R</a:t>
                      </a:r>
                      <a:r>
                        <a:rPr lang="en-US" sz="1200" dirty="0">
                          <a:solidFill>
                            <a:srgbClr val="1F2937"/>
                          </a:solidFill>
                          <a:latin typeface="Calibri" pitchFamily="34" charset="0"/>
                          <a:ea typeface="Calibri" pitchFamily="34" charset="-122"/>
                          <a:cs typeface="Calibri" pitchFamily="34" charset="-120"/>
                        </a:rPr>
                        <a:t> + 2)·m half-size ciphertexts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(d</a:t>
                      </a:r>
                      <a:r>
                        <a:rPr lang="en-US" sz="1200" baseline="-25000" dirty="0">
                          <a:solidFill>
                            <a:srgbClr val="1F2937"/>
                          </a:solidFill>
                          <a:latin typeface="Calibri" pitchFamily="34" charset="0"/>
                          <a:ea typeface="Calibri" pitchFamily="34" charset="-122"/>
                          <a:cs typeface="Calibri" pitchFamily="34" charset="-120"/>
                        </a:rPr>
                        <a:t>R</a:t>
                      </a:r>
                      <a:r>
                        <a:rPr lang="en-US" sz="1200" dirty="0">
                          <a:solidFill>
                            <a:srgbClr val="1F2937"/>
                          </a:solidFill>
                          <a:latin typeface="Calibri" pitchFamily="34" charset="0"/>
                          <a:ea typeface="Calibri" pitchFamily="34" charset="-122"/>
                          <a:cs typeface="Calibri" pitchFamily="34" charset="-120"/>
                        </a:rPr>
                        <a:t> + 2)·m key conversions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Aggregate</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|ℰ|·m ciphertext–plaintext products; |ℰ|·log</a:t>
                      </a:r>
                      <a:r>
                        <a:rPr lang="en-US" sz="1200" baseline="-25000" dirty="0">
                          <a:solidFill>
                            <a:srgbClr val="1F2937"/>
                          </a:solidFill>
                          <a:latin typeface="Calibri" pitchFamily="34" charset="0"/>
                          <a:ea typeface="Calibri" pitchFamily="34" charset="-122"/>
                          <a:cs typeface="Calibri" pitchFamily="34" charset="-120"/>
                        </a:rPr>
                        <a:t>2</a:t>
                      </a:r>
                      <a:r>
                        <a:rPr lang="en-US" sz="1200" dirty="0">
                          <a:solidFill>
                            <a:srgbClr val="1F2937"/>
                          </a:solidFill>
                          <a:latin typeface="Calibri" pitchFamily="34" charset="0"/>
                          <a:ea typeface="Calibri" pitchFamily="34" charset="-122"/>
                          <a:cs typeface="Calibri" pitchFamily="34" charset="-120"/>
                        </a:rPr>
                        <a:t>(N/2) rotations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Release (×2)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Two ring elements each</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Re-randomization, partial decryption, N exact noise samples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 each</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20" name="Text 17"/>
          <p:cNvSpPr txBox="1"/>
          <p:nvPr/>
        </p:nvSpPr>
        <p:spPr>
          <a:xfrm>
            <a:off x="548640" y="6172200"/>
            <a:ext cx="11064240" cy="411480"/>
          </a:xfrm>
          <a:prstGeom prst="rect">
            <a:avLst/>
          </a:prstGeom>
          <a:noFill/>
          <a:ln/>
        </p:spPr>
        <p:txBody>
          <a:bodyPr wrap="square" lIns="0" tIns="0" rIns="0" bIns="0" rtlCol="0" anchor="t"/>
          <a:lstStyle/>
          <a:p>
            <a:pPr indent="0" marL="0">
              <a:buNone/>
            </a:pPr>
            <a:r>
              <a:rPr lang="en-US" sz="1150" i="1" dirty="0">
                <a:solidFill>
                  <a:srgbClr val="5B6576"/>
                </a:solidFill>
                <a:latin typeface="Calibri" pitchFamily="34" charset="0"/>
                <a:ea typeface="Calibri" pitchFamily="34" charset="-122"/>
                <a:cs typeface="Calibri" pitchFamily="34" charset="-120"/>
              </a:rPr>
              <a:t>m = ⌈n̄</a:t>
            </a:r>
            <a:r>
              <a:rPr lang="en-US" sz="1150" i="1" baseline="-25000" dirty="0">
                <a:solidFill>
                  <a:srgbClr val="5B6576"/>
                </a:solidFill>
                <a:latin typeface="Calibri" pitchFamily="34" charset="0"/>
                <a:ea typeface="Calibri" pitchFamily="34" charset="-122"/>
                <a:cs typeface="Calibri" pitchFamily="34" charset="-120"/>
              </a:rPr>
              <a:t>O</a:t>
            </a:r>
            <a:r>
              <a:rPr lang="en-US" sz="1150" i="1" dirty="0">
                <a:solidFill>
                  <a:srgbClr val="5B6576"/>
                </a:solidFill>
                <a:latin typeface="Calibri" pitchFamily="34" charset="0"/>
                <a:ea typeface="Calibri" pitchFamily="34" charset="-122"/>
                <a:cs typeface="Calibri" pitchFamily="34" charset="-120"/>
              </a:rPr>
              <a:t>/(N/2)⌉ chunks; |ℰ| = number of released entries. O's work grows with the padded register n̄</a:t>
            </a:r>
            <a:r>
              <a:rPr lang="en-US" sz="1150" i="1" baseline="-25000" dirty="0">
                <a:solidFill>
                  <a:srgbClr val="5B6576"/>
                </a:solidFill>
                <a:latin typeface="Calibri" pitchFamily="34" charset="0"/>
                <a:ea typeface="Calibri" pitchFamily="34" charset="-122"/>
                <a:cs typeface="Calibri" pitchFamily="34" charset="-120"/>
              </a:rPr>
              <a:t>O</a:t>
            </a:r>
            <a:r>
              <a:rPr lang="en-US" sz="1150" i="1" dirty="0">
                <a:solidFill>
                  <a:srgbClr val="5B6576"/>
                </a:solidFill>
                <a:latin typeface="Calibri" pitchFamily="34" charset="0"/>
                <a:ea typeface="Calibri" pitchFamily="34" charset="-122"/>
                <a:cs typeface="Calibri" pitchFamily="34" charset="-120"/>
              </a:rPr>
              <a:t>, so the public scope Φ is the main lever on cost.</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Accuracy against intersection size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Simulation, R</a:t>
            </a:r>
            <a:r>
              <a:rPr lang="en-US" sz="1600" i="1" baseline="30000" dirty="0">
                <a:solidFill>
                  <a:srgbClr val="5B6576"/>
                </a:solidFill>
                <a:latin typeface="Calibri" pitchFamily="34" charset="0"/>
                <a:ea typeface="Calibri" pitchFamily="34" charset="-122"/>
                <a:cs typeface="Calibri" pitchFamily="34" charset="-120"/>
              </a:rPr>
              <a:t>2</a:t>
            </a:r>
            <a:r>
              <a:rPr lang="en-US" sz="1600" i="1" dirty="0">
                <a:solidFill>
                  <a:srgbClr val="5B6576"/>
                </a:solidFill>
                <a:latin typeface="Calibri" pitchFamily="34" charset="0"/>
                <a:ea typeface="Calibri" pitchFamily="34" charset="-122"/>
                <a:cs typeface="Calibri" pitchFamily="34" charset="-120"/>
              </a:rPr>
              <a:t> = 0.5, one release per run</a:t>
            </a:r>
            <a:endParaRPr lang="en-US" sz="1600" dirty="0"/>
          </a:p>
        </p:txBody>
      </p:sp>
      <p:pic>
        <p:nvPicPr>
          <p:cNvPr id="4" name="Image 0" descr="/home/user/VerticalFederatedRegression/reports/coef_accuracy/figA_rmse_vs_n_r2_0.5.png">    </p:cNvPr>
          <p:cNvPicPr>
            <a:picLocks noChangeAspect="1"/>
          </p:cNvPicPr>
          <p:nvPr/>
        </p:nvPicPr>
        <p:blipFill>
          <a:blip r:embed="rId1"/>
          <a:stretch>
            <a:fillRect/>
          </a:stretch>
        </p:blipFill>
        <p:spPr>
          <a:xfrm>
            <a:off x="365760" y="1417320"/>
            <a:ext cx="7772400" cy="4996543"/>
          </a:xfrm>
          <a:prstGeom prst="rect">
            <a:avLst/>
          </a:prstGeom>
        </p:spPr>
      </p:pic>
      <p:sp>
        <p:nvSpPr>
          <p:cNvPr id="5" name="Shape 2"/>
          <p:cNvSpPr/>
          <p:nvPr/>
        </p:nvSpPr>
        <p:spPr>
          <a:xfrm>
            <a:off x="8321040" y="1463040"/>
            <a:ext cx="3337560" cy="4754880"/>
          </a:xfrm>
          <a:prstGeom prst="roundRect">
            <a:avLst>
              <a:gd name="adj" fmla="val 2192"/>
            </a:avLst>
          </a:prstGeom>
          <a:solidFill>
            <a:srgbClr val="EEF2F7"/>
          </a:solidFill>
          <a:ln w="12700">
            <a:solidFill>
              <a:srgbClr val="EEF2F7"/>
            </a:solidFill>
            <a:prstDash val="solid"/>
          </a:ln>
        </p:spPr>
      </p:sp>
      <p:sp>
        <p:nvSpPr>
          <p:cNvPr id="6" name="Text 3"/>
          <p:cNvSpPr txBox="1"/>
          <p:nvPr/>
        </p:nvSpPr>
        <p:spPr>
          <a:xfrm>
            <a:off x="8549640" y="1645920"/>
            <a:ext cx="2926080" cy="64008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Within 2× of non-private least squares at</a:t>
            </a:r>
            <a:endParaRPr lang="en-US" sz="1500" dirty="0"/>
          </a:p>
        </p:txBody>
      </p:sp>
      <p:sp>
        <p:nvSpPr>
          <p:cNvPr id="7" name="Text 4"/>
          <p:cNvSpPr txBox="1"/>
          <p:nvPr/>
        </p:nvSpPr>
        <p:spPr>
          <a:xfrm>
            <a:off x="8549640" y="2331720"/>
            <a:ext cx="1097280" cy="41148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ε = 8</a:t>
            </a:r>
            <a:endParaRPr lang="en-US" sz="1500" dirty="0"/>
          </a:p>
        </p:txBody>
      </p:sp>
      <p:sp>
        <p:nvSpPr>
          <p:cNvPr id="8" name="Text 5"/>
          <p:cNvSpPr txBox="1"/>
          <p:nvPr/>
        </p:nvSpPr>
        <p:spPr>
          <a:xfrm>
            <a:off x="9692640" y="2331720"/>
            <a:ext cx="1828800" cy="41148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n ≈ 3.2k</a:t>
            </a:r>
            <a:endParaRPr lang="en-US" sz="1500" dirty="0"/>
          </a:p>
        </p:txBody>
      </p:sp>
      <p:sp>
        <p:nvSpPr>
          <p:cNvPr id="9" name="Text 6"/>
          <p:cNvSpPr txBox="1"/>
          <p:nvPr/>
        </p:nvSpPr>
        <p:spPr>
          <a:xfrm>
            <a:off x="8549640" y="2788920"/>
            <a:ext cx="1097280" cy="41148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ε = 4</a:t>
            </a:r>
            <a:endParaRPr lang="en-US" sz="1500" dirty="0"/>
          </a:p>
        </p:txBody>
      </p:sp>
      <p:sp>
        <p:nvSpPr>
          <p:cNvPr id="10" name="Text 7"/>
          <p:cNvSpPr txBox="1"/>
          <p:nvPr/>
        </p:nvSpPr>
        <p:spPr>
          <a:xfrm>
            <a:off x="9692640" y="2788920"/>
            <a:ext cx="1828800" cy="41148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n ≈ 9.4k</a:t>
            </a:r>
            <a:endParaRPr lang="en-US" sz="1500" dirty="0"/>
          </a:p>
        </p:txBody>
      </p:sp>
      <p:sp>
        <p:nvSpPr>
          <p:cNvPr id="11" name="Text 8"/>
          <p:cNvSpPr txBox="1"/>
          <p:nvPr/>
        </p:nvSpPr>
        <p:spPr>
          <a:xfrm>
            <a:off x="8549640" y="3246120"/>
            <a:ext cx="1097280" cy="41148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ε = 2</a:t>
            </a:r>
            <a:endParaRPr lang="en-US" sz="1500" dirty="0"/>
          </a:p>
        </p:txBody>
      </p:sp>
      <p:sp>
        <p:nvSpPr>
          <p:cNvPr id="12" name="Text 9"/>
          <p:cNvSpPr txBox="1"/>
          <p:nvPr/>
        </p:nvSpPr>
        <p:spPr>
          <a:xfrm>
            <a:off x="9692640" y="3246120"/>
            <a:ext cx="1828800" cy="41148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n ≈ 34k</a:t>
            </a:r>
            <a:endParaRPr lang="en-US" sz="1500" dirty="0"/>
          </a:p>
        </p:txBody>
      </p:sp>
      <p:sp>
        <p:nvSpPr>
          <p:cNvPr id="13" name="Text 10"/>
          <p:cNvSpPr txBox="1"/>
          <p:nvPr/>
        </p:nvSpPr>
        <p:spPr>
          <a:xfrm>
            <a:off x="8549640" y="3703320"/>
            <a:ext cx="1097280" cy="41148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ε = 1</a:t>
            </a:r>
            <a:endParaRPr lang="en-US" sz="1500" dirty="0"/>
          </a:p>
        </p:txBody>
      </p:sp>
      <p:sp>
        <p:nvSpPr>
          <p:cNvPr id="14" name="Text 11"/>
          <p:cNvSpPr txBox="1"/>
          <p:nvPr/>
        </p:nvSpPr>
        <p:spPr>
          <a:xfrm>
            <a:off x="9692640" y="3703320"/>
            <a:ext cx="1828800" cy="41148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n ≈ 105k</a:t>
            </a:r>
            <a:endParaRPr lang="en-US" sz="1500" dirty="0"/>
          </a:p>
        </p:txBody>
      </p:sp>
      <p:sp>
        <p:nvSpPr>
          <p:cNvPr id="15" name="Text 12"/>
          <p:cNvSpPr txBox="1"/>
          <p:nvPr/>
        </p:nvSpPr>
        <p:spPr>
          <a:xfrm>
            <a:off x="8549640" y="4251960"/>
            <a:ext cx="2926080" cy="19202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Small n: the ridge pulls the estimate towards 0</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Then the DP error falls like 1/n and merges into the sampling floor</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Run-to-run spread is about ×2.5–3</a:t>
            </a:r>
            <a:endParaRPr lang="en-US" sz="13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Where the error comes from when σ is large</a:t>
            </a:r>
            <a:endParaRPr lang="en-US" sz="3200" dirty="0"/>
          </a:p>
        </p:txBody>
      </p:sp>
      <p:pic>
        <p:nvPicPr>
          <p:cNvPr id="3" name="Image 0" descr="/home/user/VerticalFederatedRegression/reports/bias_correction/fig2_decomposition.png">    </p:cNvPr>
          <p:cNvPicPr>
            <a:picLocks noChangeAspect="1"/>
          </p:cNvPicPr>
          <p:nvPr/>
        </p:nvPicPr>
        <p:blipFill>
          <a:blip r:embed="rId1"/>
          <a:stretch>
            <a:fillRect/>
          </a:stretch>
        </p:blipFill>
        <p:spPr>
          <a:xfrm>
            <a:off x="365760" y="1143000"/>
            <a:ext cx="11430000" cy="2872890"/>
          </a:xfrm>
          <a:prstGeom prst="rect">
            <a:avLst/>
          </a:prstGeom>
        </p:spPr>
      </p:pic>
      <p:sp>
        <p:nvSpPr>
          <p:cNvPr id="4" name="Shape 1"/>
          <p:cNvSpPr/>
          <p:nvPr/>
        </p:nvSpPr>
        <p:spPr>
          <a:xfrm>
            <a:off x="548640" y="4160520"/>
            <a:ext cx="5440680" cy="2057400"/>
          </a:xfrm>
          <a:prstGeom prst="roundRect">
            <a:avLst>
              <a:gd name="adj" fmla="val 3556"/>
            </a:avLst>
          </a:prstGeom>
          <a:solidFill>
            <a:srgbClr val="EEF2F7"/>
          </a:solidFill>
          <a:ln w="12700">
            <a:solidFill>
              <a:srgbClr val="EEF2F7"/>
            </a:solidFill>
            <a:prstDash val="solid"/>
          </a:ln>
        </p:spPr>
      </p:sp>
      <p:sp>
        <p:nvSpPr>
          <p:cNvPr id="5" name="Text 2"/>
          <p:cNvSpPr txBox="1"/>
          <p:nvPr/>
        </p:nvSpPr>
        <p:spPr>
          <a:xfrm>
            <a:off x="777240" y="4279392"/>
            <a:ext cx="5029200" cy="3657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Error anatomy</a:t>
            </a:r>
            <a:endParaRPr lang="en-US" sz="1600" dirty="0"/>
          </a:p>
        </p:txBody>
      </p:sp>
      <p:sp>
        <p:nvSpPr>
          <p:cNvPr id="6" name="Text 3"/>
          <p:cNvSpPr txBox="1"/>
          <p:nvPr/>
        </p:nvSpPr>
        <p:spPr>
          <a:xfrm>
            <a:off x="777240" y="4681728"/>
            <a:ext cx="5029200" cy="14630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Heavy ridge: 72–90% of the error is shrinkage, 11–31% noise variance</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Bias from the noise itself: at most 0.75% of the error</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At large n, clipping shifts the target slightly (any DP method pays this)</a:t>
            </a:r>
            <a:endParaRPr lang="en-US" sz="1350" dirty="0"/>
          </a:p>
        </p:txBody>
      </p:sp>
      <p:sp>
        <p:nvSpPr>
          <p:cNvPr id="7" name="Shape 4"/>
          <p:cNvSpPr/>
          <p:nvPr/>
        </p:nvSpPr>
        <p:spPr>
          <a:xfrm>
            <a:off x="6172200" y="4160520"/>
            <a:ext cx="5440680" cy="2057400"/>
          </a:xfrm>
          <a:prstGeom prst="roundRect">
            <a:avLst>
              <a:gd name="adj" fmla="val 3556"/>
            </a:avLst>
          </a:prstGeom>
          <a:solidFill>
            <a:srgbClr val="F6E3D6"/>
          </a:solidFill>
          <a:ln w="12700">
            <a:solidFill>
              <a:srgbClr val="F6E3D6"/>
            </a:solidFill>
            <a:prstDash val="solid"/>
          </a:ln>
        </p:spPr>
      </p:sp>
      <p:sp>
        <p:nvSpPr>
          <p:cNvPr id="8" name="Text 5"/>
          <p:cNvSpPr txBox="1"/>
          <p:nvPr/>
        </p:nvSpPr>
        <p:spPr>
          <a:xfrm>
            <a:off x="6400800" y="4279392"/>
            <a:ext cx="5029200" cy="365760"/>
          </a:xfrm>
          <a:prstGeom prst="rect">
            <a:avLst/>
          </a:prstGeom>
          <a:noFill/>
          <a:ln/>
        </p:spPr>
        <p:txBody>
          <a:bodyPr wrap="square" lIns="0" tIns="0" rIns="0" bIns="0" rtlCol="0" anchor="t"/>
          <a:lstStyle/>
          <a:p>
            <a:pPr indent="0" marL="0">
              <a:buNone/>
            </a:pPr>
            <a:r>
              <a:rPr lang="en-US" sz="1600" b="1" dirty="0">
                <a:solidFill>
                  <a:srgbClr val="C45A0C"/>
                </a:solidFill>
                <a:latin typeface="Calibri" pitchFamily="34" charset="0"/>
                <a:ea typeface="Calibri" pitchFamily="34" charset="-122"/>
                <a:cs typeface="Calibri" pitchFamily="34" charset="-120"/>
              </a:rPr>
              <a:t>So what?</a:t>
            </a:r>
            <a:endParaRPr lang="en-US" sz="1600" dirty="0"/>
          </a:p>
        </p:txBody>
      </p:sp>
      <p:sp>
        <p:nvSpPr>
          <p:cNvPr id="9" name="Text 6"/>
          <p:cNvSpPr txBox="1"/>
          <p:nvPr/>
        </p:nvSpPr>
        <p:spPr>
          <a:xfrm>
            <a:off x="6400800" y="4681728"/>
            <a:ext cx="5029200" cy="14630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 ridge, not the noise, limits accuracy at small n: tighter bounds and more matched records help most</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A second-order bias correction exists but changes little, so it is optional and off by default</a:t>
            </a:r>
            <a:endParaRPr lang="en-US" sz="13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Intervals that hold up</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Simulation of the release and the solve step, 2,000 replications per scenario</a:t>
            </a:r>
            <a:endParaRPr lang="en-US" sz="1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a:tblGrid>
                <a:gridCol w="2377440"/>
                <a:gridCol w="822960"/>
                <a:gridCol w="2286000"/>
                <a:gridCol w="2651760"/>
                <a:gridCol w="2926080"/>
              </a:tblGrid>
              <a:tr h="50292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Scenario</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Ridge</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Wald interval for θ</a:t>
                      </a:r>
                      <a:r>
                        <a:rPr lang="en-US" sz="1300" b="1" baseline="-25000" dirty="0">
                          <a:solidFill>
                            <a:srgbClr val="FFFFFF"/>
                          </a:solidFill>
                          <a:latin typeface="Calibri" pitchFamily="34" charset="0"/>
                          <a:ea typeface="Calibri" pitchFamily="34" charset="-122"/>
                          <a:cs typeface="Calibri" pitchFamily="34" charset="-120"/>
                        </a:rPr>
                        <a:t>λ</a:t>
                      </a:r>
                      <a:r>
                        <a:rPr lang="en-US" sz="1300" b="1" dirty="0">
                          <a:solidFill>
                            <a:srgbClr val="FFFFFF"/>
                          </a:solidFill>
                          <a:latin typeface="Calibri" pitchFamily="34" charset="0"/>
                          <a:ea typeface="Calibri" pitchFamily="34" charset="-122"/>
                          <a:cs typeface="Calibri" pitchFamily="34" charset="-120"/>
                        </a:rPr>
                        <a:t> (target 0.955)</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Bias-aware interval for β (target ≥ 0.95)</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50292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Ridge off</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4,000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λ = 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0.946–0.958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0.945–0.968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0292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Ridge on, whole matrix</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1,500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Ψ = I, median λ = 477</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0.948–0.960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1.000 with a public bound on ‖β‖; unbounded without</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0292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Ridge on, O's block only</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3,000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Ψ = Π</a:t>
                      </a:r>
                      <a:r>
                        <a:rPr lang="en-US" sz="1300" baseline="-25000" dirty="0">
                          <a:solidFill>
                            <a:srgbClr val="1F2937"/>
                          </a:solidFill>
                          <a:latin typeface="Calibri" pitchFamily="34" charset="0"/>
                          <a:ea typeface="Calibri" pitchFamily="34" charset="-122"/>
                          <a:cs typeface="Calibri" pitchFamily="34" charset="-120"/>
                        </a:rPr>
                        <a:t>O</a:t>
                      </a:r>
                      <a:r>
                        <a:rPr lang="en-US" sz="1300" dirty="0">
                          <a:solidFill>
                            <a:srgbClr val="1F2937"/>
                          </a:solidFill>
                          <a:latin typeface="Calibri" pitchFamily="34" charset="0"/>
                          <a:ea typeface="Calibri" pitchFamily="34" charset="-122"/>
                          <a:cs typeface="Calibri" pitchFamily="34" charset="-120"/>
                        </a:rPr>
                        <a:t>, median λ = 439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0.944–0.962</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unbounded without a public bound</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0292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Small n, public bound</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Ψ = I, median λ = 1,021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0.946–0.962</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5" name="Shape 2"/>
          <p:cNvSpPr/>
          <p:nvPr/>
        </p:nvSpPr>
        <p:spPr>
          <a:xfrm>
            <a:off x="548640" y="4389120"/>
            <a:ext cx="5440680" cy="1783080"/>
          </a:xfrm>
          <a:prstGeom prst="roundRect">
            <a:avLst>
              <a:gd name="adj" fmla="val 4103"/>
            </a:avLst>
          </a:prstGeom>
          <a:solidFill>
            <a:srgbClr val="F7F9FC"/>
          </a:solidFill>
          <a:ln w="12700">
            <a:solidFill>
              <a:srgbClr val="F7F9FC"/>
            </a:solidFill>
            <a:prstDash val="solid"/>
          </a:ln>
        </p:spPr>
      </p:sp>
      <p:sp>
        <p:nvSpPr>
          <p:cNvPr id="6" name="Text 3"/>
          <p:cNvSpPr txBox="1"/>
          <p:nvPr/>
        </p:nvSpPr>
        <p:spPr>
          <a:xfrm>
            <a:off x="777240" y="4498848"/>
            <a:ext cx="502920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Reading the table</a:t>
            </a:r>
            <a:endParaRPr lang="en-US" sz="1500" dirty="0"/>
          </a:p>
        </p:txBody>
      </p:sp>
      <p:sp>
        <p:nvSpPr>
          <p:cNvPr id="7" name="Text 4"/>
          <p:cNvSpPr txBox="1"/>
          <p:nvPr/>
        </p:nvSpPr>
        <p:spPr>
          <a:xfrm>
            <a:off x="777240" y="4892040"/>
            <a:ext cx="5029200" cy="1234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Ranges are over the 11 coefficients</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 Wald interval hits its target with or without the ridge</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 β interval is conservative: worst-case bias, and a cautious variance</a:t>
            </a:r>
            <a:endParaRPr lang="en-US" sz="1350" dirty="0"/>
          </a:p>
        </p:txBody>
      </p:sp>
      <p:sp>
        <p:nvSpPr>
          <p:cNvPr id="8" name="Shape 5"/>
          <p:cNvSpPr/>
          <p:nvPr/>
        </p:nvSpPr>
        <p:spPr>
          <a:xfrm>
            <a:off x="6172200" y="4389120"/>
            <a:ext cx="5440680" cy="1783080"/>
          </a:xfrm>
          <a:prstGeom prst="roundRect">
            <a:avLst>
              <a:gd name="adj" fmla="val 4103"/>
            </a:avLst>
          </a:prstGeom>
          <a:solidFill>
            <a:srgbClr val="F6E3D6"/>
          </a:solidFill>
          <a:ln w="12700">
            <a:solidFill>
              <a:srgbClr val="F6E3D6"/>
            </a:solidFill>
            <a:prstDash val="solid"/>
          </a:ln>
        </p:spPr>
      </p:sp>
      <p:sp>
        <p:nvSpPr>
          <p:cNvPr id="9" name="Text 6"/>
          <p:cNvSpPr txBox="1"/>
          <p:nvPr/>
        </p:nvSpPr>
        <p:spPr>
          <a:xfrm>
            <a:off x="6400800" y="4498848"/>
            <a:ext cx="502920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For contrast</a:t>
            </a:r>
            <a:endParaRPr lang="en-US" sz="1500" dirty="0"/>
          </a:p>
        </p:txBody>
      </p:sp>
      <p:sp>
        <p:nvSpPr>
          <p:cNvPr id="10" name="Text 7"/>
          <p:cNvSpPr txBox="1"/>
          <p:nvPr/>
        </p:nvSpPr>
        <p:spPr>
          <a:xfrm>
            <a:off x="6400800" y="4892040"/>
            <a:ext cx="5029200" cy="12344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A naive Wald interval around a ridge estimate, read as an interval for β, covered only 42–81% when no eigenvalue bound was known. Naming the target matters.</a:t>
            </a:r>
            <a:endParaRPr lang="en-US" sz="13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Real data against central DP</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Test MSE ÷ non-private at ε = 1, δ = 10</a:t>
            </a:r>
            <a:r>
              <a:rPr lang="en-US" sz="1600" i="1" baseline="30000" dirty="0">
                <a:solidFill>
                  <a:srgbClr val="5B6576"/>
                </a:solidFill>
                <a:latin typeface="Calibri" pitchFamily="34" charset="0"/>
                <a:ea typeface="Calibri" pitchFamily="34" charset="-122"/>
                <a:cs typeface="Calibri" pitchFamily="34" charset="-120"/>
              </a:rPr>
              <a:t>−6</a:t>
            </a:r>
            <a:r>
              <a:rPr lang="en-US" sz="1600" i="1" dirty="0">
                <a:solidFill>
                  <a:srgbClr val="5B6576"/>
                </a:solidFill>
                <a:latin typeface="Calibri" pitchFamily="34" charset="0"/>
                <a:ea typeface="Calibri" pitchFamily="34" charset="-122"/>
                <a:cs typeface="Calibri" pitchFamily="34" charset="-120"/>
              </a:rPr>
              <a:t>, 10-fold cross-validation</a:t>
            </a:r>
            <a:endParaRPr lang="en-US" sz="1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a:tblGrid>
                <a:gridCol w="1645920"/>
                <a:gridCol w="1097280"/>
                <a:gridCol w="640080"/>
                <a:gridCol w="1554480"/>
                <a:gridCol w="2103120"/>
                <a:gridCol w="182880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Dataset</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Predict zero</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AdaSSP (pooled data)</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This protocol</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housing</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506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2.82×</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wine</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1,599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2.82×</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1.68×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1.84×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airfoil</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1,503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1.94×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1.09×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1.16×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concrete</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1,030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2.87×</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1.69×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bike</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17,379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1.03×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elevators</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16,599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4.23×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1.51×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1.71×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pol</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15,000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2.56×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1.04×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kin40k</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40,000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protein</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45,730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5" name="Shape 2"/>
          <p:cNvSpPr/>
          <p:nvPr/>
        </p:nvSpPr>
        <p:spPr>
          <a:xfrm>
            <a:off x="9601200" y="1600200"/>
            <a:ext cx="2011680" cy="1691640"/>
          </a:xfrm>
          <a:prstGeom prst="roundRect">
            <a:avLst>
              <a:gd name="adj" fmla="val 4324"/>
            </a:avLst>
          </a:prstGeom>
          <a:solidFill>
            <a:srgbClr val="F6E3D6"/>
          </a:solidFill>
          <a:ln w="12700">
            <a:solidFill>
              <a:srgbClr val="F6E3D6"/>
            </a:solidFill>
            <a:prstDash val="solid"/>
          </a:ln>
        </p:spPr>
      </p:sp>
      <p:sp>
        <p:nvSpPr>
          <p:cNvPr id="6" name="Text 3"/>
          <p:cNvSpPr txBox="1"/>
          <p:nvPr/>
        </p:nvSpPr>
        <p:spPr>
          <a:xfrm>
            <a:off x="9738360" y="1719072"/>
            <a:ext cx="1737360" cy="14630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1.0× = as good as non-private; lower is better; bold = better private method.</a:t>
            </a:r>
            <a:endParaRPr lang="en-US" sz="1250" dirty="0"/>
          </a:p>
        </p:txBody>
      </p:sp>
      <p:sp>
        <p:nvSpPr>
          <p:cNvPr id="7" name="Text 4"/>
          <p:cNvSpPr txBox="1"/>
          <p:nvPr/>
        </p:nvSpPr>
        <p:spPr>
          <a:xfrm>
            <a:off x="548640" y="5440680"/>
            <a:ext cx="11064240" cy="777240"/>
          </a:xfrm>
          <a:prstGeom prst="rect">
            <a:avLst/>
          </a:prstGeom>
          <a:noFill/>
          <a:ln/>
        </p:spPr>
        <p:txBody>
          <a:bodyPr wrap="square" lIns="0" tIns="0" rIns="0" bIns="0" rtlCol="0" anchor="t"/>
          <a:lstStyle/>
          <a:p>
            <a:pPr indent="0" marL="0">
              <a:buNone/>
            </a:pPr>
            <a:r>
              <a:rPr lang="en-US" sz="1250" i="1" dirty="0">
                <a:solidFill>
                  <a:srgbClr val="5B6576"/>
                </a:solidFill>
                <a:latin typeface="Calibri" pitchFamily="34" charset="0"/>
                <a:ea typeface="Calibri" pitchFamily="34" charset="-122"/>
                <a:cs typeface="Calibri" pitchFamily="34" charset="-120"/>
              </a:rPr>
              <a:t>AdaSSP needs one curator with the pooled data, and protects the whole record. At nominal ε = 1 it is actually more private (ε ≈ 0.82), so the comparison favours it. Here the protocol's R holds about half the features.</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Across privacy levels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Test MSE ÷ non-private on three datasets of increasing size; bars: 95% CI over the 10 folds</a:t>
            </a:r>
            <a:endParaRPr lang="en-US" sz="1600" dirty="0"/>
          </a:p>
        </p:txBody>
      </p:sp>
      <p:graphicFrame>
        <p:nvGraphicFramePr>
          <p:cNvPr id="4" name="Chart 0" descr=""/>
          <p:cNvGraphicFramePr/>
          <p:nvPr/>
        </p:nvGraphicFramePr>
        <p:xfrm>
          <a:off x="548640" y="1463040"/>
          <a:ext cx="361188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297680" y="1463040"/>
          <a:ext cx="3611880" cy="301752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Chart 2" descr=""/>
          <p:cNvGraphicFramePr/>
          <p:nvPr/>
        </p:nvGraphicFramePr>
        <p:xfrm>
          <a:off x="8046720" y="1463040"/>
          <a:ext cx="3611880" cy="3017520"/>
        </p:xfrm>
        <a:graphic xmlns:a="http://schemas.openxmlformats.org/drawingml/2006/main">
          <a:graphicData uri="http://schemas.openxmlformats.org/drawingml/2006/chart">
            <c:chart xmlns:c="http://schemas.openxmlformats.org/drawingml/2006/chart" r:id="rId3"/>
          </a:graphicData>
        </a:graphic>
      </p:graphicFrame>
      <p:sp>
        <p:nvSpPr>
          <p:cNvPr id="7" name="Shape 2"/>
          <p:cNvSpPr/>
          <p:nvPr/>
        </p:nvSpPr>
        <p:spPr>
          <a:xfrm>
            <a:off x="3017520" y="4681728"/>
            <a:ext cx="365760" cy="0"/>
          </a:xfrm>
          <a:prstGeom prst="line">
            <a:avLst/>
          </a:prstGeom>
          <a:noFill/>
          <a:ln w="31750">
            <a:solidFill>
              <a:srgbClr val="B8BEC8"/>
            </a:solidFill>
            <a:prstDash val="solid"/>
          </a:ln>
        </p:spPr>
      </p:sp>
      <p:sp>
        <p:nvSpPr>
          <p:cNvPr id="8" name="Text 3"/>
          <p:cNvSpPr txBox="1"/>
          <p:nvPr/>
        </p:nvSpPr>
        <p:spPr>
          <a:xfrm>
            <a:off x="3474720" y="4553712"/>
            <a:ext cx="1828800" cy="2743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Predict zero</a:t>
            </a:r>
            <a:endParaRPr lang="en-US" sz="1200" dirty="0"/>
          </a:p>
        </p:txBody>
      </p:sp>
      <p:sp>
        <p:nvSpPr>
          <p:cNvPr id="9" name="Shape 4"/>
          <p:cNvSpPr/>
          <p:nvPr/>
        </p:nvSpPr>
        <p:spPr>
          <a:xfrm>
            <a:off x="5394960" y="4681728"/>
            <a:ext cx="365760" cy="0"/>
          </a:xfrm>
          <a:prstGeom prst="line">
            <a:avLst/>
          </a:prstGeom>
          <a:noFill/>
          <a:ln w="31750">
            <a:solidFill>
              <a:srgbClr val="1BAF7A"/>
            </a:solidFill>
            <a:prstDash val="solid"/>
          </a:ln>
        </p:spPr>
      </p:sp>
      <p:sp>
        <p:nvSpPr>
          <p:cNvPr id="10" name="Text 5"/>
          <p:cNvSpPr txBox="1"/>
          <p:nvPr/>
        </p:nvSpPr>
        <p:spPr>
          <a:xfrm>
            <a:off x="5852160" y="4553712"/>
            <a:ext cx="1828800" cy="2743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AdaSSP (pooled data)</a:t>
            </a:r>
            <a:endParaRPr lang="en-US" sz="1200" dirty="0"/>
          </a:p>
        </p:txBody>
      </p:sp>
      <p:sp>
        <p:nvSpPr>
          <p:cNvPr id="11" name="Shape 6"/>
          <p:cNvSpPr/>
          <p:nvPr/>
        </p:nvSpPr>
        <p:spPr>
          <a:xfrm>
            <a:off x="7772400" y="4681728"/>
            <a:ext cx="365760" cy="0"/>
          </a:xfrm>
          <a:prstGeom prst="line">
            <a:avLst/>
          </a:prstGeom>
          <a:noFill/>
          <a:ln w="31750">
            <a:solidFill>
              <a:srgbClr val="2A78D6"/>
            </a:solidFill>
            <a:prstDash val="solid"/>
          </a:ln>
        </p:spPr>
      </p:sp>
      <p:sp>
        <p:nvSpPr>
          <p:cNvPr id="12" name="Text 7"/>
          <p:cNvSpPr txBox="1"/>
          <p:nvPr/>
        </p:nvSpPr>
        <p:spPr>
          <a:xfrm>
            <a:off x="8229600" y="4553712"/>
            <a:ext cx="1828800" cy="2743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This protocol</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4937760"/>
          <a:ext cx="9144000" cy="914400"/>
        </p:xfrm>
        <a:graphic>
          <a:graphicData uri="http://schemas.openxmlformats.org/drawingml/2006/table">
            <a:tbl>
              <a:tblPr/>
              <a:tblGrid>
                <a:gridCol w="3017520"/>
                <a:gridCol w="914400"/>
                <a:gridCol w="914400"/>
                <a:gridCol w="91440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Of 29 datasets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ε = 0.1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ε = 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ε = 10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Protocol better / worse than AdaSSP</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14 / 8</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 / 19</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 / 21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Protocol worse than predicting zero</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13</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AdaSSP worse than predicting zero</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14" name="Text 8"/>
          <p:cNvSpPr txBox="1"/>
          <p:nvPr/>
        </p:nvSpPr>
        <p:spPr>
          <a:xfrm>
            <a:off x="548640" y="6263640"/>
            <a:ext cx="5760720" cy="274320"/>
          </a:xfrm>
          <a:prstGeom prst="rect">
            <a:avLst/>
          </a:prstGeom>
          <a:noFill/>
          <a:ln/>
        </p:spPr>
        <p:txBody>
          <a:bodyPr wrap="square" lIns="0" tIns="0" rIns="0" bIns="0" rtlCol="0" anchor="t"/>
          <a:lstStyle/>
          <a:p>
            <a:pPr indent="0" marL="0">
              <a:buNone/>
            </a:pPr>
            <a:r>
              <a:rPr lang="en-US" sz="1100" i="1" dirty="0">
                <a:solidFill>
                  <a:srgbClr val="5B6576"/>
                </a:solidFill>
                <a:latin typeface="Calibri" pitchFamily="34" charset="0"/>
                <a:ea typeface="Calibri" pitchFamily="34" charset="-122"/>
                <a:cs typeface="Calibri" pitchFamily="34" charset="-120"/>
              </a:rPr>
              <a:t>Better / worse: paired over folds, 95% CI; the rest are ties.</a:t>
            </a:r>
            <a:endParaRPr lang="en-US" sz="1100" dirty="0"/>
          </a:p>
        </p:txBody>
      </p:sp>
      <p:sp>
        <p:nvSpPr>
          <p:cNvPr id="15" name="Shape 9"/>
          <p:cNvSpPr/>
          <p:nvPr/>
        </p:nvSpPr>
        <p:spPr>
          <a:xfrm>
            <a:off x="6675120" y="4937760"/>
            <a:ext cx="4937760" cy="1417320"/>
          </a:xfrm>
          <a:prstGeom prst="roundRect">
            <a:avLst>
              <a:gd name="adj" fmla="val 5161"/>
            </a:avLst>
          </a:prstGeom>
          <a:solidFill>
            <a:srgbClr val="F6E3D6"/>
          </a:solidFill>
          <a:ln w="12700">
            <a:solidFill>
              <a:srgbClr val="F6E3D6"/>
            </a:solidFill>
            <a:prstDash val="solid"/>
          </a:ln>
        </p:spPr>
      </p:sp>
      <p:sp>
        <p:nvSpPr>
          <p:cNvPr id="16" name="Text 10"/>
          <p:cNvSpPr txBox="1"/>
          <p:nvPr/>
        </p:nvSpPr>
        <p:spPr>
          <a:xfrm>
            <a:off x="6858000" y="5029200"/>
            <a:ext cx="4572000" cy="1234440"/>
          </a:xfrm>
          <a:prstGeom prst="rect">
            <a:avLst/>
          </a:prstGeom>
          <a:noFill/>
          <a:ln/>
        </p:spPr>
        <p:txBody>
          <a:bodyPr wrap="square" lIns="0" tIns="0" rIns="0" bIns="0" rtlCol="0" anchor="ctr"/>
          <a:lstStyle/>
          <a:p>
            <a:pPr indent="0" marL="0">
              <a:buNone/>
            </a:pPr>
            <a:r>
              <a:rPr lang="en-US" sz="1350" dirty="0">
                <a:solidFill>
                  <a:srgbClr val="14213D"/>
                </a:solidFill>
                <a:latin typeface="Calibri" pitchFamily="34" charset="0"/>
                <a:ea typeface="Calibri" pitchFamily="34" charset="-122"/>
                <a:cs typeface="Calibri" pitchFamily="34" charset="-120"/>
              </a:rPr>
              <a:t>From ε ≈ 0.5 the central method is ahead, by a median 4% at ε = 1, and the gap shrinks as n grows. At very small ε both are often no better than predicting zero.</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How many matched records on real data?</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Test MSE ÷ non-private at the same n; nested subsets of the training folds; bars: 95% CI over folds</a:t>
            </a:r>
            <a:endParaRPr lang="en-US" sz="1600" dirty="0"/>
          </a:p>
        </p:txBody>
      </p:sp>
      <p:pic>
        <p:nvPicPr>
          <p:cNvPr id="4" name="Image 0" descr="/home/user/VerticalFederatedRegression/reports/adassp/sweep/fig_sweep_n_deck.png">    </p:cNvPr>
          <p:cNvPicPr>
            <a:picLocks noChangeAspect="1"/>
          </p:cNvPicPr>
          <p:nvPr/>
        </p:nvPicPr>
        <p:blipFill>
          <a:blip r:embed="rId1"/>
          <a:stretch>
            <a:fillRect/>
          </a:stretch>
        </p:blipFill>
        <p:spPr>
          <a:xfrm>
            <a:off x="594360" y="1463040"/>
            <a:ext cx="6309360" cy="5257800"/>
          </a:xfrm>
          <a:prstGeom prst="rect">
            <a:avLst/>
          </a:prstGeom>
        </p:spPr>
      </p:pic>
      <p:sp>
        <p:nvSpPr>
          <p:cNvPr id="5" name="Text 2"/>
          <p:cNvSpPr txBox="1"/>
          <p:nvPr/>
        </p:nvSpPr>
        <p:spPr>
          <a:xfrm>
            <a:off x="7360920" y="1508760"/>
            <a:ext cx="4297680" cy="640080"/>
          </a:xfrm>
          <a:prstGeom prst="rect">
            <a:avLst/>
          </a:prstGeom>
          <a:noFill/>
          <a:ln/>
        </p:spPr>
        <p:txBody>
          <a:bodyPr wrap="square" lIns="0" tIns="0" rIns="0" bIns="0" rtlCol="0" anchor="t"/>
          <a:lstStyle/>
          <a:p>
            <a:pPr indent="0" marL="0">
              <a:buNone/>
            </a:pPr>
            <a:r>
              <a:rPr lang="en-US" sz="1600" b="1" dirty="0">
                <a:solidFill>
                  <a:srgbClr val="14213D"/>
                </a:solidFill>
                <a:latin typeface="Cambria" pitchFamily="34" charset="0"/>
                <a:ea typeface="Cambria" pitchFamily="34" charset="-122"/>
                <a:cs typeface="Cambria" pitchFamily="34" charset="-120"/>
              </a:rPr>
              <a:t>Matched records to come within 10% of non-private</a:t>
            </a:r>
            <a:endParaRPr lang="en-US" sz="1600" dirty="0"/>
          </a:p>
        </p:txBody>
      </p:sp>
      <p:sp>
        <p:nvSpPr>
          <p:cNvPr id="6" name="Text 3"/>
          <p:cNvSpPr txBox="1"/>
          <p:nvPr/>
        </p:nvSpPr>
        <p:spPr>
          <a:xfrm>
            <a:off x="7360920" y="2148840"/>
            <a:ext cx="4297680" cy="274320"/>
          </a:xfrm>
          <a:prstGeom prst="rect">
            <a:avLst/>
          </a:prstGeom>
          <a:noFill/>
          <a:ln/>
        </p:spPr>
        <p:txBody>
          <a:bodyPr wrap="square" lIns="0" tIns="0" rIns="0" bIns="0" rtlCol="0" anchor="t"/>
          <a:lstStyle/>
          <a:p>
            <a:pPr indent="0" marL="0">
              <a:buNone/>
            </a:pPr>
            <a:r>
              <a:rPr lang="en-US" sz="1200" i="1" dirty="0">
                <a:solidFill>
                  <a:srgbClr val="5B6576"/>
                </a:solidFill>
                <a:latin typeface="Calibri" pitchFamily="34" charset="0"/>
                <a:ea typeface="Calibri" pitchFamily="34" charset="-122"/>
                <a:cs typeface="Calibri" pitchFamily="34" charset="-120"/>
              </a:rPr>
              <a:t>This protocol (AdaSSP, pooled data)</a:t>
            </a:r>
            <a:endParaRPr lang="en-US"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7360920" y="2468880"/>
          <a:ext cx="9144000" cy="914400"/>
        </p:xfrm>
        <a:graphic>
          <a:graphicData uri="http://schemas.openxmlformats.org/drawingml/2006/table">
            <a:tbl>
              <a:tblPr/>
              <a:tblGrid>
                <a:gridCol w="1005840"/>
                <a:gridCol w="822960"/>
                <a:gridCol w="822960"/>
                <a:gridCol w="822960"/>
                <a:gridCol w="822960"/>
              </a:tblGrid>
              <a:tr h="329184">
                <a:tc>
                  <a:txBody>
                    <a:bodyPr/>
                    <a:lstStyle/>
                    <a:p>
                      <a:pPr algn="ctr" indent="0" marL="0">
                        <a:buNone/>
                      </a:pP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ε = 0.5</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ε = 1</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ε = 2</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ε = 4</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512064">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bike</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&gt;15k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(15k)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11k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(7.5k)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5.9k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(3.8k)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3.1k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(1.8k)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12064">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elevators</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(14k)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12064">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pol</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&gt;13k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(&gt;13k)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10k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(7.0k)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5.3k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(3.5k)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2.8k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(1.7k)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12064">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protein</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5.4k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(3.7k)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2.8k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(1.7k)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1.4k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(784)</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619</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(295)</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8" name="Text 4"/>
          <p:cNvSpPr txBox="1"/>
          <p:nvPr/>
        </p:nvSpPr>
        <p:spPr>
          <a:xfrm>
            <a:off x="7360920" y="5029200"/>
            <a:ext cx="4297680" cy="13716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Doubling ε roughly halves the records needed</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About 1.5–2× the records the central method needs</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elevators never gets within 10% at the sizes available (up to 14.9k)</a:t>
            </a:r>
            <a:endParaRPr lang="en-US" sz="13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Limits and open items</a:t>
            </a:r>
            <a:endParaRPr lang="en-US" sz="3200" dirty="0"/>
          </a:p>
        </p:txBody>
      </p:sp>
      <p:sp>
        <p:nvSpPr>
          <p:cNvPr id="3" name="Shape 1"/>
          <p:cNvSpPr/>
          <p:nvPr/>
        </p:nvSpPr>
        <p:spPr>
          <a:xfrm>
            <a:off x="548640" y="1417320"/>
            <a:ext cx="5440680" cy="4754880"/>
          </a:xfrm>
          <a:prstGeom prst="roundRect">
            <a:avLst>
              <a:gd name="adj" fmla="val 1538"/>
            </a:avLst>
          </a:prstGeom>
          <a:solidFill>
            <a:srgbClr val="EEF2F7"/>
          </a:solidFill>
          <a:ln w="12700">
            <a:solidFill>
              <a:srgbClr val="EEF2F7"/>
            </a:solidFill>
            <a:prstDash val="solid"/>
          </a:ln>
        </p:spPr>
      </p:sp>
      <p:sp>
        <p:nvSpPr>
          <p:cNvPr id="4" name="Shape 2"/>
          <p:cNvSpPr/>
          <p:nvPr/>
        </p:nvSpPr>
        <p:spPr>
          <a:xfrm>
            <a:off x="822960" y="1645920"/>
            <a:ext cx="640080" cy="640080"/>
          </a:xfrm>
          <a:prstGeom prst="ellipse">
            <a:avLst/>
          </a:prstGeom>
          <a:solidFill>
            <a:srgbClr val="3D5A80"/>
          </a:solidFill>
          <a:ln w="12700">
            <a:solidFill>
              <a:srgbClr val="3D5A80"/>
            </a:solidFill>
            <a:prstDash val="solid"/>
          </a:ln>
        </p:spPr>
      </p:sp>
      <p:pic>
        <p:nvPicPr>
          <p:cNvPr id="5" name="Image 0" descr="preencoded.png">    </p:cNvPr>
          <p:cNvPicPr>
            <a:picLocks noChangeAspect="1"/>
          </p:cNvPicPr>
          <p:nvPr/>
        </p:nvPicPr>
        <p:blipFill>
          <a:blip r:embed="rId1"/>
          <a:stretch>
            <a:fillRect/>
          </a:stretch>
        </p:blipFill>
        <p:spPr>
          <a:xfrm>
            <a:off x="976579" y="1799539"/>
            <a:ext cx="332842" cy="332842"/>
          </a:xfrm>
          <a:prstGeom prst="rect">
            <a:avLst/>
          </a:prstGeom>
        </p:spPr>
      </p:pic>
      <p:sp>
        <p:nvSpPr>
          <p:cNvPr id="6" name="Text 3"/>
          <p:cNvSpPr txBox="1"/>
          <p:nvPr/>
        </p:nvSpPr>
        <p:spPr>
          <a:xfrm>
            <a:off x="1645920" y="1719072"/>
            <a:ext cx="4114800" cy="45720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By design</a:t>
            </a:r>
            <a:endParaRPr lang="en-US" sz="1900" dirty="0"/>
          </a:p>
        </p:txBody>
      </p:sp>
      <p:sp>
        <p:nvSpPr>
          <p:cNvPr id="7" name="Text 4"/>
          <p:cNvSpPr txBox="1"/>
          <p:nvPr/>
        </p:nvSpPr>
        <p:spPr>
          <a:xfrm>
            <a:off x="868680" y="2377440"/>
            <a:ext cx="4892040" cy="365760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Honest-but-curious parties only; a deviating researcher needs zero-knowledge input proofs</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R learns which of its cohort are in the register</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Exact-identifier linkage; linear models; model-based variance</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O's work grows with the padded register, so the scope Φ matters</a:t>
            </a:r>
            <a:endParaRPr lang="en-US" sz="1450" dirty="0"/>
          </a:p>
        </p:txBody>
      </p:sp>
      <p:sp>
        <p:nvSpPr>
          <p:cNvPr id="8" name="Shape 5"/>
          <p:cNvSpPr/>
          <p:nvPr/>
        </p:nvSpPr>
        <p:spPr>
          <a:xfrm>
            <a:off x="6172200" y="1417320"/>
            <a:ext cx="5440680" cy="4754880"/>
          </a:xfrm>
          <a:prstGeom prst="roundRect">
            <a:avLst>
              <a:gd name="adj" fmla="val 1538"/>
            </a:avLst>
          </a:prstGeom>
          <a:solidFill>
            <a:srgbClr val="F6E3D6"/>
          </a:solidFill>
          <a:ln w="12700">
            <a:solidFill>
              <a:srgbClr val="F6E3D6"/>
            </a:solidFill>
            <a:prstDash val="solid"/>
          </a:ln>
        </p:spPr>
      </p:sp>
      <p:sp>
        <p:nvSpPr>
          <p:cNvPr id="9" name="Shape 6"/>
          <p:cNvSpPr/>
          <p:nvPr/>
        </p:nvSpPr>
        <p:spPr>
          <a:xfrm>
            <a:off x="6446520" y="1645920"/>
            <a:ext cx="640080" cy="640080"/>
          </a:xfrm>
          <a:prstGeom prst="ellipse">
            <a:avLst/>
          </a:prstGeom>
          <a:solidFill>
            <a:srgbClr val="C45A0C"/>
          </a:solidFill>
          <a:ln w="12700">
            <a:solidFill>
              <a:srgbClr val="C45A0C"/>
            </a:solidFill>
            <a:prstDash val="solid"/>
          </a:ln>
        </p:spPr>
      </p:sp>
      <p:pic>
        <p:nvPicPr>
          <p:cNvPr id="10" name="Image 1" descr="preencoded.png">    </p:cNvPr>
          <p:cNvPicPr>
            <a:picLocks noChangeAspect="1"/>
          </p:cNvPicPr>
          <p:nvPr/>
        </p:nvPicPr>
        <p:blipFill>
          <a:blip r:embed="rId2"/>
          <a:stretch>
            <a:fillRect/>
          </a:stretch>
        </p:blipFill>
        <p:spPr>
          <a:xfrm>
            <a:off x="6600139" y="1799539"/>
            <a:ext cx="332842" cy="332842"/>
          </a:xfrm>
          <a:prstGeom prst="rect">
            <a:avLst/>
          </a:prstGeom>
        </p:spPr>
      </p:pic>
      <p:sp>
        <p:nvSpPr>
          <p:cNvPr id="11" name="Text 7"/>
          <p:cNvSpPr txBox="1"/>
          <p:nvPr/>
        </p:nvSpPr>
        <p:spPr>
          <a:xfrm>
            <a:off x="7269480" y="1719072"/>
            <a:ext cx="4114800" cy="45720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Still to do</a:t>
            </a:r>
            <a:endParaRPr lang="en-US" sz="1900" dirty="0"/>
          </a:p>
        </p:txBody>
      </p:sp>
      <p:sp>
        <p:nvSpPr>
          <p:cNvPr id="12" name="Text 8"/>
          <p:cNvSpPr txBox="1"/>
          <p:nvPr/>
        </p:nvSpPr>
        <p:spPr>
          <a:xfrm>
            <a:off x="6492240" y="2377440"/>
            <a:ext cx="4892040" cy="365760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Implement the full protocol in OpenFHE and measure its cost</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Rerun the experiments under the protocol's two-release rule</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Fix exact parameter sets for the larger CKKS scale</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Close the open proof items: improved circuit, adaptive composition, constant-time sampler</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A fairer real-data comparison: preprocessing each party can do on its own</a:t>
            </a:r>
            <a:endParaRPr lang="en-US" sz="14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411480"/>
            <a:ext cx="109728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Summary</a:t>
            </a:r>
            <a:endParaRPr lang="en-US" sz="3400" dirty="0"/>
          </a:p>
        </p:txBody>
      </p:sp>
      <p:sp>
        <p:nvSpPr>
          <p:cNvPr id="3" name="Shape 1"/>
          <p:cNvSpPr/>
          <p:nvPr/>
        </p:nvSpPr>
        <p:spPr>
          <a:xfrm>
            <a:off x="548640" y="1417320"/>
            <a:ext cx="548640" cy="548640"/>
          </a:xfrm>
          <a:prstGeom prst="ellipse">
            <a:avLst/>
          </a:prstGeom>
          <a:solidFill>
            <a:srgbClr val="C45A0C"/>
          </a:solidFill>
          <a:ln w="12700">
            <a:solidFill>
              <a:srgbClr val="C45A0C"/>
            </a:solidFill>
            <a:prstDash val="solid"/>
          </a:ln>
        </p:spPr>
      </p:sp>
      <p:sp>
        <p:nvSpPr>
          <p:cNvPr id="4" name="Text 2"/>
          <p:cNvSpPr txBox="1"/>
          <p:nvPr/>
        </p:nvSpPr>
        <p:spPr>
          <a:xfrm>
            <a:off x="548640" y="141732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5" name="Text 3"/>
          <p:cNvSpPr txBox="1"/>
          <p:nvPr/>
        </p:nvSpPr>
        <p:spPr>
          <a:xfrm>
            <a:off x="1325880" y="1417320"/>
            <a:ext cx="5486400" cy="10972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A researcher and an agency can fit a joint regression without pooling: linkage by labeled PSI, sums under split-key encryption, DP noise added inside O's decryption share</a:t>
            </a:r>
            <a:endParaRPr lang="en-US" sz="1500" dirty="0"/>
          </a:p>
        </p:txBody>
      </p:sp>
      <p:sp>
        <p:nvSpPr>
          <p:cNvPr id="6" name="Shape 4"/>
          <p:cNvSpPr/>
          <p:nvPr/>
        </p:nvSpPr>
        <p:spPr>
          <a:xfrm>
            <a:off x="548640" y="2624328"/>
            <a:ext cx="548640" cy="548640"/>
          </a:xfrm>
          <a:prstGeom prst="ellipse">
            <a:avLst/>
          </a:prstGeom>
          <a:solidFill>
            <a:srgbClr val="C45A0C"/>
          </a:solidFill>
          <a:ln w="12700">
            <a:solidFill>
              <a:srgbClr val="C45A0C"/>
            </a:solidFill>
            <a:prstDash val="solid"/>
          </a:ln>
        </p:spPr>
      </p:sp>
      <p:sp>
        <p:nvSpPr>
          <p:cNvPr id="7" name="Text 5"/>
          <p:cNvSpPr txBox="1"/>
          <p:nvPr/>
        </p:nvSpPr>
        <p:spPr>
          <a:xfrm>
            <a:off x="548640" y="2624328"/>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8" name="Text 6"/>
          <p:cNvSpPr txBox="1"/>
          <p:nvPr/>
        </p:nvSpPr>
        <p:spPr>
          <a:xfrm>
            <a:off x="1325880" y="2624328"/>
            <a:ext cx="5486400" cy="10972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O learns only public sizes; R gets (ε, δ)-DP statistics. The main guarantees are proven, for honest-but-curious parties</a:t>
            </a:r>
            <a:endParaRPr lang="en-US" sz="1500" dirty="0"/>
          </a:p>
        </p:txBody>
      </p:sp>
      <p:sp>
        <p:nvSpPr>
          <p:cNvPr id="9" name="Shape 7"/>
          <p:cNvSpPr/>
          <p:nvPr/>
        </p:nvSpPr>
        <p:spPr>
          <a:xfrm>
            <a:off x="548640" y="3831336"/>
            <a:ext cx="548640" cy="548640"/>
          </a:xfrm>
          <a:prstGeom prst="ellipse">
            <a:avLst/>
          </a:prstGeom>
          <a:solidFill>
            <a:srgbClr val="C45A0C"/>
          </a:solidFill>
          <a:ln w="12700">
            <a:solidFill>
              <a:srgbClr val="C45A0C"/>
            </a:solidFill>
            <a:prstDash val="solid"/>
          </a:ln>
        </p:spPr>
      </p:sp>
      <p:sp>
        <p:nvSpPr>
          <p:cNvPr id="10" name="Text 8"/>
          <p:cNvSpPr txBox="1"/>
          <p:nvPr/>
        </p:nvSpPr>
        <p:spPr>
          <a:xfrm>
            <a:off x="548640" y="3831336"/>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1" name="Text 9"/>
          <p:cNvSpPr txBox="1"/>
          <p:nvPr/>
        </p:nvSpPr>
        <p:spPr>
          <a:xfrm>
            <a:off x="1325880" y="3831336"/>
            <a:ext cx="5486400" cy="10972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Tight public bounds and enough matched records drive accuracy: within 2× of non-private at 3k–105k records in simulation, within 10% at about 1.4k–11k on real data for ε = 1–2</a:t>
            </a:r>
            <a:endParaRPr lang="en-US" sz="1500" dirty="0"/>
          </a:p>
        </p:txBody>
      </p:sp>
      <p:sp>
        <p:nvSpPr>
          <p:cNvPr id="12" name="Shape 10"/>
          <p:cNvSpPr/>
          <p:nvPr/>
        </p:nvSpPr>
        <p:spPr>
          <a:xfrm>
            <a:off x="548640" y="5038344"/>
            <a:ext cx="548640" cy="548640"/>
          </a:xfrm>
          <a:prstGeom prst="ellipse">
            <a:avLst/>
          </a:prstGeom>
          <a:solidFill>
            <a:srgbClr val="C45A0C"/>
          </a:solidFill>
          <a:ln w="12700">
            <a:solidFill>
              <a:srgbClr val="C45A0C"/>
            </a:solidFill>
            <a:prstDash val="solid"/>
          </a:ln>
        </p:spPr>
      </p:sp>
      <p:sp>
        <p:nvSpPr>
          <p:cNvPr id="13" name="Text 11"/>
          <p:cNvSpPr txBox="1"/>
          <p:nvPr/>
        </p:nvSpPr>
        <p:spPr>
          <a:xfrm>
            <a:off x="548640" y="503834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4" name="Text 12"/>
          <p:cNvSpPr txBox="1"/>
          <p:nvPr/>
        </p:nvSpPr>
        <p:spPr>
          <a:xfrm>
            <a:off x="1325880" y="5038344"/>
            <a:ext cx="5486400" cy="10972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Close to central DP on large datasets; about 1.5–2× the records on real data</a:t>
            </a:r>
            <a:endParaRPr lang="en-US" sz="1500" dirty="0"/>
          </a:p>
        </p:txBody>
      </p:sp>
      <p:sp>
        <p:nvSpPr>
          <p:cNvPr id="15" name="Shape 13"/>
          <p:cNvSpPr/>
          <p:nvPr/>
        </p:nvSpPr>
        <p:spPr>
          <a:xfrm>
            <a:off x="7178040" y="1371600"/>
            <a:ext cx="4434840" cy="4754880"/>
          </a:xfrm>
          <a:prstGeom prst="roundRect">
            <a:avLst>
              <a:gd name="adj" fmla="val 1649"/>
            </a:avLst>
          </a:prstGeom>
          <a:solidFill>
            <a:srgbClr val="1F3050"/>
          </a:solidFill>
          <a:ln w="12700">
            <a:solidFill>
              <a:srgbClr val="1F3050"/>
            </a:solidFill>
            <a:prstDash val="solid"/>
          </a:ln>
        </p:spPr>
      </p:sp>
      <p:sp>
        <p:nvSpPr>
          <p:cNvPr id="16" name="Text 14"/>
          <p:cNvSpPr txBox="1"/>
          <p:nvPr/>
        </p:nvSpPr>
        <p:spPr>
          <a:xfrm>
            <a:off x="7452360" y="1554480"/>
            <a:ext cx="3931920" cy="457200"/>
          </a:xfrm>
          <a:prstGeom prst="rect">
            <a:avLst/>
          </a:prstGeom>
          <a:noFill/>
          <a:ln/>
        </p:spPr>
        <p:txBody>
          <a:bodyPr wrap="square" lIns="0" tIns="0" rIns="0" bIns="0" rtlCol="0" anchor="ctr"/>
          <a:lstStyle/>
          <a:p>
            <a:pPr indent="0" marL="0">
              <a:buNone/>
            </a:pPr>
            <a:r>
              <a:rPr lang="en-US" sz="2200" b="1" dirty="0">
                <a:solidFill>
                  <a:srgbClr val="E7A77C"/>
                </a:solidFill>
                <a:latin typeface="Cambria" pitchFamily="34" charset="0"/>
                <a:ea typeface="Cambria" pitchFamily="34" charset="-122"/>
                <a:cs typeface="Cambria" pitchFamily="34" charset="-120"/>
              </a:rPr>
              <a:t>To read next</a:t>
            </a:r>
            <a:endParaRPr lang="en-US" sz="2200" dirty="0"/>
          </a:p>
        </p:txBody>
      </p:sp>
      <p:sp>
        <p:nvSpPr>
          <p:cNvPr id="17" name="Text 15"/>
          <p:cNvSpPr txBox="1"/>
          <p:nvPr/>
        </p:nvSpPr>
        <p:spPr>
          <a:xfrm>
            <a:off x="7452360" y="2148840"/>
            <a:ext cx="3931920" cy="3840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The protocol specification (algorithms 1–7)</a:t>
            </a:r>
            <a:endParaRPr lang="en-US" sz="1500" dirty="0"/>
          </a:p>
          <a:p>
            <a:pPr marL="342900" indent="-3429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The proofs appendix: parts A and B</a:t>
            </a:r>
            <a:endParaRPr lang="en-US" sz="1500" dirty="0"/>
          </a:p>
          <a:p>
            <a:pPr marL="342900" indent="-3429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reports/calibration: from ε to σ, λ and sample size</a:t>
            </a:r>
            <a:endParaRPr lang="en-US" sz="1500" dirty="0"/>
          </a:p>
          <a:p>
            <a:pPr marL="342900" indent="-3429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reports/adassp: the real-data benchmark and sweep</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Regression across a register and a cohort, without pooling</dc:title>
  <dc:subject>PptxGenJS Presentation</dc:subject>
  <dc:creator>VFL Scenario B project</dc:creator>
  <cp:lastModifiedBy>VFL Scenario B project</cp:lastModifiedBy>
  <cp:revision>1</cp:revision>
  <dcterms:created xsi:type="dcterms:W3CDTF">2026-10-20T22:45:21Z</dcterms:created>
  <dcterms:modified xsi:type="dcterms:W3CDTF">2026-10-20T22:45:21Z</dcterms:modified>
</cp:coreProperties>
</file>