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Differential privacy here protects the people in O's register, and the adversary is R, because R is the only party that ever sees a decrypted output. O only sees ciphertexts, so encryption protects O's view. Two datasets are neighbours if one matched person's O-side features and outcome are replaced by any other values inside the clipping bounds, with that person's R row and the match set fixed. R already knows both; the match set is revealed by the linkage by design and is outside the DP guarantee. The protocol makes two releases: stage 1 with the upper triangle of B and C, and stage 2 with everything. A is never released because R computes it. The sensitivity Delta_s is the largest change one person can make to the whole vector of release s, in l2 norm. Replacing x and y moves each block as shown; since every entry gets noise of the same size, the squared changes add up. Maximizing over the bounds gives the closed forms. In the toy example Delta is root 38 and Delta_G is root 24.5; both were checked by brute-force maximization. Delta depends only on the bounds, not on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quantities are tied by one equation: rho_s equals Delta_s squared over two sigma_s squared. Delta_s comes from the clipping bounds and rho_s from the privacy budget, so sigma_s follows. Why: R sees each released entry plus independent Gaussian noise of the same standard deviation. The Renyi divergence of order a between the two Gaussians for neighbouring datasets is a times the squared change over two sigma squared, which is at most a times Delta squared over two sigma squared. That is exactly the definition of rho-zCDP with rho equal to Delta squared over two sigma squared. zCDP costs add, across the two stages and across runs; O keeps a ledger and refuses to decrypt past the cap. To set the noise: convert the run's epsilon and delta to a zCDP budget rho_run; the protocol uses the tight conversion of Canonne, Kamath and Steinke, which allows about 27 percent more rho than the simple bound. Split it, ten percent to stage 1 and ninety to stage 2, and set each sigma from its own sensitivity and share. Stage 1 is deliberately noisier: it only has to give a rough lower bound to set the ridge, and its share costs stage 2 only five percent in noise. Everything computed afterwards is post-processing and costs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slot picture is how to think about it, but O does not add Gaussian noise to the slots. The statistic is encoded: scaled by Omega and mapped through the inverse canonical embedding, which shrinks l2 norms by root 2 over N. So in the coefficient domain the sensitivity is root 2 over N times Omega times Delta_s, plus root N for rounding. O adds an integer vector eta, each coefficient a discrete Gaussian with standard deviation sigma_c,s, and the cost is exactly Delta_enc squared over two sigma_c squared. When R decodes, the noise on each slot has standard deviation sigma_c times root N over 2, divided by Omega. Substituting, sigma_s equals Delta_s over root two rho_s up to a term of order 10 to the minus 14, so the slot picture is accurate; the discrete Gaussian, sampled exactly with integers, makes it rigorous. The same eta also hides the CKKS approximation error, which depends on the data and on O's key share: by the smudging lemma the error is hidden up to 2 to the minus 40 if sigma_c is at least 2 to the 40 times the worst-case error bound over root 2 pi. Since sigma_s is fixed by the budget, O meets this by choosing the scale Omega large enough, about 2 to the 61.5 for the circuit as specified. The cost is a small deduction from delta. Finally, sigma_1 drives the ridge choice and sigma_2 drives the gate and the confidence intervals; the records needed for coefficient accuracy grow like sigma_2 squared, so like Delta squared over rho.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Δ</a:t>
            </a:r>
            <a:r>
              <a:rPr lang="en-US" sz="3200" b="1" baseline="-25000" dirty="0">
                <a:solidFill>
                  <a:srgbClr val="14213D"/>
                </a:solidFill>
                <a:latin typeface="Cambria" pitchFamily="34" charset="0"/>
                <a:ea typeface="Cambria" pitchFamily="34" charset="-122"/>
                <a:cs typeface="Cambria" pitchFamily="34" charset="-120"/>
              </a:rPr>
              <a:t>s</a:t>
            </a:r>
            <a:r>
              <a:rPr lang="en-US" sz="3200" b="1" dirty="0">
                <a:solidFill>
                  <a:srgbClr val="14213D"/>
                </a:solidFill>
                <a:latin typeface="Cambria" pitchFamily="34" charset="0"/>
                <a:ea typeface="Cambria" pitchFamily="34" charset="-122"/>
                <a:cs typeface="Cambria" pitchFamily="34" charset="-120"/>
              </a:rPr>
              <a:t>: how far one person can move a release</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DP protects the people in O's register from R, the only party that sees decrypted output</a:t>
            </a:r>
            <a:endParaRPr lang="en-US" sz="1600" dirty="0"/>
          </a:p>
        </p:txBody>
      </p:sp>
      <p:sp>
        <p:nvSpPr>
          <p:cNvPr id="4" name="Shape 2"/>
          <p:cNvSpPr/>
          <p:nvPr/>
        </p:nvSpPr>
        <p:spPr>
          <a:xfrm>
            <a:off x="548640" y="1600200"/>
            <a:ext cx="5120640" cy="4251960"/>
          </a:xfrm>
          <a:prstGeom prst="roundRect">
            <a:avLst>
              <a:gd name="adj" fmla="val 1720"/>
            </a:avLst>
          </a:prstGeom>
          <a:solidFill>
            <a:srgbClr val="EEF2F7"/>
          </a:solidFill>
          <a:ln w="12700">
            <a:solidFill>
              <a:srgbClr val="EEF2F7"/>
            </a:solidFill>
            <a:prstDash val="solid"/>
          </a:ln>
        </p:spPr>
      </p:sp>
      <p:sp>
        <p:nvSpPr>
          <p:cNvPr id="5" name="Shape 3"/>
          <p:cNvSpPr/>
          <p:nvPr/>
        </p:nvSpPr>
        <p:spPr>
          <a:xfrm>
            <a:off x="777240" y="1783080"/>
            <a:ext cx="457200" cy="457200"/>
          </a:xfrm>
          <a:prstGeom prst="ellipse">
            <a:avLst/>
          </a:prstGeom>
          <a:solidFill>
            <a:srgbClr val="14213D"/>
          </a:solidFill>
          <a:ln w="12700">
            <a:solidFill>
              <a:srgbClr val="14213D"/>
            </a:solidFill>
            <a:prstDash val="solid"/>
          </a:ln>
        </p:spPr>
      </p:sp>
      <p:pic>
        <p:nvPicPr>
          <p:cNvPr id="6" name="Image 0" descr="preencoded.png">    </p:cNvPr>
          <p:cNvPicPr>
            <a:picLocks noChangeAspect="1"/>
          </p:cNvPicPr>
          <p:nvPr/>
        </p:nvPicPr>
        <p:blipFill>
          <a:blip r:embed="rId1"/>
          <a:stretch>
            <a:fillRect/>
          </a:stretch>
        </p:blipFill>
        <p:spPr>
          <a:xfrm>
            <a:off x="886968" y="1892808"/>
            <a:ext cx="237744" cy="237744"/>
          </a:xfrm>
          <a:prstGeom prst="rect">
            <a:avLst/>
          </a:prstGeom>
        </p:spPr>
      </p:pic>
      <p:sp>
        <p:nvSpPr>
          <p:cNvPr id="7" name="Text 4"/>
          <p:cNvSpPr txBox="1"/>
          <p:nvPr/>
        </p:nvSpPr>
        <p:spPr>
          <a:xfrm>
            <a:off x="1371600" y="1801368"/>
            <a:ext cx="44805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Who is protected</a:t>
            </a:r>
            <a:endParaRPr lang="en-US" sz="1700" dirty="0"/>
          </a:p>
        </p:txBody>
      </p:sp>
      <p:sp>
        <p:nvSpPr>
          <p:cNvPr id="8" name="Text 5"/>
          <p:cNvSpPr txBox="1"/>
          <p:nvPr/>
        </p:nvSpPr>
        <p:spPr>
          <a:xfrm>
            <a:off x="777240" y="2377440"/>
            <a:ext cx="4663440" cy="7315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Neighbours D ∼ D′: one matched person's (x</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 y) is replaced by any other value within the bounds. Their R row ẋ and the match set I stay fixed.</a:t>
            </a:r>
            <a:endParaRPr lang="en-US" sz="1300" dirty="0"/>
          </a:p>
        </p:txBody>
      </p:sp>
      <p:sp>
        <p:nvSpPr>
          <p:cNvPr id="9" name="Text 6"/>
          <p:cNvSpPr txBox="1"/>
          <p:nvPr/>
        </p:nvSpPr>
        <p:spPr>
          <a:xfrm>
            <a:off x="777240" y="3154680"/>
            <a:ext cx="4663440" cy="777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 already knows ẋ and I (the linkage reveals I by design: outside DP).</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O sees only ciphertexts (encryption, not DP).</a:t>
            </a:r>
            <a:endParaRPr lang="en-US" sz="1250" dirty="0"/>
          </a:p>
        </p:txBody>
      </p:sp>
      <p:sp>
        <p:nvSpPr>
          <p:cNvPr id="10" name="Text 7"/>
          <p:cNvSpPr txBox="1"/>
          <p:nvPr/>
        </p:nvSpPr>
        <p:spPr>
          <a:xfrm>
            <a:off x="777240" y="3977640"/>
            <a:ext cx="4663440" cy="274320"/>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What release s contains</a:t>
            </a:r>
            <a:endParaRPr lang="en-US" sz="13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77240" y="4297680"/>
          <a:ext cx="9144000" cy="914400"/>
        </p:xfrm>
        <a:graphic>
          <a:graphicData uri="http://schemas.openxmlformats.org/drawingml/2006/table">
            <a:tbl>
              <a:tblPr/>
              <a:tblGrid>
                <a:gridCol w="457200"/>
                <a:gridCol w="914400"/>
                <a:gridCol w="3291840"/>
              </a:tblGrid>
              <a:tr h="29260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Entries released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292608">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stage 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triu B, C</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292608">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stage 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triu B, C, c</a:t>
                      </a:r>
                      <a:r>
                        <a:rPr lang="en-US" sz="1250" baseline="-25000" dirty="0">
                          <a:solidFill>
                            <a:srgbClr val="1F2937"/>
                          </a:solidFill>
                          <a:latin typeface="Calibri" pitchFamily="34" charset="0"/>
                          <a:ea typeface="Calibri" pitchFamily="34" charset="-122"/>
                          <a:cs typeface="Calibri" pitchFamily="34" charset="-120"/>
                        </a:rPr>
                        <a:t>R</a:t>
                      </a:r>
                      <a:r>
                        <a:rPr lang="en-US" sz="1250" dirty="0">
                          <a:solidFill>
                            <a:srgbClr val="1F2937"/>
                          </a:solidFill>
                          <a:latin typeface="Calibri" pitchFamily="34" charset="0"/>
                          <a:ea typeface="Calibri" pitchFamily="34" charset="-122"/>
                          <a:cs typeface="Calibri" pitchFamily="34" charset="-120"/>
                        </a:rPr>
                        <a:t>, c</a:t>
                      </a:r>
                      <a:r>
                        <a:rPr lang="en-US" sz="1250" baseline="-25000" dirty="0">
                          <a:solidFill>
                            <a:srgbClr val="1F2937"/>
                          </a:solidFill>
                          <a:latin typeface="Calibri" pitchFamily="34" charset="0"/>
                          <a:ea typeface="Calibri" pitchFamily="34" charset="-122"/>
                          <a:cs typeface="Calibri" pitchFamily="34" charset="-120"/>
                        </a:rPr>
                        <a:t>O</a:t>
                      </a:r>
                      <a:r>
                        <a:rPr lang="en-US" sz="1250" dirty="0">
                          <a:solidFill>
                            <a:srgbClr val="1F2937"/>
                          </a:solidFill>
                          <a:latin typeface="Calibri" pitchFamily="34" charset="0"/>
                          <a:ea typeface="Calibri" pitchFamily="34" charset="-122"/>
                          <a:cs typeface="Calibri" pitchFamily="34" charset="-120"/>
                        </a:rPr>
                        <a:t>, y</a:t>
                      </a:r>
                      <a:r>
                        <a:rPr lang="en-US" sz="1250" baseline="30000" dirty="0">
                          <a:solidFill>
                            <a:srgbClr val="1F2937"/>
                          </a:solidFill>
                          <a:latin typeface="Calibri" pitchFamily="34" charset="0"/>
                          <a:ea typeface="Calibri" pitchFamily="34" charset="-122"/>
                          <a:cs typeface="Calibri" pitchFamily="34" charset="-120"/>
                        </a:rPr>
                        <a:t>T</a:t>
                      </a:r>
                      <a:r>
                        <a:rPr lang="en-US" sz="1250" dirty="0">
                          <a:solidFill>
                            <a:srgbClr val="1F2937"/>
                          </a:solidFill>
                          <a:latin typeface="Calibri" pitchFamily="34" charset="0"/>
                          <a:ea typeface="Calibri" pitchFamily="34" charset="-122"/>
                          <a:cs typeface="Calibri" pitchFamily="34" charset="-120"/>
                        </a:rPr>
                        <a:t>y</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77240" y="5303520"/>
            <a:ext cx="4663440" cy="45720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A = Ẋ</a:t>
            </a:r>
            <a:r>
              <a:rPr lang="en-US" sz="1200" baseline="30000" dirty="0">
                <a:solidFill>
                  <a:srgbClr val="5B6576"/>
                </a:solidFill>
                <a:latin typeface="Calibri" pitchFamily="34" charset="0"/>
                <a:ea typeface="Calibri" pitchFamily="34" charset="-122"/>
                <a:cs typeface="Calibri" pitchFamily="34" charset="-120"/>
              </a:rPr>
              <a:t>T</a:t>
            </a:r>
            <a:r>
              <a:rPr lang="en-US" sz="1200" dirty="0">
                <a:solidFill>
                  <a:srgbClr val="5B6576"/>
                </a:solidFill>
                <a:latin typeface="Calibri" pitchFamily="34" charset="0"/>
                <a:ea typeface="Calibri" pitchFamily="34" charset="-122"/>
                <a:cs typeface="Calibri" pitchFamily="34" charset="-120"/>
              </a:rPr>
              <a:t>Ẋ is never released: R computes it itself, and it is the same in both neighbours.</a:t>
            </a:r>
            <a:endParaRPr lang="en-US" sz="1200" dirty="0"/>
          </a:p>
        </p:txBody>
      </p:sp>
      <p:sp>
        <p:nvSpPr>
          <p:cNvPr id="13" name="Shape 9"/>
          <p:cNvSpPr/>
          <p:nvPr/>
        </p:nvSpPr>
        <p:spPr>
          <a:xfrm>
            <a:off x="5852160" y="1600200"/>
            <a:ext cx="5760720" cy="4251960"/>
          </a:xfrm>
          <a:prstGeom prst="roundRect">
            <a:avLst>
              <a:gd name="adj" fmla="val 1720"/>
            </a:avLst>
          </a:prstGeom>
          <a:solidFill>
            <a:srgbClr val="EEF2F7"/>
          </a:solidFill>
          <a:ln w="12700">
            <a:solidFill>
              <a:srgbClr val="EEF2F7"/>
            </a:solidFill>
            <a:prstDash val="solid"/>
          </a:ln>
        </p:spPr>
      </p:sp>
      <p:sp>
        <p:nvSpPr>
          <p:cNvPr id="14" name="Shape 10"/>
          <p:cNvSpPr/>
          <p:nvPr/>
        </p:nvSpPr>
        <p:spPr>
          <a:xfrm>
            <a:off x="6080760" y="1783080"/>
            <a:ext cx="457200" cy="457200"/>
          </a:xfrm>
          <a:prstGeom prst="ellipse">
            <a:avLst/>
          </a:prstGeom>
          <a:solidFill>
            <a:srgbClr val="3D5A80"/>
          </a:solidFill>
          <a:ln w="12700">
            <a:solidFill>
              <a:srgbClr val="3D5A80"/>
            </a:solidFill>
            <a:prstDash val="solid"/>
          </a:ln>
        </p:spPr>
      </p:sp>
      <p:pic>
        <p:nvPicPr>
          <p:cNvPr id="15" name="Image 1" descr="preencoded.png">    </p:cNvPr>
          <p:cNvPicPr>
            <a:picLocks noChangeAspect="1"/>
          </p:cNvPicPr>
          <p:nvPr/>
        </p:nvPicPr>
        <p:blipFill>
          <a:blip r:embed="rId2"/>
          <a:stretch>
            <a:fillRect/>
          </a:stretch>
        </p:blipFill>
        <p:spPr>
          <a:xfrm>
            <a:off x="6190488" y="1892808"/>
            <a:ext cx="237744" cy="237744"/>
          </a:xfrm>
          <a:prstGeom prst="rect">
            <a:avLst/>
          </a:prstGeom>
        </p:spPr>
      </p:pic>
      <p:sp>
        <p:nvSpPr>
          <p:cNvPr id="16" name="Text 11"/>
          <p:cNvSpPr txBox="1"/>
          <p:nvPr/>
        </p:nvSpPr>
        <p:spPr>
          <a:xfrm>
            <a:off x="6675120" y="1801368"/>
            <a:ext cx="44805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The sensitivity Δ</a:t>
            </a:r>
            <a:r>
              <a:rPr lang="en-US" sz="1700" b="1" baseline="-25000" dirty="0">
                <a:solidFill>
                  <a:srgbClr val="14213D"/>
                </a:solidFill>
                <a:latin typeface="Cambria" pitchFamily="34" charset="0"/>
                <a:ea typeface="Cambria" pitchFamily="34" charset="-122"/>
                <a:cs typeface="Cambria" pitchFamily="34" charset="-120"/>
              </a:rPr>
              <a:t>s</a:t>
            </a:r>
            <a:endParaRPr lang="en-US" sz="1700" dirty="0"/>
          </a:p>
        </p:txBody>
      </p:sp>
      <p:pic>
        <p:nvPicPr>
          <p:cNvPr id="17" name="Image 2" descr="/home/user/VerticalFederatedRegression/slides/assets/eq/d_sens.png">    </p:cNvPr>
          <p:cNvPicPr>
            <a:picLocks noChangeAspect="1"/>
          </p:cNvPicPr>
          <p:nvPr/>
        </p:nvPicPr>
        <p:blipFill>
          <a:blip r:embed="rId3"/>
          <a:stretch>
            <a:fillRect/>
          </a:stretch>
        </p:blipFill>
        <p:spPr>
          <a:xfrm>
            <a:off x="6080760" y="2395728"/>
            <a:ext cx="2559882" cy="377571"/>
          </a:xfrm>
          <a:prstGeom prst="rect">
            <a:avLst/>
          </a:prstGeom>
        </p:spPr>
      </p:pic>
      <p:sp>
        <p:nvSpPr>
          <p:cNvPr id="18" name="Text 12"/>
          <p:cNvSpPr txBox="1"/>
          <p:nvPr/>
        </p:nvSpPr>
        <p:spPr>
          <a:xfrm>
            <a:off x="6080760" y="2852928"/>
            <a:ext cx="5349240" cy="2743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With ẋ fixed and x = x</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 a replacement (x, y) → (x′, y′) moves:</a:t>
            </a:r>
            <a:endParaRPr lang="en-US" sz="1300" dirty="0"/>
          </a:p>
        </p:txBody>
      </p:sp>
      <p:pic>
        <p:nvPicPr>
          <p:cNvPr id="19" name="Image 3" descr="/home/user/VerticalFederatedRegression/slides/assets/eq/d_moves.png">    </p:cNvPr>
          <p:cNvPicPr>
            <a:picLocks noChangeAspect="1"/>
          </p:cNvPicPr>
          <p:nvPr/>
        </p:nvPicPr>
        <p:blipFill>
          <a:blip r:embed="rId4"/>
          <a:stretch>
            <a:fillRect/>
          </a:stretch>
        </p:blipFill>
        <p:spPr>
          <a:xfrm>
            <a:off x="6080760" y="3246120"/>
            <a:ext cx="1822091" cy="1131595"/>
          </a:xfrm>
          <a:prstGeom prst="rect">
            <a:avLst/>
          </a:prstGeom>
        </p:spPr>
      </p:pic>
      <p:sp>
        <p:nvSpPr>
          <p:cNvPr id="20" name="Text 13"/>
          <p:cNvSpPr txBox="1"/>
          <p:nvPr/>
        </p:nvSpPr>
        <p:spPr>
          <a:xfrm>
            <a:off x="8138160" y="3246120"/>
            <a:ext cx="3291840" cy="118872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Every entry gets the same noise, so the squared changes add up over the blocks of a release. Stage 1 has only the first two blocks, so Δ</a:t>
            </a:r>
            <a:r>
              <a:rPr lang="en-US" sz="1200" baseline="-25000" dirty="0">
                <a:solidFill>
                  <a:srgbClr val="5B6576"/>
                </a:solidFill>
                <a:latin typeface="Calibri" pitchFamily="34" charset="0"/>
                <a:ea typeface="Calibri" pitchFamily="34" charset="-122"/>
                <a:cs typeface="Calibri" pitchFamily="34" charset="-120"/>
              </a:rPr>
              <a:t>G</a:t>
            </a:r>
            <a:r>
              <a:rPr lang="en-US" sz="1200" dirty="0">
                <a:solidFill>
                  <a:srgbClr val="5B6576"/>
                </a:solidFill>
                <a:latin typeface="Calibri" pitchFamily="34" charset="0"/>
                <a:ea typeface="Calibri" pitchFamily="34" charset="-122"/>
                <a:cs typeface="Calibri" pitchFamily="34" charset="-120"/>
              </a:rPr>
              <a:t> &lt; Δ. Only the upper triangle of the symmetric B is released, so each off-diagonal change counts once.</a:t>
            </a:r>
            <a:endParaRPr lang="en-US" sz="1200" dirty="0"/>
          </a:p>
        </p:txBody>
      </p:sp>
      <p:sp>
        <p:nvSpPr>
          <p:cNvPr id="21" name="Text 14"/>
          <p:cNvSpPr txBox="1"/>
          <p:nvPr/>
        </p:nvSpPr>
        <p:spPr>
          <a:xfrm>
            <a:off x="6080760" y="4553712"/>
            <a:ext cx="5349240" cy="2743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Maximizing over the bounds, with (r, o, w) = (B</a:t>
            </a:r>
            <a:r>
              <a:rPr lang="en-US" sz="1300" baseline="-25000" dirty="0">
                <a:solidFill>
                  <a:srgbClr val="1F2937"/>
                </a:solidFill>
                <a:latin typeface="Calibri" pitchFamily="34" charset="0"/>
                <a:ea typeface="Calibri" pitchFamily="34" charset="-122"/>
                <a:cs typeface="Calibri" pitchFamily="34" charset="-120"/>
              </a:rPr>
              <a:t>R</a:t>
            </a:r>
            <a:r>
              <a:rPr lang="en-US" sz="1300" baseline="30000" dirty="0">
                <a:solidFill>
                  <a:srgbClr val="1F2937"/>
                </a:solidFill>
                <a:latin typeface="Calibri" pitchFamily="34" charset="0"/>
                <a:ea typeface="Calibri" pitchFamily="34" charset="-122"/>
                <a:cs typeface="Calibri" pitchFamily="34" charset="-120"/>
              </a:rPr>
              <a:t>2</a:t>
            </a:r>
            <a:r>
              <a:rPr lang="en-US" sz="1300" dirty="0">
                <a:solidFill>
                  <a:srgbClr val="1F2937"/>
                </a:solidFill>
                <a:latin typeface="Calibri" pitchFamily="34" charset="0"/>
                <a:ea typeface="Calibri" pitchFamily="34" charset="-122"/>
                <a:cs typeface="Calibri" pitchFamily="34" charset="-120"/>
              </a:rPr>
              <a:t>, B</a:t>
            </a:r>
            <a:r>
              <a:rPr lang="en-US" sz="1300" baseline="-25000" dirty="0">
                <a:solidFill>
                  <a:srgbClr val="1F2937"/>
                </a:solidFill>
                <a:latin typeface="Calibri" pitchFamily="34" charset="0"/>
                <a:ea typeface="Calibri" pitchFamily="34" charset="-122"/>
                <a:cs typeface="Calibri" pitchFamily="34" charset="-120"/>
              </a:rPr>
              <a:t>O</a:t>
            </a:r>
            <a:r>
              <a:rPr lang="en-US" sz="1300" baseline="30000" dirty="0">
                <a:solidFill>
                  <a:srgbClr val="1F2937"/>
                </a:solidFill>
                <a:latin typeface="Calibri" pitchFamily="34" charset="0"/>
                <a:ea typeface="Calibri" pitchFamily="34" charset="-122"/>
                <a:cs typeface="Calibri" pitchFamily="34" charset="-120"/>
              </a:rPr>
              <a:t>2</a:t>
            </a:r>
            <a:r>
              <a:rPr lang="en-US" sz="1300" dirty="0">
                <a:solidFill>
                  <a:srgbClr val="1F2937"/>
                </a:solidFill>
                <a:latin typeface="Calibri" pitchFamily="34" charset="0"/>
                <a:ea typeface="Calibri" pitchFamily="34" charset="-122"/>
                <a:cs typeface="Calibri" pitchFamily="34" charset="-120"/>
              </a:rPr>
              <a:t>, B</a:t>
            </a:r>
            <a:r>
              <a:rPr lang="en-US" sz="1300" baseline="-25000" dirty="0">
                <a:solidFill>
                  <a:srgbClr val="1F2937"/>
                </a:solidFill>
                <a:latin typeface="Calibri" pitchFamily="34" charset="0"/>
                <a:ea typeface="Calibri" pitchFamily="34" charset="-122"/>
                <a:cs typeface="Calibri" pitchFamily="34" charset="-120"/>
              </a:rPr>
              <a:t>y</a:t>
            </a:r>
            <a:r>
              <a:rPr lang="en-US" sz="1300" baseline="30000" dirty="0">
                <a:solidFill>
                  <a:srgbClr val="1F2937"/>
                </a:solidFill>
                <a:latin typeface="Calibri" pitchFamily="34" charset="0"/>
                <a:ea typeface="Calibri" pitchFamily="34" charset="-122"/>
                <a:cs typeface="Calibri" pitchFamily="34" charset="-120"/>
              </a:rPr>
              <a:t>2</a:t>
            </a:r>
            <a:r>
              <a:rPr lang="en-US" sz="1300" dirty="0">
                <a:solidFill>
                  <a:srgbClr val="1F2937"/>
                </a:solidFill>
                <a:latin typeface="Calibri" pitchFamily="34" charset="0"/>
                <a:ea typeface="Calibri" pitchFamily="34" charset="-122"/>
                <a:cs typeface="Calibri" pitchFamily="34" charset="-120"/>
              </a:rPr>
              <a:t>):</a:t>
            </a:r>
            <a:endParaRPr lang="en-US" sz="1300" dirty="0"/>
          </a:p>
        </p:txBody>
      </p:sp>
      <p:pic>
        <p:nvPicPr>
          <p:cNvPr id="22" name="Image 4" descr="/home/user/VerticalFederatedRegression/slides/assets/eq/d_closed.png">    </p:cNvPr>
          <p:cNvPicPr>
            <a:picLocks noChangeAspect="1"/>
          </p:cNvPicPr>
          <p:nvPr/>
        </p:nvPicPr>
        <p:blipFill>
          <a:blip r:embed="rId5"/>
          <a:stretch>
            <a:fillRect/>
          </a:stretch>
        </p:blipFill>
        <p:spPr>
          <a:xfrm>
            <a:off x="6080760" y="4873752"/>
            <a:ext cx="3255863" cy="443495"/>
          </a:xfrm>
          <a:prstGeom prst="rect">
            <a:avLst/>
          </a:prstGeom>
        </p:spPr>
      </p:pic>
      <p:sp>
        <p:nvSpPr>
          <p:cNvPr id="23" name="Text 15"/>
          <p:cNvSpPr txBox="1"/>
          <p:nvPr/>
        </p:nvSpPr>
        <p:spPr>
          <a:xfrm>
            <a:off x="6080760" y="5440680"/>
            <a:ext cx="5349240" cy="27432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Toy: B</a:t>
            </a:r>
            <a:r>
              <a:rPr lang="en-US" sz="1200" baseline="-25000" dirty="0">
                <a:solidFill>
                  <a:srgbClr val="5B6576"/>
                </a:solidFill>
                <a:latin typeface="Calibri" pitchFamily="34" charset="0"/>
                <a:ea typeface="Calibri" pitchFamily="34" charset="-122"/>
                <a:cs typeface="Calibri" pitchFamily="34" charset="-120"/>
              </a:rPr>
              <a:t>R</a:t>
            </a:r>
            <a:r>
              <a:rPr lang="en-US" sz="1200" baseline="30000" dirty="0">
                <a:solidFill>
                  <a:srgbClr val="5B6576"/>
                </a:solidFill>
                <a:latin typeface="Calibri" pitchFamily="34" charset="0"/>
                <a:ea typeface="Calibri" pitchFamily="34" charset="-122"/>
                <a:cs typeface="Calibri" pitchFamily="34" charset="-120"/>
              </a:rPr>
              <a:t>2</a:t>
            </a:r>
            <a:r>
              <a:rPr lang="en-US" sz="1200" dirty="0">
                <a:solidFill>
                  <a:srgbClr val="5B6576"/>
                </a:solidFill>
                <a:latin typeface="Calibri" pitchFamily="34" charset="0"/>
                <a:ea typeface="Calibri" pitchFamily="34" charset="-122"/>
                <a:cs typeface="Calibri" pitchFamily="34" charset="-120"/>
              </a:rPr>
              <a:t> = 3, B</a:t>
            </a:r>
            <a:r>
              <a:rPr lang="en-US" sz="1200" baseline="-25000" dirty="0">
                <a:solidFill>
                  <a:srgbClr val="5B6576"/>
                </a:solidFill>
                <a:latin typeface="Calibri" pitchFamily="34" charset="0"/>
                <a:ea typeface="Calibri" pitchFamily="34" charset="-122"/>
                <a:cs typeface="Calibri" pitchFamily="34" charset="-120"/>
              </a:rPr>
              <a:t>O</a:t>
            </a:r>
            <a:r>
              <a:rPr lang="en-US" sz="1200" baseline="30000" dirty="0">
                <a:solidFill>
                  <a:srgbClr val="5B6576"/>
                </a:solidFill>
                <a:latin typeface="Calibri" pitchFamily="34" charset="0"/>
                <a:ea typeface="Calibri" pitchFamily="34" charset="-122"/>
                <a:cs typeface="Calibri" pitchFamily="34" charset="-120"/>
              </a:rPr>
              <a:t>2</a:t>
            </a:r>
            <a:r>
              <a:rPr lang="en-US" sz="1200" dirty="0">
                <a:solidFill>
                  <a:srgbClr val="5B6576"/>
                </a:solidFill>
                <a:latin typeface="Calibri" pitchFamily="34" charset="0"/>
                <a:ea typeface="Calibri" pitchFamily="34" charset="-122"/>
                <a:cs typeface="Calibri" pitchFamily="34" charset="-120"/>
              </a:rPr>
              <a:t> = 2, B</a:t>
            </a:r>
            <a:r>
              <a:rPr lang="en-US" sz="1200" baseline="-25000" dirty="0">
                <a:solidFill>
                  <a:srgbClr val="5B6576"/>
                </a:solidFill>
                <a:latin typeface="Calibri" pitchFamily="34" charset="0"/>
                <a:ea typeface="Calibri" pitchFamily="34" charset="-122"/>
                <a:cs typeface="Calibri" pitchFamily="34" charset="-120"/>
              </a:rPr>
              <a:t>y</a:t>
            </a:r>
            <a:r>
              <a:rPr lang="en-US" sz="1200" baseline="30000" dirty="0">
                <a:solidFill>
                  <a:srgbClr val="5B6576"/>
                </a:solidFill>
                <a:latin typeface="Calibri" pitchFamily="34" charset="0"/>
                <a:ea typeface="Calibri" pitchFamily="34" charset="-122"/>
                <a:cs typeface="Calibri" pitchFamily="34" charset="-120"/>
              </a:rPr>
              <a:t>2</a:t>
            </a:r>
            <a:r>
              <a:rPr lang="en-US" sz="1200" dirty="0">
                <a:solidFill>
                  <a:srgbClr val="5B6576"/>
                </a:solidFill>
                <a:latin typeface="Calibri" pitchFamily="34" charset="0"/>
                <a:ea typeface="Calibri" pitchFamily="34" charset="-122"/>
                <a:cs typeface="Calibri" pitchFamily="34" charset="-120"/>
              </a:rPr>
              <a:t> = 1 → Δ = √38 = 6.16, Δ</a:t>
            </a:r>
            <a:r>
              <a:rPr lang="en-US" sz="1200" baseline="-25000" dirty="0">
                <a:solidFill>
                  <a:srgbClr val="5B6576"/>
                </a:solidFill>
                <a:latin typeface="Calibri" pitchFamily="34" charset="0"/>
                <a:ea typeface="Calibri" pitchFamily="34" charset="-122"/>
                <a:cs typeface="Calibri" pitchFamily="34" charset="-120"/>
              </a:rPr>
              <a:t>G</a:t>
            </a:r>
            <a:r>
              <a:rPr lang="en-US" sz="1200" dirty="0">
                <a:solidFill>
                  <a:srgbClr val="5B6576"/>
                </a:solidFill>
                <a:latin typeface="Calibri" pitchFamily="34" charset="0"/>
                <a:ea typeface="Calibri" pitchFamily="34" charset="-122"/>
                <a:cs typeface="Calibri" pitchFamily="34" charset="-120"/>
              </a:rPr>
              <a:t> = √24.5 = 4.95.</a:t>
            </a:r>
            <a:endParaRPr lang="en-US" sz="1200" dirty="0"/>
          </a:p>
        </p:txBody>
      </p:sp>
      <p:sp>
        <p:nvSpPr>
          <p:cNvPr id="24" name="Shape 16"/>
          <p:cNvSpPr/>
          <p:nvPr/>
        </p:nvSpPr>
        <p:spPr>
          <a:xfrm>
            <a:off x="548640" y="5989320"/>
            <a:ext cx="11064240" cy="594360"/>
          </a:xfrm>
          <a:prstGeom prst="roundRect">
            <a:avLst>
              <a:gd name="adj" fmla="val 12308"/>
            </a:avLst>
          </a:prstGeom>
          <a:solidFill>
            <a:srgbClr val="F7F9FC"/>
          </a:solidFill>
          <a:ln w="12700">
            <a:solidFill>
              <a:srgbClr val="F7F9FC"/>
            </a:solidFill>
            <a:prstDash val="solid"/>
          </a:ln>
        </p:spPr>
      </p:sp>
      <p:sp>
        <p:nvSpPr>
          <p:cNvPr id="25" name="Text 17"/>
          <p:cNvSpPr txBox="1"/>
          <p:nvPr/>
        </p:nvSpPr>
        <p:spPr>
          <a:xfrm>
            <a:off x="777240" y="6007608"/>
            <a:ext cx="10607040" cy="557784"/>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Clipping is what makes Δ finite, and Δ does not depend on n: more records make the signal bigger, not the noise.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σ</a:t>
            </a:r>
            <a:r>
              <a:rPr lang="en-US" sz="3200" b="1" baseline="-25000" dirty="0">
                <a:solidFill>
                  <a:srgbClr val="14213D"/>
                </a:solidFill>
                <a:latin typeface="Cambria" pitchFamily="34" charset="0"/>
                <a:ea typeface="Cambria" pitchFamily="34" charset="-122"/>
                <a:cs typeface="Cambria" pitchFamily="34" charset="-120"/>
              </a:rPr>
              <a:t>s</a:t>
            </a:r>
            <a:r>
              <a:rPr lang="en-US" sz="3200" b="1" dirty="0">
                <a:solidFill>
                  <a:srgbClr val="14213D"/>
                </a:solidFill>
                <a:latin typeface="Cambria" pitchFamily="34" charset="0"/>
                <a:ea typeface="Cambria" pitchFamily="34" charset="-122"/>
                <a:cs typeface="Cambria" pitchFamily="34" charset="-120"/>
              </a:rPr>
              <a:t> and ρ</a:t>
            </a:r>
            <a:r>
              <a:rPr lang="en-US" sz="3200" b="1" baseline="-25000" dirty="0">
                <a:solidFill>
                  <a:srgbClr val="14213D"/>
                </a:solidFill>
                <a:latin typeface="Cambria" pitchFamily="34" charset="0"/>
                <a:ea typeface="Cambria" pitchFamily="34" charset="-122"/>
                <a:cs typeface="Cambria" pitchFamily="34" charset="-120"/>
              </a:rPr>
              <a:t>s</a:t>
            </a:r>
            <a:r>
              <a:rPr lang="en-US" sz="3200" b="1" dirty="0">
                <a:solidFill>
                  <a:srgbClr val="14213D"/>
                </a:solidFill>
                <a:latin typeface="Cambria" pitchFamily="34" charset="0"/>
                <a:ea typeface="Cambria" pitchFamily="34" charset="-122"/>
                <a:cs typeface="Cambria" pitchFamily="34" charset="-120"/>
              </a:rPr>
              <a:t>: one equation ties them to Δ</a:t>
            </a:r>
            <a:r>
              <a:rPr lang="en-US" sz="3200" b="1" baseline="-25000" dirty="0">
                <a:solidFill>
                  <a:srgbClr val="14213D"/>
                </a:solidFill>
                <a:latin typeface="Cambria" pitchFamily="34" charset="0"/>
                <a:ea typeface="Cambria" pitchFamily="34" charset="-122"/>
                <a:cs typeface="Cambria" pitchFamily="34" charset="-120"/>
              </a:rPr>
              <a:t>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Δ</a:t>
            </a:r>
            <a:r>
              <a:rPr lang="en-US" sz="1600" i="1" baseline="-25000" dirty="0">
                <a:solidFill>
                  <a:srgbClr val="5B6576"/>
                </a:solidFill>
                <a:latin typeface="Calibri" pitchFamily="34" charset="0"/>
                <a:ea typeface="Calibri" pitchFamily="34" charset="-122"/>
                <a:cs typeface="Calibri" pitchFamily="34" charset="-120"/>
              </a:rPr>
              <a:t>s</a:t>
            </a:r>
            <a:r>
              <a:rPr lang="en-US" sz="1600" i="1" dirty="0">
                <a:solidFill>
                  <a:srgbClr val="5B6576"/>
                </a:solidFill>
                <a:latin typeface="Calibri" pitchFamily="34" charset="0"/>
                <a:ea typeface="Calibri" pitchFamily="34" charset="-122"/>
                <a:cs typeface="Calibri" pitchFamily="34" charset="-120"/>
              </a:rPr>
              <a:t> is fixed by the bounds and ρ</a:t>
            </a:r>
            <a:r>
              <a:rPr lang="en-US" sz="1600" i="1" baseline="-25000" dirty="0">
                <a:solidFill>
                  <a:srgbClr val="5B6576"/>
                </a:solidFill>
                <a:latin typeface="Calibri" pitchFamily="34" charset="0"/>
                <a:ea typeface="Calibri" pitchFamily="34" charset="-122"/>
                <a:cs typeface="Calibri" pitchFamily="34" charset="-120"/>
              </a:rPr>
              <a:t>s</a:t>
            </a:r>
            <a:r>
              <a:rPr lang="en-US" sz="1600" i="1" dirty="0">
                <a:solidFill>
                  <a:srgbClr val="5B6576"/>
                </a:solidFill>
                <a:latin typeface="Calibri" pitchFamily="34" charset="0"/>
                <a:ea typeface="Calibri" pitchFamily="34" charset="-122"/>
                <a:cs typeface="Calibri" pitchFamily="34" charset="-120"/>
              </a:rPr>
              <a:t> by the budget, so the noise σ</a:t>
            </a:r>
            <a:r>
              <a:rPr lang="en-US" sz="1600" i="1" baseline="-25000" dirty="0">
                <a:solidFill>
                  <a:srgbClr val="5B6576"/>
                </a:solidFill>
                <a:latin typeface="Calibri" pitchFamily="34" charset="0"/>
                <a:ea typeface="Calibri" pitchFamily="34" charset="-122"/>
                <a:cs typeface="Calibri" pitchFamily="34" charset="-120"/>
              </a:rPr>
              <a:t>s</a:t>
            </a:r>
            <a:r>
              <a:rPr lang="en-US" sz="1600" i="1" dirty="0">
                <a:solidFill>
                  <a:srgbClr val="5B6576"/>
                </a:solidFill>
                <a:latin typeface="Calibri" pitchFamily="34" charset="0"/>
                <a:ea typeface="Calibri" pitchFamily="34" charset="-122"/>
                <a:cs typeface="Calibri" pitchFamily="34" charset="-120"/>
              </a:rPr>
              <a:t> follows</a:t>
            </a:r>
            <a:endParaRPr lang="en-US" sz="1600" dirty="0"/>
          </a:p>
        </p:txBody>
      </p:sp>
      <p:sp>
        <p:nvSpPr>
          <p:cNvPr id="4" name="Shape 2"/>
          <p:cNvSpPr/>
          <p:nvPr/>
        </p:nvSpPr>
        <p:spPr>
          <a:xfrm>
            <a:off x="548640" y="1600200"/>
            <a:ext cx="11064240" cy="914400"/>
          </a:xfrm>
          <a:prstGeom prst="roundRect">
            <a:avLst>
              <a:gd name="adj" fmla="val 8000"/>
            </a:avLst>
          </a:prstGeom>
          <a:solidFill>
            <a:srgbClr val="F6E3D6"/>
          </a:solidFill>
          <a:ln w="12700">
            <a:solidFill>
              <a:srgbClr val="F6E3D6"/>
            </a:solidFill>
            <a:prstDash val="solid"/>
          </a:ln>
        </p:spPr>
      </p:sp>
      <p:pic>
        <p:nvPicPr>
          <p:cNvPr id="5" name="Image 0" descr="/home/user/VerticalFederatedRegression/slides/assets/eq/d_key.png">    </p:cNvPr>
          <p:cNvPicPr>
            <a:picLocks noChangeAspect="1"/>
          </p:cNvPicPr>
          <p:nvPr/>
        </p:nvPicPr>
        <p:blipFill>
          <a:blip r:embed="rId1"/>
          <a:stretch>
            <a:fillRect/>
          </a:stretch>
        </p:blipFill>
        <p:spPr>
          <a:xfrm>
            <a:off x="868680" y="1723644"/>
            <a:ext cx="3967632" cy="663931"/>
          </a:xfrm>
          <a:prstGeom prst="rect">
            <a:avLst/>
          </a:prstGeom>
        </p:spPr>
      </p:pic>
      <p:sp>
        <p:nvSpPr>
          <p:cNvPr id="6" name="Text 3"/>
          <p:cNvSpPr txBox="1"/>
          <p:nvPr/>
        </p:nvSpPr>
        <p:spPr>
          <a:xfrm>
            <a:off x="5852160" y="1645920"/>
            <a:ext cx="5577840" cy="822960"/>
          </a:xfrm>
          <a:prstGeom prst="rect">
            <a:avLst/>
          </a:prstGeom>
          <a:noFill/>
          <a:ln/>
        </p:spPr>
        <p:txBody>
          <a:bodyPr wrap="square" lIns="0" tIns="0" rIns="0" bIns="0" rtlCol="0" anchor="ctr"/>
          <a:lstStyle/>
          <a:p>
            <a:pPr indent="0" marL="0">
              <a:buNone/>
            </a:pPr>
            <a:r>
              <a:rPr lang="en-US" sz="1350" b="1" dirty="0">
                <a:solidFill>
                  <a:srgbClr val="C45A0C"/>
                </a:solidFill>
                <a:latin typeface="Calibri" pitchFamily="34" charset="0"/>
                <a:ea typeface="Calibri" pitchFamily="34" charset="-122"/>
                <a:cs typeface="Calibri" pitchFamily="34" charset="-120"/>
              </a:rPr>
              <a:t>Δ</a:t>
            </a:r>
            <a:r>
              <a:rPr lang="en-US" sz="1350" b="1" baseline="-25000" dirty="0">
                <a:solidFill>
                  <a:srgbClr val="C45A0C"/>
                </a:solidFill>
                <a:latin typeface="Calibri" pitchFamily="34" charset="0"/>
                <a:ea typeface="Calibri" pitchFamily="34" charset="-122"/>
                <a:cs typeface="Calibri" pitchFamily="34" charset="-120"/>
              </a:rPr>
              <a:t>s</a:t>
            </a:r>
            <a:r>
              <a:rPr lang="en-US" sz="1350" dirty="0">
                <a:solidFill>
                  <a:srgbClr val="1F2937"/>
                </a:solidFill>
                <a:latin typeface="Calibri" pitchFamily="34" charset="0"/>
                <a:ea typeface="Calibri" pitchFamily="34" charset="-122"/>
                <a:cs typeface="Calibri" pitchFamily="34" charset="-120"/>
              </a:rPr>
              <a:t>   sensitivity: how far one person can move release s</a:t>
            </a:r>
            <a:endParaRPr lang="en-US" sz="1350" dirty="0"/>
          </a:p>
          <a:p>
            <a:pPr indent="0" marL="0">
              <a:buNone/>
            </a:pPr>
            <a:r>
              <a:rPr lang="en-US" sz="1350" b="1" dirty="0">
                <a:solidFill>
                  <a:srgbClr val="C45A0C"/>
                </a:solidFill>
                <a:latin typeface="Calibri" pitchFamily="34" charset="0"/>
                <a:ea typeface="Calibri" pitchFamily="34" charset="-122"/>
                <a:cs typeface="Calibri" pitchFamily="34" charset="-120"/>
              </a:rPr>
              <a:t>ρ</a:t>
            </a:r>
            <a:r>
              <a:rPr lang="en-US" sz="1350" b="1" baseline="-25000" dirty="0">
                <a:solidFill>
                  <a:srgbClr val="C45A0C"/>
                </a:solidFill>
                <a:latin typeface="Calibri" pitchFamily="34" charset="0"/>
                <a:ea typeface="Calibri" pitchFamily="34" charset="-122"/>
                <a:cs typeface="Calibri" pitchFamily="34" charset="-120"/>
              </a:rPr>
              <a:t>s</a:t>
            </a:r>
            <a:r>
              <a:rPr lang="en-US" sz="1350" dirty="0">
                <a:solidFill>
                  <a:srgbClr val="1F2937"/>
                </a:solidFill>
                <a:latin typeface="Calibri" pitchFamily="34" charset="0"/>
                <a:ea typeface="Calibri" pitchFamily="34" charset="-122"/>
                <a:cs typeface="Calibri" pitchFamily="34" charset="-120"/>
              </a:rPr>
              <a:t>   zCDP cost: the share of the budget release s spends</a:t>
            </a:r>
            <a:endParaRPr lang="en-US" sz="1350" dirty="0"/>
          </a:p>
          <a:p>
            <a:pPr indent="0" marL="0">
              <a:buNone/>
            </a:pPr>
            <a:r>
              <a:rPr lang="en-US" sz="1350" b="1" dirty="0">
                <a:solidFill>
                  <a:srgbClr val="C45A0C"/>
                </a:solidFill>
                <a:latin typeface="Calibri" pitchFamily="34" charset="0"/>
                <a:ea typeface="Calibri" pitchFamily="34" charset="-122"/>
                <a:cs typeface="Calibri" pitchFamily="34" charset="-120"/>
              </a:rPr>
              <a:t>σ</a:t>
            </a:r>
            <a:r>
              <a:rPr lang="en-US" sz="1350" b="1" baseline="-25000" dirty="0">
                <a:solidFill>
                  <a:srgbClr val="C45A0C"/>
                </a:solidFill>
                <a:latin typeface="Calibri" pitchFamily="34" charset="0"/>
                <a:ea typeface="Calibri" pitchFamily="34" charset="-122"/>
                <a:cs typeface="Calibri" pitchFamily="34" charset="-120"/>
              </a:rPr>
              <a:t>s</a:t>
            </a:r>
            <a:r>
              <a:rPr lang="en-US" sz="1350" dirty="0">
                <a:solidFill>
                  <a:srgbClr val="1F2937"/>
                </a:solidFill>
                <a:latin typeface="Calibri" pitchFamily="34" charset="0"/>
                <a:ea typeface="Calibri" pitchFamily="34" charset="-122"/>
                <a:cs typeface="Calibri" pitchFamily="34" charset="-120"/>
              </a:rPr>
              <a:t>   noise s.d. added to every entry of release s</a:t>
            </a:r>
            <a:endParaRPr lang="en-US" sz="1350" dirty="0"/>
          </a:p>
        </p:txBody>
      </p:sp>
      <p:sp>
        <p:nvSpPr>
          <p:cNvPr id="7" name="Shape 4"/>
          <p:cNvSpPr/>
          <p:nvPr/>
        </p:nvSpPr>
        <p:spPr>
          <a:xfrm>
            <a:off x="548640" y="2697480"/>
            <a:ext cx="5394960" cy="3154680"/>
          </a:xfrm>
          <a:prstGeom prst="roundRect">
            <a:avLst>
              <a:gd name="adj" fmla="val 2319"/>
            </a:avLst>
          </a:prstGeom>
          <a:solidFill>
            <a:srgbClr val="EEF2F7"/>
          </a:solidFill>
          <a:ln w="12700">
            <a:solidFill>
              <a:srgbClr val="EEF2F7"/>
            </a:solidFill>
            <a:prstDash val="solid"/>
          </a:ln>
        </p:spPr>
      </p:sp>
      <p:sp>
        <p:nvSpPr>
          <p:cNvPr id="8" name="Shape 5"/>
          <p:cNvSpPr/>
          <p:nvPr/>
        </p:nvSpPr>
        <p:spPr>
          <a:xfrm>
            <a:off x="777240" y="2880360"/>
            <a:ext cx="457200" cy="457200"/>
          </a:xfrm>
          <a:prstGeom prst="ellipse">
            <a:avLst/>
          </a:prstGeom>
          <a:solidFill>
            <a:srgbClr val="14213D"/>
          </a:solidFill>
          <a:ln w="12700">
            <a:solidFill>
              <a:srgbClr val="14213D"/>
            </a:solidFill>
            <a:prstDash val="solid"/>
          </a:ln>
        </p:spPr>
      </p:sp>
      <p:pic>
        <p:nvPicPr>
          <p:cNvPr id="9" name="Image 1" descr="preencoded.png">    </p:cNvPr>
          <p:cNvPicPr>
            <a:picLocks noChangeAspect="1"/>
          </p:cNvPicPr>
          <p:nvPr/>
        </p:nvPicPr>
        <p:blipFill>
          <a:blip r:embed="rId2"/>
          <a:stretch>
            <a:fillRect/>
          </a:stretch>
        </p:blipFill>
        <p:spPr>
          <a:xfrm>
            <a:off x="886968" y="2990088"/>
            <a:ext cx="237744" cy="237744"/>
          </a:xfrm>
          <a:prstGeom prst="rect">
            <a:avLst/>
          </a:prstGeom>
        </p:spPr>
      </p:pic>
      <p:sp>
        <p:nvSpPr>
          <p:cNvPr id="10" name="Text 6"/>
          <p:cNvSpPr txBox="1"/>
          <p:nvPr/>
        </p:nvSpPr>
        <p:spPr>
          <a:xfrm>
            <a:off x="1371600" y="2898648"/>
            <a:ext cx="44805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Why the equation holds</a:t>
            </a:r>
            <a:endParaRPr lang="en-US" sz="1700" dirty="0"/>
          </a:p>
        </p:txBody>
      </p:sp>
      <p:sp>
        <p:nvSpPr>
          <p:cNvPr id="11" name="Text 7"/>
          <p:cNvSpPr txBox="1"/>
          <p:nvPr/>
        </p:nvSpPr>
        <p:spPr>
          <a:xfrm>
            <a:off x="777240" y="3474720"/>
            <a:ext cx="498348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 sees ẑ</a:t>
            </a:r>
            <a:r>
              <a:rPr lang="en-US" sz="1300" baseline="-25000" dirty="0">
                <a:solidFill>
                  <a:srgbClr val="1F2937"/>
                </a:solidFill>
                <a:latin typeface="Calibri" pitchFamily="34" charset="0"/>
                <a:ea typeface="Calibri" pitchFamily="34" charset="-122"/>
                <a:cs typeface="Calibri" pitchFamily="34" charset="-120"/>
              </a:rPr>
              <a:t>s</a:t>
            </a:r>
            <a:r>
              <a:rPr lang="en-US" sz="1300" dirty="0">
                <a:solidFill>
                  <a:srgbClr val="1F2937"/>
                </a:solidFill>
                <a:latin typeface="Calibri" pitchFamily="34" charset="0"/>
                <a:ea typeface="Calibri" pitchFamily="34" charset="-122"/>
                <a:cs typeface="Calibri" pitchFamily="34" charset="-120"/>
              </a:rPr>
              <a:t> = z</a:t>
            </a:r>
            <a:r>
              <a:rPr lang="en-US" sz="1300" baseline="-25000" dirty="0">
                <a:solidFill>
                  <a:srgbClr val="1F2937"/>
                </a:solidFill>
                <a:latin typeface="Calibri" pitchFamily="34" charset="0"/>
                <a:ea typeface="Calibri" pitchFamily="34" charset="-122"/>
                <a:cs typeface="Calibri" pitchFamily="34" charset="-120"/>
              </a:rPr>
              <a:t>s</a:t>
            </a:r>
            <a:r>
              <a:rPr lang="en-US" sz="1300" dirty="0">
                <a:solidFill>
                  <a:srgbClr val="1F2937"/>
                </a:solidFill>
                <a:latin typeface="Calibri" pitchFamily="34" charset="0"/>
                <a:ea typeface="Calibri" pitchFamily="34" charset="-122"/>
                <a:cs typeface="Calibri" pitchFamily="34" charset="-120"/>
              </a:rPr>
              <a:t> + N(0, σ</a:t>
            </a:r>
            <a:r>
              <a:rPr lang="en-US" sz="1300" baseline="-25000" dirty="0">
                <a:solidFill>
                  <a:srgbClr val="1F2937"/>
                </a:solidFill>
                <a:latin typeface="Calibri" pitchFamily="34" charset="0"/>
                <a:ea typeface="Calibri" pitchFamily="34" charset="-122"/>
                <a:cs typeface="Calibri" pitchFamily="34" charset="-120"/>
              </a:rPr>
              <a:t>s</a:t>
            </a:r>
            <a:r>
              <a:rPr lang="en-US" sz="1300" baseline="30000" dirty="0">
                <a:solidFill>
                  <a:srgbClr val="1F2937"/>
                </a:solidFill>
                <a:latin typeface="Calibri" pitchFamily="34" charset="0"/>
                <a:ea typeface="Calibri" pitchFamily="34" charset="-122"/>
                <a:cs typeface="Calibri" pitchFamily="34" charset="-120"/>
              </a:rPr>
              <a:t>2</a:t>
            </a:r>
            <a:r>
              <a:rPr lang="en-US" sz="1300" dirty="0">
                <a:solidFill>
                  <a:srgbClr val="1F2937"/>
                </a:solidFill>
                <a:latin typeface="Calibri" pitchFamily="34" charset="0"/>
                <a:ea typeface="Calibri" pitchFamily="34" charset="-122"/>
                <a:cs typeface="Calibri" pitchFamily="34" charset="-120"/>
              </a:rPr>
              <a:t> I): independent noise with the same s.d. on every entry. For neighbours D ∼ D′ and any order a &gt; 1, the Rényi divergence is</a:t>
            </a:r>
            <a:endParaRPr lang="en-US" sz="1300" dirty="0"/>
          </a:p>
        </p:txBody>
      </p:sp>
      <p:pic>
        <p:nvPicPr>
          <p:cNvPr id="12" name="Image 2" descr="/home/user/VerticalFederatedRegression/slides/assets/eq/d_renyi.png">    </p:cNvPr>
          <p:cNvPicPr>
            <a:picLocks noChangeAspect="1"/>
          </p:cNvPicPr>
          <p:nvPr/>
        </p:nvPicPr>
        <p:blipFill>
          <a:blip r:embed="rId3"/>
          <a:stretch>
            <a:fillRect/>
          </a:stretch>
        </p:blipFill>
        <p:spPr>
          <a:xfrm>
            <a:off x="777240" y="4251960"/>
            <a:ext cx="4066255" cy="348564"/>
          </a:xfrm>
          <a:prstGeom prst="rect">
            <a:avLst/>
          </a:prstGeom>
        </p:spPr>
      </p:pic>
      <p:sp>
        <p:nvSpPr>
          <p:cNvPr id="13" name="Text 8"/>
          <p:cNvSpPr txBox="1"/>
          <p:nvPr/>
        </p:nvSpPr>
        <p:spPr>
          <a:xfrm>
            <a:off x="777240" y="4754880"/>
            <a:ext cx="4983480" cy="9144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ρ-zCDP means this is at most aρ for every a &gt; 1, so release s costs exactly ρ</a:t>
            </a:r>
            <a:r>
              <a:rPr lang="en-US" sz="1250" baseline="-25000" dirty="0">
                <a:solidFill>
                  <a:srgbClr val="1F2937"/>
                </a:solidFill>
                <a:latin typeface="Calibri" pitchFamily="34" charset="0"/>
                <a:ea typeface="Calibri" pitchFamily="34" charset="-122"/>
                <a:cs typeface="Calibri" pitchFamily="34" charset="-120"/>
              </a:rPr>
              <a:t>s</a:t>
            </a:r>
            <a:r>
              <a:rPr lang="en-US" sz="1250" dirty="0">
                <a:solidFill>
                  <a:srgbClr val="1F2937"/>
                </a:solidFill>
                <a:latin typeface="Calibri" pitchFamily="34" charset="0"/>
                <a:ea typeface="Calibri" pitchFamily="34" charset="-122"/>
                <a:cs typeface="Calibri" pitchFamily="34" charset="-120"/>
              </a:rPr>
              <a:t> = Δ</a:t>
            </a:r>
            <a:r>
              <a:rPr lang="en-US" sz="1250" baseline="-25000" dirty="0">
                <a:solidFill>
                  <a:srgbClr val="1F2937"/>
                </a:solidFill>
                <a:latin typeface="Calibri" pitchFamily="34" charset="0"/>
                <a:ea typeface="Calibri" pitchFamily="34" charset="-122"/>
                <a:cs typeface="Calibri" pitchFamily="34" charset="-120"/>
              </a:rPr>
              <a:t>s</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/(2σ</a:t>
            </a:r>
            <a:r>
              <a:rPr lang="en-US" sz="1250" baseline="-25000" dirty="0">
                <a:solidFill>
                  <a:srgbClr val="1F2937"/>
                </a:solidFill>
                <a:latin typeface="Calibri" pitchFamily="34" charset="0"/>
                <a:ea typeface="Calibri" pitchFamily="34" charset="-122"/>
                <a:cs typeface="Calibri" pitchFamily="34" charset="-120"/>
              </a:rPr>
              <a:t>s</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Costs add: ρ</a:t>
            </a:r>
            <a:r>
              <a:rPr lang="en-US" sz="1250" baseline="-25000" dirty="0">
                <a:solidFill>
                  <a:srgbClr val="1F2937"/>
                </a:solidFill>
                <a:latin typeface="Calibri" pitchFamily="34" charset="0"/>
                <a:ea typeface="Calibri" pitchFamily="34" charset="-122"/>
                <a:cs typeface="Calibri" pitchFamily="34" charset="-120"/>
              </a:rPr>
              <a:t>run</a:t>
            </a:r>
            <a:r>
              <a:rPr lang="en-US" sz="1250" dirty="0">
                <a:solidFill>
                  <a:srgbClr val="1F2937"/>
                </a:solidFill>
                <a:latin typeface="Calibri" pitchFamily="34" charset="0"/>
                <a:ea typeface="Calibri" pitchFamily="34" charset="-122"/>
                <a:cs typeface="Calibri" pitchFamily="34" charset="-120"/>
              </a:rPr>
              <a:t> = ρ</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 + ρ</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They add across runs too, and O's ledger caps the total.</a:t>
            </a:r>
            <a:endParaRPr lang="en-US" sz="1250" dirty="0"/>
          </a:p>
        </p:txBody>
      </p:sp>
      <p:sp>
        <p:nvSpPr>
          <p:cNvPr id="14" name="Shape 9"/>
          <p:cNvSpPr/>
          <p:nvPr/>
        </p:nvSpPr>
        <p:spPr>
          <a:xfrm>
            <a:off x="6126480" y="2697480"/>
            <a:ext cx="5486400" cy="3154680"/>
          </a:xfrm>
          <a:prstGeom prst="roundRect">
            <a:avLst>
              <a:gd name="adj" fmla="val 2319"/>
            </a:avLst>
          </a:prstGeom>
          <a:solidFill>
            <a:srgbClr val="EEF2F7"/>
          </a:solidFill>
          <a:ln w="12700">
            <a:solidFill>
              <a:srgbClr val="EEF2F7"/>
            </a:solidFill>
            <a:prstDash val="solid"/>
          </a:ln>
        </p:spPr>
      </p:sp>
      <p:sp>
        <p:nvSpPr>
          <p:cNvPr id="15" name="Shape 10"/>
          <p:cNvSpPr/>
          <p:nvPr/>
        </p:nvSpPr>
        <p:spPr>
          <a:xfrm>
            <a:off x="6355080" y="2880360"/>
            <a:ext cx="457200" cy="457200"/>
          </a:xfrm>
          <a:prstGeom prst="ellipse">
            <a:avLst/>
          </a:prstGeom>
          <a:solidFill>
            <a:srgbClr val="3D5A80"/>
          </a:solidFill>
          <a:ln w="12700">
            <a:solidFill>
              <a:srgbClr val="3D5A80"/>
            </a:solidFill>
            <a:prstDash val="solid"/>
          </a:ln>
        </p:spPr>
      </p:sp>
      <p:pic>
        <p:nvPicPr>
          <p:cNvPr id="16" name="Image 3" descr="preencoded.png">    </p:cNvPr>
          <p:cNvPicPr>
            <a:picLocks noChangeAspect="1"/>
          </p:cNvPicPr>
          <p:nvPr/>
        </p:nvPicPr>
        <p:blipFill>
          <a:blip r:embed="rId4"/>
          <a:stretch>
            <a:fillRect/>
          </a:stretch>
        </p:blipFill>
        <p:spPr>
          <a:xfrm>
            <a:off x="6464808" y="2990088"/>
            <a:ext cx="237744" cy="237744"/>
          </a:xfrm>
          <a:prstGeom prst="rect">
            <a:avLst/>
          </a:prstGeom>
        </p:spPr>
      </p:pic>
      <p:sp>
        <p:nvSpPr>
          <p:cNvPr id="17" name="Text 11"/>
          <p:cNvSpPr txBox="1"/>
          <p:nvPr/>
        </p:nvSpPr>
        <p:spPr>
          <a:xfrm>
            <a:off x="6949440" y="2898648"/>
            <a:ext cx="44805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From the run's (ε, δ) to the noise</a:t>
            </a:r>
            <a:endParaRPr lang="en-US" sz="1700" dirty="0"/>
          </a:p>
        </p:txBody>
      </p:sp>
      <p:sp>
        <p:nvSpPr>
          <p:cNvPr id="18" name="Shape 12"/>
          <p:cNvSpPr/>
          <p:nvPr/>
        </p:nvSpPr>
        <p:spPr>
          <a:xfrm>
            <a:off x="6355080" y="3401568"/>
            <a:ext cx="329184" cy="329184"/>
          </a:xfrm>
          <a:prstGeom prst="ellipse">
            <a:avLst/>
          </a:prstGeom>
          <a:solidFill>
            <a:srgbClr val="3D5A80"/>
          </a:solidFill>
          <a:ln w="12700">
            <a:solidFill>
              <a:srgbClr val="3D5A80"/>
            </a:solidFill>
            <a:prstDash val="solid"/>
          </a:ln>
        </p:spPr>
      </p:sp>
      <p:sp>
        <p:nvSpPr>
          <p:cNvPr id="19" name="Text 13"/>
          <p:cNvSpPr txBox="1"/>
          <p:nvPr/>
        </p:nvSpPr>
        <p:spPr>
          <a:xfrm>
            <a:off x="6355080" y="3401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4"/>
          <p:cNvSpPr txBox="1"/>
          <p:nvPr/>
        </p:nvSpPr>
        <p:spPr>
          <a:xfrm>
            <a:off x="6812280" y="3419856"/>
            <a:ext cx="457200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Convert (ε, δ) to a zCDP budget</a:t>
            </a:r>
            <a:endParaRPr lang="en-US" sz="1300" dirty="0"/>
          </a:p>
        </p:txBody>
      </p:sp>
      <p:pic>
        <p:nvPicPr>
          <p:cNvPr id="21" name="Image 4" descr="/home/user/VerticalFederatedRegression/slides/assets/eq/zcdp_conv.png">    </p:cNvPr>
          <p:cNvPicPr>
            <a:picLocks noChangeAspect="1"/>
          </p:cNvPicPr>
          <p:nvPr/>
        </p:nvPicPr>
        <p:blipFill>
          <a:blip r:embed="rId5"/>
          <a:stretch>
            <a:fillRect/>
          </a:stretch>
        </p:blipFill>
        <p:spPr>
          <a:xfrm>
            <a:off x="6812280" y="3721608"/>
            <a:ext cx="2644586" cy="212956"/>
          </a:xfrm>
          <a:prstGeom prst="rect">
            <a:avLst/>
          </a:prstGeom>
        </p:spPr>
      </p:pic>
      <p:sp>
        <p:nvSpPr>
          <p:cNvPr id="22" name="Text 15"/>
          <p:cNvSpPr txBox="1"/>
          <p:nvPr/>
        </p:nvSpPr>
        <p:spPr>
          <a:xfrm>
            <a:off x="6812280" y="3977640"/>
            <a:ext cx="4617720" cy="2286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Tight conversion: ρ</a:t>
            </a:r>
            <a:r>
              <a:rPr lang="en-US" sz="1100" baseline="-25000" dirty="0">
                <a:solidFill>
                  <a:srgbClr val="5B6576"/>
                </a:solidFill>
                <a:latin typeface="Calibri" pitchFamily="34" charset="0"/>
                <a:ea typeface="Calibri" pitchFamily="34" charset="-122"/>
                <a:cs typeface="Calibri" pitchFamily="34" charset="-120"/>
              </a:rPr>
              <a:t>run</a:t>
            </a:r>
            <a:r>
              <a:rPr lang="en-US" sz="1100" dirty="0">
                <a:solidFill>
                  <a:srgbClr val="5B6576"/>
                </a:solidFill>
                <a:latin typeface="Calibri" pitchFamily="34" charset="0"/>
                <a:ea typeface="Calibri" pitchFamily="34" charset="-122"/>
                <a:cs typeface="Calibri" pitchFamily="34" charset="-120"/>
              </a:rPr>
              <a:t> = 0.01497 at ε = 1, δ = 10</a:t>
            </a:r>
            <a:r>
              <a:rPr lang="en-US" sz="1100" baseline="30000" dirty="0">
                <a:solidFill>
                  <a:srgbClr val="5B6576"/>
                </a:solidFill>
                <a:latin typeface="Calibri" pitchFamily="34" charset="0"/>
                <a:ea typeface="Calibri" pitchFamily="34" charset="-122"/>
                <a:cs typeface="Calibri" pitchFamily="34" charset="-120"/>
              </a:rPr>
              <a:t>−9</a:t>
            </a:r>
            <a:r>
              <a:rPr lang="en-US" sz="1100" dirty="0">
                <a:solidFill>
                  <a:srgbClr val="5B6576"/>
                </a:solidFill>
                <a:latin typeface="Calibri" pitchFamily="34" charset="0"/>
                <a:ea typeface="Calibri" pitchFamily="34" charset="-122"/>
                <a:cs typeface="Calibri" pitchFamily="34" charset="-120"/>
              </a:rPr>
              <a:t>.</a:t>
            </a:r>
            <a:endParaRPr lang="en-US" sz="1100" dirty="0"/>
          </a:p>
        </p:txBody>
      </p:sp>
      <p:sp>
        <p:nvSpPr>
          <p:cNvPr id="23" name="Shape 16"/>
          <p:cNvSpPr/>
          <p:nvPr/>
        </p:nvSpPr>
        <p:spPr>
          <a:xfrm>
            <a:off x="6355080" y="4315968"/>
            <a:ext cx="329184" cy="329184"/>
          </a:xfrm>
          <a:prstGeom prst="ellipse">
            <a:avLst/>
          </a:prstGeom>
          <a:solidFill>
            <a:srgbClr val="3D5A80"/>
          </a:solidFill>
          <a:ln w="12700">
            <a:solidFill>
              <a:srgbClr val="3D5A80"/>
            </a:solidFill>
            <a:prstDash val="solid"/>
          </a:ln>
        </p:spPr>
      </p:sp>
      <p:sp>
        <p:nvSpPr>
          <p:cNvPr id="24" name="Text 17"/>
          <p:cNvSpPr txBox="1"/>
          <p:nvPr/>
        </p:nvSpPr>
        <p:spPr>
          <a:xfrm>
            <a:off x="6355080" y="43159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18"/>
          <p:cNvSpPr txBox="1"/>
          <p:nvPr/>
        </p:nvSpPr>
        <p:spPr>
          <a:xfrm>
            <a:off x="6812280" y="4334256"/>
            <a:ext cx="457200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Split it between the two stages</a:t>
            </a:r>
            <a:endParaRPr lang="en-US" sz="1300" dirty="0"/>
          </a:p>
        </p:txBody>
      </p:sp>
      <p:pic>
        <p:nvPicPr>
          <p:cNvPr id="26" name="Image 5" descr="/home/user/VerticalFederatedRegression/slides/assets/eq/d_split.png">    </p:cNvPr>
          <p:cNvPicPr>
            <a:picLocks noChangeAspect="1"/>
          </p:cNvPicPr>
          <p:nvPr/>
        </p:nvPicPr>
        <p:blipFill>
          <a:blip r:embed="rId6"/>
          <a:stretch>
            <a:fillRect/>
          </a:stretch>
        </p:blipFill>
        <p:spPr>
          <a:xfrm>
            <a:off x="6812280" y="4636008"/>
            <a:ext cx="3124199" cy="174603"/>
          </a:xfrm>
          <a:prstGeom prst="rect">
            <a:avLst/>
          </a:prstGeom>
        </p:spPr>
      </p:pic>
      <p:sp>
        <p:nvSpPr>
          <p:cNvPr id="27" name="Shape 19"/>
          <p:cNvSpPr/>
          <p:nvPr/>
        </p:nvSpPr>
        <p:spPr>
          <a:xfrm>
            <a:off x="6355080" y="4919472"/>
            <a:ext cx="329184" cy="329184"/>
          </a:xfrm>
          <a:prstGeom prst="ellipse">
            <a:avLst/>
          </a:prstGeom>
          <a:solidFill>
            <a:srgbClr val="3D5A80"/>
          </a:solidFill>
          <a:ln w="12700">
            <a:solidFill>
              <a:srgbClr val="3D5A80"/>
            </a:solidFill>
            <a:prstDash val="solid"/>
          </a:ln>
        </p:spPr>
      </p:sp>
      <p:sp>
        <p:nvSpPr>
          <p:cNvPr id="28" name="Text 20"/>
          <p:cNvSpPr txBox="1"/>
          <p:nvPr/>
        </p:nvSpPr>
        <p:spPr>
          <a:xfrm>
            <a:off x="6355080" y="49194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9" name="Text 21"/>
          <p:cNvSpPr txBox="1"/>
          <p:nvPr/>
        </p:nvSpPr>
        <p:spPr>
          <a:xfrm>
            <a:off x="6812280" y="4937760"/>
            <a:ext cx="457200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Set the noise</a:t>
            </a:r>
            <a:endParaRPr lang="en-US" sz="1300" dirty="0"/>
          </a:p>
        </p:txBody>
      </p:sp>
      <p:pic>
        <p:nvPicPr>
          <p:cNvPr id="30" name="Image 6" descr="/home/user/VerticalFederatedRegression/slides/assets/eq/c_sigma.png">    </p:cNvPr>
          <p:cNvPicPr>
            <a:picLocks noChangeAspect="1"/>
          </p:cNvPicPr>
          <p:nvPr/>
        </p:nvPicPr>
        <p:blipFill>
          <a:blip r:embed="rId7"/>
          <a:stretch>
            <a:fillRect/>
          </a:stretch>
        </p:blipFill>
        <p:spPr>
          <a:xfrm>
            <a:off x="6812280" y="5248656"/>
            <a:ext cx="1540565" cy="478372"/>
          </a:xfrm>
          <a:prstGeom prst="rect">
            <a:avLst/>
          </a:prstGeom>
        </p:spPr>
      </p:pic>
      <p:sp>
        <p:nvSpPr>
          <p:cNvPr id="31" name="Text 22"/>
          <p:cNvSpPr txBox="1"/>
          <p:nvPr/>
        </p:nvSpPr>
        <p:spPr>
          <a:xfrm>
            <a:off x="8641080" y="5212080"/>
            <a:ext cx="2788920" cy="54864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σ</a:t>
            </a:r>
            <a:r>
              <a:rPr lang="en-US" sz="1100" baseline="-25000" dirty="0">
                <a:solidFill>
                  <a:srgbClr val="5B6576"/>
                </a:solidFill>
                <a:latin typeface="Calibri" pitchFamily="34" charset="0"/>
                <a:ea typeface="Calibri" pitchFamily="34" charset="-122"/>
                <a:cs typeface="Calibri" pitchFamily="34" charset="-120"/>
              </a:rPr>
              <a:t>1</a:t>
            </a:r>
            <a:r>
              <a:rPr lang="en-US" sz="1100" dirty="0">
                <a:solidFill>
                  <a:srgbClr val="5B6576"/>
                </a:solidFill>
                <a:latin typeface="Calibri" pitchFamily="34" charset="0"/>
                <a:ea typeface="Calibri" pitchFamily="34" charset="-122"/>
                <a:cs typeface="Calibri" pitchFamily="34" charset="-120"/>
              </a:rPr>
              <a:t> ≈ 2.4σ</a:t>
            </a:r>
            <a:r>
              <a:rPr lang="en-US" sz="1100" baseline="-25000" dirty="0">
                <a:solidFill>
                  <a:srgbClr val="5B6576"/>
                </a:solidFill>
                <a:latin typeface="Calibri" pitchFamily="34" charset="0"/>
                <a:ea typeface="Calibri" pitchFamily="34" charset="-122"/>
                <a:cs typeface="Calibri" pitchFamily="34" charset="-120"/>
              </a:rPr>
              <a:t>2</a:t>
            </a:r>
            <a:r>
              <a:rPr lang="en-US" sz="1100" dirty="0">
                <a:solidFill>
                  <a:srgbClr val="5B6576"/>
                </a:solidFill>
                <a:latin typeface="Calibri" pitchFamily="34" charset="0"/>
                <a:ea typeface="Calibri" pitchFamily="34" charset="-122"/>
                <a:cs typeface="Calibri" pitchFamily="34" charset="-120"/>
              </a:rPr>
              <a:t> on purpose: stage 1 only sets the ridge, and its 10% share raises σ</a:t>
            </a:r>
            <a:r>
              <a:rPr lang="en-US" sz="1100" baseline="-25000" dirty="0">
                <a:solidFill>
                  <a:srgbClr val="5B6576"/>
                </a:solidFill>
                <a:latin typeface="Calibri" pitchFamily="34" charset="0"/>
                <a:ea typeface="Calibri" pitchFamily="34" charset="-122"/>
                <a:cs typeface="Calibri" pitchFamily="34" charset="-120"/>
              </a:rPr>
              <a:t>2</a:t>
            </a:r>
            <a:r>
              <a:rPr lang="en-US" sz="1100" dirty="0">
                <a:solidFill>
                  <a:srgbClr val="5B6576"/>
                </a:solidFill>
                <a:latin typeface="Calibri" pitchFamily="34" charset="0"/>
                <a:ea typeface="Calibri" pitchFamily="34" charset="-122"/>
                <a:cs typeface="Calibri" pitchFamily="34" charset="-120"/>
              </a:rPr>
              <a:t> by just 5%.</a:t>
            </a:r>
            <a:endParaRPr lang="en-US" sz="1100" dirty="0"/>
          </a:p>
        </p:txBody>
      </p:sp>
      <p:sp>
        <p:nvSpPr>
          <p:cNvPr id="32" name="Shape 23"/>
          <p:cNvSpPr/>
          <p:nvPr/>
        </p:nvSpPr>
        <p:spPr>
          <a:xfrm>
            <a:off x="548640" y="5989320"/>
            <a:ext cx="11064240" cy="594360"/>
          </a:xfrm>
          <a:prstGeom prst="roundRect">
            <a:avLst>
              <a:gd name="adj" fmla="val 12308"/>
            </a:avLst>
          </a:prstGeom>
          <a:solidFill>
            <a:srgbClr val="F7F9FC"/>
          </a:solidFill>
          <a:ln w="12700">
            <a:solidFill>
              <a:srgbClr val="F7F9FC"/>
            </a:solidFill>
            <a:prstDash val="solid"/>
          </a:ln>
        </p:spPr>
      </p:sp>
      <p:sp>
        <p:nvSpPr>
          <p:cNvPr id="33" name="Text 24"/>
          <p:cNvSpPr txBox="1"/>
          <p:nvPr/>
        </p:nvSpPr>
        <p:spPr>
          <a:xfrm>
            <a:off x="777240" y="6007608"/>
            <a:ext cx="10607040" cy="557784"/>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Toy example (ε = 1, δ = 10</a:t>
            </a:r>
            <a:r>
              <a:rPr lang="en-US" sz="1250" baseline="30000" dirty="0">
                <a:solidFill>
                  <a:srgbClr val="1F2937"/>
                </a:solidFill>
                <a:latin typeface="Calibri" pitchFamily="34" charset="0"/>
                <a:ea typeface="Calibri" pitchFamily="34" charset="-122"/>
                <a:cs typeface="Calibri" pitchFamily="34" charset="-120"/>
              </a:rPr>
              <a:t>−9</a:t>
            </a:r>
            <a:r>
              <a:rPr lang="en-US" sz="1250" dirty="0">
                <a:solidFill>
                  <a:srgbClr val="1F2937"/>
                </a:solidFill>
                <a:latin typeface="Calibri" pitchFamily="34" charset="0"/>
                <a:ea typeface="Calibri" pitchFamily="34" charset="-122"/>
                <a:cs typeface="Calibri" pitchFamily="34" charset="-120"/>
              </a:rPr>
              <a:t>): Δ</a:t>
            </a:r>
            <a:r>
              <a:rPr lang="en-US" sz="1250" baseline="-25000" dirty="0">
                <a:solidFill>
                  <a:srgbClr val="1F2937"/>
                </a:solidFill>
                <a:latin typeface="Calibri" pitchFamily="34" charset="0"/>
                <a:ea typeface="Calibri" pitchFamily="34" charset="-122"/>
                <a:cs typeface="Calibri" pitchFamily="34" charset="-120"/>
              </a:rPr>
              <a:t>G</a:t>
            </a:r>
            <a:r>
              <a:rPr lang="en-US" sz="1250" dirty="0">
                <a:solidFill>
                  <a:srgbClr val="1F2937"/>
                </a:solidFill>
                <a:latin typeface="Calibri" pitchFamily="34" charset="0"/>
                <a:ea typeface="Calibri" pitchFamily="34" charset="-122"/>
                <a:cs typeface="Calibri" pitchFamily="34" charset="-120"/>
              </a:rPr>
              <a:t> = 4.95, ρ</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 = 0.0015, σ</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 = 90.45; Δ = 6.16, ρ</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0.0135, σ</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37.55. Everything after the releases (λ, the gate, θ̃, V</a:t>
            </a:r>
            <a:r>
              <a:rPr lang="en-US" sz="1250" baseline="-25000" dirty="0">
                <a:solidFill>
                  <a:srgbClr val="1F2937"/>
                </a:solidFill>
                <a:latin typeface="Calibri" pitchFamily="34" charset="0"/>
                <a:ea typeface="Calibri" pitchFamily="34" charset="-122"/>
                <a:cs typeface="Calibri" pitchFamily="34" charset="-120"/>
              </a:rPr>
              <a:t>mech</a:t>
            </a:r>
            <a:r>
              <a:rPr lang="en-US" sz="1250" dirty="0">
                <a:solidFill>
                  <a:srgbClr val="1F2937"/>
                </a:solidFill>
                <a:latin typeface="Calibri" pitchFamily="34" charset="0"/>
                <a:ea typeface="Calibri" pitchFamily="34" charset="-122"/>
                <a:cs typeface="Calibri" pitchFamily="34" charset="-120"/>
              </a:rPr>
              <a:t>, the intervals) uses only ẑ</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 ẑ</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A and public numbers: post-processing, at no extra privacy cost.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Where the noise actually lives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O adds integer noise η to the ciphertext's coefficients; R decodes it as Gaussian noise on each entry</a:t>
            </a:r>
            <a:endParaRPr lang="en-US" sz="1600" dirty="0"/>
          </a:p>
        </p:txBody>
      </p:sp>
      <p:sp>
        <p:nvSpPr>
          <p:cNvPr id="4" name="Shape 2"/>
          <p:cNvSpPr/>
          <p:nvPr/>
        </p:nvSpPr>
        <p:spPr>
          <a:xfrm>
            <a:off x="548640" y="1600200"/>
            <a:ext cx="3200400" cy="1828800"/>
          </a:xfrm>
          <a:prstGeom prst="roundRect">
            <a:avLst>
              <a:gd name="adj" fmla="val 4000"/>
            </a:avLst>
          </a:prstGeom>
          <a:solidFill>
            <a:srgbClr val="EEF2F7"/>
          </a:solidFill>
          <a:ln w="12700">
            <a:solidFill>
              <a:srgbClr val="EEF2F7"/>
            </a:solidFill>
            <a:prstDash val="solid"/>
          </a:ln>
        </p:spPr>
      </p:sp>
      <p:sp>
        <p:nvSpPr>
          <p:cNvPr id="5" name="Shape 3"/>
          <p:cNvSpPr/>
          <p:nvPr/>
        </p:nvSpPr>
        <p:spPr>
          <a:xfrm>
            <a:off x="749808" y="1755648"/>
            <a:ext cx="411480" cy="411480"/>
          </a:xfrm>
          <a:prstGeom prst="ellipse">
            <a:avLst/>
          </a:prstGeom>
          <a:solidFill>
            <a:srgbClr val="14213D"/>
          </a:solidFill>
          <a:ln w="12700">
            <a:solidFill>
              <a:srgbClr val="14213D"/>
            </a:solidFill>
            <a:prstDash val="solid"/>
          </a:ln>
        </p:spPr>
      </p:sp>
      <p:sp>
        <p:nvSpPr>
          <p:cNvPr id="6" name="Text 4"/>
          <p:cNvSpPr txBox="1"/>
          <p:nvPr/>
        </p:nvSpPr>
        <p:spPr>
          <a:xfrm>
            <a:off x="749808" y="1755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98448" y="1783080"/>
            <a:ext cx="2286000" cy="36576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Statistic in the slots</a:t>
            </a:r>
            <a:endParaRPr lang="en-US" sz="1500" dirty="0"/>
          </a:p>
        </p:txBody>
      </p:sp>
      <p:sp>
        <p:nvSpPr>
          <p:cNvPr id="8" name="Text 6"/>
          <p:cNvSpPr txBox="1"/>
          <p:nvPr/>
        </p:nvSpPr>
        <p:spPr>
          <a:xfrm>
            <a:off x="777240" y="2286000"/>
            <a:ext cx="2788920" cy="10058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Release s is a vector z</a:t>
            </a:r>
            <a:r>
              <a:rPr lang="en-US" sz="1250" baseline="-25000" dirty="0">
                <a:solidFill>
                  <a:srgbClr val="1F2937"/>
                </a:solidFill>
                <a:latin typeface="Calibri" pitchFamily="34" charset="0"/>
                <a:ea typeface="Calibri" pitchFamily="34" charset="-122"/>
                <a:cs typeface="Calibri" pitchFamily="34" charset="-120"/>
              </a:rPr>
              <a:t>s</a:t>
            </a:r>
            <a:r>
              <a:rPr lang="en-US" sz="1250" dirty="0">
                <a:solidFill>
                  <a:srgbClr val="1F2937"/>
                </a:solidFill>
                <a:latin typeface="Calibri" pitchFamily="34" charset="0"/>
                <a:ea typeface="Calibri" pitchFamily="34" charset="-122"/>
                <a:cs typeface="Calibri" pitchFamily="34" charset="-120"/>
              </a:rPr>
              <a:t> with one entry per slot. One person moves it by at most Δ</a:t>
            </a:r>
            <a:r>
              <a:rPr lang="en-US" sz="1250" baseline="-25000" dirty="0">
                <a:solidFill>
                  <a:srgbClr val="1F2937"/>
                </a:solidFill>
                <a:latin typeface="Calibri" pitchFamily="34" charset="0"/>
                <a:ea typeface="Calibri" pitchFamily="34" charset="-122"/>
                <a:cs typeface="Calibri" pitchFamily="34" charset="-120"/>
              </a:rPr>
              <a:t>s</a:t>
            </a:r>
            <a:r>
              <a:rPr lang="en-US" sz="1250" dirty="0">
                <a:solidFill>
                  <a:srgbClr val="1F2937"/>
                </a:solidFill>
                <a:latin typeface="Calibri" pitchFamily="34" charset="0"/>
                <a:ea typeface="Calibri" pitchFamily="34" charset="-122"/>
                <a:cs typeface="Calibri" pitchFamily="34" charset="-120"/>
              </a:rPr>
              <a:t> in ℓ2.</a:t>
            </a:r>
            <a:endParaRPr lang="en-US" sz="1250" dirty="0"/>
          </a:p>
        </p:txBody>
      </p:sp>
      <p:sp>
        <p:nvSpPr>
          <p:cNvPr id="9" name="Shape 7"/>
          <p:cNvSpPr/>
          <p:nvPr/>
        </p:nvSpPr>
        <p:spPr>
          <a:xfrm>
            <a:off x="3822192" y="2514600"/>
            <a:ext cx="548640" cy="0"/>
          </a:xfrm>
          <a:prstGeom prst="line">
            <a:avLst/>
          </a:prstGeom>
          <a:noFill/>
          <a:ln w="25400">
            <a:solidFill>
              <a:srgbClr val="5B6576"/>
            </a:solidFill>
            <a:prstDash val="solid"/>
            <a:tailEnd type="triangle"/>
          </a:ln>
        </p:spPr>
      </p:sp>
      <p:sp>
        <p:nvSpPr>
          <p:cNvPr id="10" name="Text 8"/>
          <p:cNvSpPr txBox="1"/>
          <p:nvPr/>
        </p:nvSpPr>
        <p:spPr>
          <a:xfrm>
            <a:off x="3685032" y="2176272"/>
            <a:ext cx="822960" cy="2743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encode</a:t>
            </a:r>
            <a:endParaRPr lang="en-US" sz="1100" dirty="0"/>
          </a:p>
        </p:txBody>
      </p:sp>
      <p:sp>
        <p:nvSpPr>
          <p:cNvPr id="11" name="Text 9"/>
          <p:cNvSpPr txBox="1"/>
          <p:nvPr/>
        </p:nvSpPr>
        <p:spPr>
          <a:xfrm>
            <a:off x="3685032" y="2587752"/>
            <a:ext cx="822960" cy="2743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×Ω, τ</a:t>
            </a:r>
            <a:r>
              <a:rPr lang="en-US" sz="1100" baseline="30000" dirty="0">
                <a:solidFill>
                  <a:srgbClr val="5B6576"/>
                </a:solidFill>
                <a:latin typeface="Calibri" pitchFamily="34" charset="0"/>
                <a:ea typeface="Calibri" pitchFamily="34" charset="-122"/>
                <a:cs typeface="Calibri" pitchFamily="34" charset="-120"/>
              </a:rPr>
              <a:t>−1</a:t>
            </a:r>
            <a:endParaRPr lang="en-US" sz="1100" dirty="0"/>
          </a:p>
        </p:txBody>
      </p:sp>
      <p:sp>
        <p:nvSpPr>
          <p:cNvPr id="12" name="Shape 10"/>
          <p:cNvSpPr/>
          <p:nvPr/>
        </p:nvSpPr>
        <p:spPr>
          <a:xfrm>
            <a:off x="4434840" y="1600200"/>
            <a:ext cx="3337560" cy="1828800"/>
          </a:xfrm>
          <a:prstGeom prst="roundRect">
            <a:avLst>
              <a:gd name="adj" fmla="val 4000"/>
            </a:avLst>
          </a:prstGeom>
          <a:solidFill>
            <a:srgbClr val="EEF2F7"/>
          </a:solidFill>
          <a:ln w="12700">
            <a:solidFill>
              <a:srgbClr val="EEF2F7"/>
            </a:solidFill>
            <a:prstDash val="solid"/>
          </a:ln>
        </p:spPr>
      </p:sp>
      <p:sp>
        <p:nvSpPr>
          <p:cNvPr id="13" name="Shape 11"/>
          <p:cNvSpPr/>
          <p:nvPr/>
        </p:nvSpPr>
        <p:spPr>
          <a:xfrm>
            <a:off x="4636008" y="1755648"/>
            <a:ext cx="411480" cy="411480"/>
          </a:xfrm>
          <a:prstGeom prst="ellipse">
            <a:avLst/>
          </a:prstGeom>
          <a:solidFill>
            <a:srgbClr val="3D5A80"/>
          </a:solidFill>
          <a:ln w="12700">
            <a:solidFill>
              <a:srgbClr val="3D5A80"/>
            </a:solidFill>
            <a:prstDash val="solid"/>
          </a:ln>
        </p:spPr>
      </p:sp>
      <p:sp>
        <p:nvSpPr>
          <p:cNvPr id="14" name="Text 12"/>
          <p:cNvSpPr txBox="1"/>
          <p:nvPr/>
        </p:nvSpPr>
        <p:spPr>
          <a:xfrm>
            <a:off x="4636008" y="1755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5184648" y="1783080"/>
            <a:ext cx="2423160" cy="36576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Coefficients: O adds η</a:t>
            </a:r>
            <a:endParaRPr lang="en-US" sz="1500" dirty="0"/>
          </a:p>
        </p:txBody>
      </p:sp>
      <p:pic>
        <p:nvPicPr>
          <p:cNvPr id="16" name="Image 0" descr="/home/user/VerticalFederatedRegression/slides/assets/eq/d_eta.png">    </p:cNvPr>
          <p:cNvPicPr>
            <a:picLocks noChangeAspect="1"/>
          </p:cNvPicPr>
          <p:nvPr/>
        </p:nvPicPr>
        <p:blipFill>
          <a:blip r:embed="rId1"/>
          <a:stretch>
            <a:fillRect/>
          </a:stretch>
        </p:blipFill>
        <p:spPr>
          <a:xfrm>
            <a:off x="4636008" y="2240280"/>
            <a:ext cx="1135289" cy="223876"/>
          </a:xfrm>
          <a:prstGeom prst="rect">
            <a:avLst/>
          </a:prstGeom>
        </p:spPr>
      </p:pic>
      <p:pic>
        <p:nvPicPr>
          <p:cNvPr id="17" name="Image 1" descr="/home/user/VerticalFederatedRegression/slides/assets/eq/d_enc.png">    </p:cNvPr>
          <p:cNvPicPr>
            <a:picLocks noChangeAspect="1"/>
          </p:cNvPicPr>
          <p:nvPr/>
        </p:nvPicPr>
        <p:blipFill>
          <a:blip r:embed="rId2"/>
          <a:stretch>
            <a:fillRect/>
          </a:stretch>
        </p:blipFill>
        <p:spPr>
          <a:xfrm>
            <a:off x="4636008" y="2560320"/>
            <a:ext cx="1888282" cy="223175"/>
          </a:xfrm>
          <a:prstGeom prst="rect">
            <a:avLst/>
          </a:prstGeom>
        </p:spPr>
      </p:pic>
      <p:pic>
        <p:nvPicPr>
          <p:cNvPr id="18" name="Image 2" descr="/home/user/VerticalFederatedRegression/slides/assets/eq/d_rho_lat.png">    </p:cNvPr>
          <p:cNvPicPr>
            <a:picLocks noChangeAspect="1"/>
          </p:cNvPicPr>
          <p:nvPr/>
        </p:nvPicPr>
        <p:blipFill>
          <a:blip r:embed="rId3"/>
          <a:stretch>
            <a:fillRect/>
          </a:stretch>
        </p:blipFill>
        <p:spPr>
          <a:xfrm>
            <a:off x="4636008" y="2880360"/>
            <a:ext cx="1341211" cy="219746"/>
          </a:xfrm>
          <a:prstGeom prst="rect">
            <a:avLst/>
          </a:prstGeom>
        </p:spPr>
      </p:pic>
      <p:sp>
        <p:nvSpPr>
          <p:cNvPr id="19" name="Text 14"/>
          <p:cNvSpPr txBox="1"/>
          <p:nvPr/>
        </p:nvSpPr>
        <p:spPr>
          <a:xfrm>
            <a:off x="4636008" y="3136392"/>
            <a:ext cx="3017520" cy="2286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exact for the discrete Gaussian</a:t>
            </a:r>
            <a:endParaRPr lang="en-US" sz="1100" dirty="0"/>
          </a:p>
        </p:txBody>
      </p:sp>
      <p:sp>
        <p:nvSpPr>
          <p:cNvPr id="20" name="Shape 15"/>
          <p:cNvSpPr/>
          <p:nvPr/>
        </p:nvSpPr>
        <p:spPr>
          <a:xfrm>
            <a:off x="7845552" y="2514600"/>
            <a:ext cx="548640" cy="0"/>
          </a:xfrm>
          <a:prstGeom prst="line">
            <a:avLst/>
          </a:prstGeom>
          <a:noFill/>
          <a:ln w="25400">
            <a:solidFill>
              <a:srgbClr val="5B6576"/>
            </a:solidFill>
            <a:prstDash val="solid"/>
            <a:tailEnd type="triangle"/>
          </a:ln>
        </p:spPr>
      </p:sp>
      <p:sp>
        <p:nvSpPr>
          <p:cNvPr id="21" name="Text 16"/>
          <p:cNvSpPr txBox="1"/>
          <p:nvPr/>
        </p:nvSpPr>
        <p:spPr>
          <a:xfrm>
            <a:off x="7708392" y="2176272"/>
            <a:ext cx="822960" cy="2743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decode</a:t>
            </a:r>
            <a:endParaRPr lang="en-US" sz="1100" dirty="0"/>
          </a:p>
        </p:txBody>
      </p:sp>
      <p:sp>
        <p:nvSpPr>
          <p:cNvPr id="22" name="Text 17"/>
          <p:cNvSpPr txBox="1"/>
          <p:nvPr/>
        </p:nvSpPr>
        <p:spPr>
          <a:xfrm>
            <a:off x="7708392" y="2587752"/>
            <a:ext cx="822960" cy="2743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÷Ω, τ</a:t>
            </a:r>
            <a:endParaRPr lang="en-US" sz="1100" dirty="0"/>
          </a:p>
        </p:txBody>
      </p:sp>
      <p:sp>
        <p:nvSpPr>
          <p:cNvPr id="23" name="Shape 18"/>
          <p:cNvSpPr/>
          <p:nvPr/>
        </p:nvSpPr>
        <p:spPr>
          <a:xfrm>
            <a:off x="8458200" y="1600200"/>
            <a:ext cx="3154680" cy="1828800"/>
          </a:xfrm>
          <a:prstGeom prst="roundRect">
            <a:avLst>
              <a:gd name="adj" fmla="val 4000"/>
            </a:avLst>
          </a:prstGeom>
          <a:solidFill>
            <a:srgbClr val="EEF2F7"/>
          </a:solidFill>
          <a:ln w="12700">
            <a:solidFill>
              <a:srgbClr val="EEF2F7"/>
            </a:solidFill>
            <a:prstDash val="solid"/>
          </a:ln>
        </p:spPr>
      </p:sp>
      <p:sp>
        <p:nvSpPr>
          <p:cNvPr id="24" name="Shape 19"/>
          <p:cNvSpPr/>
          <p:nvPr/>
        </p:nvSpPr>
        <p:spPr>
          <a:xfrm>
            <a:off x="8659368" y="1755648"/>
            <a:ext cx="411480" cy="411480"/>
          </a:xfrm>
          <a:prstGeom prst="ellipse">
            <a:avLst/>
          </a:prstGeom>
          <a:solidFill>
            <a:srgbClr val="C45A0C"/>
          </a:solidFill>
          <a:ln w="12700">
            <a:solidFill>
              <a:srgbClr val="C45A0C"/>
            </a:solidFill>
            <a:prstDash val="solid"/>
          </a:ln>
        </p:spPr>
      </p:sp>
      <p:sp>
        <p:nvSpPr>
          <p:cNvPr id="25" name="Text 20"/>
          <p:cNvSpPr txBox="1"/>
          <p:nvPr/>
        </p:nvSpPr>
        <p:spPr>
          <a:xfrm>
            <a:off x="8659368" y="17556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1"/>
          <p:cNvSpPr txBox="1"/>
          <p:nvPr/>
        </p:nvSpPr>
        <p:spPr>
          <a:xfrm>
            <a:off x="9208008" y="1783080"/>
            <a:ext cx="2240280" cy="36576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What R decodes</a:t>
            </a:r>
            <a:endParaRPr lang="en-US" sz="1500" dirty="0"/>
          </a:p>
        </p:txBody>
      </p:sp>
      <p:pic>
        <p:nvPicPr>
          <p:cNvPr id="27" name="Image 3" descr="/home/user/VerticalFederatedRegression/slides/assets/eq/d_slot.png">    </p:cNvPr>
          <p:cNvPicPr>
            <a:picLocks noChangeAspect="1"/>
          </p:cNvPicPr>
          <p:nvPr/>
        </p:nvPicPr>
        <p:blipFill>
          <a:blip r:embed="rId4"/>
          <a:stretch>
            <a:fillRect/>
          </a:stretch>
        </p:blipFill>
        <p:spPr>
          <a:xfrm>
            <a:off x="8659368" y="2286000"/>
            <a:ext cx="1546896" cy="260370"/>
          </a:xfrm>
          <a:prstGeom prst="rect">
            <a:avLst/>
          </a:prstGeom>
        </p:spPr>
      </p:pic>
      <p:sp>
        <p:nvSpPr>
          <p:cNvPr id="28" name="Text 22"/>
          <p:cNvSpPr txBox="1"/>
          <p:nvPr/>
        </p:nvSpPr>
        <p:spPr>
          <a:xfrm>
            <a:off x="8659368" y="2697480"/>
            <a:ext cx="2788920" cy="6400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Noise with s.d. σ</a:t>
            </a:r>
            <a:r>
              <a:rPr lang="en-US" sz="1250" baseline="-25000" dirty="0">
                <a:solidFill>
                  <a:srgbClr val="1F2937"/>
                </a:solidFill>
                <a:latin typeface="Calibri" pitchFamily="34" charset="0"/>
                <a:ea typeface="Calibri" pitchFamily="34" charset="-122"/>
                <a:cs typeface="Calibri" pitchFamily="34" charset="-120"/>
              </a:rPr>
              <a:t>s</a:t>
            </a:r>
            <a:r>
              <a:rPr lang="en-US" sz="1250" dirty="0">
                <a:solidFill>
                  <a:srgbClr val="1F2937"/>
                </a:solidFill>
                <a:latin typeface="Calibri" pitchFamily="34" charset="0"/>
                <a:ea typeface="Calibri" pitchFamily="34" charset="-122"/>
                <a:cs typeface="Calibri" pitchFamily="34" charset="-120"/>
              </a:rPr>
              <a:t> on every released entry: the picture of the previous slide.</a:t>
            </a:r>
            <a:endParaRPr lang="en-US" sz="1250" dirty="0"/>
          </a:p>
        </p:txBody>
      </p:sp>
      <p:sp>
        <p:nvSpPr>
          <p:cNvPr id="29" name="Shape 23"/>
          <p:cNvSpPr/>
          <p:nvPr/>
        </p:nvSpPr>
        <p:spPr>
          <a:xfrm>
            <a:off x="548640" y="3611880"/>
            <a:ext cx="5120640" cy="2240280"/>
          </a:xfrm>
          <a:prstGeom prst="roundRect">
            <a:avLst>
              <a:gd name="adj" fmla="val 3265"/>
            </a:avLst>
          </a:prstGeom>
          <a:solidFill>
            <a:srgbClr val="EEF2F7"/>
          </a:solidFill>
          <a:ln w="12700">
            <a:solidFill>
              <a:srgbClr val="EEF2F7"/>
            </a:solidFill>
            <a:prstDash val="solid"/>
          </a:ln>
        </p:spPr>
      </p:sp>
      <p:sp>
        <p:nvSpPr>
          <p:cNvPr id="30" name="Shape 24"/>
          <p:cNvSpPr/>
          <p:nvPr/>
        </p:nvSpPr>
        <p:spPr>
          <a:xfrm>
            <a:off x="777240" y="3794760"/>
            <a:ext cx="457200" cy="457200"/>
          </a:xfrm>
          <a:prstGeom prst="ellipse">
            <a:avLst/>
          </a:prstGeom>
          <a:solidFill>
            <a:srgbClr val="14213D"/>
          </a:solidFill>
          <a:ln w="12700">
            <a:solidFill>
              <a:srgbClr val="14213D"/>
            </a:solidFill>
            <a:prstDash val="solid"/>
          </a:ln>
        </p:spPr>
      </p:sp>
      <p:pic>
        <p:nvPicPr>
          <p:cNvPr id="31" name="Image 4" descr="preencoded.png">    </p:cNvPr>
          <p:cNvPicPr>
            <a:picLocks noChangeAspect="1"/>
          </p:cNvPicPr>
          <p:nvPr/>
        </p:nvPicPr>
        <p:blipFill>
          <a:blip r:embed="rId5"/>
          <a:stretch>
            <a:fillRect/>
          </a:stretch>
        </p:blipFill>
        <p:spPr>
          <a:xfrm>
            <a:off x="886968" y="3904488"/>
            <a:ext cx="237744" cy="237744"/>
          </a:xfrm>
          <a:prstGeom prst="rect">
            <a:avLst/>
          </a:prstGeom>
        </p:spPr>
      </p:pic>
      <p:sp>
        <p:nvSpPr>
          <p:cNvPr id="32" name="Text 25"/>
          <p:cNvSpPr txBox="1"/>
          <p:nvPr/>
        </p:nvSpPr>
        <p:spPr>
          <a:xfrm>
            <a:off x="1371600" y="3813048"/>
            <a:ext cx="44805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Why the slot picture is enough</a:t>
            </a:r>
            <a:endParaRPr lang="en-US" sz="1700" dirty="0"/>
          </a:p>
        </p:txBody>
      </p:sp>
      <p:pic>
        <p:nvPicPr>
          <p:cNvPr id="33" name="Image 5" descr="/home/user/VerticalFederatedRegression/slides/assets/eq/d_subst.png">    </p:cNvPr>
          <p:cNvPicPr>
            <a:picLocks noChangeAspect="1"/>
          </p:cNvPicPr>
          <p:nvPr/>
        </p:nvPicPr>
        <p:blipFill>
          <a:blip r:embed="rId6"/>
          <a:stretch>
            <a:fillRect/>
          </a:stretch>
        </p:blipFill>
        <p:spPr>
          <a:xfrm>
            <a:off x="777240" y="4389120"/>
            <a:ext cx="2478301" cy="480700"/>
          </a:xfrm>
          <a:prstGeom prst="rect">
            <a:avLst/>
          </a:prstGeom>
        </p:spPr>
      </p:pic>
      <p:sp>
        <p:nvSpPr>
          <p:cNvPr id="34" name="Text 26"/>
          <p:cNvSpPr txBox="1"/>
          <p:nvPr/>
        </p:nvSpPr>
        <p:spPr>
          <a:xfrm>
            <a:off x="777240" y="4983480"/>
            <a:ext cx="4663440" cy="7772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With N = 2</a:t>
            </a:r>
            <a:r>
              <a:rPr lang="en-US" sz="1250" baseline="30000" dirty="0">
                <a:solidFill>
                  <a:srgbClr val="1F2937"/>
                </a:solidFill>
                <a:latin typeface="Calibri" pitchFamily="34" charset="0"/>
                <a:ea typeface="Calibri" pitchFamily="34" charset="-122"/>
                <a:cs typeface="Calibri" pitchFamily="34" charset="-120"/>
              </a:rPr>
              <a:t>14</a:t>
            </a:r>
            <a:r>
              <a:rPr lang="en-US" sz="1250" dirty="0">
                <a:solidFill>
                  <a:srgbClr val="1F2937"/>
                </a:solidFill>
                <a:latin typeface="Calibri" pitchFamily="34" charset="0"/>
                <a:ea typeface="Calibri" pitchFamily="34" charset="-122"/>
                <a:cs typeface="Calibri" pitchFamily="34" charset="-120"/>
              </a:rPr>
              <a:t> and Ω ≈ 2</a:t>
            </a:r>
            <a:r>
              <a:rPr lang="en-US" sz="1250" baseline="30000" dirty="0">
                <a:solidFill>
                  <a:srgbClr val="1F2937"/>
                </a:solidFill>
                <a:latin typeface="Calibri" pitchFamily="34" charset="0"/>
                <a:ea typeface="Calibri" pitchFamily="34" charset="-122"/>
                <a:cs typeface="Calibri" pitchFamily="34" charset="-120"/>
              </a:rPr>
              <a:t>61.5</a:t>
            </a:r>
            <a:r>
              <a:rPr lang="en-US" sz="1250" dirty="0">
                <a:solidFill>
                  <a:srgbClr val="1F2937"/>
                </a:solidFill>
                <a:latin typeface="Calibri" pitchFamily="34" charset="0"/>
                <a:ea typeface="Calibri" pitchFamily="34" charset="-122"/>
                <a:cs typeface="Calibri" pitchFamily="34" charset="-120"/>
              </a:rPr>
              <a:t> the extra term is below 10</a:t>
            </a:r>
            <a:r>
              <a:rPr lang="en-US" sz="1250" baseline="30000" dirty="0">
                <a:solidFill>
                  <a:srgbClr val="1F2937"/>
                </a:solidFill>
                <a:latin typeface="Calibri" pitchFamily="34" charset="0"/>
                <a:ea typeface="Calibri" pitchFamily="34" charset="-122"/>
                <a:cs typeface="Calibri" pitchFamily="34" charset="-120"/>
              </a:rPr>
              <a:t>−14</a:t>
            </a:r>
            <a:r>
              <a:rPr lang="en-US" sz="1250" dirty="0">
                <a:solidFill>
                  <a:srgbClr val="1F2937"/>
                </a:solidFill>
                <a:latin typeface="Calibri" pitchFamily="34" charset="0"/>
                <a:ea typeface="Calibri" pitchFamily="34" charset="-122"/>
                <a:cs typeface="Calibri" pitchFamily="34" charset="-120"/>
              </a:rPr>
              <a:t>. Sampling the discrete Gaussian exactly, with integers, makes the guarantee exact rather than approximate.</a:t>
            </a:r>
            <a:endParaRPr lang="en-US" sz="1250" dirty="0"/>
          </a:p>
        </p:txBody>
      </p:sp>
      <p:sp>
        <p:nvSpPr>
          <p:cNvPr id="35" name="Shape 27"/>
          <p:cNvSpPr/>
          <p:nvPr/>
        </p:nvSpPr>
        <p:spPr>
          <a:xfrm>
            <a:off x="5852160" y="3611880"/>
            <a:ext cx="5760720" cy="2240280"/>
          </a:xfrm>
          <a:prstGeom prst="roundRect">
            <a:avLst>
              <a:gd name="adj" fmla="val 3265"/>
            </a:avLst>
          </a:prstGeom>
          <a:solidFill>
            <a:srgbClr val="EEF2F7"/>
          </a:solidFill>
          <a:ln w="12700">
            <a:solidFill>
              <a:srgbClr val="EEF2F7"/>
            </a:solidFill>
            <a:prstDash val="solid"/>
          </a:ln>
        </p:spPr>
      </p:sp>
      <p:sp>
        <p:nvSpPr>
          <p:cNvPr id="36" name="Shape 28"/>
          <p:cNvSpPr/>
          <p:nvPr/>
        </p:nvSpPr>
        <p:spPr>
          <a:xfrm>
            <a:off x="6080760" y="3794760"/>
            <a:ext cx="457200" cy="457200"/>
          </a:xfrm>
          <a:prstGeom prst="ellipse">
            <a:avLst/>
          </a:prstGeom>
          <a:solidFill>
            <a:srgbClr val="3D5A80"/>
          </a:solidFill>
          <a:ln w="12700">
            <a:solidFill>
              <a:srgbClr val="3D5A80"/>
            </a:solidFill>
            <a:prstDash val="solid"/>
          </a:ln>
        </p:spPr>
      </p:sp>
      <p:pic>
        <p:nvPicPr>
          <p:cNvPr id="37" name="Image 6" descr="preencoded.png">    </p:cNvPr>
          <p:cNvPicPr>
            <a:picLocks noChangeAspect="1"/>
          </p:cNvPicPr>
          <p:nvPr/>
        </p:nvPicPr>
        <p:blipFill>
          <a:blip r:embed="rId7"/>
          <a:stretch>
            <a:fillRect/>
          </a:stretch>
        </p:blipFill>
        <p:spPr>
          <a:xfrm>
            <a:off x="6190488" y="3904488"/>
            <a:ext cx="237744" cy="237744"/>
          </a:xfrm>
          <a:prstGeom prst="rect">
            <a:avLst/>
          </a:prstGeom>
        </p:spPr>
      </p:pic>
      <p:sp>
        <p:nvSpPr>
          <p:cNvPr id="38" name="Text 29"/>
          <p:cNvSpPr txBox="1"/>
          <p:nvPr/>
        </p:nvSpPr>
        <p:spPr>
          <a:xfrm>
            <a:off x="6675120" y="3813048"/>
            <a:ext cx="4480560" cy="41148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η also hides the CKKS error</a:t>
            </a:r>
            <a:endParaRPr lang="en-US" sz="1700" dirty="0"/>
          </a:p>
        </p:txBody>
      </p:sp>
      <p:pic>
        <p:nvPicPr>
          <p:cNvPr id="39" name="Image 7" descr="/home/user/VerticalFederatedRegression/slides/assets/eq/smudge.png">    </p:cNvPr>
          <p:cNvPicPr>
            <a:picLocks noChangeAspect="1"/>
          </p:cNvPicPr>
          <p:nvPr/>
        </p:nvPicPr>
        <p:blipFill>
          <a:blip r:embed="rId8"/>
          <a:stretch>
            <a:fillRect/>
          </a:stretch>
        </p:blipFill>
        <p:spPr>
          <a:xfrm>
            <a:off x="6080760" y="4297680"/>
            <a:ext cx="3139716" cy="358205"/>
          </a:xfrm>
          <a:prstGeom prst="rect">
            <a:avLst/>
          </a:prstGeom>
        </p:spPr>
      </p:pic>
      <p:sp>
        <p:nvSpPr>
          <p:cNvPr id="40" name="Text 30"/>
          <p:cNvSpPr txBox="1"/>
          <p:nvPr/>
        </p:nvSpPr>
        <p:spPr>
          <a:xfrm>
            <a:off x="6080760" y="4690872"/>
            <a:ext cx="5349240" cy="4114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error e depends on the data and on O's key share, so it must be hidden (κ = 40). Since σ</a:t>
            </a:r>
            <a:r>
              <a:rPr lang="en-US" sz="1150" baseline="-25000" dirty="0">
                <a:solidFill>
                  <a:srgbClr val="1F2937"/>
                </a:solidFill>
                <a:latin typeface="Calibri" pitchFamily="34" charset="0"/>
                <a:ea typeface="Calibri" pitchFamily="34" charset="-122"/>
                <a:cs typeface="Calibri" pitchFamily="34" charset="-120"/>
              </a:rPr>
              <a:t>c,s</a:t>
            </a:r>
            <a:r>
              <a:rPr lang="en-US" sz="1150" dirty="0">
                <a:solidFill>
                  <a:srgbClr val="1F2937"/>
                </a:solidFill>
                <a:latin typeface="Calibri" pitchFamily="34" charset="0"/>
                <a:ea typeface="Calibri" pitchFamily="34" charset="-122"/>
                <a:cs typeface="Calibri" pitchFamily="34" charset="-120"/>
              </a:rPr>
              <a:t> = σ</a:t>
            </a:r>
            <a:r>
              <a:rPr lang="en-US" sz="1150" baseline="-25000" dirty="0">
                <a:solidFill>
                  <a:srgbClr val="1F2937"/>
                </a:solidFill>
                <a:latin typeface="Calibri" pitchFamily="34" charset="0"/>
                <a:ea typeface="Calibri" pitchFamily="34" charset="-122"/>
                <a:cs typeface="Calibri" pitchFamily="34" charset="-120"/>
              </a:rPr>
              <a:t>s</a:t>
            </a:r>
            <a:r>
              <a:rPr lang="en-US" sz="1150" dirty="0">
                <a:solidFill>
                  <a:srgbClr val="1F2937"/>
                </a:solidFill>
                <a:latin typeface="Calibri" pitchFamily="34" charset="0"/>
                <a:ea typeface="Calibri" pitchFamily="34" charset="-122"/>
                <a:cs typeface="Calibri" pitchFamily="34" charset="-120"/>
              </a:rPr>
              <a:t>·Ω·√(2/N), O raises Ω until this holds:</a:t>
            </a:r>
            <a:endParaRPr lang="en-US" sz="1150" dirty="0"/>
          </a:p>
        </p:txBody>
      </p:sp>
      <p:pic>
        <p:nvPicPr>
          <p:cNvPr id="41" name="Image 8" descr="/home/user/VerticalFederatedRegression/slides/assets/eq/scale.png">    </p:cNvPr>
          <p:cNvPicPr>
            <a:picLocks noChangeAspect="1"/>
          </p:cNvPicPr>
          <p:nvPr/>
        </p:nvPicPr>
        <p:blipFill>
          <a:blip r:embed="rId9"/>
          <a:stretch>
            <a:fillRect/>
          </a:stretch>
        </p:blipFill>
        <p:spPr>
          <a:xfrm>
            <a:off x="6080760" y="5120640"/>
            <a:ext cx="3924997" cy="382314"/>
          </a:xfrm>
          <a:prstGeom prst="rect">
            <a:avLst/>
          </a:prstGeom>
        </p:spPr>
      </p:pic>
      <p:sp>
        <p:nvSpPr>
          <p:cNvPr id="42" name="Text 31"/>
          <p:cNvSpPr txBox="1"/>
          <p:nvPr/>
        </p:nvSpPr>
        <p:spPr>
          <a:xfrm>
            <a:off x="6080760" y="5559552"/>
            <a:ext cx="5349240" cy="2286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Price: the DP itself gets δ</a:t>
            </a:r>
            <a:r>
              <a:rPr lang="en-US" sz="1100" baseline="-25000" dirty="0">
                <a:solidFill>
                  <a:srgbClr val="5B6576"/>
                </a:solidFill>
                <a:latin typeface="Calibri" pitchFamily="34" charset="0"/>
                <a:ea typeface="Calibri" pitchFamily="34" charset="-122"/>
                <a:cs typeface="Calibri" pitchFamily="34" charset="-120"/>
              </a:rPr>
              <a:t>DP</a:t>
            </a:r>
            <a:r>
              <a:rPr lang="en-US" sz="1100" dirty="0">
                <a:solidFill>
                  <a:srgbClr val="5B6576"/>
                </a:solidFill>
                <a:latin typeface="Calibri" pitchFamily="34" charset="0"/>
                <a:ea typeface="Calibri" pitchFamily="34" charset="-122"/>
                <a:cs typeface="Calibri" pitchFamily="34" charset="-120"/>
              </a:rPr>
              <a:t> = δ</a:t>
            </a:r>
            <a:r>
              <a:rPr lang="en-US" sz="1100" baseline="-25000" dirty="0">
                <a:solidFill>
                  <a:srgbClr val="5B6576"/>
                </a:solidFill>
                <a:latin typeface="Calibri" pitchFamily="34" charset="0"/>
                <a:ea typeface="Calibri" pitchFamily="34" charset="-122"/>
                <a:cs typeface="Calibri" pitchFamily="34" charset="-120"/>
              </a:rPr>
              <a:t>run</a:t>
            </a:r>
            <a:r>
              <a:rPr lang="en-US" sz="1100" dirty="0">
                <a:solidFill>
                  <a:srgbClr val="5B6576"/>
                </a:solidFill>
                <a:latin typeface="Calibri" pitchFamily="34" charset="0"/>
                <a:ea typeface="Calibri" pitchFamily="34" charset="-122"/>
                <a:cs typeface="Calibri" pitchFamily="34" charset="-120"/>
              </a:rPr>
              <a:t> − n</a:t>
            </a:r>
            <a:r>
              <a:rPr lang="en-US" sz="1100" baseline="-25000" dirty="0">
                <a:solidFill>
                  <a:srgbClr val="5B6576"/>
                </a:solidFill>
                <a:latin typeface="Calibri" pitchFamily="34" charset="0"/>
                <a:ea typeface="Calibri" pitchFamily="34" charset="-122"/>
                <a:cs typeface="Calibri" pitchFamily="34" charset="-120"/>
              </a:rPr>
              <a:t>rel</a:t>
            </a:r>
            <a:r>
              <a:rPr lang="en-US" sz="1100" dirty="0">
                <a:solidFill>
                  <a:srgbClr val="5B6576"/>
                </a:solidFill>
                <a:latin typeface="Calibri" pitchFamily="34" charset="0"/>
                <a:ea typeface="Calibri" pitchFamily="34" charset="-122"/>
                <a:cs typeface="Calibri" pitchFamily="34" charset="-120"/>
              </a:rPr>
              <a:t>(δ</a:t>
            </a:r>
            <a:r>
              <a:rPr lang="en-US" sz="1100" baseline="-25000" dirty="0">
                <a:solidFill>
                  <a:srgbClr val="5B6576"/>
                </a:solidFill>
                <a:latin typeface="Calibri" pitchFamily="34" charset="0"/>
                <a:ea typeface="Calibri" pitchFamily="34" charset="-122"/>
                <a:cs typeface="Calibri" pitchFamily="34" charset="-120"/>
              </a:rPr>
              <a:t>B</a:t>
            </a:r>
            <a:r>
              <a:rPr lang="en-US" sz="1100" dirty="0">
                <a:solidFill>
                  <a:srgbClr val="5B6576"/>
                </a:solidFill>
                <a:latin typeface="Calibri" pitchFamily="34" charset="0"/>
                <a:ea typeface="Calibri" pitchFamily="34" charset="-122"/>
                <a:cs typeface="Calibri" pitchFamily="34" charset="-120"/>
              </a:rPr>
              <a:t> + 2</a:t>
            </a:r>
            <a:r>
              <a:rPr lang="en-US" sz="1100" baseline="30000" dirty="0">
                <a:solidFill>
                  <a:srgbClr val="5B6576"/>
                </a:solidFill>
                <a:latin typeface="Calibri" pitchFamily="34" charset="0"/>
                <a:ea typeface="Calibri" pitchFamily="34" charset="-122"/>
                <a:cs typeface="Calibri" pitchFamily="34" charset="-120"/>
              </a:rPr>
              <a:t>−κ</a:t>
            </a:r>
            <a:r>
              <a:rPr lang="en-US" sz="1100" dirty="0">
                <a:solidFill>
                  <a:srgbClr val="5B6576"/>
                </a:solidFill>
                <a:latin typeface="Calibri" pitchFamily="34" charset="0"/>
                <a:ea typeface="Calibri" pitchFamily="34" charset="-122"/>
                <a:cs typeface="Calibri" pitchFamily="34" charset="-120"/>
              </a:rPr>
              <a:t>).</a:t>
            </a:r>
            <a:endParaRPr lang="en-US" sz="1100" dirty="0"/>
          </a:p>
        </p:txBody>
      </p:sp>
      <p:sp>
        <p:nvSpPr>
          <p:cNvPr id="43" name="Shape 32"/>
          <p:cNvSpPr/>
          <p:nvPr/>
        </p:nvSpPr>
        <p:spPr>
          <a:xfrm>
            <a:off x="548640" y="5989320"/>
            <a:ext cx="11064240" cy="594360"/>
          </a:xfrm>
          <a:prstGeom prst="roundRect">
            <a:avLst>
              <a:gd name="adj" fmla="val 12308"/>
            </a:avLst>
          </a:prstGeom>
          <a:solidFill>
            <a:srgbClr val="F7F9FC"/>
          </a:solidFill>
          <a:ln w="12700">
            <a:solidFill>
              <a:srgbClr val="F7F9FC"/>
            </a:solidFill>
            <a:prstDash val="solid"/>
          </a:ln>
        </p:spPr>
      </p:sp>
      <p:sp>
        <p:nvSpPr>
          <p:cNvPr id="44" name="Text 33"/>
          <p:cNvSpPr txBox="1"/>
          <p:nvPr/>
        </p:nvSpPr>
        <p:spPr>
          <a:xfrm>
            <a:off x="777240" y="6007608"/>
            <a:ext cx="10607040" cy="557784"/>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How the σ's drive the statistics: σ</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 sets the radius r</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 = σ</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(2√p + 2√ln(1/α</a:t>
            </a:r>
            <a:r>
              <a:rPr lang="en-US" sz="1250" baseline="-25000" dirty="0">
                <a:solidFill>
                  <a:srgbClr val="1F2937"/>
                </a:solidFill>
                <a:latin typeface="Calibri" pitchFamily="34" charset="0"/>
                <a:ea typeface="Calibri" pitchFamily="34" charset="-122"/>
                <a:cs typeface="Calibri" pitchFamily="34" charset="-120"/>
              </a:rPr>
              <a:t>L</a:t>
            </a:r>
            <a:r>
              <a:rPr lang="en-US" sz="1250" dirty="0">
                <a:solidFill>
                  <a:srgbClr val="1F2937"/>
                </a:solidFill>
                <a:latin typeface="Calibri" pitchFamily="34" charset="0"/>
                <a:ea typeface="Calibri" pitchFamily="34" charset="-122"/>
                <a:cs typeface="Calibri" pitchFamily="34" charset="-120"/>
              </a:rPr>
              <a:t>)) and so λ; σ</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sets the ridge target 2ϑ</a:t>
            </a:r>
            <a:r>
              <a:rPr lang="en-US" sz="1250" baseline="30000" dirty="0">
                <a:solidFill>
                  <a:srgbClr val="1F2937"/>
                </a:solidFill>
                <a:latin typeface="Calibri" pitchFamily="34" charset="0"/>
                <a:ea typeface="Calibri" pitchFamily="34" charset="-122"/>
                <a:cs typeface="Calibri" pitchFamily="34" charset="-120"/>
              </a:rPr>
              <a:t>*</a:t>
            </a:r>
            <a:r>
              <a:rPr lang="en-US" sz="1250" dirty="0">
                <a:solidFill>
                  <a:srgbClr val="1F2937"/>
                </a:solidFill>
                <a:latin typeface="Calibri" pitchFamily="34" charset="0"/>
                <a:ea typeface="Calibri" pitchFamily="34" charset="-122"/>
                <a:cs typeface="Calibri" pitchFamily="34" charset="-120"/>
              </a:rPr>
              <a:t>σ</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√p, the gate and V</a:t>
            </a:r>
            <a:r>
              <a:rPr lang="en-US" sz="1250" baseline="-25000" dirty="0">
                <a:solidFill>
                  <a:srgbClr val="1F2937"/>
                </a:solidFill>
                <a:latin typeface="Calibri" pitchFamily="34" charset="0"/>
                <a:ea typeface="Calibri" pitchFamily="34" charset="-122"/>
                <a:cs typeface="Calibri" pitchFamily="34" charset="-120"/>
              </a:rPr>
              <a:t>mech</a:t>
            </a:r>
            <a:r>
              <a:rPr lang="en-US" sz="1250" dirty="0">
                <a:solidFill>
                  <a:srgbClr val="1F2937"/>
                </a:solidFill>
                <a:latin typeface="Calibri" pitchFamily="34" charset="0"/>
                <a:ea typeface="Calibri" pitchFamily="34" charset="-122"/>
                <a:cs typeface="Calibri" pitchFamily="34" charset="-120"/>
              </a:rPr>
              <a:t> ∝ σ</a:t>
            </a:r>
            <a:r>
              <a:rPr lang="en-US" sz="1250" baseline="-25000" dirty="0">
                <a:solidFill>
                  <a:srgbClr val="1F2937"/>
                </a:solidFill>
                <a:latin typeface="Calibri" pitchFamily="34" charset="0"/>
                <a:ea typeface="Calibri" pitchFamily="34" charset="-122"/>
                <a:cs typeface="Calibri" pitchFamily="34" charset="-120"/>
              </a:rPr>
              <a:t>2</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Records needed for a given coefficient accuracy grow like σ</a:t>
            </a:r>
            <a:r>
              <a:rPr lang="en-US" sz="1250" baseline="-25000" dirty="0">
                <a:solidFill>
                  <a:srgbClr val="1F2937"/>
                </a:solidFill>
                <a:latin typeface="Calibri" pitchFamily="34" charset="0"/>
                <a:ea typeface="Calibri" pitchFamily="34" charset="-122"/>
                <a:cs typeface="Calibri" pitchFamily="34" charset="-120"/>
              </a:rPr>
              <a:t>2</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Δ</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/ρ.</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DP accounting: Δ_s, σ_s and ρ_s</dc:title>
  <dc:subject>PptxGenJS Presentation</dc:subject>
  <dc:creator>VFL Scenario B project</dc:creator>
  <cp:lastModifiedBy>VFL Scenario B project</cp:lastModifiedBy>
  <cp:revision>1</cp:revision>
  <dcterms:created xsi:type="dcterms:W3CDTF">2026-10-21T22:46:08Z</dcterms:created>
  <dcterms:modified xsi:type="dcterms:W3CDTF">2026-10-21T22:46:08Z</dcterms:modified>
</cp:coreProperties>
</file>